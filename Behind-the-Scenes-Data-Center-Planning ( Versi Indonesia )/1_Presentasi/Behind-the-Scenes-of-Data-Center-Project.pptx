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54838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PEMBICARA: MASRON &amp; ABDUL  ·  V2-01 · build 1/1 · waktu scene 0:30</a:t>
            </a:r>
          </a:p>
          <a:p>
            <a:endParaRPr/>
          </a:p>
          <a:p>
            <a:r>
              <a:t>(Masron) Assalamualaikum dan selamat malam semuanya. Terima kasih kepada Project Management Prodigy atas kesempatannya, dan terima kasih teman-teman yang sudah bergabung.</a:t>
            </a:r>
          </a:p>
          <a:p>
            <a:endParaRPr/>
          </a:p>
          <a:p>
            <a:r>
              <a:t>Saya Masron Hutabalian, dan malam ini saya bersama rekan saya, Abdul Kausar.</a:t>
            </a:r>
          </a:p>
          <a:p>
            <a:endParaRPr/>
          </a:p>
          <a:p>
            <a:r>
              <a:t>TRANSISI</a:t>
            </a:r>
          </a:p>
          <a:p>
            <a:r>
              <a:t>(Langsung lanjut ke agenda.)</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PEMBICARA: MASRON HUTABALIAN  ·  A-00 · build 1/2 · waktu scene 1:30</a:t>
            </a:r>
          </a:p>
          <a:p>
            <a:endParaRPr/>
          </a:p>
          <a:p>
            <a:r>
              <a:t>CATATAN</a:t>
            </a:r>
          </a:p>
          <a:p>
            <a:r>
              <a:t>Operator slide: Abdul. Masron memberi aba-aba "next" atau Abdul mengikuti speaker notes.</a:t>
            </a:r>
          </a:p>
          <a:p>
            <a:endParaRPr/>
          </a:p>
          <a:p>
            <a:r>
              <a:t>Malam ini kita bagi menjadi tiga bagian. Pertama, saya akan mengajak teman-teman melihat proyek data center dari ground sampai cloud: apa yang sebenarnya kita bangun, di mana kompleksitasnya, dan bagaimana proyeknya dikontrol dan dipantau.</a:t>
            </a:r>
          </a:p>
          <a:p>
            <a:endParaRPr/>
          </a:p>
          <a:p>
            <a:r>
              <a:t>Kedua, Abdul akan melanjutkan ke sisi yang jarang dibahas: bagaimana informasi dan pengalaman di balik semua control itu bisa ditemukan lagi — termasuk demo Obsidian dan AI.</a:t>
            </a:r>
          </a:p>
          <a:p>
            <a:endParaRPr/>
          </a:p>
          <a:p>
            <a:r>
              <a:t>Terakhir, kita buka tanya jawab bersama.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PEMBICARA: MASRON HUTABALIAN  ·  A-00 · build 2/2 · waktu scene 1:30</a:t>
            </a:r>
          </a:p>
          <a:p>
            <a:endParaRPr/>
          </a:p>
          <a:p>
            <a:r>
              <a:t>Satu hal penting: sesi ini publik. Jadi semua contoh project, activity, tanggal, quantity dan data yang ditampilkan malam ini adalah simulasi.</a:t>
            </a:r>
          </a:p>
          <a:p>
            <a:endParaRPr/>
          </a:p>
          <a:p>
            <a:r>
              <a:t>TRANSISI</a:t>
            </a:r>
          </a:p>
          <a:p>
            <a:r>
              <a:t>Kita mulai dari gambaran besarnya.</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PEMBICARA: MASRON HUTABALIAN  ·  M-01 · build 1/2 · waktu scene 2:30</a:t>
            </a:r>
          </a:p>
          <a:p>
            <a:endParaRPr/>
          </a:p>
          <a:p>
            <a:r>
              <a:t>Kalau kita melihat data center dari luar, yang kita lihat mungkin hanya sebuah bangunan: dinding, atap, pagar.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PEMBICARA: MASRON HUTABALIAN  ·  M-01 · build 2/2 · waktu scene 2:30</a:t>
            </a:r>
          </a:p>
          <a:p>
            <a:endParaRPr/>
          </a:p>
          <a:p>
            <a:r>
              <a:t>Tapi sebenarnya perjalanan dari ground sampai infrastructure ini bisa mendukung layanan cloud itu panjang sekali.</a:t>
            </a:r>
          </a:p>
          <a:p>
            <a:endParaRPr/>
          </a:p>
          <a:p>
            <a:r>
              <a:t>Dimulai dari konstruksi di lapangan. Lalu infrastructure — power, cooling, network. Lalu semua system diintegrasikan dan dites. Setelah terbukti bekerja lewat commissioning, barulah fasilitas ini ready. Dan baru setelah itu layanan digital, data dan AI yang kita pakai sehari-hari bisa berjalan di atasnya.</a:t>
            </a:r>
          </a:p>
          <a:p>
            <a:endParaRPr/>
          </a:p>
          <a:p>
            <a:r>
              <a:t>Malam ini kita melihat perjalanan itu dari balik layar.</a:t>
            </a:r>
          </a:p>
          <a:p>
            <a:endParaRPr/>
          </a:p>
          <a:p>
            <a:r>
              <a:t>TRANSISI</a:t>
            </a:r>
          </a:p>
          <a:p>
            <a:r>
              <a:t>Pertama: sebenarnya apa yang kita bangun?</a:t>
            </a:r>
          </a:p>
          <a:p>
            <a:endParaRPr/>
          </a:p>
          <a:p>
            <a:r>
              <a:t>SUMBER: REF-021 (vault demo › 06 Referensi)</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PEMBICARA: MASRON HUTABALIAN  ·  M-02 · build 1/2 · waktu scene 3:00</a:t>
            </a:r>
          </a:p>
          <a:p>
            <a:endParaRPr/>
          </a:p>
          <a:p>
            <a:r>
              <a:t>CATATAN</a:t>
            </a:r>
          </a:p>
          <a:p>
            <a:r>
              <a:t>Audiens publik dari berbagai latar belakang — istilah teknis cukup dijelaskan singkat.</a:t>
            </a:r>
          </a:p>
          <a:p>
            <a:endParaRPr/>
          </a:p>
          <a:p>
            <a:r>
              <a:t>Kalau ditanya "data center itu apa", jawaban singkatnya: gedung yang menampung server dan perangkat jaringan, dan menjaga semuanya tetap menyala tanpa berhenti.</a:t>
            </a:r>
          </a:p>
          <a:p>
            <a:endParaRPr/>
          </a:p>
          <a:p>
            <a:r>
              <a:t>Tapi dari sisi proyek, yang kita bangun jauh lebih dari sekadar gedung.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PEMBICARA: MASRON HUTABALIAN  ·  M-02 · build 2/2 · waktu scene 3:00</a:t>
            </a:r>
          </a:p>
          <a:p>
            <a:endParaRPr/>
          </a:p>
          <a:p>
            <a:r>
              <a:t>Kalau kita bedah: ada power — dari jaringan listrik, generator, UPS sampai ke rack. Ada cooling yang membuang panas dari server. Ada network. Ada controls dan monitoring seperti BMS dan EPMS. Ada fire and life safety. Ada security.</a:t>
            </a:r>
          </a:p>
          <a:p>
            <a:endParaRPr/>
          </a:p>
          <a:p>
            <a:r>
              <a:t>Semuanya bertemu untuk satu tujuan: IT infrastructure bisa berjalan terus.</a:t>
            </a:r>
          </a:p>
          <a:p>
            <a:endParaRPr/>
          </a:p>
          <a:p>
            <a:r>
              <a:t>Jadi data center bukan satu system. Data center adalah ekosistem dari system-system yang saling terhubung.</a:t>
            </a:r>
          </a:p>
          <a:p>
            <a:endParaRPr/>
          </a:p>
          <a:p>
            <a:r>
              <a:t>TRANSISI</a:t>
            </a:r>
          </a:p>
          <a:p>
            <a:r>
              <a:t>Dan kalau banyak system saling terhubung, tantangannya ada di sambungannya.</a:t>
            </a:r>
          </a:p>
          <a:p>
            <a:endParaRPr/>
          </a:p>
          <a:p>
            <a:r>
              <a:t>SUMBER: REF-020, REF-023 (vault demo › 06 Referensi)</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PEMBICARA: MASRON HUTABALIAN  ·  M-03 · build 1/2 · waktu scene 3:00</a:t>
            </a:r>
          </a:p>
          <a:p>
            <a:endParaRPr/>
          </a:p>
          <a:p>
            <a:r>
              <a:t>Coba kita ambil satu equipment saja, misalnya UPS atau switchboard.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PEMBICARA: MASRON HUTABALIAN  ·  M-03 · build 2/2 · waktu scene 3:00</a:t>
            </a:r>
          </a:p>
          <a:p>
            <a:endParaRPr/>
          </a:p>
          <a:p>
            <a:r>
              <a:t>Supaya equipment ini benar-benar ready, kebutuhannya datang dari banyak arah.</a:t>
            </a:r>
          </a:p>
          <a:p>
            <a:endParaRPr/>
          </a:p>
          <a:p>
            <a:r>
              <a:t>Engineering harus menyelesaikan drawing dan submittal. Procurement memastikan equipment sudah dites di pabrik dan tiba di site. Construction menyiapkan ruangan dan jalur kabelnya. Jalur akses dan permit harus siap. Power harus tersedia untuk energization dan testing. Dan tim testing serta commissioning menunggu di ujungnya.</a:t>
            </a:r>
          </a:p>
          <a:p>
            <a:endParaRPr/>
          </a:p>
          <a:p>
            <a:r>
              <a:t>Di sinilah menurut saya salah satu tantangan data center project: bukan hanya banyaknya pekerjaan, tapi banyaknya interface.</a:t>
            </a:r>
          </a:p>
          <a:p>
            <a:endParaRPr/>
          </a:p>
          <a:p>
            <a:r>
              <a:t>TRANSISI</a:t>
            </a:r>
          </a:p>
          <a:p>
            <a:r>
              <a:t>Lalu bagaimana kita mengontrol semua itu?</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PEMBICARA: MASRON HUTABALIAN  ·  M-04 · build 1/1 · waktu scene 3:00</a:t>
            </a:r>
          </a:p>
          <a:p>
            <a:endParaRPr/>
          </a:p>
          <a:p>
            <a:r>
              <a:t>Buat saya, project control itu sebuah loop, bukan sebuah laporan.</a:t>
            </a:r>
          </a:p>
          <a:p>
            <a:endParaRPr/>
          </a:p>
          <a:p>
            <a:r>
              <a:t>Plan: apa yang seharusnya terjadi. Monitor: apa yang sedang terjadi. Analyze: kenapa berbeda. Forecast: apa yang akan terjadi berikutnya. Act: apa yang harus kita lakukan sekarang. Lalu kembali lagi ke plan.</a:t>
            </a:r>
          </a:p>
          <a:p>
            <a:endParaRPr/>
          </a:p>
          <a:p>
            <a:r>
              <a:t>Alatnya bisa Primavera P6, progress update, lookahead, constraint register, forecasting dan rapat koordinasi. Tapi alat hanya membantu — yang penting loop-nya berjalan terus, setiap minggu.</a:t>
            </a:r>
          </a:p>
          <a:p>
            <a:endParaRPr/>
          </a:p>
          <a:p>
            <a:r>
              <a:t>TRANSISI</a:t>
            </a:r>
          </a:p>
          <a:p>
            <a:r>
              <a:t>Loop itu berjalan sepanjang lifecycle proyek, sampai fasilitasnya benar-benar ready.</a:t>
            </a:r>
          </a:p>
          <a:p>
            <a:endParaRPr/>
          </a:p>
          <a:p>
            <a:r>
              <a:t>SUMBER: REF-001 (vault demo › 06 Referensi)</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PEMBICARA: MASRON HUTABALIAN  ·  M-06 · build 1/2 · waktu scene 3:00</a:t>
            </a:r>
          </a:p>
          <a:p>
            <a:endParaRPr/>
          </a:p>
          <a:p>
            <a:r>
              <a:t>CATATAN</a:t>
            </a:r>
          </a:p>
          <a:p>
            <a:r>
              <a:t>Penamaan L1–L5 berbeda antar organisasi (REF-025); sampaikan sebagai konvensi umum.</a:t>
            </a:r>
          </a:p>
          <a:p>
            <a:endParaRPr/>
          </a:p>
          <a:p>
            <a:r>
              <a:t>Secara umum proyek data center bergerak dari engineering, procurement, konstruksi, inspeksi dan testing, commissioning, sampai handover.</a:t>
            </a:r>
          </a:p>
          <a:p>
            <a:endParaRPr/>
          </a:p>
          <a:p>
            <a:r>
              <a:t>Fase-fase ini tumpang tindih per system. Dan setiap transisi seharusnya ditentukan oleh bukti, bukan oleh tanggal.</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PEMBICARA: MASRON HUTABALIAN  ·  M-06 · build 2/2 · waktu scene 3:00</a:t>
            </a:r>
          </a:p>
          <a:p>
            <a:endParaRPr/>
          </a:p>
          <a:p>
            <a:r>
              <a:t>Yang membedakan data center: commissioning bukan pelengkap di akhir — commissioning adalah produknya. Klien membeli kapasitas yang andal, dan kapasitas itu belum ada sampai commissioning membuktikannya.</a:t>
            </a:r>
          </a:p>
          <a:p>
            <a:endParaRPr/>
          </a:p>
          <a:p>
            <a:r>
              <a:t>Biasanya dibagi lima level. L1: tes di pabrik. L2: verifikasi instalasi. L3: start-up. L4: tiap system dites sendiri, misalnya load bank. L5: Integrated Systems Testing — semua system dites bersama, termasuk skenario kegagalan.</a:t>
            </a:r>
          </a:p>
          <a:p>
            <a:endParaRPr/>
          </a:p>
          <a:p>
            <a:r>
              <a:t>Jadi READY artinya sudah terbukti bekerja, bukan hanya terpasang.</a:t>
            </a:r>
          </a:p>
          <a:p>
            <a:endParaRPr/>
          </a:p>
          <a:p>
            <a:r>
              <a:t>SUMBER: REF-021, REF-025 (vault demo › 06 Referensi)</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PEMBICARA: MASRON HUTABALIAN  ·  M-07 · build 1/1 · waktu scene 2:30</a:t>
            </a:r>
          </a:p>
          <a:p>
            <a:endParaRPr/>
          </a:p>
          <a:p>
            <a:r>
              <a:t>Monitoring juga berubah bentuk sepanjang perjalanan ini.</a:t>
            </a:r>
          </a:p>
          <a:p>
            <a:endParaRPr/>
          </a:p>
          <a:p>
            <a:r>
              <a:t>Saat konstruksi, kita memantau progress, lookahead dan constraint setiap minggu. Saat testing dan commissioning, yang dipantau adalah status tiap system per level, punch list dan hasil tes. Dan setelah handover, monitoring berjalan 24 jam lewat BMS, EPMS dan DCIM — suhu, beban listrik, kapasitas dan alarm.</a:t>
            </a:r>
          </a:p>
          <a:p>
            <a:endParaRPr/>
          </a:p>
          <a:p>
            <a:r>
              <a:t>Dari ground sampai cloud, yang dipantau berubah. Tapi kebutuhannya sama: informasi yang benar, di saat yang tepat.</a:t>
            </a:r>
          </a:p>
          <a:p>
            <a:endParaRPr/>
          </a:p>
          <a:p>
            <a:r>
              <a:t>TRANSISI</a:t>
            </a:r>
          </a:p>
          <a:p>
            <a:r>
              <a:t>Supaya lebih konkret, kita lihat satu activity saja.</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PEMBICARA: MASRON HUTABALIAN  ·  V2-04 · build 1/3 · waktu scene 2:30</a:t>
            </a:r>
          </a:p>
          <a:p>
            <a:endParaRPr/>
          </a:p>
          <a:p>
            <a:r>
              <a:t>CATATAN</a:t>
            </a:r>
          </a:p>
          <a:p>
            <a:r>
              <a:t>Activity dan tanggal adalah data simulasi (Project Alpha).</a:t>
            </a:r>
          </a:p>
          <a:p>
            <a:endParaRPr/>
          </a:p>
          <a:p>
            <a:r>
              <a:t>Di schedule, satu activity kelihatannya sederhana: satu bar, tanggal start dan tanggal finish. Misalnya pemasangan equipment listrik di Area A.</a:t>
            </a:r>
          </a:p>
          <a:p>
            <a:endParaRPr/>
          </a:p>
          <a:p>
            <a:r>
              <a:t>Pertanyaannya: kalau tanggal start sudah tiba, apakah pekerjaannya bisa dimulai?</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PEMBICARA: MASRON HUTABALIAN  ·  V2-04 · build 2/3 · waktu scene 2:30</a:t>
            </a:r>
          </a:p>
          <a:p>
            <a:endParaRPr/>
          </a:p>
          <a:p>
            <a:r>
              <a:t>Belum tentu. Supaya activity ini bisa mulai, banyak hal harus siap: drawing approved, material sudah di site, access clear, predecessor selesai, manpower tersedia.</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PEMBICARA: MASRON HUTABALIAN  ·  V2-04 · build 3/3 · waktu scene 2:30</a:t>
            </a:r>
          </a:p>
          <a:p>
            <a:endParaRPr/>
          </a:p>
          <a:p>
            <a:r>
              <a:t>Dan setelah selesai pun masih ada inspection dan testing.</a:t>
            </a:r>
          </a:p>
          <a:p>
            <a:endParaRPr/>
          </a:p>
          <a:p>
            <a:r>
              <a:t>Schedule menunjukkan kapan. Project control bertanya: apakah pekerjaan itu benar-benar bisa terjadi?</a:t>
            </a:r>
          </a:p>
          <a:p>
            <a:endParaRPr/>
          </a:p>
          <a:p>
            <a:r>
              <a:t>Untuk contoh ini, saya serahkan ke Abdul.</a:t>
            </a:r>
          </a:p>
          <a:p>
            <a:endParaRPr/>
          </a:p>
          <a:p>
            <a:r>
              <a:t>SUMBER: REF-009 (vault demo › 06 Referensi)</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PEMBICARA: ABDUL KAUSAR  ·  V2-05 · waktu scene 2:30</a:t>
            </a:r>
          </a:p>
          <a:p>
            <a:endParaRPr/>
          </a:p>
          <a:p>
            <a:r>
              <a:t>CATATAN</a:t>
            </a:r>
          </a:p>
          <a:p>
            <a:r>
              <a:t>Activity dan tanggal adalah data simulasi (Project Alpha). Contoh yang sama dipakai lagi di demo Obsidian.</a:t>
            </a:r>
          </a:p>
          <a:p>
            <a:endParaRPr/>
          </a:p>
          <a:p>
            <a:r>
              <a:t>Terima kasih, Masron. Saya lanjutkan dari activity yang sama: Electrical Equipment Installation — Area A.</a:t>
            </a:r>
          </a:p>
          <a:p>
            <a:endParaRPr/>
          </a:p>
          <a:p>
            <a:r>
              <a:t>Kita cek kondisinya satu per satu. Drawing ready. Material ready. Manpower ready. Predecessor juga sudah selesai.</a:t>
            </a:r>
          </a:p>
          <a:p>
            <a:endParaRPr/>
          </a:p>
          <a:p>
            <a:r>
              <a:t>Kalau dihitung: empat dari lima sudah ready. Kedengarannya bagus, kan?</a:t>
            </a:r>
          </a:p>
          <a:p>
            <a:endParaRPr/>
          </a:p>
          <a:p>
            <a:r>
              <a:t>(Berhenti.)</a:t>
            </a:r>
          </a:p>
          <a:p>
            <a:endParaRPr/>
          </a:p>
          <a:p>
            <a:r>
              <a:t>Tapi access belum ready — rigging route masih tertutup scaffold. Dan pekerjaan tetap belum bisa dimulai.</a:t>
            </a:r>
          </a:p>
          <a:p>
            <a:endParaRPr/>
          </a:p>
          <a:p>
            <a:r>
              <a:t>Jadi dalam control: 4 dari 5 ready bisa berarti belum ready. Dan kita hanya tahu ini kalau informasinya ada di tangan kita pada saat yang tepat.</a:t>
            </a:r>
          </a:p>
          <a:p>
            <a:endParaRPr/>
          </a:p>
          <a:p>
            <a:r>
              <a:t>TRANSISI</a:t>
            </a:r>
          </a:p>
          <a:p>
            <a:r>
              <a:t>Pertanyaannya: dari mana planner tahu semua kondisi tadi?</a:t>
            </a:r>
          </a:p>
          <a:p>
            <a:endParaRPr/>
          </a:p>
          <a:p>
            <a:r>
              <a:t>SUMBER: REF-009, REF-010 (vault demo › 06 Referensi)</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PEMBICARA: ABDUL KAUSAR  ·  V2-02 · build 1/1 · waktu scene 1:30</a:t>
            </a:r>
          </a:p>
          <a:p>
            <a:endParaRPr/>
          </a:p>
          <a:p>
            <a:r>
              <a:t>Semua yang dibahas Masron tadi — control, management, monitoring — bergantung pada satu hal: informasi. Bukan hanya informasi hari ini, tapi juga pengalaman yang pernah kita dapat sebelumnya.</a:t>
            </a:r>
          </a:p>
          <a:p>
            <a:endParaRPr/>
          </a:p>
          <a:p>
            <a:r>
              <a:t>Di bagian saya, saya sharing bagaimana saya mencoba supaya informasi dan pengalaman itu tidak hilang: dengan Obsidian, lalu menghubungkannya dengan AI seperti Claude. Saya bukan expert Obsidian atau AI; ini cara kerja yang masih saya coba.</a:t>
            </a:r>
          </a:p>
          <a:p>
            <a:endParaRPr/>
          </a:p>
          <a:p>
            <a:r>
              <a:t>TRANSISI</a:t>
            </a:r>
          </a:p>
          <a:p>
            <a:r>
              <a:t>Coba kita lihat dulu: informasi yang dibutuhkan planner itu ada di mana saja?</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PEMBICARA: ABDUL KAUSAR  ·  V2-07 · waktu scene 2:00</a:t>
            </a:r>
          </a:p>
          <a:p>
            <a:endParaRPr/>
          </a:p>
          <a:p>
            <a:r>
              <a:t>Dari mana planner mengetahui semua hal tadi? Tidak semuanya ada di Primavera.</a:t>
            </a:r>
          </a:p>
          <a:p>
            <a:endParaRPr/>
          </a:p>
          <a:p>
            <a:r>
              <a:t>(Tunjuk visual satu per satu.) Sebagian ada di P6. Sebagian di Excel. Sebagian di drawing. Ada di specification. Ada di PDF. Ada di meeting minutes. Ada yang kita dapat dari diskusi. Ada yang mungkin ada di email atau chat.</a:t>
            </a:r>
          </a:p>
          <a:p>
            <a:endParaRPr/>
          </a:p>
          <a:p>
            <a:r>
              <a:t>Dan ada juga yang cuma ada di kepala kita, karena kita pernah mengalami masalah yang sama.</a:t>
            </a:r>
          </a:p>
          <a:p>
            <a:endParaRPr/>
          </a:p>
          <a:p>
            <a:r>
              <a:t>Jadi saya mulai melihat pekerjaan planning ini bukan hanya scheduling problem. Sebagian besar juga merupakan information-management problem.</a:t>
            </a:r>
          </a:p>
          <a:p>
            <a:endParaRPr/>
          </a:p>
          <a:p>
            <a:r>
              <a:t>Informasinya sebenarnya banyak. Tapi apakah kita bisa menemukan informasi yang tepat pada saat kita membutuhkannya?</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PEMBICARA: ABDUL KAUSAR  ·  V2-08 · waktu scene 2:30</a:t>
            </a:r>
          </a:p>
          <a:p>
            <a:endParaRPr/>
          </a:p>
          <a:p>
            <a:r>
              <a:t>Saya dulu juga berpikir, kalau file saya sudah rapi, berarti knowledge saya sudah rapi. Ada folder Planning. Ada folder Report. Ada References. Ada Lessons Learned. Dan itu memang membantu.</a:t>
            </a:r>
          </a:p>
          <a:p>
            <a:endParaRPr/>
          </a:p>
          <a:p>
            <a:r>
              <a:t>Tapi lama-lama saya sadar ada perbedaan antara menyimpan informasi dengan membangun pengetahuan.</a:t>
            </a:r>
          </a:p>
          <a:p>
            <a:endParaRPr/>
          </a:p>
          <a:p>
            <a:r>
              <a:t>Misalnya: Critical Path berhubungan dengan Total Float. Total Float berhubungan dengan Delay. Delay berhubungan dengan Recovery. Recovery bisa berhubungan dengan Resources, Acceleration, Risk, dan seterusnya.</a:t>
            </a:r>
          </a:p>
          <a:p>
            <a:endParaRPr/>
          </a:p>
          <a:p>
            <a:r>
              <a:t>Hubungannya tidak selalu mengikuti struktur folder.</a:t>
            </a:r>
          </a:p>
          <a:p>
            <a:endParaRPr/>
          </a:p>
          <a:p>
            <a:r>
              <a:t>Dan ada satu masalah yang saya rasa mungkin banyak dari kita pernah mengalami.</a:t>
            </a:r>
          </a:p>
          <a:p>
            <a:endParaRPr/>
          </a:p>
          <a:p>
            <a:r>
              <a:t>"Saya pernah baca ini." "Saya pernah ketemu masalah seperti ini." "Saya pernah dapat penjelasannya."</a:t>
            </a:r>
          </a:p>
          <a:p>
            <a:endParaRPr/>
          </a:p>
          <a:p>
            <a:r>
              <a:t>Tapi… di mana ya?</a:t>
            </a:r>
          </a:p>
          <a:p>
            <a:endParaRPr/>
          </a:p>
          <a:p>
            <a:r>
              <a:t>(Beri waktu audience tertawa. Opsional: "Siapa di sini yang pernah seperti ini?")</a:t>
            </a:r>
          </a:p>
          <a:p>
            <a:endParaRPr/>
          </a:p>
          <a:p>
            <a:r>
              <a:t>TRANSISI</a:t>
            </a:r>
          </a:p>
          <a:p>
            <a:r>
              <a:t>Dari masalah itu saya mulai mencoba satu tools yang namanya Obsidian.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PEMBICARA: ABDUL KAUSAR  ·  O-00 · build 1/1 · waktu scene 1:00</a:t>
            </a:r>
          </a:p>
          <a:p>
            <a:endParaRPr/>
          </a:p>
          <a:p>
            <a:r>
              <a:t>CATATAN</a:t>
            </a:r>
          </a:p>
          <a:p>
            <a:r>
              <a:t>Sync dan Publish adalah layanan tambahan berbayar yang opsional; aplikasinya sendiri gratis. Sarankan penonton mengecek kebijakan IT perusahaan sebelum install di laptop kantor.</a:t>
            </a:r>
          </a:p>
          <a:p>
            <a:endParaRPr/>
          </a:p>
          <a:p>
            <a:r>
              <a:t>Sebelum saya tunjukkan cara saya memakainya, sedikit perkenalan dulu.</a:t>
            </a:r>
          </a:p>
          <a:p>
            <a:endParaRPr/>
          </a:p>
          <a:p>
            <a:r>
              <a:t>Obsidian itu aplikasi catatan. Bedanya dengan aplikasi catatan lain: setiap catatan disimpan sebagai file teks biasa di sebuah folder di laptop kita sendiri. Folder itu disebut vault.</a:t>
            </a:r>
          </a:p>
          <a:p>
            <a:endParaRPr/>
          </a:p>
          <a:p>
            <a:r>
              <a:t>Biasanya dipakai untuk catatan kerja dan rapat, knowledge base pribadi, belajar, atau menulis.</a:t>
            </a:r>
          </a:p>
          <a:p>
            <a:endParaRPr/>
          </a:p>
          <a:p>
            <a:r>
              <a:t>Yang membuat saya tertarik ada tiga. Catatannya bisa saling terhubung. Filenya milik kita sendiri dan tetap bisa dibuka tanpa internet. Dan karena bentuknya file biasa, tools lain — termasuk AI — bisa membacanya.</a:t>
            </a:r>
          </a:p>
          <a:p>
            <a:endParaRPr/>
          </a:p>
          <a:p>
            <a:r>
              <a:t>Aplikasinya gratis, termasuk untuk dipakai kerja. Kalau mau mencoba, download di obsidian.md/download — tersedia untuk Windows, Mac, Linux, iOS dan Android.</a:t>
            </a:r>
          </a:p>
          <a:p>
            <a:endParaRPr/>
          </a:p>
          <a:p>
            <a:r>
              <a:t>TRANSISI</a:t>
            </a:r>
          </a:p>
          <a:p>
            <a:r>
              <a:t>Lalu bagaimana saya memakainya sebagai planner?</a:t>
            </a:r>
          </a:p>
          <a:p>
            <a:endParaRPr/>
          </a:p>
          <a:p>
            <a:r>
              <a:t>SUMBER: REF-040, REF-041, REF-042, REF-067 (vault demo › 06 Referensi)</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PEMBICARA: ABDUL KAUSAR  ·  V2-10 · waktu scene 2:30</a:t>
            </a:r>
          </a:p>
          <a:p>
            <a:endParaRPr/>
          </a:p>
          <a:p>
            <a:r>
              <a:t>Saya tidak bilang Obsidian tools terbaik atau semua orang harus pakai. Saya sendiri masih belajar. Yang menarik buat saya justru konsepnya — dan konsepnya bisa diringkas jadi empat langkah.</a:t>
            </a:r>
          </a:p>
          <a:p>
            <a:endParaRPr/>
          </a:p>
          <a:p>
            <a:r>
              <a:t>Misalnya hari ini saya belajar sesuatu tentang Schedule Recovery. Daripada hanya saya simpan sebuah PDF, saya coba tulis kembali apa yang saya pahami dengan bahasa saya sendiri. Itu Catat (capture).</a:t>
            </a:r>
          </a:p>
          <a:p>
            <a:endParaRPr/>
          </a:p>
          <a:p>
            <a:r>
              <a:t>Kemudian saya beri tempat dan struktur. Itu Rapikan (organize).</a:t>
            </a:r>
          </a:p>
          <a:p>
            <a:endParaRPr/>
          </a:p>
          <a:p>
            <a:r>
              <a:t>Tapi bagian yang menarik: saya bisa mengatakan Schedule Recovery ini berhubungan dengan Critical Path, dengan Total Float, dengan Delay, dengan Acceleration. Itu Hubungkan (connect).</a:t>
            </a:r>
          </a:p>
          <a:p>
            <a:endParaRPr/>
          </a:p>
          <a:p>
            <a:r>
              <a:t>Dan beberapa bulan kemudian, ketika saya membutuhkan topik itu lagi, saya bisa menemukannya. Itu Temukan kembali (retrieve).</a:t>
            </a:r>
          </a:p>
          <a:p>
            <a:endParaRPr/>
          </a:p>
          <a:p>
            <a:r>
              <a:t>TRANSISI</a:t>
            </a:r>
          </a:p>
          <a:p>
            <a:r>
              <a:t>Daripada saya jelaskan panjang, lebih gampang kalau saya tunjukkan langsung. Tapi sebelum itu, satu hal penting tentang vault yang akan Anda lihat.</a:t>
            </a:r>
          </a:p>
          <a:p>
            <a:endParaRPr/>
          </a:p>
          <a:p>
            <a:r>
              <a:t>SUMBER: REF-040, REF-041 (vault demo › 06 Referensi)</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PEMBICARA: ABDUL KAUSAR  ·  O-01 · build 1/1 · waktu scene 1:15</a:t>
            </a:r>
          </a:p>
          <a:p>
            <a:endParaRPr/>
          </a:p>
          <a:p>
            <a:r>
              <a:t>CATATAN</a:t>
            </a:r>
          </a:p>
          <a:p>
            <a:r>
              <a:t>Kalau ditanya lebih lanjut soal cara membuatnya, jawaban lengkapnya ada di `3_Persiapan/Q&amp;A.md` (pertanyaan 23).</a:t>
            </a:r>
          </a:p>
          <a:p>
            <a:endParaRPr/>
          </a:p>
          <a:p>
            <a:r>
              <a:t>Sebelum saya buka Obsidian, satu hal dulu supaya jelas.</a:t>
            </a:r>
          </a:p>
          <a:p>
            <a:endParaRPr/>
          </a:p>
          <a:p>
            <a:r>
              <a:t>Vault yang akan teman-teman lihat ini sudah saya siapkan khusus untuk sesi ini. Isinya sekitar 50 catatan, dan proyeknya — Project Alpha — 100% fiktif, karena data proyek nyata tidak boleh dibuka di forum publik. Sebagian draft-nya saya buat dengan bantuan AI, lalu saya review dan perbaiki sendiri.</a:t>
            </a:r>
          </a:p>
          <a:p>
            <a:endParaRPr/>
          </a:p>
          <a:p>
            <a:r>
              <a:t>Satu lagi yang penting: semua yang saya tunjukkan ini masih eksperimen pribadi saya. Bukan standar kerja, dan bukan rekomendasi resmi perusahaan mana pun. Saya sendiri masih mencoba dan belajar — jadi silakan ambil yang berguna, lalu sesuaikan dengan aturan dan tools yang diizinkan di tempat kerja masing-masing.</a:t>
            </a:r>
          </a:p>
          <a:p>
            <a:endParaRPr/>
          </a:p>
          <a:p>
            <a:r>
              <a:t>Jadi jangan kaget kalau catatannya sudah banyak. Yang ingin saya tunjukkan adalah polanya: catat, hubungkan, pakai ulang, temukan lagi.</a:t>
            </a:r>
          </a:p>
          <a:p>
            <a:endParaRPr/>
          </a:p>
          <a:p>
            <a:r>
              <a:t>Di pekerjaan nyata, vault tidak dibuat sekaligus. Hari pertama cukup satu catatan: temuan site walk, hasil rapat, atau issue di schedule. Minggu pertama, setiap kejadian penting jadi satu catatan pendek, dan saya hubungkan dengan mengetik dua kurung siku. Kalau dua sampai tiga catatan per hari kerja, dalam sebulan sudah sekitar 50 — kira-kira sebesar vault ini. Ditambah lima belas menit seminggu untuk merapikan.</a:t>
            </a:r>
          </a:p>
          <a:p>
            <a:endParaRPr/>
          </a:p>
          <a:p>
            <a:r>
              <a:t>Vault tidak dibuat dalam sehari: satu catatan, satu link, setiap hari.</a:t>
            </a:r>
          </a:p>
          <a:p>
            <a:endParaRPr/>
          </a:p>
          <a:p>
            <a:r>
              <a:t>TRANSISI</a:t>
            </a:r>
          </a:p>
          <a:p>
            <a:r>
              <a:t>Sekarang mari saya tunjukkan satu minggu kecil seorang planner.</a:t>
            </a:r>
          </a:p>
          <a:p>
            <a:endParaRPr/>
          </a:p>
          <a:p>
            <a:r>
              <a:t>SUMBER: REF-040, REF-041 (vault demo › 06 Referensi)</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PEMBICARA: ABDUL KAUSAR  ·  V2-12 · build 1/1 · waktu scene 4:00</a:t>
            </a:r>
          </a:p>
          <a:p>
            <a:endParaRPr/>
          </a:p>
          <a:p>
            <a:r>
              <a:t>CATATAN</a:t>
            </a:r>
          </a:p>
          <a:p>
            <a:r>
              <a:t>Run sheet lengkap: `2_Demo/Panduan-Demo.md`. Tombol yang sama ada di `2_Demo/Demo-Launcher.html`. Kalau macet lebih dari 20 detik, pindah ke `2_Demo/Offline-Demo.pdf`. Setelah rehearsal, hapus note `09 Inbox/Site Walk - Week 14`.</a:t>
            </a:r>
          </a:p>
          <a:p>
            <a:endParaRPr/>
          </a:p>
          <a:p>
            <a:r>
              <a:t>(Klik tombol di slide ini. Setiap tombol membuka Obsidian tepat di langkahnya. Setelah satu langkah, Alt + Tab kembali ke slide lalu klik tombol berikutnya.)</a:t>
            </a:r>
          </a:p>
          <a:p>
            <a:endParaRPr/>
          </a:p>
          <a:p>
            <a:r>
              <a:t>Seperti tadi saya sampaikan, vault ini 100% simulasi. Ini satu minggu kecil seorang planner.</a:t>
            </a:r>
          </a:p>
          <a:p>
            <a:endParaRPr/>
          </a:p>
          <a:p>
            <a:r>
              <a:t>1 Catat. (Klik Buka.) Pagi ini saya site walk, dan rigging route ke Area A masih tertutup scaffold. Daripada hilang di chat atau di kepala, saya catat — dan langsung saya link ke activity-nya.</a:t>
            </a:r>
          </a:p>
          <a:p>
            <a:endParaRPr/>
          </a:p>
          <a:p>
            <a:r>
              <a:t>1b Buat link sendiri. (Ctrl + E → klik di akhir baris terakhir → Enter → ketik: Bahas di rapat minggu ini → [[ → ketik Weekly → Enter → Ctrl + E.) Supaya cepat, catatan ini saya siapkan lewat tombol. Tapi cara menghubungkannya cukup ketik dua kurung siku — dan dua catatan langsung terhubung. Langkah per klik: Panduan-Demo.md bagian 4.</a:t>
            </a:r>
          </a:p>
          <a:p>
            <a:endParaRPr/>
          </a:p>
          <a:p>
            <a:r>
              <a:t>2 Hubungkan. (Klik Buka.) Ini activity yang tadi ada di slide: empat dari lima ready, access belum. Di kanan, Backlinks: semua catatan yang menyebut activity ini — termasuk note yang baru saya tulis.</a:t>
            </a:r>
          </a:p>
          <a:p>
            <a:endParaRPr/>
          </a:p>
          <a:p>
            <a:r>
              <a:t>3 Pakai ulang. (Klik Buka.) Dari situ saya sampai ke lesson yang pernah saya tulis: empat dari lima ready itu belum ready. Ini bisa saya pakai di project mana pun.</a:t>
            </a:r>
          </a:p>
          <a:p>
            <a:endParaRPr/>
          </a:p>
          <a:p>
            <a:r>
              <a:t>4 Temukan. (Klik Buka.) Enam bulan lagi saya lupa di mana. Cukup cari "rigging" — meeting, activity, lesson dan catatan site walk muncul bersama.</a:t>
            </a:r>
          </a:p>
          <a:p>
            <a:endParaRPr/>
          </a:p>
          <a:p>
            <a:r>
              <a:t>5 Lihat (opsional). Di Obsidian tekan Ctrl + G. Graph ini bukan tujuan. Yang penting, konteksnya bisa ditemukan lagi.</a:t>
            </a:r>
          </a:p>
          <a:p>
            <a:endParaRPr/>
          </a:p>
          <a:p>
            <a:r>
              <a:t>TRANSISI</a:t>
            </a:r>
          </a:p>
          <a:p>
            <a:r>
              <a:t>Nah, sekarang bagaimana kalau AI bisa membaca catatan-catatan ini?</a:t>
            </a:r>
          </a:p>
          <a:p>
            <a:endParaRPr/>
          </a:p>
          <a:p>
            <a:r>
              <a:t>SUMBER: REF-043 (vault demo › 06 Referensi)</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PEMBICARA: ABDUL KAUSAR  ·  V2-15 · build 1/1 · waktu scene 2:30</a:t>
            </a:r>
          </a:p>
          <a:p>
            <a:endParaRPr/>
          </a:p>
          <a:p>
            <a:r>
              <a:t>CATATAN</a:t>
            </a:r>
          </a:p>
          <a:p>
            <a:r>
              <a:t>Jangan melebih-lebihkan. AI tetap bisa salah; yang berubah adalah kita bisa melihat sumbernya.</a:t>
            </a:r>
          </a:p>
          <a:p>
            <a:endParaRPr/>
          </a:p>
          <a:p>
            <a:r>
              <a:t>Sekarang kita masuk ke bagian yang menurut saya mulai menarik. Kalau saya tanya AI tentang schedule recovery, AI mungkin bisa memberikan jawaban yang bagus. Tapi AI tidak tahu apa yang saya sendiri sudah pelajari.</a:t>
            </a:r>
          </a:p>
          <a:p>
            <a:endParaRPr/>
          </a:p>
          <a:p>
            <a:r>
              <a:t>Bagaimana kalau AI-nya bisa membaca knowledge base yang tadi?</a:t>
            </a:r>
          </a:p>
          <a:p>
            <a:endParaRPr/>
          </a:p>
          <a:p>
            <a:r>
              <a:t>Dan pertanyaannya pun berubah. Bukan lagi "Apa itu schedule recovery?", tetapi "Berdasarkan yang sudah saya kumpulkan, apa yang harus saya cek saat mereview recovery plan?"</a:t>
            </a:r>
          </a:p>
          <a:p>
            <a:endParaRPr/>
          </a:p>
          <a:p>
            <a:r>
              <a:t>AI bisa membantu mencari note yang relevan, menghubungkan beberapa informasi, lalu memberikan jawaban dengan menunjukkan sumber note yang digunakan.</a:t>
            </a:r>
          </a:p>
          <a:p>
            <a:endParaRPr/>
          </a:p>
          <a:p>
            <a:r>
              <a:t>(Catatan: nama-nama note di slide ini adalah file yang benar-benar dibuka Claude saat rehearsal.)</a:t>
            </a:r>
          </a:p>
          <a:p>
            <a:endParaRPr/>
          </a:p>
          <a:p>
            <a:r>
              <a:t>SUMBER: REF-058 (vault demo › 06 Referensi)</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PEMBICARA: ABDUL KAUSAR  ·  V2-16 · build 1/2 · waktu scene 4:00</a:t>
            </a:r>
          </a:p>
          <a:p>
            <a:endParaRPr/>
          </a:p>
          <a:p>
            <a:r>
              <a:t>CATATAN</a:t>
            </a:r>
          </a:p>
          <a:p>
            <a:r>
              <a:t>Ikuti `2_Demo/Panduan-Demo.md` bagian 5. Claude butuh ±1 menit. Kalau lebih dari 2 menit belum selesai, pindah ke slide 27 dan lanjutkan cerita. Hasilnya sudah diuji 2 kali dan identik: 5 activity — A-3030, A-3040, A-4010, A-4020, A-5050.</a:t>
            </a:r>
          </a:p>
          <a:p>
            <a:endParaRPr/>
          </a:p>
          <a:p>
            <a:r>
              <a:t>(Klik Buka Claude — sesi sudah disiapkan: tab Code, folder Planning-Knowledge-Demo-ID, model Sonnet, mode Ask permissions. Klik Salin prompt → Demo Launcher terbuka → klik Salin prompt → klik ikon Claude di taskbar → Ctrl + V → Enter.)</a:t>
            </a:r>
          </a:p>
          <a:p>
            <a:endParaRPr/>
          </a:p>
          <a:p>
            <a:r>
              <a:t>Bagian AI ini juga masih eksperimen. Karena itu saya tidak minta pendapat AI. Saya minta sesuatu yang bisa dicek: dari data project, activity mana di critical path yang masih punya constraint open. Dan hasilnya disimpan sebagai note, memakai template.</a:t>
            </a:r>
          </a:p>
          <a:p>
            <a:endParaRPr/>
          </a:p>
          <a:p>
            <a:r>
              <a:t>(Sambil menunggu, tunjuk baris Read …) Perhatikan: dia hanya membaca beberapa note — constraint register, decision log, schedule — dan template-nya.</a:t>
            </a:r>
          </a:p>
          <a:p>
            <a:endParaRPr/>
          </a:p>
          <a:p>
            <a:r>
              <a:t>(Saat muncul permintaan izin menulis file:) Sebelum menyimpan, dia minta izin dulu. Saya yang memutuskan. (Klik Allow.)</a:t>
            </a:r>
          </a:p>
          <a:p>
            <a:endParaRPr/>
          </a:p>
          <a:p>
            <a:r>
              <a:t>(Klik ikon Obsidian → folder 08 AI Output → Review Critical Path - 2030-04-08.) Jawabannya sekarang jadi note di vault. Lima activity, urut berdasarkan tanggal dibutuhkan. Paling mendesak A-3030 — activity yang sama dengan yang Masron dan saya bahas tadi — constraint C-003, akses. Setiap baris menyebut activity ID, constraint ID dan decision ID. Statusnya masih draft, reviewed false, sampai saya sendiri yang mereview.</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PEMBICARA: ABDUL KAUSAR  ·  V2-16 · build 2/2 · waktu scene 4:00</a:t>
            </a:r>
          </a:p>
          <a:p>
            <a:endParaRPr/>
          </a:p>
          <a:p>
            <a:r>
              <a:t>(Di note hasil tadi, atau di slide ini kalau demo live gagal.)</a:t>
            </a:r>
          </a:p>
          <a:p>
            <a:endParaRPr/>
          </a:p>
          <a:p>
            <a:r>
              <a:t>Yang menarik buat saya bukan tabelnya. Tabel seperti ini bisa dibuat manual.</a:t>
            </a:r>
          </a:p>
          <a:p>
            <a:endParaRPr/>
          </a:p>
          <a:p>
            <a:r>
              <a:t>Yang saya cari: setiap baris bisa dicek balik. A-3030, constraint C-003, decision D-001 dan D-002. (Klik link Constraint Register di note, atau klik Buka note yang dikutip di slide.) Ini register-nya — C-003 memang open, owner Site Manager, dibutuhkan 8 April. Kalau AI salah, saya langsung tahu.</a:t>
            </a:r>
          </a:p>
          <a:p>
            <a:endParaRPr/>
          </a:p>
          <a:p>
            <a:r>
              <a:t>Dan karena pertanyaannya berbasis data, jawabannya konsisten. Saya jalankan dua kali, hasilnya sama persis.</a:t>
            </a:r>
          </a:p>
          <a:p>
            <a:endParaRPr/>
          </a:p>
          <a:p>
            <a:r>
              <a:t>SUMBER: REF-060, REF-049 (vault demo › 06 Referensi)</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PEMBICARA: ABDUL KAUSAR  ·  V2-19 · build 1/1 · waktu scene 2:00</a:t>
            </a:r>
          </a:p>
          <a:p>
            <a:endParaRPr/>
          </a:p>
          <a:p>
            <a:r>
              <a:t>Tapi saya juga tidak melihat AI sebagai sesuatu yang mengambil alih pekerjaan planner.</a:t>
            </a:r>
          </a:p>
          <a:p>
            <a:endParaRPr/>
          </a:p>
          <a:p>
            <a:r>
              <a:t>AI bisa membantu kita mencari. Bisa merangkum. Bisa menghubungkan informasi. Bisa membantu membuat draft. Bahkan bisa membantu analysis tertentu.</a:t>
            </a:r>
          </a:p>
          <a:p>
            <a:endParaRPr/>
          </a:p>
          <a:p>
            <a:r>
              <a:t>Tapi memahami kondisi project, mempertanyakan data, berkoordinasi dengan orang, menentukan apakah sesuatu masuk akal, dan mengambil professional judgment… itu tetap tanggung jawab kita.</a:t>
            </a:r>
          </a:p>
          <a:p>
            <a:endParaRPr/>
          </a:p>
          <a:p>
            <a:r>
              <a:t>Jadi buat saya posisi AI bukan di tengah. Planner tetap di tengah. AI adalah salah satu layer yang membantu planner bekerja lebih baik.</a:t>
            </a:r>
          </a:p>
          <a:p>
            <a:endParaRPr/>
          </a:p>
          <a:p>
            <a:r>
              <a:t>Kalau kita lihat lagi perjalanannya: dari site — ground — ke schedule, ke informasi, ke knowledge, lalu Obsidian dan AI yang ada di cloud. Semuanya kembali ke planner.</a:t>
            </a:r>
          </a:p>
          <a:p>
            <a:endParaRPr/>
          </a:p>
          <a:p>
            <a:r>
              <a:t>Control dan monitoring tetap butuh orang yang memahami kondisi di lapangan. Teknologi tidak menggantikan planner. Teknologi membantu pengalaman kita bisa dipakai lagi.</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PEMBICARA: ABDUL KAUSAR  ·  V2-20 · waktu scene 0:30</a:t>
            </a:r>
          </a:p>
          <a:p>
            <a:endParaRPr/>
          </a:p>
          <a:p>
            <a:r>
              <a:t>Pahami pekerjaannya.</a:t>
            </a:r>
          </a:p>
          <a:p>
            <a:endParaRPr/>
          </a:p>
          <a:p>
            <a:r>
              <a:t>Catat apa yang dipelajari.</a:t>
            </a:r>
          </a:p>
          <a:p>
            <a:endParaRPr/>
          </a:p>
          <a:p>
            <a:r>
              <a:t>Buat agar bisa dipakai lagi.</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PEMBICARA: ABDUL KAUSAR  ·  V2-21 · build 1/1 · waktu scene 0:30</a:t>
            </a:r>
          </a:p>
          <a:p>
            <a:endParaRPr/>
          </a:p>
          <a:p>
            <a:r>
              <a:t>Jadi kalau ada satu hal yang ingin saya bawa dari sharing hari ini, bukan bahwa teman-teman harus menggunakan Obsidian. Bukan juga bahwa semua orang harus menggunakan AI.</a:t>
            </a:r>
          </a:p>
          <a:p>
            <a:endParaRPr/>
          </a:p>
          <a:p>
            <a:r>
              <a:t>Tapi mungkin kita bisa mulai bertanya: "Apa yang saya pelajari dari pekerjaan hari ini, dan apakah saya masih bisa menggunakannya lagi satu tahun dari sekarang?"</a:t>
            </a:r>
          </a:p>
          <a:p>
            <a:endParaRPr/>
          </a:p>
          <a:p>
            <a:r>
              <a:t>Kalau mau mencoba, mulai saja besok dengan satu catatan. Vault yang tadi saya tunjukkan pun, di pekerjaan nyata, tumbuh dari satu catatan seperti itu.</a:t>
            </a:r>
          </a:p>
          <a:p>
            <a:endParaRPr/>
          </a:p>
          <a:p>
            <a:r>
              <a:t>Terima kasih. Itu dari saya — sekarang kita buka tanya jawab bersama Masron.</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PEMBICARA: MASRON &amp; ABDUL  ·  V2-22 · build 1/1 · waktu scene 0:00</a:t>
            </a:r>
          </a:p>
          <a:p>
            <a:endParaRPr/>
          </a:p>
          <a:p>
            <a:r>
              <a:t>Tanya jawab bersama Masron. Pertanyaan tentang control dan monitoring proyek dijawab Masron; pertanyaan tentang Obsidian, knowledge dan AI dijawab saya.</a:t>
            </a:r>
          </a:p>
          <a:p>
            <a:endParaRPr/>
          </a:p>
          <a:p>
            <a:r>
              <a:t>Bacakan dulu pertanyaan dari kolom komentar sebelum menjawab. Jawaban yang sudah disiapkan ada di `3_Persiapan/Q&amp;A.md`. Kalau ditanya proyek nyata: "Saya sengaja tidak memakai data proyek nyata — itu sebabnya semua contoh tadi simulasi."</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10" Type="http://schemas.openxmlformats.org/officeDocument/2006/relationships/image" Target="../media/image21.png"/><Relationship Id="rId4" Type="http://schemas.openxmlformats.org/officeDocument/2006/relationships/image" Target="../media/image23.png"/><Relationship Id="rId9" Type="http://schemas.openxmlformats.org/officeDocument/2006/relationships/image" Target="../media/image27.png"/></Relationships>
</file>

<file path=ppt/slides/_rels/slide10.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36.pn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26.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39.png"/><Relationship Id="rId7" Type="http://schemas.openxmlformats.org/officeDocument/2006/relationships/image" Target="../media/image41.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26.png"/><Relationship Id="rId4" Type="http://schemas.openxmlformats.org/officeDocument/2006/relationships/image" Target="../media/image24.png"/><Relationship Id="rId9" Type="http://schemas.openxmlformats.org/officeDocument/2006/relationships/image" Target="../media/image21.png"/></Relationships>
</file>

<file path=ppt/slides/_rels/slide17.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3" Type="http://schemas.openxmlformats.org/officeDocument/2006/relationships/image" Target="../media/image39.png"/><Relationship Id="rId7" Type="http://schemas.openxmlformats.org/officeDocument/2006/relationships/image" Target="../media/image40.png"/><Relationship Id="rId12" Type="http://schemas.openxmlformats.org/officeDocument/2006/relationships/image" Target="../media/image46.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41.png"/><Relationship Id="rId11" Type="http://schemas.openxmlformats.org/officeDocument/2006/relationships/image" Target="../media/image45.png"/><Relationship Id="rId5" Type="http://schemas.openxmlformats.org/officeDocument/2006/relationships/image" Target="../media/image24.png"/><Relationship Id="rId15" Type="http://schemas.openxmlformats.org/officeDocument/2006/relationships/image" Target="../media/image21.png"/><Relationship Id="rId10" Type="http://schemas.openxmlformats.org/officeDocument/2006/relationships/image" Target="../media/image44.png"/><Relationship Id="rId4" Type="http://schemas.openxmlformats.org/officeDocument/2006/relationships/image" Target="../media/image35.png"/><Relationship Id="rId9" Type="http://schemas.openxmlformats.org/officeDocument/2006/relationships/image" Target="../media/image43.png"/><Relationship Id="rId14" Type="http://schemas.openxmlformats.org/officeDocument/2006/relationships/image" Target="../media/image48.png"/></Relationships>
</file>

<file path=ppt/slides/_rels/slide18.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2.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5.png"/></Relationships>
</file>

<file path=ppt/slides/_rels/slide19.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png"/><Relationship Id="rId7" Type="http://schemas.openxmlformats.org/officeDocument/2006/relationships/image" Target="../media/image57.png"/><Relationship Id="rId12" Type="http://schemas.openxmlformats.org/officeDocument/2006/relationships/image" Target="../media/image62.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56.png"/><Relationship Id="rId11" Type="http://schemas.openxmlformats.org/officeDocument/2006/relationships/image" Target="../media/image61.png"/><Relationship Id="rId5" Type="http://schemas.openxmlformats.org/officeDocument/2006/relationships/image" Target="../media/image55.png"/><Relationship Id="rId10" Type="http://schemas.openxmlformats.org/officeDocument/2006/relationships/image" Target="../media/image60.png"/><Relationship Id="rId4" Type="http://schemas.openxmlformats.org/officeDocument/2006/relationships/image" Target="../media/image54.png"/><Relationship Id="rId9" Type="http://schemas.openxmlformats.org/officeDocument/2006/relationships/image" Target="../media/image59.png"/></Relationships>
</file>

<file path=ppt/slides/_rels/slide20.xml.rels><?xml version="1.0" encoding="UTF-8" standalone="yes"?>
<Relationships xmlns="http://schemas.openxmlformats.org/package/2006/relationships"><Relationship Id="rId3" Type="http://schemas.openxmlformats.org/officeDocument/2006/relationships/image" Target="../media/image63.png"/><Relationship Id="rId7" Type="http://schemas.openxmlformats.org/officeDocument/2006/relationships/image" Target="../media/image64.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54.png"/><Relationship Id="rId4" Type="http://schemas.openxmlformats.org/officeDocument/2006/relationships/image" Target="../media/image57.png"/></Relationships>
</file>

<file path=ppt/slides/_rels/slide21.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hyperlink" Target="https://obsidian.md/download" TargetMode="External"/><Relationship Id="rId3" Type="http://schemas.openxmlformats.org/officeDocument/2006/relationships/image" Target="../media/image65.png"/><Relationship Id="rId7" Type="http://schemas.openxmlformats.org/officeDocument/2006/relationships/image" Target="../media/image68.png"/><Relationship Id="rId12" Type="http://schemas.openxmlformats.org/officeDocument/2006/relationships/image" Target="../media/image71.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67.png"/><Relationship Id="rId11" Type="http://schemas.openxmlformats.org/officeDocument/2006/relationships/image" Target="../media/image35.png"/><Relationship Id="rId5" Type="http://schemas.openxmlformats.org/officeDocument/2006/relationships/image" Target="../media/image66.png"/><Relationship Id="rId10" Type="http://schemas.openxmlformats.org/officeDocument/2006/relationships/image" Target="../media/image70.png"/><Relationship Id="rId4" Type="http://schemas.openxmlformats.org/officeDocument/2006/relationships/image" Target="../media/image27.png"/><Relationship Id="rId9" Type="http://schemas.openxmlformats.org/officeDocument/2006/relationships/image" Target="../media/image69.png"/><Relationship Id="rId14" Type="http://schemas.openxmlformats.org/officeDocument/2006/relationships/image" Target="../media/image72.png"/></Relationships>
</file>

<file path=ppt/slides/_rels/slide22.xml.rels><?xml version="1.0" encoding="UTF-8" standalone="yes"?>
<Relationships xmlns="http://schemas.openxmlformats.org/package/2006/relationships"><Relationship Id="rId3" Type="http://schemas.openxmlformats.org/officeDocument/2006/relationships/image" Target="../media/image68.png"/><Relationship Id="rId7" Type="http://schemas.openxmlformats.org/officeDocument/2006/relationships/image" Target="../media/image73.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40.png"/><Relationship Id="rId4" Type="http://schemas.openxmlformats.org/officeDocument/2006/relationships/image" Target="../media/image69.png"/></Relationships>
</file>

<file path=ppt/slides/_rels/slide23.xml.rels><?xml version="1.0" encoding="UTF-8" standalone="yes"?>
<Relationships xmlns="http://schemas.openxmlformats.org/package/2006/relationships"><Relationship Id="rId3" Type="http://schemas.openxmlformats.org/officeDocument/2006/relationships/image" Target="../media/image74.png"/><Relationship Id="rId7"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0.png"/><Relationship Id="rId4" Type="http://schemas.openxmlformats.org/officeDocument/2006/relationships/image" Target="../media/image68.png"/></Relationships>
</file>

<file path=ppt/slides/_rels/slide24.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hyperlink" Target="obsidian://search?vault=Planning-Knowledge-Demo-ID&amp;query=rigging" TargetMode="External"/><Relationship Id="rId3" Type="http://schemas.openxmlformats.org/officeDocument/2006/relationships/image" Target="../media/image75.png"/><Relationship Id="rId7" Type="http://schemas.openxmlformats.org/officeDocument/2006/relationships/image" Target="../media/image77.png"/><Relationship Id="rId12" Type="http://schemas.openxmlformats.org/officeDocument/2006/relationships/image" Target="../media/image52.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hyperlink" Target="obsidian://new?vault=Planning-Knowledge-Demo-ID&amp;file=09%20Inbox%2FSite%20Walk%20-%20Week%2014&amp;content=---%0Atype%3A%20site-note%0Adomain%3A%20project-alpha%0Aproject%3A%20Project%20Alpha%0Afictional%3A%20true%0Atags%3A%0A%20%20-%20project-alpha%0A%20%20-%20fictional%0A%20%20-%20site-walk%0A---%0A%23%20Site%20Walk%20-%20Week%2014%0A%0A%3E%20%5B%21warning%5D%20Data%20proyek%20fiktif%20%E2%80%94%20dicatat%20langsung%20saat%20demo.%0A%0A%2A%2ATemuan%20di%20site%3A%2A%2A%20Rigging%20route%20ke%20Area%20A%20terhalang%20scaffold%20facade%20yang%20dipasang%20melintang%20di%20loading%20bay%3B%20lifting%20permit%20LP-07%20untuk%20rigging%20switchboard%20dan%20UPS%20masih%20pending.%0A%0A%2A%2ABerdampak%20pada%3A%2A%2A%20%5B%5BElectrical%20Equipment%20Installation%20-%20Area%20A%5D%5D%20%28A-3030%29%20%20%0A%2A%2AConstraint%3A%2A%2A%20C-003%20%C2%B7%20Access%20%C2%B7%20PIC%3A%20Main%20Contractor%20Site%20Manager%0A%0A%23%23%20Yang%20Ingin%20Saya%20Ingat%0A%0A-%20Cek%20access%20dan%20permit%20di%20lookahead%2C%20bukan%20di%20hari%20start%20%E2%86%92%20%5B%5BCek%20Readiness%20Sebelum%20Mulai%5D%5D%0A-%20Catat%20sebagai%20constraint%20yang%20punya%20PIC%20dan%20tanggal%20required-by%20%E2%86%92%20%5B%5BConstraints%5D%5D%0A&amp;overwrite=true" TargetMode="External"/><Relationship Id="rId11" Type="http://schemas.openxmlformats.org/officeDocument/2006/relationships/hyperlink" Target="obsidian://open?vault=Planning-Knowledge-Demo-ID&amp;file=05%20Lessons%20Learned%2FCek%20Readiness%20Sebelum%20Mulai" TargetMode="External"/><Relationship Id="rId5" Type="http://schemas.openxmlformats.org/officeDocument/2006/relationships/image" Target="../media/image68.png"/><Relationship Id="rId10" Type="http://schemas.openxmlformats.org/officeDocument/2006/relationships/image" Target="../media/image78.png"/><Relationship Id="rId4" Type="http://schemas.openxmlformats.org/officeDocument/2006/relationships/image" Target="../media/image76.png"/><Relationship Id="rId9" Type="http://schemas.openxmlformats.org/officeDocument/2006/relationships/hyperlink" Target="obsidian://open?vault=Planning-Knowledge-Demo-ID&amp;file=04%20Project%20Alpha%2FElectrical%20Equipment%20Installation%20-%20Area%20A" TargetMode="External"/><Relationship Id="rId14" Type="http://schemas.openxmlformats.org/officeDocument/2006/relationships/image" Target="../media/image79.png"/></Relationships>
</file>

<file path=ppt/slides/_rels/slide25.xml.rels><?xml version="1.0" encoding="UTF-8" standalone="yes"?>
<Relationships xmlns="http://schemas.openxmlformats.org/package/2006/relationships"><Relationship Id="rId3" Type="http://schemas.openxmlformats.org/officeDocument/2006/relationships/image" Target="../media/image80.png"/><Relationship Id="rId7"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40.png"/><Relationship Id="rId4" Type="http://schemas.openxmlformats.org/officeDocument/2006/relationships/image" Target="../media/image52.png"/></Relationships>
</file>

<file path=ppt/slides/_rels/slide26.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hyperlink" Target="NULL" TargetMode="External"/><Relationship Id="rId7" Type="http://schemas.openxmlformats.org/officeDocument/2006/relationships/image" Target="../media/image81.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hyperlink" Target="../2_Demo/Demo-Launcher.html#claude" TargetMode="External"/><Relationship Id="rId5" Type="http://schemas.openxmlformats.org/officeDocument/2006/relationships/image" Target="../media/image72.png"/><Relationship Id="rId10" Type="http://schemas.openxmlformats.org/officeDocument/2006/relationships/image" Target="../media/image35.png"/><Relationship Id="rId4" Type="http://schemas.openxmlformats.org/officeDocument/2006/relationships/hyperlink" Target="NULL" TargetMode="External"/><Relationship Id="rId9"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77.png"/><Relationship Id="rId4" Type="http://schemas.openxmlformats.org/officeDocument/2006/relationships/hyperlink" Target="obsidian://open?vault=Planning-Knowledge-Demo-ID&amp;file=04%20Project%20Alpha%2FConstraint%20Register" TargetMode="External"/></Relationships>
</file>

<file path=ppt/slides/_rels/slide28.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82.png"/><Relationship Id="rId7" Type="http://schemas.openxmlformats.org/officeDocument/2006/relationships/image" Target="../media/image84.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83.png"/><Relationship Id="rId5" Type="http://schemas.openxmlformats.org/officeDocument/2006/relationships/image" Target="../media/image2.png"/><Relationship Id="rId4" Type="http://schemas.openxmlformats.org/officeDocument/2006/relationships/image" Target="../media/image28.png"/><Relationship Id="rId9" Type="http://schemas.openxmlformats.org/officeDocument/2006/relationships/image" Target="../media/image86.png"/></Relationships>
</file>

<file path=ppt/slides/_rels/slide2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89.png"/><Relationship Id="rId4" Type="http://schemas.openxmlformats.org/officeDocument/2006/relationships/image" Target="../media/image88.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635240" y="0"/>
            <a:ext cx="4556455" cy="685800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25880"/>
            <a:ext cx="5486400" cy="237744"/>
          </a:xfrm>
          <a:prstGeom prst="rect">
            <a:avLst/>
          </a:prstGeom>
          <a:noFill/>
        </p:spPr>
        <p:txBody>
          <a:bodyPr wrap="none" lIns="0" tIns="0" rIns="0" bIns="0" anchor="ctr">
            <a:spAutoFit/>
          </a:bodyPr>
          <a:lstStyle/>
          <a:p>
            <a:pPr algn="l">
              <a:lnSpc>
                <a:spcPct val="105000"/>
              </a:lnSpc>
              <a:spcAft>
                <a:spcPts val="0"/>
              </a:spcAft>
            </a:pPr>
            <a:r>
              <a:rPr sz="1050" b="0" i="0" spc="80">
                <a:solidFill>
                  <a:srgbClr val="1F5BD8"/>
                </a:solidFill>
                <a:latin typeface="Segoe UI Semibold"/>
              </a:rPr>
              <a:t>LINKEDIN LIVE · PROJECT MANAGEMENT PRODIGY</a:t>
            </a:r>
          </a:p>
        </p:txBody>
      </p:sp>
      <p:sp>
        <p:nvSpPr>
          <p:cNvPr id="4" name="TextBox 3"/>
          <p:cNvSpPr txBox="1"/>
          <p:nvPr/>
        </p:nvSpPr>
        <p:spPr>
          <a:xfrm>
            <a:off x="548640" y="1691640"/>
            <a:ext cx="6949440" cy="1463040"/>
          </a:xfrm>
          <a:prstGeom prst="rect">
            <a:avLst/>
          </a:prstGeom>
          <a:noFill/>
        </p:spPr>
        <p:txBody>
          <a:bodyPr wrap="square" lIns="0" tIns="0" rIns="0" bIns="0" anchor="t">
            <a:spAutoFit/>
          </a:bodyPr>
          <a:lstStyle/>
          <a:p>
            <a:pPr algn="l">
              <a:lnSpc>
                <a:spcPct val="98000"/>
              </a:lnSpc>
              <a:spcAft>
                <a:spcPts val="0"/>
              </a:spcAft>
            </a:pPr>
            <a:r>
              <a:rPr sz="4200" b="0" i="0">
                <a:solidFill>
                  <a:srgbClr val="0B1F33"/>
                </a:solidFill>
                <a:latin typeface="Georgia"/>
              </a:rPr>
              <a:t>Behind the Scenes of</a:t>
            </a:r>
          </a:p>
          <a:p>
            <a:pPr algn="l">
              <a:lnSpc>
                <a:spcPct val="98000"/>
              </a:lnSpc>
              <a:spcAft>
                <a:spcPts val="0"/>
              </a:spcAft>
            </a:pPr>
            <a:r>
              <a:rPr sz="4200" b="0" i="0">
                <a:solidFill>
                  <a:srgbClr val="0B1F33"/>
                </a:solidFill>
                <a:latin typeface="Georgia"/>
              </a:rPr>
              <a:t>Data Center Project</a:t>
            </a:r>
          </a:p>
        </p:txBody>
      </p:sp>
      <p:sp>
        <p:nvSpPr>
          <p:cNvPr id="5" name="TextBox 4"/>
          <p:cNvSpPr txBox="1"/>
          <p:nvPr/>
        </p:nvSpPr>
        <p:spPr>
          <a:xfrm>
            <a:off x="548640" y="3154680"/>
            <a:ext cx="6766560" cy="822960"/>
          </a:xfrm>
          <a:prstGeom prst="rect">
            <a:avLst/>
          </a:prstGeom>
          <a:noFill/>
        </p:spPr>
        <p:txBody>
          <a:bodyPr wrap="square" lIns="0" tIns="0" rIns="0" bIns="0" anchor="t">
            <a:spAutoFit/>
          </a:bodyPr>
          <a:lstStyle/>
          <a:p>
            <a:pPr algn="l">
              <a:lnSpc>
                <a:spcPct val="105000"/>
              </a:lnSpc>
              <a:spcAft>
                <a:spcPts val="0"/>
              </a:spcAft>
            </a:pPr>
            <a:r>
              <a:rPr sz="1700" b="0" i="0">
                <a:solidFill>
                  <a:srgbClr val="56657A"/>
                </a:solidFill>
                <a:latin typeface="Segoe UI"/>
              </a:rPr>
              <a:t>Mastering Control, Management, and Continuous Monitoring from Ground to Cloud</a:t>
            </a:r>
          </a:p>
        </p:txBody>
      </p:sp>
      <p:sp>
        <p:nvSpPr>
          <p:cNvPr id="6" name="TextBox 5"/>
          <p:cNvSpPr txBox="1"/>
          <p:nvPr/>
        </p:nvSpPr>
        <p:spPr>
          <a:xfrm>
            <a:off x="548640" y="4041648"/>
            <a:ext cx="6766560" cy="320040"/>
          </a:xfrm>
          <a:prstGeom prst="rect">
            <a:avLst/>
          </a:prstGeom>
          <a:noFill/>
        </p:spPr>
        <p:txBody>
          <a:bodyPr wrap="square" lIns="0" tIns="0" rIns="0" bIns="0" anchor="t">
            <a:spAutoFit/>
          </a:bodyPr>
          <a:lstStyle/>
          <a:p>
            <a:pPr algn="l">
              <a:lnSpc>
                <a:spcPct val="105000"/>
              </a:lnSpc>
              <a:spcAft>
                <a:spcPts val="0"/>
              </a:spcAft>
            </a:pPr>
            <a:r>
              <a:rPr sz="1300" b="0" i="0">
                <a:solidFill>
                  <a:srgbClr val="0B1F33"/>
                </a:solidFill>
                <a:latin typeface="Segoe UI Semibold"/>
              </a:rPr>
              <a:t>Jumat, 18 September 2026 · 20.00 WIB</a:t>
            </a:r>
          </a:p>
        </p:txBody>
      </p:sp>
      <p:sp>
        <p:nvSpPr>
          <p:cNvPr id="7" name="Rectangle 6"/>
          <p:cNvSpPr/>
          <p:nvPr/>
        </p:nvSpPr>
        <p:spPr>
          <a:xfrm>
            <a:off x="548640" y="4526280"/>
            <a:ext cx="640080" cy="41148"/>
          </a:xfrm>
          <a:prstGeom prst="rect">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4800600"/>
            <a:ext cx="4572000" cy="237744"/>
          </a:xfrm>
          <a:prstGeom prst="rect">
            <a:avLst/>
          </a:prstGeom>
          <a:noFill/>
        </p:spPr>
        <p:txBody>
          <a:bodyPr wrap="none" lIns="0" tIns="0" rIns="0" bIns="0" anchor="ctr">
            <a:spAutoFit/>
          </a:bodyPr>
          <a:lstStyle/>
          <a:p>
            <a:pPr algn="l">
              <a:lnSpc>
                <a:spcPct val="105000"/>
              </a:lnSpc>
              <a:spcAft>
                <a:spcPts val="0"/>
              </a:spcAft>
            </a:pPr>
            <a:r>
              <a:rPr sz="900" b="0" i="0" spc="80">
                <a:solidFill>
                  <a:srgbClr val="98A3B3"/>
                </a:solidFill>
                <a:latin typeface="Segoe UI Semibold"/>
              </a:rPr>
              <a:t>DIBAWAKAN OLEH</a:t>
            </a:r>
          </a:p>
        </p:txBody>
      </p:sp>
      <p:sp>
        <p:nvSpPr>
          <p:cNvPr id="9" name="Oval 8"/>
          <p:cNvSpPr/>
          <p:nvPr/>
        </p:nvSpPr>
        <p:spPr>
          <a:xfrm>
            <a:off x="548640" y="5193792"/>
            <a:ext cx="493776" cy="493776"/>
          </a:xfrm>
          <a:prstGeom prst="ellipse">
            <a:avLst/>
          </a:prstGeom>
          <a:solidFill>
            <a:srgbClr val="FFFFFF"/>
          </a:solidFill>
          <a:ln w="12700">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E77B-0B1F33.png"/>
          <p:cNvPicPr>
            <a:picLocks noChangeAspect="1"/>
          </p:cNvPicPr>
          <p:nvPr/>
        </p:nvPicPr>
        <p:blipFill>
          <a:blip r:embed="rId3"/>
          <a:stretch>
            <a:fillRect/>
          </a:stretch>
        </p:blipFill>
        <p:spPr>
          <a:xfrm>
            <a:off x="672084" y="5317236"/>
            <a:ext cx="246888" cy="246888"/>
          </a:xfrm>
          <a:prstGeom prst="rect">
            <a:avLst/>
          </a:prstGeom>
        </p:spPr>
      </p:pic>
      <p:sp>
        <p:nvSpPr>
          <p:cNvPr id="11" name="TextBox 10"/>
          <p:cNvSpPr txBox="1"/>
          <p:nvPr/>
        </p:nvSpPr>
        <p:spPr>
          <a:xfrm>
            <a:off x="1152144" y="5257800"/>
            <a:ext cx="2560320" cy="365760"/>
          </a:xfrm>
          <a:prstGeom prst="rect">
            <a:avLst/>
          </a:prstGeom>
          <a:noFill/>
        </p:spPr>
        <p:txBody>
          <a:bodyPr wrap="none" lIns="0" tIns="0" rIns="0" bIns="0" anchor="ctr">
            <a:spAutoFit/>
          </a:bodyPr>
          <a:lstStyle/>
          <a:p>
            <a:pPr algn="l">
              <a:lnSpc>
                <a:spcPct val="105000"/>
              </a:lnSpc>
              <a:spcAft>
                <a:spcPts val="0"/>
              </a:spcAft>
            </a:pPr>
            <a:r>
              <a:rPr sz="1500" b="0" i="0">
                <a:solidFill>
                  <a:srgbClr val="0B1F33"/>
                </a:solidFill>
                <a:latin typeface="Segoe UI Semibold"/>
              </a:rPr>
              <a:t>Masron Hutabalian</a:t>
            </a:r>
          </a:p>
        </p:txBody>
      </p:sp>
      <p:sp>
        <p:nvSpPr>
          <p:cNvPr id="12" name="Oval 11"/>
          <p:cNvSpPr/>
          <p:nvPr/>
        </p:nvSpPr>
        <p:spPr>
          <a:xfrm>
            <a:off x="3794760" y="5193792"/>
            <a:ext cx="493776" cy="493776"/>
          </a:xfrm>
          <a:prstGeom prst="ellipse">
            <a:avLst/>
          </a:prstGeom>
          <a:solidFill>
            <a:srgbClr val="FFFFFF"/>
          </a:solidFill>
          <a:ln w="12700">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E77B-0B1F33.png"/>
          <p:cNvPicPr>
            <a:picLocks noChangeAspect="1"/>
          </p:cNvPicPr>
          <p:nvPr/>
        </p:nvPicPr>
        <p:blipFill>
          <a:blip r:embed="rId3"/>
          <a:stretch>
            <a:fillRect/>
          </a:stretch>
        </p:blipFill>
        <p:spPr>
          <a:xfrm>
            <a:off x="3918204" y="5317236"/>
            <a:ext cx="246888" cy="246888"/>
          </a:xfrm>
          <a:prstGeom prst="rect">
            <a:avLst/>
          </a:prstGeom>
        </p:spPr>
      </p:pic>
      <p:sp>
        <p:nvSpPr>
          <p:cNvPr id="14" name="TextBox 13"/>
          <p:cNvSpPr txBox="1"/>
          <p:nvPr/>
        </p:nvSpPr>
        <p:spPr>
          <a:xfrm>
            <a:off x="4398264" y="5257800"/>
            <a:ext cx="2560320" cy="365760"/>
          </a:xfrm>
          <a:prstGeom prst="rect">
            <a:avLst/>
          </a:prstGeom>
          <a:noFill/>
        </p:spPr>
        <p:txBody>
          <a:bodyPr wrap="none" lIns="0" tIns="0" rIns="0" bIns="0" anchor="ctr">
            <a:spAutoFit/>
          </a:bodyPr>
          <a:lstStyle/>
          <a:p>
            <a:pPr algn="l">
              <a:lnSpc>
                <a:spcPct val="105000"/>
              </a:lnSpc>
              <a:spcAft>
                <a:spcPts val="0"/>
              </a:spcAft>
            </a:pPr>
            <a:r>
              <a:rPr sz="1500" b="0" i="0">
                <a:solidFill>
                  <a:srgbClr val="0B1F33"/>
                </a:solidFill>
                <a:latin typeface="Segoe UI Semibold"/>
              </a:rPr>
              <a:t>Abdul Kausar</a:t>
            </a:r>
          </a:p>
        </p:txBody>
      </p:sp>
      <p:sp>
        <p:nvSpPr>
          <p:cNvPr id="15" name="TextBox 14"/>
          <p:cNvSpPr txBox="1"/>
          <p:nvPr/>
        </p:nvSpPr>
        <p:spPr>
          <a:xfrm>
            <a:off x="8183880" y="960120"/>
            <a:ext cx="2743200" cy="237744"/>
          </a:xfrm>
          <a:prstGeom prst="rect">
            <a:avLst/>
          </a:prstGeom>
          <a:noFill/>
        </p:spPr>
        <p:txBody>
          <a:bodyPr wrap="none" lIns="0" tIns="0" rIns="0" bIns="0" anchor="ctr">
            <a:spAutoFit/>
          </a:bodyPr>
          <a:lstStyle/>
          <a:p>
            <a:pPr algn="l">
              <a:lnSpc>
                <a:spcPct val="105000"/>
              </a:lnSpc>
              <a:spcAft>
                <a:spcPts val="0"/>
              </a:spcAft>
            </a:pPr>
            <a:r>
              <a:rPr sz="900" b="0" i="0" spc="80">
                <a:solidFill>
                  <a:srgbClr val="98A3B3"/>
                </a:solidFill>
                <a:latin typeface="Segoe UI Semibold"/>
              </a:rPr>
              <a:t>SCHEDULE</a:t>
            </a:r>
          </a:p>
        </p:txBody>
      </p:sp>
      <p:cxnSp>
        <p:nvCxnSpPr>
          <p:cNvPr id="16" name="Connector 15"/>
          <p:cNvCxnSpPr/>
          <p:nvPr/>
        </p:nvCxnSpPr>
        <p:spPr>
          <a:xfrm>
            <a:off x="8183880" y="1280160"/>
            <a:ext cx="0" cy="1965960"/>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680269" y="1280160"/>
            <a:ext cx="0" cy="1965960"/>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176657" y="1280160"/>
            <a:ext cx="0" cy="1965960"/>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673046" y="1280160"/>
            <a:ext cx="0" cy="1965960"/>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169434" y="1280160"/>
            <a:ext cx="0" cy="1965960"/>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0665823" y="1280160"/>
            <a:ext cx="0" cy="1965960"/>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1162211" y="1280160"/>
            <a:ext cx="0" cy="1965960"/>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1658600" y="1280160"/>
            <a:ext cx="0" cy="1965960"/>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83880" y="1481328"/>
            <a:ext cx="1042416" cy="201168"/>
          </a:xfrm>
          <a:prstGeom prst="roundRect">
            <a:avLst>
              <a:gd name="adj" fmla="val 50000"/>
            </a:avLst>
          </a:prstGeom>
          <a:solidFill>
            <a:srgbClr val="98A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8809330" y="1938528"/>
            <a:ext cx="1181405" cy="201168"/>
          </a:xfrm>
          <a:prstGeom prst="roundRect">
            <a:avLst>
              <a:gd name="adj" fmla="val 50000"/>
            </a:avLst>
          </a:prstGeom>
          <a:solidFill>
            <a:srgbClr val="98A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9643262" y="2395728"/>
            <a:ext cx="1111910" cy="201168"/>
          </a:xfrm>
          <a:prstGeom prst="roundRect">
            <a:avLst>
              <a:gd name="adj" fmla="val 50000"/>
            </a:avLst>
          </a:prstGeom>
          <a:solidFill>
            <a:srgbClr val="98A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10338206" y="2852928"/>
            <a:ext cx="1146658" cy="201168"/>
          </a:xfrm>
          <a:prstGeom prst="roundRect">
            <a:avLst>
              <a:gd name="adj" fmla="val 50000"/>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Freeform 27"/>
          <p:cNvSpPr/>
          <p:nvPr/>
        </p:nvSpPr>
        <p:spPr>
          <a:xfrm>
            <a:off x="9921240" y="3072384"/>
            <a:ext cx="1517904" cy="941832"/>
          </a:xfrm>
          <a:custGeom>
            <a:avLst/>
            <a:gdLst/>
            <a:ahLst/>
            <a:cxnLst/>
            <a:rect l="l" t="t" r="r" b="b"/>
            <a:pathLst>
              <a:path w="1517904" h="941832">
                <a:moveTo>
                  <a:pt x="1517904" y="0"/>
                </a:moveTo>
                <a:lnTo>
                  <a:pt x="1517904" y="676656"/>
                </a:lnTo>
                <a:lnTo>
                  <a:pt x="0" y="676656"/>
                </a:lnTo>
                <a:lnTo>
                  <a:pt x="0" y="941832"/>
                </a:lnTo>
              </a:path>
            </a:pathLst>
          </a:custGeom>
          <a:noFill/>
          <a:ln w="19050">
            <a:solidFill>
              <a:srgbClr val="1F5BD8"/>
            </a:solidFill>
            <a:prstDash val="dash"/>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9" name="Connector 28"/>
          <p:cNvCxnSpPr/>
          <p:nvPr/>
        </p:nvCxnSpPr>
        <p:spPr>
          <a:xfrm>
            <a:off x="8549640" y="4754880"/>
            <a:ext cx="548640" cy="1051560"/>
          </a:xfrm>
          <a:prstGeom prst="line">
            <a:avLst/>
          </a:prstGeom>
          <a:ln w="15875">
            <a:solidFill>
              <a:srgbClr val="DDE2E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10744200" y="4617720"/>
            <a:ext cx="502920" cy="1234440"/>
          </a:xfrm>
          <a:prstGeom prst="line">
            <a:avLst/>
          </a:prstGeom>
          <a:ln w="15875">
            <a:solidFill>
              <a:srgbClr val="DDE2E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098280" y="5806440"/>
            <a:ext cx="1645920" cy="45720"/>
          </a:xfrm>
          <a:prstGeom prst="line">
            <a:avLst/>
          </a:prstGeom>
          <a:ln w="15875">
            <a:solidFill>
              <a:srgbClr val="DDE2E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8549640" y="4343400"/>
            <a:ext cx="1371600" cy="411480"/>
          </a:xfrm>
          <a:prstGeom prst="line">
            <a:avLst/>
          </a:prstGeom>
          <a:ln w="15875">
            <a:solidFill>
              <a:srgbClr val="8DB4FF"/>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9921240" y="4343400"/>
            <a:ext cx="1325880" cy="274320"/>
          </a:xfrm>
          <a:prstGeom prst="line">
            <a:avLst/>
          </a:prstGeom>
          <a:ln w="15875">
            <a:solidFill>
              <a:srgbClr val="8DB4FF"/>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9098280" y="4343400"/>
            <a:ext cx="822960" cy="1463040"/>
          </a:xfrm>
          <a:prstGeom prst="line">
            <a:avLst/>
          </a:prstGeom>
          <a:ln w="15875">
            <a:solidFill>
              <a:srgbClr val="8DB4FF"/>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921240" y="4343400"/>
            <a:ext cx="822960" cy="1508760"/>
          </a:xfrm>
          <a:prstGeom prst="line">
            <a:avLst/>
          </a:prstGeom>
          <a:ln w="15875">
            <a:solidFill>
              <a:srgbClr val="8DB4FF"/>
            </a:solidFill>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8321040" y="4526280"/>
            <a:ext cx="457200" cy="457200"/>
          </a:xfrm>
          <a:prstGeom prst="ellipse">
            <a:avLst/>
          </a:prstGeom>
          <a:solidFill>
            <a:srgbClr val="FFFFFF"/>
          </a:solidFill>
          <a:ln w="12700">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7" name="Picture 36" descr="E8A5-0B1F33.png"/>
          <p:cNvPicPr>
            <a:picLocks noChangeAspect="1"/>
          </p:cNvPicPr>
          <p:nvPr/>
        </p:nvPicPr>
        <p:blipFill>
          <a:blip r:embed="rId4"/>
          <a:stretch>
            <a:fillRect/>
          </a:stretch>
        </p:blipFill>
        <p:spPr>
          <a:xfrm>
            <a:off x="8435340" y="4640580"/>
            <a:ext cx="228600" cy="228600"/>
          </a:xfrm>
          <a:prstGeom prst="rect">
            <a:avLst/>
          </a:prstGeom>
        </p:spPr>
      </p:pic>
      <p:sp>
        <p:nvSpPr>
          <p:cNvPr id="38" name="Oval 37"/>
          <p:cNvSpPr/>
          <p:nvPr/>
        </p:nvSpPr>
        <p:spPr>
          <a:xfrm>
            <a:off x="11018520" y="4389120"/>
            <a:ext cx="457200" cy="457200"/>
          </a:xfrm>
          <a:prstGeom prst="ellipse">
            <a:avLst/>
          </a:prstGeom>
          <a:solidFill>
            <a:srgbClr val="FFFFFF"/>
          </a:solidFill>
          <a:ln w="12700">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Picture 38" descr="E8A5-0B1F33.png"/>
          <p:cNvPicPr>
            <a:picLocks noChangeAspect="1"/>
          </p:cNvPicPr>
          <p:nvPr/>
        </p:nvPicPr>
        <p:blipFill>
          <a:blip r:embed="rId4"/>
          <a:stretch>
            <a:fillRect/>
          </a:stretch>
        </p:blipFill>
        <p:spPr>
          <a:xfrm>
            <a:off x="11132820" y="4503420"/>
            <a:ext cx="228600" cy="228600"/>
          </a:xfrm>
          <a:prstGeom prst="rect">
            <a:avLst/>
          </a:prstGeom>
        </p:spPr>
      </p:pic>
      <p:sp>
        <p:nvSpPr>
          <p:cNvPr id="40" name="Oval 39"/>
          <p:cNvSpPr/>
          <p:nvPr/>
        </p:nvSpPr>
        <p:spPr>
          <a:xfrm>
            <a:off x="8869680" y="5577840"/>
            <a:ext cx="457200" cy="457200"/>
          </a:xfrm>
          <a:prstGeom prst="ellipse">
            <a:avLst/>
          </a:prstGeom>
          <a:solidFill>
            <a:srgbClr val="FFFFFF"/>
          </a:solidFill>
          <a:ln w="12700">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1" name="Picture 40" descr="E8A5-0B1F33.png"/>
          <p:cNvPicPr>
            <a:picLocks noChangeAspect="1"/>
          </p:cNvPicPr>
          <p:nvPr/>
        </p:nvPicPr>
        <p:blipFill>
          <a:blip r:embed="rId4"/>
          <a:stretch>
            <a:fillRect/>
          </a:stretch>
        </p:blipFill>
        <p:spPr>
          <a:xfrm>
            <a:off x="8983980" y="5692140"/>
            <a:ext cx="228600" cy="228600"/>
          </a:xfrm>
          <a:prstGeom prst="rect">
            <a:avLst/>
          </a:prstGeom>
        </p:spPr>
      </p:pic>
      <p:sp>
        <p:nvSpPr>
          <p:cNvPr id="42" name="Oval 41"/>
          <p:cNvSpPr/>
          <p:nvPr/>
        </p:nvSpPr>
        <p:spPr>
          <a:xfrm>
            <a:off x="10515600" y="5623560"/>
            <a:ext cx="457200" cy="457200"/>
          </a:xfrm>
          <a:prstGeom prst="ellipse">
            <a:avLst/>
          </a:prstGeom>
          <a:solidFill>
            <a:srgbClr val="FFFFFF"/>
          </a:solidFill>
          <a:ln w="12700">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3" name="Picture 42" descr="E8A5-0B1F33.png"/>
          <p:cNvPicPr>
            <a:picLocks noChangeAspect="1"/>
          </p:cNvPicPr>
          <p:nvPr/>
        </p:nvPicPr>
        <p:blipFill>
          <a:blip r:embed="rId4"/>
          <a:stretch>
            <a:fillRect/>
          </a:stretch>
        </p:blipFill>
        <p:spPr>
          <a:xfrm>
            <a:off x="10629900" y="5737860"/>
            <a:ext cx="228600" cy="228600"/>
          </a:xfrm>
          <a:prstGeom prst="rect">
            <a:avLst/>
          </a:prstGeom>
        </p:spPr>
      </p:pic>
      <p:sp>
        <p:nvSpPr>
          <p:cNvPr id="44" name="Oval 43"/>
          <p:cNvSpPr/>
          <p:nvPr/>
        </p:nvSpPr>
        <p:spPr>
          <a:xfrm>
            <a:off x="9619488" y="4041648"/>
            <a:ext cx="603504" cy="603504"/>
          </a:xfrm>
          <a:prstGeom prst="ellipse">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5" name="Picture 44" descr="E71B-FFFFFF.png"/>
          <p:cNvPicPr>
            <a:picLocks noChangeAspect="1"/>
          </p:cNvPicPr>
          <p:nvPr/>
        </p:nvPicPr>
        <p:blipFill>
          <a:blip r:embed="rId5"/>
          <a:stretch>
            <a:fillRect/>
          </a:stretch>
        </p:blipFill>
        <p:spPr>
          <a:xfrm>
            <a:off x="9770364" y="4192524"/>
            <a:ext cx="301752" cy="301752"/>
          </a:xfrm>
          <a:prstGeom prst="rect">
            <a:avLst/>
          </a:prstGeom>
        </p:spPr>
      </p:pic>
      <p:sp>
        <p:nvSpPr>
          <p:cNvPr id="46" name="TextBox 45"/>
          <p:cNvSpPr txBox="1"/>
          <p:nvPr/>
        </p:nvSpPr>
        <p:spPr>
          <a:xfrm>
            <a:off x="8183880" y="6263640"/>
            <a:ext cx="2743200" cy="237744"/>
          </a:xfrm>
          <a:prstGeom prst="rect">
            <a:avLst/>
          </a:prstGeom>
          <a:noFill/>
        </p:spPr>
        <p:txBody>
          <a:bodyPr wrap="none" lIns="0" tIns="0" rIns="0" bIns="0" anchor="ctr">
            <a:spAutoFit/>
          </a:bodyPr>
          <a:lstStyle/>
          <a:p>
            <a:pPr algn="l">
              <a:lnSpc>
                <a:spcPct val="105000"/>
              </a:lnSpc>
              <a:spcAft>
                <a:spcPts val="0"/>
              </a:spcAft>
            </a:pPr>
            <a:r>
              <a:rPr sz="900" b="0" i="0" spc="80">
                <a:solidFill>
                  <a:srgbClr val="98A3B3"/>
                </a:solidFill>
                <a:latin typeface="Segoe UI Semibold"/>
              </a:rPr>
              <a:t>KNOWLEDGE</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94415" cy="841248"/>
          </a:xfrm>
          <a:prstGeom prst="rect">
            <a:avLst/>
          </a:prstGeom>
          <a:noFill/>
        </p:spPr>
        <p:txBody>
          <a:bodyPr wrap="square" lIns="0" tIns="0" rIns="0" bIns="0" anchor="b">
            <a:spAutoFit/>
          </a:bodyPr>
          <a:lstStyle/>
          <a:p>
            <a:pPr algn="l">
              <a:lnSpc>
                <a:spcPct val="105000"/>
              </a:lnSpc>
              <a:spcAft>
                <a:spcPts val="0"/>
              </a:spcAft>
            </a:pPr>
            <a:r>
              <a:rPr sz="3000" b="0" i="0">
                <a:solidFill>
                  <a:srgbClr val="0B1F33"/>
                </a:solidFill>
                <a:latin typeface="Georgia"/>
              </a:rPr>
              <a:t>Satu jam, tiga bagian</a:t>
            </a:r>
          </a:p>
        </p:txBody>
      </p:sp>
      <p:cxnSp>
        <p:nvCxnSpPr>
          <p:cNvPr id="3" name="Connector 2"/>
          <p:cNvCxnSpPr/>
          <p:nvPr/>
        </p:nvCxnSpPr>
        <p:spPr>
          <a:xfrm>
            <a:off x="548640" y="1517904"/>
            <a:ext cx="11094415" cy="0"/>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4" name="!!part0"/>
          <p:cNvSpPr/>
          <p:nvPr/>
        </p:nvSpPr>
        <p:spPr>
          <a:xfrm>
            <a:off x="548640" y="1874520"/>
            <a:ext cx="3545738" cy="2880360"/>
          </a:xfrm>
          <a:prstGeom prst="roundRect">
            <a:avLst>
              <a:gd name="adj" fmla="val 3809"/>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58952" y="2112264"/>
            <a:ext cx="713232" cy="713232"/>
          </a:xfrm>
          <a:prstGeom prst="ellipse">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EC7A-FFFFFF.png"/>
          <p:cNvPicPr>
            <a:picLocks noChangeAspect="1"/>
          </p:cNvPicPr>
          <p:nvPr/>
        </p:nvPicPr>
        <p:blipFill>
          <a:blip r:embed="rId3"/>
          <a:stretch>
            <a:fillRect/>
          </a:stretch>
        </p:blipFill>
        <p:spPr>
          <a:xfrm>
            <a:off x="937260" y="2290572"/>
            <a:ext cx="356616" cy="356616"/>
          </a:xfrm>
          <a:prstGeom prst="rect">
            <a:avLst/>
          </a:prstGeom>
        </p:spPr>
      </p:pic>
      <p:sp>
        <p:nvSpPr>
          <p:cNvPr id="7" name="Rounded Rectangle 6"/>
          <p:cNvSpPr/>
          <p:nvPr/>
        </p:nvSpPr>
        <p:spPr>
          <a:xfrm>
            <a:off x="2930550" y="2331720"/>
            <a:ext cx="889508" cy="274320"/>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076854" y="2331720"/>
            <a:ext cx="889508" cy="274320"/>
          </a:xfrm>
          <a:prstGeom prst="rect">
            <a:avLst/>
          </a:prstGeom>
          <a:noFill/>
        </p:spPr>
        <p:txBody>
          <a:bodyPr wrap="none" lIns="0" tIns="0" rIns="0" bIns="0" anchor="ctr">
            <a:spAutoFit/>
          </a:bodyPr>
          <a:lstStyle/>
          <a:p>
            <a:pPr algn="l">
              <a:lnSpc>
                <a:spcPct val="105000"/>
              </a:lnSpc>
              <a:spcAft>
                <a:spcPts val="0"/>
              </a:spcAft>
            </a:pPr>
            <a:r>
              <a:rPr sz="1000" b="0" i="0">
                <a:solidFill>
                  <a:srgbClr val="0B1F33"/>
                </a:solidFill>
                <a:latin typeface="Segoe UI Semibold"/>
              </a:rPr>
              <a:t>±20 menit</a:t>
            </a:r>
          </a:p>
        </p:txBody>
      </p:sp>
      <p:sp>
        <p:nvSpPr>
          <p:cNvPr id="9" name="TextBox 8"/>
          <p:cNvSpPr txBox="1"/>
          <p:nvPr/>
        </p:nvSpPr>
        <p:spPr>
          <a:xfrm>
            <a:off x="822960" y="3044952"/>
            <a:ext cx="2997098" cy="237744"/>
          </a:xfrm>
          <a:prstGeom prst="rect">
            <a:avLst/>
          </a:prstGeom>
          <a:noFill/>
        </p:spPr>
        <p:txBody>
          <a:bodyPr wrap="none" lIns="0" tIns="0" rIns="0" bIns="0" anchor="ctr">
            <a:spAutoFit/>
          </a:bodyPr>
          <a:lstStyle/>
          <a:p>
            <a:pPr algn="l">
              <a:lnSpc>
                <a:spcPct val="105000"/>
              </a:lnSpc>
              <a:spcAft>
                <a:spcPts val="0"/>
              </a:spcAft>
            </a:pPr>
            <a:r>
              <a:rPr sz="900" b="0" i="0" spc="80">
                <a:solidFill>
                  <a:srgbClr val="1F5BD8"/>
                </a:solidFill>
                <a:latin typeface="Segoe UI Semibold"/>
              </a:rPr>
              <a:t>BAGIAN 1</a:t>
            </a:r>
          </a:p>
        </p:txBody>
      </p:sp>
      <p:sp>
        <p:nvSpPr>
          <p:cNvPr id="10" name="TextBox 9"/>
          <p:cNvSpPr txBox="1"/>
          <p:nvPr/>
        </p:nvSpPr>
        <p:spPr>
          <a:xfrm>
            <a:off x="822960" y="3319272"/>
            <a:ext cx="2997098" cy="914400"/>
          </a:xfrm>
          <a:prstGeom prst="rect">
            <a:avLst/>
          </a:prstGeom>
          <a:noFill/>
        </p:spPr>
        <p:txBody>
          <a:bodyPr wrap="square" lIns="0" tIns="0" rIns="0" bIns="0" anchor="t">
            <a:spAutoFit/>
          </a:bodyPr>
          <a:lstStyle/>
          <a:p>
            <a:pPr algn="l">
              <a:lnSpc>
                <a:spcPct val="100000"/>
              </a:lnSpc>
              <a:spcAft>
                <a:spcPts val="0"/>
              </a:spcAft>
            </a:pPr>
            <a:r>
              <a:rPr sz="1800" b="0" i="0">
                <a:solidFill>
                  <a:srgbClr val="0B1F33"/>
                </a:solidFill>
                <a:latin typeface="Georgia"/>
              </a:rPr>
              <a:t>Proyek data center dari ground sampai cloud</a:t>
            </a:r>
          </a:p>
        </p:txBody>
      </p:sp>
      <p:cxnSp>
        <p:nvCxnSpPr>
          <p:cNvPr id="11" name="Connector 10"/>
          <p:cNvCxnSpPr/>
          <p:nvPr/>
        </p:nvCxnSpPr>
        <p:spPr>
          <a:xfrm>
            <a:off x="822960" y="4187952"/>
            <a:ext cx="2997098" cy="0"/>
          </a:xfrm>
          <a:prstGeom prst="line">
            <a:avLst/>
          </a:prstGeom>
          <a:ln w="6350">
            <a:solidFill>
              <a:srgbClr val="DDE2E9"/>
            </a:solidFill>
          </a:ln>
        </p:spPr>
        <p:style>
          <a:lnRef idx="2">
            <a:schemeClr val="accent1"/>
          </a:lnRef>
          <a:fillRef idx="0">
            <a:schemeClr val="accent1"/>
          </a:fillRef>
          <a:effectRef idx="1">
            <a:schemeClr val="accent1"/>
          </a:effectRef>
          <a:fontRef idx="minor">
            <a:schemeClr val="tx1"/>
          </a:fontRef>
        </p:style>
      </p:cxnSp>
      <p:pic>
        <p:nvPicPr>
          <p:cNvPr id="12" name="Picture 11" descr="E77B-56657A.png"/>
          <p:cNvPicPr>
            <a:picLocks noChangeAspect="1"/>
          </p:cNvPicPr>
          <p:nvPr/>
        </p:nvPicPr>
        <p:blipFill>
          <a:blip r:embed="rId4"/>
          <a:stretch>
            <a:fillRect/>
          </a:stretch>
        </p:blipFill>
        <p:spPr>
          <a:xfrm>
            <a:off x="841248" y="4343400"/>
            <a:ext cx="237744" cy="237744"/>
          </a:xfrm>
          <a:prstGeom prst="rect">
            <a:avLst/>
          </a:prstGeom>
        </p:spPr>
      </p:pic>
      <p:sp>
        <p:nvSpPr>
          <p:cNvPr id="13" name="TextBox 12"/>
          <p:cNvSpPr txBox="1"/>
          <p:nvPr/>
        </p:nvSpPr>
        <p:spPr>
          <a:xfrm>
            <a:off x="1170432" y="4279392"/>
            <a:ext cx="2722778" cy="365760"/>
          </a:xfrm>
          <a:prstGeom prst="rect">
            <a:avLst/>
          </a:prstGeom>
          <a:noFill/>
        </p:spPr>
        <p:txBody>
          <a:bodyPr wrap="none" lIns="0" tIns="0" rIns="0" bIns="0" anchor="ctr">
            <a:spAutoFit/>
          </a:bodyPr>
          <a:lstStyle/>
          <a:p>
            <a:pPr algn="l">
              <a:lnSpc>
                <a:spcPct val="105000"/>
              </a:lnSpc>
              <a:spcAft>
                <a:spcPts val="0"/>
              </a:spcAft>
            </a:pPr>
            <a:r>
              <a:rPr sz="1250" b="0" i="0">
                <a:solidFill>
                  <a:srgbClr val="56657A"/>
                </a:solidFill>
                <a:latin typeface="Segoe UI Semibold"/>
              </a:rPr>
              <a:t>Masron Hutabalian</a:t>
            </a:r>
          </a:p>
        </p:txBody>
      </p:sp>
      <p:sp>
        <p:nvSpPr>
          <p:cNvPr id="14" name="!!part1"/>
          <p:cNvSpPr/>
          <p:nvPr/>
        </p:nvSpPr>
        <p:spPr>
          <a:xfrm>
            <a:off x="4322978" y="1874520"/>
            <a:ext cx="3545738" cy="2880360"/>
          </a:xfrm>
          <a:prstGeom prst="roundRect">
            <a:avLst>
              <a:gd name="adj" fmla="val 3809"/>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533290" y="2112264"/>
            <a:ext cx="713232" cy="713232"/>
          </a:xfrm>
          <a:prstGeom prst="ellipse">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E8F1-FFFFFF.png"/>
          <p:cNvPicPr>
            <a:picLocks noChangeAspect="1"/>
          </p:cNvPicPr>
          <p:nvPr/>
        </p:nvPicPr>
        <p:blipFill>
          <a:blip r:embed="rId5"/>
          <a:stretch>
            <a:fillRect/>
          </a:stretch>
        </p:blipFill>
        <p:spPr>
          <a:xfrm>
            <a:off x="4711598" y="2290572"/>
            <a:ext cx="356616" cy="356616"/>
          </a:xfrm>
          <a:prstGeom prst="rect">
            <a:avLst/>
          </a:prstGeom>
        </p:spPr>
      </p:pic>
      <p:sp>
        <p:nvSpPr>
          <p:cNvPr id="17" name="Rounded Rectangle 16"/>
          <p:cNvSpPr/>
          <p:nvPr/>
        </p:nvSpPr>
        <p:spPr>
          <a:xfrm>
            <a:off x="6704889" y="2331720"/>
            <a:ext cx="889508" cy="274320"/>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51193" y="2331720"/>
            <a:ext cx="889508" cy="274320"/>
          </a:xfrm>
          <a:prstGeom prst="rect">
            <a:avLst/>
          </a:prstGeom>
          <a:noFill/>
        </p:spPr>
        <p:txBody>
          <a:bodyPr wrap="none" lIns="0" tIns="0" rIns="0" bIns="0" anchor="ctr">
            <a:spAutoFit/>
          </a:bodyPr>
          <a:lstStyle/>
          <a:p>
            <a:pPr algn="l">
              <a:lnSpc>
                <a:spcPct val="105000"/>
              </a:lnSpc>
              <a:spcAft>
                <a:spcPts val="0"/>
              </a:spcAft>
            </a:pPr>
            <a:r>
              <a:rPr sz="1000" b="0" i="0">
                <a:solidFill>
                  <a:srgbClr val="0B1F33"/>
                </a:solidFill>
                <a:latin typeface="Segoe UI Semibold"/>
              </a:rPr>
              <a:t>±25 menit</a:t>
            </a:r>
          </a:p>
        </p:txBody>
      </p:sp>
      <p:sp>
        <p:nvSpPr>
          <p:cNvPr id="19" name="TextBox 18"/>
          <p:cNvSpPr txBox="1"/>
          <p:nvPr/>
        </p:nvSpPr>
        <p:spPr>
          <a:xfrm>
            <a:off x="4597298" y="3044952"/>
            <a:ext cx="2997098" cy="237744"/>
          </a:xfrm>
          <a:prstGeom prst="rect">
            <a:avLst/>
          </a:prstGeom>
          <a:noFill/>
        </p:spPr>
        <p:txBody>
          <a:bodyPr wrap="none" lIns="0" tIns="0" rIns="0" bIns="0" anchor="ctr">
            <a:spAutoFit/>
          </a:bodyPr>
          <a:lstStyle/>
          <a:p>
            <a:pPr algn="l">
              <a:lnSpc>
                <a:spcPct val="105000"/>
              </a:lnSpc>
              <a:spcAft>
                <a:spcPts val="0"/>
              </a:spcAft>
            </a:pPr>
            <a:r>
              <a:rPr sz="900" b="0" i="0" spc="80">
                <a:solidFill>
                  <a:srgbClr val="1F5BD8"/>
                </a:solidFill>
                <a:latin typeface="Segoe UI Semibold"/>
              </a:rPr>
              <a:t>BAGIAN 2</a:t>
            </a:r>
          </a:p>
        </p:txBody>
      </p:sp>
      <p:sp>
        <p:nvSpPr>
          <p:cNvPr id="20" name="TextBox 19"/>
          <p:cNvSpPr txBox="1"/>
          <p:nvPr/>
        </p:nvSpPr>
        <p:spPr>
          <a:xfrm>
            <a:off x="4597298" y="3319272"/>
            <a:ext cx="2997098" cy="914400"/>
          </a:xfrm>
          <a:prstGeom prst="rect">
            <a:avLst/>
          </a:prstGeom>
          <a:noFill/>
        </p:spPr>
        <p:txBody>
          <a:bodyPr wrap="square" lIns="0" tIns="0" rIns="0" bIns="0" anchor="t">
            <a:spAutoFit/>
          </a:bodyPr>
          <a:lstStyle/>
          <a:p>
            <a:pPr algn="l">
              <a:lnSpc>
                <a:spcPct val="100000"/>
              </a:lnSpc>
              <a:spcAft>
                <a:spcPts val="0"/>
              </a:spcAft>
            </a:pPr>
            <a:r>
              <a:rPr sz="1800" b="0" i="0">
                <a:solidFill>
                  <a:srgbClr val="0B1F33"/>
                </a:solidFill>
                <a:latin typeface="Georgia"/>
              </a:rPr>
              <a:t>Informasi &amp; knowledge di balik control — Obsidian + AI</a:t>
            </a:r>
          </a:p>
        </p:txBody>
      </p:sp>
      <p:cxnSp>
        <p:nvCxnSpPr>
          <p:cNvPr id="21" name="Connector 20"/>
          <p:cNvCxnSpPr/>
          <p:nvPr/>
        </p:nvCxnSpPr>
        <p:spPr>
          <a:xfrm>
            <a:off x="4597298" y="4187952"/>
            <a:ext cx="2997099" cy="0"/>
          </a:xfrm>
          <a:prstGeom prst="line">
            <a:avLst/>
          </a:prstGeom>
          <a:ln w="6350">
            <a:solidFill>
              <a:srgbClr val="DDE2E9"/>
            </a:solidFill>
          </a:ln>
        </p:spPr>
        <p:style>
          <a:lnRef idx="2">
            <a:schemeClr val="accent1"/>
          </a:lnRef>
          <a:fillRef idx="0">
            <a:schemeClr val="accent1"/>
          </a:fillRef>
          <a:effectRef idx="1">
            <a:schemeClr val="accent1"/>
          </a:effectRef>
          <a:fontRef idx="minor">
            <a:schemeClr val="tx1"/>
          </a:fontRef>
        </p:style>
      </p:cxnSp>
      <p:pic>
        <p:nvPicPr>
          <p:cNvPr id="22" name="Picture 21" descr="E77B-56657A.png"/>
          <p:cNvPicPr>
            <a:picLocks noChangeAspect="1"/>
          </p:cNvPicPr>
          <p:nvPr/>
        </p:nvPicPr>
        <p:blipFill>
          <a:blip r:embed="rId4"/>
          <a:stretch>
            <a:fillRect/>
          </a:stretch>
        </p:blipFill>
        <p:spPr>
          <a:xfrm>
            <a:off x="4615586" y="4343400"/>
            <a:ext cx="237744" cy="237744"/>
          </a:xfrm>
          <a:prstGeom prst="rect">
            <a:avLst/>
          </a:prstGeom>
        </p:spPr>
      </p:pic>
      <p:sp>
        <p:nvSpPr>
          <p:cNvPr id="23" name="TextBox 22"/>
          <p:cNvSpPr txBox="1"/>
          <p:nvPr/>
        </p:nvSpPr>
        <p:spPr>
          <a:xfrm>
            <a:off x="4944770" y="4279392"/>
            <a:ext cx="2722778" cy="365760"/>
          </a:xfrm>
          <a:prstGeom prst="rect">
            <a:avLst/>
          </a:prstGeom>
          <a:noFill/>
        </p:spPr>
        <p:txBody>
          <a:bodyPr wrap="none" lIns="0" tIns="0" rIns="0" bIns="0" anchor="ctr">
            <a:spAutoFit/>
          </a:bodyPr>
          <a:lstStyle/>
          <a:p>
            <a:pPr algn="l">
              <a:lnSpc>
                <a:spcPct val="105000"/>
              </a:lnSpc>
              <a:spcAft>
                <a:spcPts val="0"/>
              </a:spcAft>
            </a:pPr>
            <a:r>
              <a:rPr sz="1250" b="0" i="0">
                <a:solidFill>
                  <a:srgbClr val="56657A"/>
                </a:solidFill>
                <a:latin typeface="Segoe UI Semibold"/>
              </a:rPr>
              <a:t>Abdul Kausar</a:t>
            </a:r>
          </a:p>
        </p:txBody>
      </p:sp>
      <p:sp>
        <p:nvSpPr>
          <p:cNvPr id="24" name="!!part2"/>
          <p:cNvSpPr/>
          <p:nvPr/>
        </p:nvSpPr>
        <p:spPr>
          <a:xfrm>
            <a:off x="8097317" y="1874520"/>
            <a:ext cx="3545738" cy="2880360"/>
          </a:xfrm>
          <a:prstGeom prst="roundRect">
            <a:avLst>
              <a:gd name="adj" fmla="val 3809"/>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8307629" y="2112264"/>
            <a:ext cx="713232" cy="713232"/>
          </a:xfrm>
          <a:prstGeom prst="ellipse">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E8BD-56657A.png"/>
          <p:cNvPicPr>
            <a:picLocks noChangeAspect="1"/>
          </p:cNvPicPr>
          <p:nvPr/>
        </p:nvPicPr>
        <p:blipFill>
          <a:blip r:embed="rId6"/>
          <a:stretch>
            <a:fillRect/>
          </a:stretch>
        </p:blipFill>
        <p:spPr>
          <a:xfrm>
            <a:off x="8485937" y="2290572"/>
            <a:ext cx="356616" cy="356616"/>
          </a:xfrm>
          <a:prstGeom prst="rect">
            <a:avLst/>
          </a:prstGeom>
        </p:spPr>
      </p:pic>
      <p:sp>
        <p:nvSpPr>
          <p:cNvPr id="27" name="Rounded Rectangle 26"/>
          <p:cNvSpPr/>
          <p:nvPr/>
        </p:nvSpPr>
        <p:spPr>
          <a:xfrm>
            <a:off x="10499547" y="2331720"/>
            <a:ext cx="869188" cy="274320"/>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645851" y="2331720"/>
            <a:ext cx="869188" cy="274320"/>
          </a:xfrm>
          <a:prstGeom prst="rect">
            <a:avLst/>
          </a:prstGeom>
          <a:noFill/>
        </p:spPr>
        <p:txBody>
          <a:bodyPr wrap="none" lIns="0" tIns="0" rIns="0" bIns="0" anchor="ctr">
            <a:spAutoFit/>
          </a:bodyPr>
          <a:lstStyle/>
          <a:p>
            <a:pPr algn="l">
              <a:lnSpc>
                <a:spcPct val="105000"/>
              </a:lnSpc>
              <a:spcAft>
                <a:spcPts val="0"/>
              </a:spcAft>
            </a:pPr>
            <a:r>
              <a:rPr sz="1000" b="0" i="0">
                <a:solidFill>
                  <a:srgbClr val="0B1F33"/>
                </a:solidFill>
                <a:latin typeface="Segoe UI Semibold"/>
              </a:rPr>
              <a:t>±15 menit</a:t>
            </a:r>
          </a:p>
        </p:txBody>
      </p:sp>
      <p:sp>
        <p:nvSpPr>
          <p:cNvPr id="29" name="TextBox 28"/>
          <p:cNvSpPr txBox="1"/>
          <p:nvPr/>
        </p:nvSpPr>
        <p:spPr>
          <a:xfrm>
            <a:off x="8371637" y="3044952"/>
            <a:ext cx="2997098" cy="237744"/>
          </a:xfrm>
          <a:prstGeom prst="rect">
            <a:avLst/>
          </a:prstGeom>
          <a:noFill/>
        </p:spPr>
        <p:txBody>
          <a:bodyPr wrap="none" lIns="0" tIns="0" rIns="0" bIns="0" anchor="ctr">
            <a:spAutoFit/>
          </a:bodyPr>
          <a:lstStyle/>
          <a:p>
            <a:pPr algn="l">
              <a:lnSpc>
                <a:spcPct val="105000"/>
              </a:lnSpc>
              <a:spcAft>
                <a:spcPts val="0"/>
              </a:spcAft>
            </a:pPr>
            <a:r>
              <a:rPr sz="900" b="0" i="0" spc="80">
                <a:solidFill>
                  <a:srgbClr val="1F5BD8"/>
                </a:solidFill>
                <a:latin typeface="Segoe UI Semibold"/>
              </a:rPr>
              <a:t>BAGIAN 3</a:t>
            </a:r>
          </a:p>
        </p:txBody>
      </p:sp>
      <p:sp>
        <p:nvSpPr>
          <p:cNvPr id="30" name="TextBox 29"/>
          <p:cNvSpPr txBox="1"/>
          <p:nvPr/>
        </p:nvSpPr>
        <p:spPr>
          <a:xfrm>
            <a:off x="8371637" y="3319272"/>
            <a:ext cx="2997098" cy="914400"/>
          </a:xfrm>
          <a:prstGeom prst="rect">
            <a:avLst/>
          </a:prstGeom>
          <a:noFill/>
        </p:spPr>
        <p:txBody>
          <a:bodyPr wrap="square" lIns="0" tIns="0" rIns="0" bIns="0" anchor="t">
            <a:spAutoFit/>
          </a:bodyPr>
          <a:lstStyle/>
          <a:p>
            <a:pPr algn="l">
              <a:lnSpc>
                <a:spcPct val="100000"/>
              </a:lnSpc>
              <a:spcAft>
                <a:spcPts val="0"/>
              </a:spcAft>
            </a:pPr>
            <a:r>
              <a:rPr sz="1800" b="0" i="0">
                <a:solidFill>
                  <a:srgbClr val="0B1F33"/>
                </a:solidFill>
                <a:latin typeface="Georgia"/>
              </a:rPr>
              <a:t>Tanya jawab bersama</a:t>
            </a:r>
          </a:p>
        </p:txBody>
      </p:sp>
      <p:cxnSp>
        <p:nvCxnSpPr>
          <p:cNvPr id="31" name="Connector 30"/>
          <p:cNvCxnSpPr/>
          <p:nvPr/>
        </p:nvCxnSpPr>
        <p:spPr>
          <a:xfrm>
            <a:off x="8371637" y="4187952"/>
            <a:ext cx="2997098" cy="0"/>
          </a:xfrm>
          <a:prstGeom prst="line">
            <a:avLst/>
          </a:prstGeom>
          <a:ln w="6350">
            <a:solidFill>
              <a:srgbClr val="DDE2E9"/>
            </a:solidFill>
          </a:ln>
        </p:spPr>
        <p:style>
          <a:lnRef idx="2">
            <a:schemeClr val="accent1"/>
          </a:lnRef>
          <a:fillRef idx="0">
            <a:schemeClr val="accent1"/>
          </a:fillRef>
          <a:effectRef idx="1">
            <a:schemeClr val="accent1"/>
          </a:effectRef>
          <a:fontRef idx="minor">
            <a:schemeClr val="tx1"/>
          </a:fontRef>
        </p:style>
      </p:cxnSp>
      <p:pic>
        <p:nvPicPr>
          <p:cNvPr id="32" name="Picture 31" descr="E77B-56657A.png"/>
          <p:cNvPicPr>
            <a:picLocks noChangeAspect="1"/>
          </p:cNvPicPr>
          <p:nvPr/>
        </p:nvPicPr>
        <p:blipFill>
          <a:blip r:embed="rId4"/>
          <a:stretch>
            <a:fillRect/>
          </a:stretch>
        </p:blipFill>
        <p:spPr>
          <a:xfrm>
            <a:off x="8389925" y="4343400"/>
            <a:ext cx="237744" cy="237744"/>
          </a:xfrm>
          <a:prstGeom prst="rect">
            <a:avLst/>
          </a:prstGeom>
        </p:spPr>
      </p:pic>
      <p:sp>
        <p:nvSpPr>
          <p:cNvPr id="33" name="TextBox 32"/>
          <p:cNvSpPr txBox="1"/>
          <p:nvPr/>
        </p:nvSpPr>
        <p:spPr>
          <a:xfrm>
            <a:off x="8719109" y="4279392"/>
            <a:ext cx="2722778" cy="365760"/>
          </a:xfrm>
          <a:prstGeom prst="rect">
            <a:avLst/>
          </a:prstGeom>
          <a:noFill/>
        </p:spPr>
        <p:txBody>
          <a:bodyPr wrap="none" lIns="0" tIns="0" rIns="0" bIns="0" anchor="ctr">
            <a:spAutoFit/>
          </a:bodyPr>
          <a:lstStyle/>
          <a:p>
            <a:pPr algn="l">
              <a:lnSpc>
                <a:spcPct val="105000"/>
              </a:lnSpc>
              <a:spcAft>
                <a:spcPts val="0"/>
              </a:spcAft>
            </a:pPr>
            <a:r>
              <a:rPr sz="1250" b="0" i="0">
                <a:solidFill>
                  <a:srgbClr val="56657A"/>
                </a:solidFill>
                <a:latin typeface="Segoe UI Semibold"/>
              </a:rPr>
              <a:t>Masron &amp; Abdul</a:t>
            </a:r>
          </a:p>
        </p:txBody>
      </p:sp>
      <p:sp>
        <p:nvSpPr>
          <p:cNvPr id="34" name="TextBox 33"/>
          <p:cNvSpPr txBox="1"/>
          <p:nvPr/>
        </p:nvSpPr>
        <p:spPr>
          <a:xfrm>
            <a:off x="10911535" y="6419088"/>
            <a:ext cx="731520" cy="237744"/>
          </a:xfrm>
          <a:prstGeom prst="rect">
            <a:avLst/>
          </a:prstGeom>
          <a:noFill/>
        </p:spPr>
        <p:txBody>
          <a:bodyPr wrap="square" lIns="0" tIns="0" rIns="0" bIns="0" anchor="t">
            <a:spAutoFit/>
          </a:bodyPr>
          <a:lstStyle/>
          <a:p>
            <a:pPr algn="r">
              <a:lnSpc>
                <a:spcPct val="105000"/>
              </a:lnSpc>
              <a:spcAft>
                <a:spcPts val="0"/>
              </a:spcAft>
            </a:pPr>
            <a:r>
              <a:rPr sz="900" b="0" i="0">
                <a:solidFill>
                  <a:srgbClr val="98A3B3"/>
                </a:solidFill>
                <a:latin typeface="Segoe UI"/>
              </a:rPr>
              <a:t>02</a:t>
            </a: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566928"/>
            <a:ext cx="11094415" cy="841248"/>
          </a:xfrm>
          <a:prstGeom prst="rect">
            <a:avLst/>
          </a:prstGeom>
          <a:noFill/>
        </p:spPr>
        <p:txBody>
          <a:bodyPr wrap="square" lIns="0" tIns="0" rIns="0" bIns="0" anchor="b">
            <a:spAutoFit/>
          </a:bodyPr>
          <a:lstStyle/>
          <a:p>
            <a:pPr algn="l">
              <a:lnSpc>
                <a:spcPct val="105000"/>
              </a:lnSpc>
              <a:spcAft>
                <a:spcPts val="0"/>
              </a:spcAft>
            </a:pPr>
            <a:r>
              <a:rPr sz="3000" b="0" i="0">
                <a:solidFill>
                  <a:srgbClr val="0B1F33"/>
                </a:solidFill>
                <a:latin typeface="Georgia"/>
              </a:rPr>
              <a:t>Satu jam, tiga bagian</a:t>
            </a:r>
          </a:p>
        </p:txBody>
      </p:sp>
      <p:cxnSp>
        <p:nvCxnSpPr>
          <p:cNvPr id="3" name="Connector 2"/>
          <p:cNvCxnSpPr/>
          <p:nvPr/>
        </p:nvCxnSpPr>
        <p:spPr>
          <a:xfrm>
            <a:off x="548640" y="1517904"/>
            <a:ext cx="11094415" cy="0"/>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4" name="!!part0"/>
          <p:cNvSpPr/>
          <p:nvPr/>
        </p:nvSpPr>
        <p:spPr>
          <a:xfrm>
            <a:off x="548640" y="1874520"/>
            <a:ext cx="3545738" cy="2880360"/>
          </a:xfrm>
          <a:prstGeom prst="roundRect">
            <a:avLst>
              <a:gd name="adj" fmla="val 3809"/>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58952" y="2112264"/>
            <a:ext cx="713232" cy="713232"/>
          </a:xfrm>
          <a:prstGeom prst="ellipse">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EC7A-FFFFFF.png"/>
          <p:cNvPicPr>
            <a:picLocks noChangeAspect="1"/>
          </p:cNvPicPr>
          <p:nvPr/>
        </p:nvPicPr>
        <p:blipFill>
          <a:blip r:embed="rId3"/>
          <a:stretch>
            <a:fillRect/>
          </a:stretch>
        </p:blipFill>
        <p:spPr>
          <a:xfrm>
            <a:off x="937260" y="2290572"/>
            <a:ext cx="356616" cy="356616"/>
          </a:xfrm>
          <a:prstGeom prst="rect">
            <a:avLst/>
          </a:prstGeom>
        </p:spPr>
      </p:pic>
      <p:sp>
        <p:nvSpPr>
          <p:cNvPr id="7" name="Rounded Rectangle 6"/>
          <p:cNvSpPr/>
          <p:nvPr/>
        </p:nvSpPr>
        <p:spPr>
          <a:xfrm>
            <a:off x="2930550" y="2331720"/>
            <a:ext cx="889508" cy="274320"/>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076854" y="2331720"/>
            <a:ext cx="889508" cy="274320"/>
          </a:xfrm>
          <a:prstGeom prst="rect">
            <a:avLst/>
          </a:prstGeom>
          <a:noFill/>
        </p:spPr>
        <p:txBody>
          <a:bodyPr wrap="none" lIns="0" tIns="0" rIns="0" bIns="0" anchor="ctr">
            <a:spAutoFit/>
          </a:bodyPr>
          <a:lstStyle/>
          <a:p>
            <a:pPr algn="l">
              <a:lnSpc>
                <a:spcPct val="105000"/>
              </a:lnSpc>
              <a:spcAft>
                <a:spcPts val="0"/>
              </a:spcAft>
            </a:pPr>
            <a:r>
              <a:rPr sz="1000" b="0" i="0">
                <a:solidFill>
                  <a:srgbClr val="0B1F33"/>
                </a:solidFill>
                <a:latin typeface="Segoe UI Semibold"/>
              </a:rPr>
              <a:t>±20 menit</a:t>
            </a:r>
          </a:p>
        </p:txBody>
      </p:sp>
      <p:sp>
        <p:nvSpPr>
          <p:cNvPr id="9" name="TextBox 8"/>
          <p:cNvSpPr txBox="1"/>
          <p:nvPr/>
        </p:nvSpPr>
        <p:spPr>
          <a:xfrm>
            <a:off x="822960" y="3044952"/>
            <a:ext cx="2997098" cy="237744"/>
          </a:xfrm>
          <a:prstGeom prst="rect">
            <a:avLst/>
          </a:prstGeom>
          <a:noFill/>
        </p:spPr>
        <p:txBody>
          <a:bodyPr wrap="none" lIns="0" tIns="0" rIns="0" bIns="0" anchor="ctr">
            <a:spAutoFit/>
          </a:bodyPr>
          <a:lstStyle/>
          <a:p>
            <a:pPr algn="l">
              <a:lnSpc>
                <a:spcPct val="105000"/>
              </a:lnSpc>
              <a:spcAft>
                <a:spcPts val="0"/>
              </a:spcAft>
            </a:pPr>
            <a:r>
              <a:rPr sz="900" b="0" i="0" spc="80">
                <a:solidFill>
                  <a:srgbClr val="1F5BD8"/>
                </a:solidFill>
                <a:latin typeface="Segoe UI Semibold"/>
              </a:rPr>
              <a:t>BAGIAN 1</a:t>
            </a:r>
          </a:p>
        </p:txBody>
      </p:sp>
      <p:sp>
        <p:nvSpPr>
          <p:cNvPr id="10" name="TextBox 9"/>
          <p:cNvSpPr txBox="1"/>
          <p:nvPr/>
        </p:nvSpPr>
        <p:spPr>
          <a:xfrm>
            <a:off x="822960" y="3319272"/>
            <a:ext cx="2997098" cy="914400"/>
          </a:xfrm>
          <a:prstGeom prst="rect">
            <a:avLst/>
          </a:prstGeom>
          <a:noFill/>
        </p:spPr>
        <p:txBody>
          <a:bodyPr wrap="square" lIns="0" tIns="0" rIns="0" bIns="0" anchor="t">
            <a:spAutoFit/>
          </a:bodyPr>
          <a:lstStyle/>
          <a:p>
            <a:pPr algn="l">
              <a:lnSpc>
                <a:spcPct val="100000"/>
              </a:lnSpc>
              <a:spcAft>
                <a:spcPts val="0"/>
              </a:spcAft>
            </a:pPr>
            <a:r>
              <a:rPr sz="1800" b="0" i="0">
                <a:solidFill>
                  <a:srgbClr val="0B1F33"/>
                </a:solidFill>
                <a:latin typeface="Georgia"/>
              </a:rPr>
              <a:t>Proyek data center dari ground sampai cloud</a:t>
            </a:r>
          </a:p>
        </p:txBody>
      </p:sp>
      <p:cxnSp>
        <p:nvCxnSpPr>
          <p:cNvPr id="11" name="Connector 10"/>
          <p:cNvCxnSpPr/>
          <p:nvPr/>
        </p:nvCxnSpPr>
        <p:spPr>
          <a:xfrm>
            <a:off x="822960" y="4187952"/>
            <a:ext cx="2997098" cy="0"/>
          </a:xfrm>
          <a:prstGeom prst="line">
            <a:avLst/>
          </a:prstGeom>
          <a:ln w="6350">
            <a:solidFill>
              <a:srgbClr val="DDE2E9"/>
            </a:solidFill>
          </a:ln>
        </p:spPr>
        <p:style>
          <a:lnRef idx="2">
            <a:schemeClr val="accent1"/>
          </a:lnRef>
          <a:fillRef idx="0">
            <a:schemeClr val="accent1"/>
          </a:fillRef>
          <a:effectRef idx="1">
            <a:schemeClr val="accent1"/>
          </a:effectRef>
          <a:fontRef idx="minor">
            <a:schemeClr val="tx1"/>
          </a:fontRef>
        </p:style>
      </p:cxnSp>
      <p:pic>
        <p:nvPicPr>
          <p:cNvPr id="12" name="Picture 11" descr="E77B-56657A.png"/>
          <p:cNvPicPr>
            <a:picLocks noChangeAspect="1"/>
          </p:cNvPicPr>
          <p:nvPr/>
        </p:nvPicPr>
        <p:blipFill>
          <a:blip r:embed="rId4"/>
          <a:stretch>
            <a:fillRect/>
          </a:stretch>
        </p:blipFill>
        <p:spPr>
          <a:xfrm>
            <a:off x="841248" y="4343400"/>
            <a:ext cx="237744" cy="237744"/>
          </a:xfrm>
          <a:prstGeom prst="rect">
            <a:avLst/>
          </a:prstGeom>
        </p:spPr>
      </p:pic>
      <p:sp>
        <p:nvSpPr>
          <p:cNvPr id="13" name="TextBox 12"/>
          <p:cNvSpPr txBox="1"/>
          <p:nvPr/>
        </p:nvSpPr>
        <p:spPr>
          <a:xfrm>
            <a:off x="1170432" y="4279392"/>
            <a:ext cx="2722778" cy="365760"/>
          </a:xfrm>
          <a:prstGeom prst="rect">
            <a:avLst/>
          </a:prstGeom>
          <a:noFill/>
        </p:spPr>
        <p:txBody>
          <a:bodyPr wrap="none" lIns="0" tIns="0" rIns="0" bIns="0" anchor="ctr">
            <a:spAutoFit/>
          </a:bodyPr>
          <a:lstStyle/>
          <a:p>
            <a:pPr algn="l">
              <a:lnSpc>
                <a:spcPct val="105000"/>
              </a:lnSpc>
              <a:spcAft>
                <a:spcPts val="0"/>
              </a:spcAft>
            </a:pPr>
            <a:r>
              <a:rPr sz="1250" b="0" i="0">
                <a:solidFill>
                  <a:srgbClr val="56657A"/>
                </a:solidFill>
                <a:latin typeface="Segoe UI Semibold"/>
              </a:rPr>
              <a:t>Masron Hutabalian</a:t>
            </a:r>
          </a:p>
        </p:txBody>
      </p:sp>
      <p:sp>
        <p:nvSpPr>
          <p:cNvPr id="14" name="!!part1"/>
          <p:cNvSpPr/>
          <p:nvPr/>
        </p:nvSpPr>
        <p:spPr>
          <a:xfrm>
            <a:off x="4322978" y="1874520"/>
            <a:ext cx="3545738" cy="2880360"/>
          </a:xfrm>
          <a:prstGeom prst="roundRect">
            <a:avLst>
              <a:gd name="adj" fmla="val 3809"/>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533290" y="2112264"/>
            <a:ext cx="713232" cy="713232"/>
          </a:xfrm>
          <a:prstGeom prst="ellipse">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E8F1-FFFFFF.png"/>
          <p:cNvPicPr>
            <a:picLocks noChangeAspect="1"/>
          </p:cNvPicPr>
          <p:nvPr/>
        </p:nvPicPr>
        <p:blipFill>
          <a:blip r:embed="rId5"/>
          <a:stretch>
            <a:fillRect/>
          </a:stretch>
        </p:blipFill>
        <p:spPr>
          <a:xfrm>
            <a:off x="4711598" y="2290572"/>
            <a:ext cx="356616" cy="356616"/>
          </a:xfrm>
          <a:prstGeom prst="rect">
            <a:avLst/>
          </a:prstGeom>
        </p:spPr>
      </p:pic>
      <p:sp>
        <p:nvSpPr>
          <p:cNvPr id="17" name="Rounded Rectangle 16"/>
          <p:cNvSpPr/>
          <p:nvPr/>
        </p:nvSpPr>
        <p:spPr>
          <a:xfrm>
            <a:off x="6704889" y="2331720"/>
            <a:ext cx="889508" cy="274320"/>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51193" y="2331720"/>
            <a:ext cx="889508" cy="274320"/>
          </a:xfrm>
          <a:prstGeom prst="rect">
            <a:avLst/>
          </a:prstGeom>
          <a:noFill/>
        </p:spPr>
        <p:txBody>
          <a:bodyPr wrap="none" lIns="0" tIns="0" rIns="0" bIns="0" anchor="ctr">
            <a:spAutoFit/>
          </a:bodyPr>
          <a:lstStyle/>
          <a:p>
            <a:pPr algn="l">
              <a:lnSpc>
                <a:spcPct val="105000"/>
              </a:lnSpc>
              <a:spcAft>
                <a:spcPts val="0"/>
              </a:spcAft>
            </a:pPr>
            <a:r>
              <a:rPr sz="1000" b="0" i="0">
                <a:solidFill>
                  <a:srgbClr val="0B1F33"/>
                </a:solidFill>
                <a:latin typeface="Segoe UI Semibold"/>
              </a:rPr>
              <a:t>±25 menit</a:t>
            </a:r>
          </a:p>
        </p:txBody>
      </p:sp>
      <p:sp>
        <p:nvSpPr>
          <p:cNvPr id="19" name="TextBox 18"/>
          <p:cNvSpPr txBox="1"/>
          <p:nvPr/>
        </p:nvSpPr>
        <p:spPr>
          <a:xfrm>
            <a:off x="4597298" y="3044952"/>
            <a:ext cx="2997098" cy="237744"/>
          </a:xfrm>
          <a:prstGeom prst="rect">
            <a:avLst/>
          </a:prstGeom>
          <a:noFill/>
        </p:spPr>
        <p:txBody>
          <a:bodyPr wrap="none" lIns="0" tIns="0" rIns="0" bIns="0" anchor="ctr">
            <a:spAutoFit/>
          </a:bodyPr>
          <a:lstStyle/>
          <a:p>
            <a:pPr algn="l">
              <a:lnSpc>
                <a:spcPct val="105000"/>
              </a:lnSpc>
              <a:spcAft>
                <a:spcPts val="0"/>
              </a:spcAft>
            </a:pPr>
            <a:r>
              <a:rPr sz="900" b="0" i="0" spc="80">
                <a:solidFill>
                  <a:srgbClr val="1F5BD8"/>
                </a:solidFill>
                <a:latin typeface="Segoe UI Semibold"/>
              </a:rPr>
              <a:t>BAGIAN 2</a:t>
            </a:r>
          </a:p>
        </p:txBody>
      </p:sp>
      <p:sp>
        <p:nvSpPr>
          <p:cNvPr id="20" name="TextBox 19"/>
          <p:cNvSpPr txBox="1"/>
          <p:nvPr/>
        </p:nvSpPr>
        <p:spPr>
          <a:xfrm>
            <a:off x="4597298" y="3319272"/>
            <a:ext cx="2997098" cy="914400"/>
          </a:xfrm>
          <a:prstGeom prst="rect">
            <a:avLst/>
          </a:prstGeom>
          <a:noFill/>
        </p:spPr>
        <p:txBody>
          <a:bodyPr wrap="square" lIns="0" tIns="0" rIns="0" bIns="0" anchor="t">
            <a:spAutoFit/>
          </a:bodyPr>
          <a:lstStyle/>
          <a:p>
            <a:pPr algn="l">
              <a:lnSpc>
                <a:spcPct val="100000"/>
              </a:lnSpc>
              <a:spcAft>
                <a:spcPts val="0"/>
              </a:spcAft>
            </a:pPr>
            <a:r>
              <a:rPr sz="1800" b="0" i="0">
                <a:solidFill>
                  <a:srgbClr val="0B1F33"/>
                </a:solidFill>
                <a:latin typeface="Georgia"/>
              </a:rPr>
              <a:t>Informasi &amp; knowledge di balik control — Obsidian + AI</a:t>
            </a:r>
          </a:p>
        </p:txBody>
      </p:sp>
      <p:cxnSp>
        <p:nvCxnSpPr>
          <p:cNvPr id="21" name="Connector 20"/>
          <p:cNvCxnSpPr/>
          <p:nvPr/>
        </p:nvCxnSpPr>
        <p:spPr>
          <a:xfrm>
            <a:off x="4597298" y="4187952"/>
            <a:ext cx="2997099" cy="0"/>
          </a:xfrm>
          <a:prstGeom prst="line">
            <a:avLst/>
          </a:prstGeom>
          <a:ln w="6350">
            <a:solidFill>
              <a:srgbClr val="DDE2E9"/>
            </a:solidFill>
          </a:ln>
        </p:spPr>
        <p:style>
          <a:lnRef idx="2">
            <a:schemeClr val="accent1"/>
          </a:lnRef>
          <a:fillRef idx="0">
            <a:schemeClr val="accent1"/>
          </a:fillRef>
          <a:effectRef idx="1">
            <a:schemeClr val="accent1"/>
          </a:effectRef>
          <a:fontRef idx="minor">
            <a:schemeClr val="tx1"/>
          </a:fontRef>
        </p:style>
      </p:cxnSp>
      <p:pic>
        <p:nvPicPr>
          <p:cNvPr id="22" name="Picture 21" descr="E77B-56657A.png"/>
          <p:cNvPicPr>
            <a:picLocks noChangeAspect="1"/>
          </p:cNvPicPr>
          <p:nvPr/>
        </p:nvPicPr>
        <p:blipFill>
          <a:blip r:embed="rId4"/>
          <a:stretch>
            <a:fillRect/>
          </a:stretch>
        </p:blipFill>
        <p:spPr>
          <a:xfrm>
            <a:off x="4615586" y="4343400"/>
            <a:ext cx="237744" cy="237744"/>
          </a:xfrm>
          <a:prstGeom prst="rect">
            <a:avLst/>
          </a:prstGeom>
        </p:spPr>
      </p:pic>
      <p:sp>
        <p:nvSpPr>
          <p:cNvPr id="23" name="TextBox 22"/>
          <p:cNvSpPr txBox="1"/>
          <p:nvPr/>
        </p:nvSpPr>
        <p:spPr>
          <a:xfrm>
            <a:off x="4944770" y="4279392"/>
            <a:ext cx="2722778" cy="365760"/>
          </a:xfrm>
          <a:prstGeom prst="rect">
            <a:avLst/>
          </a:prstGeom>
          <a:noFill/>
        </p:spPr>
        <p:txBody>
          <a:bodyPr wrap="none" lIns="0" tIns="0" rIns="0" bIns="0" anchor="ctr">
            <a:spAutoFit/>
          </a:bodyPr>
          <a:lstStyle/>
          <a:p>
            <a:pPr algn="l">
              <a:lnSpc>
                <a:spcPct val="105000"/>
              </a:lnSpc>
              <a:spcAft>
                <a:spcPts val="0"/>
              </a:spcAft>
            </a:pPr>
            <a:r>
              <a:rPr sz="1250" b="0" i="0">
                <a:solidFill>
                  <a:srgbClr val="56657A"/>
                </a:solidFill>
                <a:latin typeface="Segoe UI Semibold"/>
              </a:rPr>
              <a:t>Abdul Kausar</a:t>
            </a:r>
          </a:p>
        </p:txBody>
      </p:sp>
      <p:sp>
        <p:nvSpPr>
          <p:cNvPr id="24" name="!!part2"/>
          <p:cNvSpPr/>
          <p:nvPr/>
        </p:nvSpPr>
        <p:spPr>
          <a:xfrm>
            <a:off x="8097317" y="1874520"/>
            <a:ext cx="3545738" cy="2880360"/>
          </a:xfrm>
          <a:prstGeom prst="roundRect">
            <a:avLst>
              <a:gd name="adj" fmla="val 3809"/>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8307629" y="2112264"/>
            <a:ext cx="713232" cy="713232"/>
          </a:xfrm>
          <a:prstGeom prst="ellipse">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E8BD-56657A.png"/>
          <p:cNvPicPr>
            <a:picLocks noChangeAspect="1"/>
          </p:cNvPicPr>
          <p:nvPr/>
        </p:nvPicPr>
        <p:blipFill>
          <a:blip r:embed="rId6"/>
          <a:stretch>
            <a:fillRect/>
          </a:stretch>
        </p:blipFill>
        <p:spPr>
          <a:xfrm>
            <a:off x="8485937" y="2290572"/>
            <a:ext cx="356616" cy="356616"/>
          </a:xfrm>
          <a:prstGeom prst="rect">
            <a:avLst/>
          </a:prstGeom>
        </p:spPr>
      </p:pic>
      <p:sp>
        <p:nvSpPr>
          <p:cNvPr id="27" name="Rounded Rectangle 26"/>
          <p:cNvSpPr/>
          <p:nvPr/>
        </p:nvSpPr>
        <p:spPr>
          <a:xfrm>
            <a:off x="10499547" y="2331720"/>
            <a:ext cx="869188" cy="274320"/>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645851" y="2331720"/>
            <a:ext cx="869188" cy="274320"/>
          </a:xfrm>
          <a:prstGeom prst="rect">
            <a:avLst/>
          </a:prstGeom>
          <a:noFill/>
        </p:spPr>
        <p:txBody>
          <a:bodyPr wrap="none" lIns="0" tIns="0" rIns="0" bIns="0" anchor="ctr">
            <a:spAutoFit/>
          </a:bodyPr>
          <a:lstStyle/>
          <a:p>
            <a:pPr algn="l">
              <a:lnSpc>
                <a:spcPct val="105000"/>
              </a:lnSpc>
              <a:spcAft>
                <a:spcPts val="0"/>
              </a:spcAft>
            </a:pPr>
            <a:r>
              <a:rPr sz="1000" b="0" i="0">
                <a:solidFill>
                  <a:srgbClr val="0B1F33"/>
                </a:solidFill>
                <a:latin typeface="Segoe UI Semibold"/>
              </a:rPr>
              <a:t>±15 menit</a:t>
            </a:r>
          </a:p>
        </p:txBody>
      </p:sp>
      <p:sp>
        <p:nvSpPr>
          <p:cNvPr id="29" name="TextBox 28"/>
          <p:cNvSpPr txBox="1"/>
          <p:nvPr/>
        </p:nvSpPr>
        <p:spPr>
          <a:xfrm>
            <a:off x="8371637" y="3044952"/>
            <a:ext cx="2997098" cy="237744"/>
          </a:xfrm>
          <a:prstGeom prst="rect">
            <a:avLst/>
          </a:prstGeom>
          <a:noFill/>
        </p:spPr>
        <p:txBody>
          <a:bodyPr wrap="none" lIns="0" tIns="0" rIns="0" bIns="0" anchor="ctr">
            <a:spAutoFit/>
          </a:bodyPr>
          <a:lstStyle/>
          <a:p>
            <a:pPr algn="l">
              <a:lnSpc>
                <a:spcPct val="105000"/>
              </a:lnSpc>
              <a:spcAft>
                <a:spcPts val="0"/>
              </a:spcAft>
            </a:pPr>
            <a:r>
              <a:rPr sz="900" b="0" i="0" spc="80">
                <a:solidFill>
                  <a:srgbClr val="1F5BD8"/>
                </a:solidFill>
                <a:latin typeface="Segoe UI Semibold"/>
              </a:rPr>
              <a:t>BAGIAN 3</a:t>
            </a:r>
          </a:p>
        </p:txBody>
      </p:sp>
      <p:sp>
        <p:nvSpPr>
          <p:cNvPr id="30" name="TextBox 29"/>
          <p:cNvSpPr txBox="1"/>
          <p:nvPr/>
        </p:nvSpPr>
        <p:spPr>
          <a:xfrm>
            <a:off x="8371637" y="3319272"/>
            <a:ext cx="2997098" cy="914400"/>
          </a:xfrm>
          <a:prstGeom prst="rect">
            <a:avLst/>
          </a:prstGeom>
          <a:noFill/>
        </p:spPr>
        <p:txBody>
          <a:bodyPr wrap="square" lIns="0" tIns="0" rIns="0" bIns="0" anchor="t">
            <a:spAutoFit/>
          </a:bodyPr>
          <a:lstStyle/>
          <a:p>
            <a:pPr algn="l">
              <a:lnSpc>
                <a:spcPct val="100000"/>
              </a:lnSpc>
              <a:spcAft>
                <a:spcPts val="0"/>
              </a:spcAft>
            </a:pPr>
            <a:r>
              <a:rPr sz="1800" b="0" i="0">
                <a:solidFill>
                  <a:srgbClr val="0B1F33"/>
                </a:solidFill>
                <a:latin typeface="Georgia"/>
              </a:rPr>
              <a:t>Tanya jawab bersama</a:t>
            </a:r>
          </a:p>
        </p:txBody>
      </p:sp>
      <p:cxnSp>
        <p:nvCxnSpPr>
          <p:cNvPr id="31" name="Connector 30"/>
          <p:cNvCxnSpPr/>
          <p:nvPr/>
        </p:nvCxnSpPr>
        <p:spPr>
          <a:xfrm>
            <a:off x="8371637" y="4187952"/>
            <a:ext cx="2997098" cy="0"/>
          </a:xfrm>
          <a:prstGeom prst="line">
            <a:avLst/>
          </a:prstGeom>
          <a:ln w="6350">
            <a:solidFill>
              <a:srgbClr val="DDE2E9"/>
            </a:solidFill>
          </a:ln>
        </p:spPr>
        <p:style>
          <a:lnRef idx="2">
            <a:schemeClr val="accent1"/>
          </a:lnRef>
          <a:fillRef idx="0">
            <a:schemeClr val="accent1"/>
          </a:fillRef>
          <a:effectRef idx="1">
            <a:schemeClr val="accent1"/>
          </a:effectRef>
          <a:fontRef idx="minor">
            <a:schemeClr val="tx1"/>
          </a:fontRef>
        </p:style>
      </p:cxnSp>
      <p:pic>
        <p:nvPicPr>
          <p:cNvPr id="32" name="Picture 31" descr="E77B-56657A.png"/>
          <p:cNvPicPr>
            <a:picLocks noChangeAspect="1"/>
          </p:cNvPicPr>
          <p:nvPr/>
        </p:nvPicPr>
        <p:blipFill>
          <a:blip r:embed="rId4"/>
          <a:stretch>
            <a:fillRect/>
          </a:stretch>
        </p:blipFill>
        <p:spPr>
          <a:xfrm>
            <a:off x="8389925" y="4343400"/>
            <a:ext cx="237744" cy="237744"/>
          </a:xfrm>
          <a:prstGeom prst="rect">
            <a:avLst/>
          </a:prstGeom>
        </p:spPr>
      </p:pic>
      <p:sp>
        <p:nvSpPr>
          <p:cNvPr id="33" name="TextBox 32"/>
          <p:cNvSpPr txBox="1"/>
          <p:nvPr/>
        </p:nvSpPr>
        <p:spPr>
          <a:xfrm>
            <a:off x="8719109" y="4279392"/>
            <a:ext cx="2722778" cy="365760"/>
          </a:xfrm>
          <a:prstGeom prst="rect">
            <a:avLst/>
          </a:prstGeom>
          <a:noFill/>
        </p:spPr>
        <p:txBody>
          <a:bodyPr wrap="none" lIns="0" tIns="0" rIns="0" bIns="0" anchor="ctr">
            <a:spAutoFit/>
          </a:bodyPr>
          <a:lstStyle/>
          <a:p>
            <a:pPr algn="l">
              <a:lnSpc>
                <a:spcPct val="105000"/>
              </a:lnSpc>
              <a:spcAft>
                <a:spcPts val="0"/>
              </a:spcAft>
            </a:pPr>
            <a:r>
              <a:rPr sz="1250" b="0" i="0">
                <a:solidFill>
                  <a:srgbClr val="56657A"/>
                </a:solidFill>
                <a:latin typeface="Segoe UI Semibold"/>
              </a:rPr>
              <a:t>Masron &amp; Abdul</a:t>
            </a:r>
          </a:p>
        </p:txBody>
      </p:sp>
      <p:sp>
        <p:nvSpPr>
          <p:cNvPr id="34" name="Rounded Rectangle 33"/>
          <p:cNvSpPr/>
          <p:nvPr/>
        </p:nvSpPr>
        <p:spPr>
          <a:xfrm>
            <a:off x="548640" y="5074920"/>
            <a:ext cx="11094415" cy="914400"/>
          </a:xfrm>
          <a:prstGeom prst="roundRect">
            <a:avLst>
              <a:gd name="adj" fmla="val 8000"/>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795528" y="5276088"/>
            <a:ext cx="512064" cy="5120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Picture 35" descr="E72E-0B1F33.png"/>
          <p:cNvPicPr>
            <a:picLocks noChangeAspect="1"/>
          </p:cNvPicPr>
          <p:nvPr/>
        </p:nvPicPr>
        <p:blipFill>
          <a:blip r:embed="rId7"/>
          <a:stretch>
            <a:fillRect/>
          </a:stretch>
        </p:blipFill>
        <p:spPr>
          <a:xfrm>
            <a:off x="923544" y="5404104"/>
            <a:ext cx="256032" cy="256032"/>
          </a:xfrm>
          <a:prstGeom prst="rect">
            <a:avLst/>
          </a:prstGeom>
        </p:spPr>
      </p:pic>
      <p:sp>
        <p:nvSpPr>
          <p:cNvPr id="37" name="TextBox 36"/>
          <p:cNvSpPr txBox="1"/>
          <p:nvPr/>
        </p:nvSpPr>
        <p:spPr>
          <a:xfrm>
            <a:off x="1508760" y="5212080"/>
            <a:ext cx="3657600" cy="237744"/>
          </a:xfrm>
          <a:prstGeom prst="rect">
            <a:avLst/>
          </a:prstGeom>
          <a:noFill/>
        </p:spPr>
        <p:txBody>
          <a:bodyPr wrap="none" lIns="0" tIns="0" rIns="0" bIns="0" anchor="ctr">
            <a:spAutoFit/>
          </a:bodyPr>
          <a:lstStyle/>
          <a:p>
            <a:pPr algn="l">
              <a:lnSpc>
                <a:spcPct val="105000"/>
              </a:lnSpc>
              <a:spcAft>
                <a:spcPts val="0"/>
              </a:spcAft>
            </a:pPr>
            <a:r>
              <a:rPr sz="950" b="0" i="0" spc="80">
                <a:solidFill>
                  <a:srgbClr val="8DB4FF"/>
                </a:solidFill>
                <a:latin typeface="Segoe UI Semibold"/>
              </a:rPr>
              <a:t>KERAHASIAAN</a:t>
            </a:r>
          </a:p>
        </p:txBody>
      </p:sp>
      <p:sp>
        <p:nvSpPr>
          <p:cNvPr id="38" name="TextBox 37"/>
          <p:cNvSpPr txBox="1"/>
          <p:nvPr/>
        </p:nvSpPr>
        <p:spPr>
          <a:xfrm>
            <a:off x="1508760" y="5440680"/>
            <a:ext cx="9875520" cy="411480"/>
          </a:xfrm>
          <a:prstGeom prst="rect">
            <a:avLst/>
          </a:prstGeom>
          <a:noFill/>
        </p:spPr>
        <p:txBody>
          <a:bodyPr wrap="square" lIns="0" tIns="0" rIns="0" bIns="0" anchor="ctr">
            <a:spAutoFit/>
          </a:bodyPr>
          <a:lstStyle/>
          <a:p>
            <a:pPr algn="l">
              <a:lnSpc>
                <a:spcPct val="105000"/>
              </a:lnSpc>
              <a:spcAft>
                <a:spcPts val="0"/>
              </a:spcAft>
            </a:pPr>
            <a:r>
              <a:rPr sz="1600" b="0" i="0">
                <a:solidFill>
                  <a:srgbClr val="FFFFFF"/>
                </a:solidFill>
                <a:latin typeface="Segoe UI"/>
              </a:rPr>
              <a:t>Sesi ini publik. Semua project, activity, tanggal, quantity dan data yang ditampilkan adalah simulasi.</a:t>
            </a:r>
          </a:p>
        </p:txBody>
      </p:sp>
      <p:sp>
        <p:nvSpPr>
          <p:cNvPr id="39" name="TextBox 38"/>
          <p:cNvSpPr txBox="1"/>
          <p:nvPr/>
        </p:nvSpPr>
        <p:spPr>
          <a:xfrm>
            <a:off x="10911535" y="6419088"/>
            <a:ext cx="731520" cy="237744"/>
          </a:xfrm>
          <a:prstGeom prst="rect">
            <a:avLst/>
          </a:prstGeom>
          <a:noFill/>
        </p:spPr>
        <p:txBody>
          <a:bodyPr wrap="square" lIns="0" tIns="0" rIns="0" bIns="0" anchor="t">
            <a:spAutoFit/>
          </a:bodyPr>
          <a:lstStyle/>
          <a:p>
            <a:pPr algn="r">
              <a:lnSpc>
                <a:spcPct val="105000"/>
              </a:lnSpc>
              <a:spcAft>
                <a:spcPts val="0"/>
              </a:spcAft>
            </a:pPr>
            <a:r>
              <a:rPr sz="900" b="0" i="0">
                <a:solidFill>
                  <a:srgbClr val="98A3B3"/>
                </a:solidFill>
                <a:latin typeface="Segoe UI"/>
              </a:rPr>
              <a:t>03</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82880"/>
            <a:ext cx="95234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1F5BD8"/>
                </a:solidFill>
                <a:latin typeface="Segoe UI Semibold"/>
              </a:rPr>
              <a:t>DATA CENTER</a:t>
            </a:r>
          </a:p>
        </p:txBody>
      </p:sp>
      <p:sp>
        <p:nvSpPr>
          <p:cNvPr id="3" name="Rectangle 2"/>
          <p:cNvSpPr/>
          <p:nvPr/>
        </p:nvSpPr>
        <p:spPr>
          <a:xfrm>
            <a:off x="548640" y="420624"/>
            <a:ext cx="769463" cy="32004"/>
          </a:xfrm>
          <a:prstGeom prst="rect">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409543"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5" name="TextBox 4"/>
          <p:cNvSpPr txBox="1"/>
          <p:nvPr/>
        </p:nvSpPr>
        <p:spPr>
          <a:xfrm>
            <a:off x="1702151" y="182880"/>
            <a:ext cx="78485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INTERFACE</a:t>
            </a:r>
          </a:p>
        </p:txBody>
      </p:sp>
      <p:sp>
        <p:nvSpPr>
          <p:cNvPr id="6" name="TextBox 5"/>
          <p:cNvSpPr txBox="1"/>
          <p:nvPr/>
        </p:nvSpPr>
        <p:spPr>
          <a:xfrm>
            <a:off x="239556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7" name="TextBox 6"/>
          <p:cNvSpPr txBox="1"/>
          <p:nvPr/>
        </p:nvSpPr>
        <p:spPr>
          <a:xfrm>
            <a:off x="2688175" y="182880"/>
            <a:ext cx="724872"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CONTROL</a:t>
            </a:r>
          </a:p>
        </p:txBody>
      </p:sp>
      <p:sp>
        <p:nvSpPr>
          <p:cNvPr id="8" name="TextBox 7"/>
          <p:cNvSpPr txBox="1"/>
          <p:nvPr/>
        </p:nvSpPr>
        <p:spPr>
          <a:xfrm>
            <a:off x="3321608"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9" name="TextBox 8"/>
          <p:cNvSpPr txBox="1"/>
          <p:nvPr/>
        </p:nvSpPr>
        <p:spPr>
          <a:xfrm>
            <a:off x="3614216" y="182880"/>
            <a:ext cx="115377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COMMISSIONING</a:t>
            </a:r>
          </a:p>
        </p:txBody>
      </p:sp>
      <p:sp>
        <p:nvSpPr>
          <p:cNvPr id="10" name="TextBox 9"/>
          <p:cNvSpPr txBox="1"/>
          <p:nvPr/>
        </p:nvSpPr>
        <p:spPr>
          <a:xfrm>
            <a:off x="4676549"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1" name="TextBox 10"/>
          <p:cNvSpPr txBox="1"/>
          <p:nvPr/>
        </p:nvSpPr>
        <p:spPr>
          <a:xfrm>
            <a:off x="4969157" y="182880"/>
            <a:ext cx="945555"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MONITORING</a:t>
            </a:r>
          </a:p>
        </p:txBody>
      </p:sp>
      <p:sp>
        <p:nvSpPr>
          <p:cNvPr id="12" name="TextBox 11"/>
          <p:cNvSpPr txBox="1"/>
          <p:nvPr/>
        </p:nvSpPr>
        <p:spPr>
          <a:xfrm>
            <a:off x="582327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3" name="TextBox 12"/>
          <p:cNvSpPr txBox="1"/>
          <p:nvPr/>
        </p:nvSpPr>
        <p:spPr>
          <a:xfrm>
            <a:off x="6115879" y="182880"/>
            <a:ext cx="63679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REALITA</a:t>
            </a:r>
          </a:p>
        </p:txBody>
      </p:sp>
      <p:sp>
        <p:nvSpPr>
          <p:cNvPr id="14" name="TextBox 13"/>
          <p:cNvSpPr txBox="1"/>
          <p:nvPr/>
        </p:nvSpPr>
        <p:spPr>
          <a:xfrm>
            <a:off x="6661235"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5" name="TextBox 14"/>
          <p:cNvSpPr txBox="1"/>
          <p:nvPr/>
        </p:nvSpPr>
        <p:spPr>
          <a:xfrm>
            <a:off x="6953843" y="182880"/>
            <a:ext cx="821309"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INFORMASI</a:t>
            </a:r>
          </a:p>
        </p:txBody>
      </p:sp>
      <p:sp>
        <p:nvSpPr>
          <p:cNvPr id="16" name="TextBox 15"/>
          <p:cNvSpPr txBox="1"/>
          <p:nvPr/>
        </p:nvSpPr>
        <p:spPr>
          <a:xfrm>
            <a:off x="7683712"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7" name="TextBox 16"/>
          <p:cNvSpPr txBox="1"/>
          <p:nvPr/>
        </p:nvSpPr>
        <p:spPr>
          <a:xfrm>
            <a:off x="7976320" y="182880"/>
            <a:ext cx="899541"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KNOWLEDGE</a:t>
            </a:r>
          </a:p>
        </p:txBody>
      </p:sp>
      <p:sp>
        <p:nvSpPr>
          <p:cNvPr id="18" name="TextBox 17"/>
          <p:cNvSpPr txBox="1"/>
          <p:nvPr/>
        </p:nvSpPr>
        <p:spPr>
          <a:xfrm>
            <a:off x="878442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9" name="TextBox 18"/>
          <p:cNvSpPr txBox="1"/>
          <p:nvPr/>
        </p:nvSpPr>
        <p:spPr>
          <a:xfrm>
            <a:off x="9077029" y="182880"/>
            <a:ext cx="733298"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OBSIDIAN</a:t>
            </a:r>
          </a:p>
        </p:txBody>
      </p:sp>
      <p:sp>
        <p:nvSpPr>
          <p:cNvPr id="20" name="TextBox 19"/>
          <p:cNvSpPr txBox="1"/>
          <p:nvPr/>
        </p:nvSpPr>
        <p:spPr>
          <a:xfrm>
            <a:off x="971888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21" name="TextBox 20"/>
          <p:cNvSpPr txBox="1"/>
          <p:nvPr/>
        </p:nvSpPr>
        <p:spPr>
          <a:xfrm>
            <a:off x="10011495" y="182880"/>
            <a:ext cx="297434"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AI</a:t>
            </a:r>
          </a:p>
        </p:txBody>
      </p:sp>
      <p:sp>
        <p:nvSpPr>
          <p:cNvPr id="22" name="!!title"/>
          <p:cNvSpPr txBox="1"/>
          <p:nvPr/>
        </p:nvSpPr>
        <p:spPr>
          <a:xfrm>
            <a:off x="548640" y="566928"/>
            <a:ext cx="11094415" cy="841248"/>
          </a:xfrm>
          <a:prstGeom prst="rect">
            <a:avLst/>
          </a:prstGeom>
          <a:noFill/>
        </p:spPr>
        <p:txBody>
          <a:bodyPr wrap="square" lIns="0" tIns="0" rIns="0" bIns="0" anchor="b">
            <a:spAutoFit/>
          </a:bodyPr>
          <a:lstStyle/>
          <a:p>
            <a:pPr algn="l">
              <a:lnSpc>
                <a:spcPct val="95000"/>
              </a:lnSpc>
              <a:spcAft>
                <a:spcPts val="0"/>
              </a:spcAft>
            </a:pPr>
            <a:r>
              <a:rPr sz="2800" b="0" i="0">
                <a:solidFill>
                  <a:srgbClr val="0B1F33"/>
                </a:solidFill>
                <a:latin typeface="Georgia"/>
              </a:rPr>
              <a:t>Dari luar, data center hanya terlihat sebagai sebuah bangunan</a:t>
            </a:r>
          </a:p>
        </p:txBody>
      </p:sp>
      <p:cxnSp>
        <p:nvCxnSpPr>
          <p:cNvPr id="23" name="Connector 22"/>
          <p:cNvCxnSpPr/>
          <p:nvPr/>
        </p:nvCxnSpPr>
        <p:spPr>
          <a:xfrm>
            <a:off x="548640" y="1517904"/>
            <a:ext cx="11094415" cy="0"/>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1920240" y="2788920"/>
            <a:ext cx="2194560" cy="2194560"/>
          </a:xfrm>
          <a:prstGeom prst="ellipse">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E731-0B1F33.png"/>
          <p:cNvPicPr>
            <a:picLocks noChangeAspect="1"/>
          </p:cNvPicPr>
          <p:nvPr/>
        </p:nvPicPr>
        <p:blipFill>
          <a:blip r:embed="rId3"/>
          <a:stretch>
            <a:fillRect/>
          </a:stretch>
        </p:blipFill>
        <p:spPr>
          <a:xfrm>
            <a:off x="2423160" y="3291840"/>
            <a:ext cx="1188720" cy="1188720"/>
          </a:xfrm>
          <a:prstGeom prst="rect">
            <a:avLst/>
          </a:prstGeom>
        </p:spPr>
      </p:pic>
      <p:sp>
        <p:nvSpPr>
          <p:cNvPr id="26" name="Rectangle 25"/>
          <p:cNvSpPr/>
          <p:nvPr/>
        </p:nvSpPr>
        <p:spPr>
          <a:xfrm>
            <a:off x="1463040" y="5029200"/>
            <a:ext cx="3108960" cy="36576"/>
          </a:xfrm>
          <a:prstGeom prst="rect">
            <a:avLst/>
          </a:prstGeom>
          <a:solidFill>
            <a:srgbClr val="98A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463040" y="5120640"/>
            <a:ext cx="2743200" cy="237744"/>
          </a:xfrm>
          <a:prstGeom prst="rect">
            <a:avLst/>
          </a:prstGeom>
          <a:noFill/>
        </p:spPr>
        <p:txBody>
          <a:bodyPr wrap="none" lIns="0" tIns="0" rIns="0" bIns="0" anchor="ctr">
            <a:spAutoFit/>
          </a:bodyPr>
          <a:lstStyle/>
          <a:p>
            <a:pPr algn="l">
              <a:lnSpc>
                <a:spcPct val="105000"/>
              </a:lnSpc>
              <a:spcAft>
                <a:spcPts val="0"/>
              </a:spcAft>
            </a:pPr>
            <a:r>
              <a:rPr sz="900" b="0" i="0" spc="80">
                <a:solidFill>
                  <a:srgbClr val="98A3B3"/>
                </a:solidFill>
                <a:latin typeface="Segoe UI Semibold"/>
              </a:rPr>
              <a:t>GROUND</a:t>
            </a:r>
          </a:p>
        </p:txBody>
      </p:sp>
      <p:sp>
        <p:nvSpPr>
          <p:cNvPr id="28" name="TextBox 27"/>
          <p:cNvSpPr txBox="1"/>
          <p:nvPr/>
        </p:nvSpPr>
        <p:spPr>
          <a:xfrm>
            <a:off x="4846320" y="3017520"/>
            <a:ext cx="6583680" cy="1737360"/>
          </a:xfrm>
          <a:prstGeom prst="rect">
            <a:avLst/>
          </a:prstGeom>
          <a:noFill/>
        </p:spPr>
        <p:txBody>
          <a:bodyPr wrap="square" lIns="0" tIns="0" rIns="0" bIns="0" anchor="ctr">
            <a:spAutoFit/>
          </a:bodyPr>
          <a:lstStyle/>
          <a:p>
            <a:pPr algn="l">
              <a:lnSpc>
                <a:spcPct val="105000"/>
              </a:lnSpc>
              <a:spcAft>
                <a:spcPts val="0"/>
              </a:spcAft>
            </a:pPr>
            <a:r>
              <a:rPr sz="2400" b="0" i="1">
                <a:solidFill>
                  <a:srgbClr val="56657A"/>
                </a:solidFill>
                <a:latin typeface="Georgia"/>
              </a:rPr>
              <a:t>Dinding, atap dan pagar. Yang tidak terlihat: perjalanan panjang sampai layanan digital bisa berjalan di dalamnya.</a:t>
            </a:r>
          </a:p>
        </p:txBody>
      </p:sp>
      <p:sp>
        <p:nvSpPr>
          <p:cNvPr id="29" name="TextBox 28"/>
          <p:cNvSpPr txBox="1"/>
          <p:nvPr/>
        </p:nvSpPr>
        <p:spPr>
          <a:xfrm>
            <a:off x="548640" y="6419088"/>
            <a:ext cx="8686800" cy="237744"/>
          </a:xfrm>
          <a:prstGeom prst="rect">
            <a:avLst/>
          </a:prstGeom>
          <a:noFill/>
        </p:spPr>
        <p:txBody>
          <a:bodyPr wrap="none" lIns="0" tIns="0" rIns="0" bIns="0" anchor="t">
            <a:spAutoFit/>
          </a:bodyPr>
          <a:lstStyle/>
          <a:p>
            <a:pPr algn="l">
              <a:lnSpc>
                <a:spcPct val="105000"/>
              </a:lnSpc>
              <a:spcAft>
                <a:spcPts val="0"/>
              </a:spcAft>
            </a:pPr>
            <a:r>
              <a:rPr sz="850" b="0" i="0">
                <a:solidFill>
                  <a:srgbClr val="98A3B3"/>
                </a:solidFill>
                <a:latin typeface="Segoe UI"/>
              </a:rPr>
              <a:t>Sumber: REF-021 (vault demo › 06 Referensi)</a:t>
            </a:r>
          </a:p>
        </p:txBody>
      </p:sp>
      <p:sp>
        <p:nvSpPr>
          <p:cNvPr id="30" name="TextBox 29"/>
          <p:cNvSpPr txBox="1"/>
          <p:nvPr/>
        </p:nvSpPr>
        <p:spPr>
          <a:xfrm>
            <a:off x="7071055" y="6419088"/>
            <a:ext cx="3657600" cy="237744"/>
          </a:xfrm>
          <a:prstGeom prst="rect">
            <a:avLst/>
          </a:prstGeom>
          <a:noFill/>
        </p:spPr>
        <p:txBody>
          <a:bodyPr wrap="none" lIns="0" tIns="0" rIns="0" bIns="0" anchor="ctr">
            <a:spAutoFit/>
          </a:bodyPr>
          <a:lstStyle/>
          <a:p>
            <a:pPr algn="r">
              <a:lnSpc>
                <a:spcPct val="105000"/>
              </a:lnSpc>
              <a:spcAft>
                <a:spcPts val="0"/>
              </a:spcAft>
            </a:pPr>
            <a:r>
              <a:rPr sz="800" b="0" i="0" spc="80">
                <a:solidFill>
                  <a:srgbClr val="56657A"/>
                </a:solidFill>
                <a:latin typeface="Segoe UI Semibold"/>
              </a:rPr>
              <a:t>MASRON HUTABALIAN</a:t>
            </a:r>
          </a:p>
        </p:txBody>
      </p:sp>
      <p:sp>
        <p:nvSpPr>
          <p:cNvPr id="31" name="TextBox 30"/>
          <p:cNvSpPr txBox="1"/>
          <p:nvPr/>
        </p:nvSpPr>
        <p:spPr>
          <a:xfrm>
            <a:off x="10911535" y="6419088"/>
            <a:ext cx="731520" cy="237744"/>
          </a:xfrm>
          <a:prstGeom prst="rect">
            <a:avLst/>
          </a:prstGeom>
          <a:noFill/>
        </p:spPr>
        <p:txBody>
          <a:bodyPr wrap="square" lIns="0" tIns="0" rIns="0" bIns="0" anchor="t">
            <a:spAutoFit/>
          </a:bodyPr>
          <a:lstStyle/>
          <a:p>
            <a:pPr algn="r">
              <a:lnSpc>
                <a:spcPct val="105000"/>
              </a:lnSpc>
              <a:spcAft>
                <a:spcPts val="0"/>
              </a:spcAft>
            </a:pPr>
            <a:r>
              <a:rPr sz="900" b="0" i="0">
                <a:solidFill>
                  <a:srgbClr val="98A3B3"/>
                </a:solidFill>
                <a:latin typeface="Segoe UI"/>
              </a:rPr>
              <a:t>04</a:t>
            </a: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82880"/>
            <a:ext cx="95234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1F5BD8"/>
                </a:solidFill>
                <a:latin typeface="Segoe UI Semibold"/>
              </a:rPr>
              <a:t>DATA CENTER</a:t>
            </a:r>
          </a:p>
        </p:txBody>
      </p:sp>
      <p:sp>
        <p:nvSpPr>
          <p:cNvPr id="3" name="Rectangle 2"/>
          <p:cNvSpPr/>
          <p:nvPr/>
        </p:nvSpPr>
        <p:spPr>
          <a:xfrm>
            <a:off x="548640" y="420624"/>
            <a:ext cx="769463" cy="32004"/>
          </a:xfrm>
          <a:prstGeom prst="rect">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409543"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5" name="TextBox 4"/>
          <p:cNvSpPr txBox="1"/>
          <p:nvPr/>
        </p:nvSpPr>
        <p:spPr>
          <a:xfrm>
            <a:off x="1702151" y="182880"/>
            <a:ext cx="78485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INTERFACE</a:t>
            </a:r>
          </a:p>
        </p:txBody>
      </p:sp>
      <p:sp>
        <p:nvSpPr>
          <p:cNvPr id="6" name="TextBox 5"/>
          <p:cNvSpPr txBox="1"/>
          <p:nvPr/>
        </p:nvSpPr>
        <p:spPr>
          <a:xfrm>
            <a:off x="239556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7" name="TextBox 6"/>
          <p:cNvSpPr txBox="1"/>
          <p:nvPr/>
        </p:nvSpPr>
        <p:spPr>
          <a:xfrm>
            <a:off x="2688175" y="182880"/>
            <a:ext cx="724872"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CONTROL</a:t>
            </a:r>
          </a:p>
        </p:txBody>
      </p:sp>
      <p:sp>
        <p:nvSpPr>
          <p:cNvPr id="8" name="TextBox 7"/>
          <p:cNvSpPr txBox="1"/>
          <p:nvPr/>
        </p:nvSpPr>
        <p:spPr>
          <a:xfrm>
            <a:off x="3321608"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9" name="TextBox 8"/>
          <p:cNvSpPr txBox="1"/>
          <p:nvPr/>
        </p:nvSpPr>
        <p:spPr>
          <a:xfrm>
            <a:off x="3614216" y="182880"/>
            <a:ext cx="115377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COMMISSIONING</a:t>
            </a:r>
          </a:p>
        </p:txBody>
      </p:sp>
      <p:sp>
        <p:nvSpPr>
          <p:cNvPr id="10" name="TextBox 9"/>
          <p:cNvSpPr txBox="1"/>
          <p:nvPr/>
        </p:nvSpPr>
        <p:spPr>
          <a:xfrm>
            <a:off x="4676549"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1" name="TextBox 10"/>
          <p:cNvSpPr txBox="1"/>
          <p:nvPr/>
        </p:nvSpPr>
        <p:spPr>
          <a:xfrm>
            <a:off x="4969157" y="182880"/>
            <a:ext cx="945555"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MONITORING</a:t>
            </a:r>
          </a:p>
        </p:txBody>
      </p:sp>
      <p:sp>
        <p:nvSpPr>
          <p:cNvPr id="12" name="TextBox 11"/>
          <p:cNvSpPr txBox="1"/>
          <p:nvPr/>
        </p:nvSpPr>
        <p:spPr>
          <a:xfrm>
            <a:off x="582327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3" name="TextBox 12"/>
          <p:cNvSpPr txBox="1"/>
          <p:nvPr/>
        </p:nvSpPr>
        <p:spPr>
          <a:xfrm>
            <a:off x="6115879" y="182880"/>
            <a:ext cx="63679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REALITA</a:t>
            </a:r>
          </a:p>
        </p:txBody>
      </p:sp>
      <p:sp>
        <p:nvSpPr>
          <p:cNvPr id="14" name="TextBox 13"/>
          <p:cNvSpPr txBox="1"/>
          <p:nvPr/>
        </p:nvSpPr>
        <p:spPr>
          <a:xfrm>
            <a:off x="6661235"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5" name="TextBox 14"/>
          <p:cNvSpPr txBox="1"/>
          <p:nvPr/>
        </p:nvSpPr>
        <p:spPr>
          <a:xfrm>
            <a:off x="6953843" y="182880"/>
            <a:ext cx="821309"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INFORMASI</a:t>
            </a:r>
          </a:p>
        </p:txBody>
      </p:sp>
      <p:sp>
        <p:nvSpPr>
          <p:cNvPr id="16" name="TextBox 15"/>
          <p:cNvSpPr txBox="1"/>
          <p:nvPr/>
        </p:nvSpPr>
        <p:spPr>
          <a:xfrm>
            <a:off x="7683712"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7" name="TextBox 16"/>
          <p:cNvSpPr txBox="1"/>
          <p:nvPr/>
        </p:nvSpPr>
        <p:spPr>
          <a:xfrm>
            <a:off x="7976320" y="182880"/>
            <a:ext cx="899541"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KNOWLEDGE</a:t>
            </a:r>
          </a:p>
        </p:txBody>
      </p:sp>
      <p:sp>
        <p:nvSpPr>
          <p:cNvPr id="18" name="TextBox 17"/>
          <p:cNvSpPr txBox="1"/>
          <p:nvPr/>
        </p:nvSpPr>
        <p:spPr>
          <a:xfrm>
            <a:off x="878442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9" name="TextBox 18"/>
          <p:cNvSpPr txBox="1"/>
          <p:nvPr/>
        </p:nvSpPr>
        <p:spPr>
          <a:xfrm>
            <a:off x="9077029" y="182880"/>
            <a:ext cx="733298"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OBSIDIAN</a:t>
            </a:r>
          </a:p>
        </p:txBody>
      </p:sp>
      <p:sp>
        <p:nvSpPr>
          <p:cNvPr id="20" name="TextBox 19"/>
          <p:cNvSpPr txBox="1"/>
          <p:nvPr/>
        </p:nvSpPr>
        <p:spPr>
          <a:xfrm>
            <a:off x="971888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21" name="TextBox 20"/>
          <p:cNvSpPr txBox="1"/>
          <p:nvPr/>
        </p:nvSpPr>
        <p:spPr>
          <a:xfrm>
            <a:off x="10011495" y="182880"/>
            <a:ext cx="297434"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AI</a:t>
            </a:r>
          </a:p>
        </p:txBody>
      </p:sp>
      <p:sp>
        <p:nvSpPr>
          <p:cNvPr id="22" name="!!title"/>
          <p:cNvSpPr txBox="1"/>
          <p:nvPr/>
        </p:nvSpPr>
        <p:spPr>
          <a:xfrm>
            <a:off x="548640" y="566928"/>
            <a:ext cx="11094415" cy="841248"/>
          </a:xfrm>
          <a:prstGeom prst="rect">
            <a:avLst/>
          </a:prstGeom>
          <a:noFill/>
        </p:spPr>
        <p:txBody>
          <a:bodyPr wrap="square" lIns="0" tIns="0" rIns="0" bIns="0" anchor="b">
            <a:spAutoFit/>
          </a:bodyPr>
          <a:lstStyle/>
          <a:p>
            <a:pPr algn="l">
              <a:lnSpc>
                <a:spcPct val="95000"/>
              </a:lnSpc>
              <a:spcAft>
                <a:spcPts val="0"/>
              </a:spcAft>
            </a:pPr>
            <a:r>
              <a:rPr sz="2800" b="0" i="0">
                <a:solidFill>
                  <a:srgbClr val="0B1F33"/>
                </a:solidFill>
                <a:latin typeface="Georgia"/>
              </a:rPr>
              <a:t>Dari ground sampai cloud, perjalanannya panjang</a:t>
            </a:r>
          </a:p>
        </p:txBody>
      </p:sp>
      <p:cxnSp>
        <p:nvCxnSpPr>
          <p:cNvPr id="23" name="Connector 22"/>
          <p:cNvCxnSpPr/>
          <p:nvPr/>
        </p:nvCxnSpPr>
        <p:spPr>
          <a:xfrm>
            <a:off x="548640" y="1517904"/>
            <a:ext cx="11094415" cy="0"/>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48640" y="5623560"/>
            <a:ext cx="2560320" cy="36576"/>
          </a:xfrm>
          <a:prstGeom prst="rect">
            <a:avLst/>
          </a:prstGeom>
          <a:solidFill>
            <a:srgbClr val="98A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48640" y="5696712"/>
            <a:ext cx="1828800" cy="237744"/>
          </a:xfrm>
          <a:prstGeom prst="rect">
            <a:avLst/>
          </a:prstGeom>
          <a:noFill/>
        </p:spPr>
        <p:txBody>
          <a:bodyPr wrap="none" lIns="0" tIns="0" rIns="0" bIns="0" anchor="ctr">
            <a:spAutoFit/>
          </a:bodyPr>
          <a:lstStyle/>
          <a:p>
            <a:pPr algn="l">
              <a:lnSpc>
                <a:spcPct val="105000"/>
              </a:lnSpc>
              <a:spcAft>
                <a:spcPts val="0"/>
              </a:spcAft>
            </a:pPr>
            <a:r>
              <a:rPr sz="850" b="0" i="0" spc="80">
                <a:solidFill>
                  <a:srgbClr val="98A3B3"/>
                </a:solidFill>
                <a:latin typeface="Segoe UI Semibold"/>
              </a:rPr>
              <a:t>GROUND</a:t>
            </a:r>
          </a:p>
        </p:txBody>
      </p:sp>
      <p:cxnSp>
        <p:nvCxnSpPr>
          <p:cNvPr id="26" name="Connector 25"/>
          <p:cNvCxnSpPr/>
          <p:nvPr/>
        </p:nvCxnSpPr>
        <p:spPr>
          <a:xfrm flipV="1">
            <a:off x="2107458" y="4148352"/>
            <a:ext cx="1119008" cy="252936"/>
          </a:xfrm>
          <a:prstGeom prst="line">
            <a:avLst/>
          </a:prstGeom>
          <a:ln w="25400">
            <a:solidFill>
              <a:srgbClr val="8DB4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4332421" y="3645432"/>
            <a:ext cx="1119009" cy="252936"/>
          </a:xfrm>
          <a:prstGeom prst="line">
            <a:avLst/>
          </a:prstGeom>
          <a:ln w="25400">
            <a:solidFill>
              <a:srgbClr val="8DB4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557385" y="3142512"/>
            <a:ext cx="1119009" cy="252936"/>
          </a:xfrm>
          <a:prstGeom prst="line">
            <a:avLst/>
          </a:prstGeom>
          <a:ln w="25400">
            <a:solidFill>
              <a:srgbClr val="8DB4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8782349" y="2639592"/>
            <a:ext cx="1119009" cy="252936"/>
          </a:xfrm>
          <a:prstGeom prst="line">
            <a:avLst/>
          </a:prstGeom>
          <a:ln w="25400">
            <a:solidFill>
              <a:srgbClr val="8DB4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st0d"/>
          <p:cNvSpPr/>
          <p:nvPr/>
        </p:nvSpPr>
        <p:spPr>
          <a:xfrm>
            <a:off x="1074420" y="4046220"/>
            <a:ext cx="960120" cy="960120"/>
          </a:xfrm>
          <a:prstGeom prst="ellipse">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st0i" descr="EC7A-FFFFFF.png"/>
          <p:cNvPicPr>
            <a:picLocks noChangeAspect="1"/>
          </p:cNvPicPr>
          <p:nvPr/>
        </p:nvPicPr>
        <p:blipFill>
          <a:blip r:embed="rId3"/>
          <a:stretch>
            <a:fillRect/>
          </a:stretch>
        </p:blipFill>
        <p:spPr>
          <a:xfrm>
            <a:off x="1314450" y="4286250"/>
            <a:ext cx="480060" cy="480060"/>
          </a:xfrm>
          <a:prstGeom prst="rect">
            <a:avLst/>
          </a:prstGeom>
        </p:spPr>
      </p:pic>
      <p:sp>
        <p:nvSpPr>
          <p:cNvPr id="32" name="TextBox 31"/>
          <p:cNvSpPr txBox="1"/>
          <p:nvPr/>
        </p:nvSpPr>
        <p:spPr>
          <a:xfrm>
            <a:off x="457200" y="5093208"/>
            <a:ext cx="2194560" cy="237744"/>
          </a:xfrm>
          <a:prstGeom prst="rect">
            <a:avLst/>
          </a:prstGeom>
          <a:noFill/>
        </p:spPr>
        <p:txBody>
          <a:bodyPr wrap="none" lIns="0" tIns="0" rIns="0" bIns="0" anchor="ctr">
            <a:spAutoFit/>
          </a:bodyPr>
          <a:lstStyle/>
          <a:p>
            <a:pPr algn="ctr">
              <a:lnSpc>
                <a:spcPct val="105000"/>
              </a:lnSpc>
              <a:spcAft>
                <a:spcPts val="0"/>
              </a:spcAft>
            </a:pPr>
            <a:r>
              <a:rPr sz="1100" b="0" i="0" spc="80">
                <a:solidFill>
                  <a:srgbClr val="0B1F33"/>
                </a:solidFill>
                <a:latin typeface="Segoe UI Semibold"/>
              </a:rPr>
              <a:t>GROUND</a:t>
            </a:r>
          </a:p>
        </p:txBody>
      </p:sp>
      <p:sp>
        <p:nvSpPr>
          <p:cNvPr id="33" name="TextBox 32"/>
          <p:cNvSpPr txBox="1"/>
          <p:nvPr/>
        </p:nvSpPr>
        <p:spPr>
          <a:xfrm>
            <a:off x="457200" y="5349240"/>
            <a:ext cx="2194560" cy="548640"/>
          </a:xfrm>
          <a:prstGeom prst="rect">
            <a:avLst/>
          </a:prstGeom>
          <a:noFill/>
        </p:spPr>
        <p:txBody>
          <a:bodyPr wrap="square" lIns="0" tIns="0" rIns="0" bIns="0" anchor="t">
            <a:spAutoFit/>
          </a:bodyPr>
          <a:lstStyle/>
          <a:p>
            <a:pPr algn="ctr">
              <a:lnSpc>
                <a:spcPct val="95000"/>
              </a:lnSpc>
              <a:spcAft>
                <a:spcPts val="0"/>
              </a:spcAft>
            </a:pPr>
            <a:r>
              <a:rPr sz="1150" b="0" i="0">
                <a:solidFill>
                  <a:srgbClr val="56657A"/>
                </a:solidFill>
                <a:latin typeface="Segoe UI"/>
              </a:rPr>
              <a:t>Konstruksi</a:t>
            </a:r>
          </a:p>
        </p:txBody>
      </p:sp>
      <p:sp>
        <p:nvSpPr>
          <p:cNvPr id="34" name="!!st1d"/>
          <p:cNvSpPr/>
          <p:nvPr/>
        </p:nvSpPr>
        <p:spPr>
          <a:xfrm>
            <a:off x="3299384" y="3543300"/>
            <a:ext cx="960120" cy="960120"/>
          </a:xfrm>
          <a:prstGeom prst="ellipse">
            <a:avLst/>
          </a:prstGeom>
          <a:solidFill>
            <a:srgbClr val="FFFFFF"/>
          </a:solidFill>
          <a:ln w="19050">
            <a:solidFill>
              <a:srgbClr val="0B1F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st1i" descr="E945-0B1F33.png"/>
          <p:cNvPicPr>
            <a:picLocks noChangeAspect="1"/>
          </p:cNvPicPr>
          <p:nvPr/>
        </p:nvPicPr>
        <p:blipFill>
          <a:blip r:embed="rId4"/>
          <a:stretch>
            <a:fillRect/>
          </a:stretch>
        </p:blipFill>
        <p:spPr>
          <a:xfrm>
            <a:off x="3539414" y="3783330"/>
            <a:ext cx="480060" cy="480060"/>
          </a:xfrm>
          <a:prstGeom prst="rect">
            <a:avLst/>
          </a:prstGeom>
        </p:spPr>
      </p:pic>
      <p:sp>
        <p:nvSpPr>
          <p:cNvPr id="36" name="TextBox 35"/>
          <p:cNvSpPr txBox="1"/>
          <p:nvPr/>
        </p:nvSpPr>
        <p:spPr>
          <a:xfrm>
            <a:off x="2682164" y="4590288"/>
            <a:ext cx="2194560" cy="237744"/>
          </a:xfrm>
          <a:prstGeom prst="rect">
            <a:avLst/>
          </a:prstGeom>
          <a:noFill/>
        </p:spPr>
        <p:txBody>
          <a:bodyPr wrap="none" lIns="0" tIns="0" rIns="0" bIns="0" anchor="ctr">
            <a:spAutoFit/>
          </a:bodyPr>
          <a:lstStyle/>
          <a:p>
            <a:pPr algn="ctr">
              <a:lnSpc>
                <a:spcPct val="105000"/>
              </a:lnSpc>
              <a:spcAft>
                <a:spcPts val="0"/>
              </a:spcAft>
            </a:pPr>
            <a:r>
              <a:rPr sz="1100" b="0" i="0" spc="80">
                <a:solidFill>
                  <a:srgbClr val="0B1F33"/>
                </a:solidFill>
                <a:latin typeface="Segoe UI Semibold"/>
              </a:rPr>
              <a:t>INFRASTRUCTURE</a:t>
            </a:r>
          </a:p>
        </p:txBody>
      </p:sp>
      <p:sp>
        <p:nvSpPr>
          <p:cNvPr id="37" name="TextBox 36"/>
          <p:cNvSpPr txBox="1"/>
          <p:nvPr/>
        </p:nvSpPr>
        <p:spPr>
          <a:xfrm>
            <a:off x="2682164" y="4846320"/>
            <a:ext cx="2194560" cy="548640"/>
          </a:xfrm>
          <a:prstGeom prst="rect">
            <a:avLst/>
          </a:prstGeom>
          <a:noFill/>
        </p:spPr>
        <p:txBody>
          <a:bodyPr wrap="square" lIns="0" tIns="0" rIns="0" bIns="0" anchor="t">
            <a:spAutoFit/>
          </a:bodyPr>
          <a:lstStyle/>
          <a:p>
            <a:pPr algn="ctr">
              <a:lnSpc>
                <a:spcPct val="95000"/>
              </a:lnSpc>
              <a:spcAft>
                <a:spcPts val="0"/>
              </a:spcAft>
            </a:pPr>
            <a:r>
              <a:rPr sz="1150" b="0" i="0">
                <a:solidFill>
                  <a:srgbClr val="56657A"/>
                </a:solidFill>
                <a:latin typeface="Segoe UI"/>
              </a:rPr>
              <a:t>Power · Cooling · Network</a:t>
            </a:r>
          </a:p>
        </p:txBody>
      </p:sp>
      <p:sp>
        <p:nvSpPr>
          <p:cNvPr id="38" name="!!st2d"/>
          <p:cNvSpPr/>
          <p:nvPr/>
        </p:nvSpPr>
        <p:spPr>
          <a:xfrm>
            <a:off x="5524348" y="3040380"/>
            <a:ext cx="960120" cy="960120"/>
          </a:xfrm>
          <a:prstGeom prst="ellipse">
            <a:avLst/>
          </a:prstGeom>
          <a:solidFill>
            <a:srgbClr val="FFFFFF"/>
          </a:solidFill>
          <a:ln w="19050">
            <a:solidFill>
              <a:srgbClr val="0B1F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st2i" descr="EA86-0B1F33.png"/>
          <p:cNvPicPr>
            <a:picLocks noChangeAspect="1"/>
          </p:cNvPicPr>
          <p:nvPr/>
        </p:nvPicPr>
        <p:blipFill>
          <a:blip r:embed="rId5"/>
          <a:stretch>
            <a:fillRect/>
          </a:stretch>
        </p:blipFill>
        <p:spPr>
          <a:xfrm>
            <a:off x="5764378" y="3280410"/>
            <a:ext cx="480060" cy="480060"/>
          </a:xfrm>
          <a:prstGeom prst="rect">
            <a:avLst/>
          </a:prstGeom>
        </p:spPr>
      </p:pic>
      <p:sp>
        <p:nvSpPr>
          <p:cNvPr id="40" name="TextBox 39"/>
          <p:cNvSpPr txBox="1"/>
          <p:nvPr/>
        </p:nvSpPr>
        <p:spPr>
          <a:xfrm>
            <a:off x="4907128" y="4087368"/>
            <a:ext cx="2194560" cy="237744"/>
          </a:xfrm>
          <a:prstGeom prst="rect">
            <a:avLst/>
          </a:prstGeom>
          <a:noFill/>
        </p:spPr>
        <p:txBody>
          <a:bodyPr wrap="none" lIns="0" tIns="0" rIns="0" bIns="0" anchor="ctr">
            <a:spAutoFit/>
          </a:bodyPr>
          <a:lstStyle/>
          <a:p>
            <a:pPr algn="ctr">
              <a:lnSpc>
                <a:spcPct val="105000"/>
              </a:lnSpc>
              <a:spcAft>
                <a:spcPts val="0"/>
              </a:spcAft>
            </a:pPr>
            <a:r>
              <a:rPr sz="1100" b="0" i="0" spc="80">
                <a:solidFill>
                  <a:srgbClr val="0B1F33"/>
                </a:solidFill>
                <a:latin typeface="Segoe UI Semibold"/>
              </a:rPr>
              <a:t>SYSTEMS</a:t>
            </a:r>
          </a:p>
        </p:txBody>
      </p:sp>
      <p:sp>
        <p:nvSpPr>
          <p:cNvPr id="41" name="TextBox 40"/>
          <p:cNvSpPr txBox="1"/>
          <p:nvPr/>
        </p:nvSpPr>
        <p:spPr>
          <a:xfrm>
            <a:off x="4907128" y="4343400"/>
            <a:ext cx="2194560" cy="548640"/>
          </a:xfrm>
          <a:prstGeom prst="rect">
            <a:avLst/>
          </a:prstGeom>
          <a:noFill/>
        </p:spPr>
        <p:txBody>
          <a:bodyPr wrap="square" lIns="0" tIns="0" rIns="0" bIns="0" anchor="t">
            <a:spAutoFit/>
          </a:bodyPr>
          <a:lstStyle/>
          <a:p>
            <a:pPr algn="ctr">
              <a:lnSpc>
                <a:spcPct val="95000"/>
              </a:lnSpc>
              <a:spcAft>
                <a:spcPts val="0"/>
              </a:spcAft>
            </a:pPr>
            <a:r>
              <a:rPr sz="1150" b="0" i="0">
                <a:solidFill>
                  <a:srgbClr val="56657A"/>
                </a:solidFill>
                <a:latin typeface="Segoe UI"/>
              </a:rPr>
              <a:t>Integrasi · Testing</a:t>
            </a:r>
          </a:p>
        </p:txBody>
      </p:sp>
      <p:sp>
        <p:nvSpPr>
          <p:cNvPr id="42" name="!!st3d"/>
          <p:cNvSpPr/>
          <p:nvPr/>
        </p:nvSpPr>
        <p:spPr>
          <a:xfrm>
            <a:off x="7749311" y="2537460"/>
            <a:ext cx="960120" cy="960120"/>
          </a:xfrm>
          <a:prstGeom prst="ellipse">
            <a:avLst/>
          </a:prstGeom>
          <a:solidFill>
            <a:srgbClr val="FFFFFF"/>
          </a:solidFill>
          <a:ln w="19050">
            <a:solidFill>
              <a:srgbClr val="0B1F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3" name="!!st3i" descr="E7C1-0B1F33.png"/>
          <p:cNvPicPr>
            <a:picLocks noChangeAspect="1"/>
          </p:cNvPicPr>
          <p:nvPr/>
        </p:nvPicPr>
        <p:blipFill>
          <a:blip r:embed="rId6"/>
          <a:stretch>
            <a:fillRect/>
          </a:stretch>
        </p:blipFill>
        <p:spPr>
          <a:xfrm>
            <a:off x="7989341" y="2777490"/>
            <a:ext cx="480060" cy="480060"/>
          </a:xfrm>
          <a:prstGeom prst="rect">
            <a:avLst/>
          </a:prstGeom>
        </p:spPr>
      </p:pic>
      <p:sp>
        <p:nvSpPr>
          <p:cNvPr id="44" name="TextBox 43"/>
          <p:cNvSpPr txBox="1"/>
          <p:nvPr/>
        </p:nvSpPr>
        <p:spPr>
          <a:xfrm>
            <a:off x="7132091" y="3584448"/>
            <a:ext cx="2194560" cy="237744"/>
          </a:xfrm>
          <a:prstGeom prst="rect">
            <a:avLst/>
          </a:prstGeom>
          <a:noFill/>
        </p:spPr>
        <p:txBody>
          <a:bodyPr wrap="none" lIns="0" tIns="0" rIns="0" bIns="0" anchor="ctr">
            <a:spAutoFit/>
          </a:bodyPr>
          <a:lstStyle/>
          <a:p>
            <a:pPr algn="ctr">
              <a:lnSpc>
                <a:spcPct val="105000"/>
              </a:lnSpc>
              <a:spcAft>
                <a:spcPts val="0"/>
              </a:spcAft>
            </a:pPr>
            <a:r>
              <a:rPr sz="1100" b="0" i="0" spc="80">
                <a:solidFill>
                  <a:srgbClr val="0B1F33"/>
                </a:solidFill>
                <a:latin typeface="Segoe UI Semibold"/>
              </a:rPr>
              <a:t>READY</a:t>
            </a:r>
          </a:p>
        </p:txBody>
      </p:sp>
      <p:sp>
        <p:nvSpPr>
          <p:cNvPr id="45" name="TextBox 44"/>
          <p:cNvSpPr txBox="1"/>
          <p:nvPr/>
        </p:nvSpPr>
        <p:spPr>
          <a:xfrm>
            <a:off x="7132091" y="3840480"/>
            <a:ext cx="2194560" cy="548640"/>
          </a:xfrm>
          <a:prstGeom prst="rect">
            <a:avLst/>
          </a:prstGeom>
          <a:noFill/>
        </p:spPr>
        <p:txBody>
          <a:bodyPr wrap="square" lIns="0" tIns="0" rIns="0" bIns="0" anchor="t">
            <a:spAutoFit/>
          </a:bodyPr>
          <a:lstStyle/>
          <a:p>
            <a:pPr algn="ctr">
              <a:lnSpc>
                <a:spcPct val="95000"/>
              </a:lnSpc>
              <a:spcAft>
                <a:spcPts val="0"/>
              </a:spcAft>
            </a:pPr>
            <a:r>
              <a:rPr sz="1150" b="0" i="0">
                <a:solidFill>
                  <a:srgbClr val="56657A"/>
                </a:solidFill>
                <a:latin typeface="Segoe UI"/>
              </a:rPr>
              <a:t>Commissioning</a:t>
            </a:r>
          </a:p>
        </p:txBody>
      </p:sp>
      <p:sp>
        <p:nvSpPr>
          <p:cNvPr id="46" name="!!st4d"/>
          <p:cNvSpPr/>
          <p:nvPr/>
        </p:nvSpPr>
        <p:spPr>
          <a:xfrm>
            <a:off x="9974275" y="2034540"/>
            <a:ext cx="960120" cy="960120"/>
          </a:xfrm>
          <a:prstGeom prst="ellipse">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7" name="!!st4i" descr="E753-FFFFFF.png"/>
          <p:cNvPicPr>
            <a:picLocks noChangeAspect="1"/>
          </p:cNvPicPr>
          <p:nvPr/>
        </p:nvPicPr>
        <p:blipFill>
          <a:blip r:embed="rId7"/>
          <a:stretch>
            <a:fillRect/>
          </a:stretch>
        </p:blipFill>
        <p:spPr>
          <a:xfrm>
            <a:off x="10214305" y="2274570"/>
            <a:ext cx="480060" cy="480060"/>
          </a:xfrm>
          <a:prstGeom prst="rect">
            <a:avLst/>
          </a:prstGeom>
        </p:spPr>
      </p:pic>
      <p:sp>
        <p:nvSpPr>
          <p:cNvPr id="48" name="TextBox 47"/>
          <p:cNvSpPr txBox="1"/>
          <p:nvPr/>
        </p:nvSpPr>
        <p:spPr>
          <a:xfrm>
            <a:off x="9357055" y="3081528"/>
            <a:ext cx="2194560" cy="237744"/>
          </a:xfrm>
          <a:prstGeom prst="rect">
            <a:avLst/>
          </a:prstGeom>
          <a:noFill/>
        </p:spPr>
        <p:txBody>
          <a:bodyPr wrap="none" lIns="0" tIns="0" rIns="0" bIns="0" anchor="ctr">
            <a:spAutoFit/>
          </a:bodyPr>
          <a:lstStyle/>
          <a:p>
            <a:pPr algn="ctr">
              <a:lnSpc>
                <a:spcPct val="105000"/>
              </a:lnSpc>
              <a:spcAft>
                <a:spcPts val="0"/>
              </a:spcAft>
            </a:pPr>
            <a:r>
              <a:rPr sz="1100" b="0" i="0" spc="80">
                <a:solidFill>
                  <a:srgbClr val="1F5BD8"/>
                </a:solidFill>
                <a:latin typeface="Segoe UI Semibold"/>
              </a:rPr>
              <a:t>CLOUD</a:t>
            </a:r>
          </a:p>
        </p:txBody>
      </p:sp>
      <p:sp>
        <p:nvSpPr>
          <p:cNvPr id="49" name="TextBox 48"/>
          <p:cNvSpPr txBox="1"/>
          <p:nvPr/>
        </p:nvSpPr>
        <p:spPr>
          <a:xfrm>
            <a:off x="9357055" y="3337560"/>
            <a:ext cx="2194560" cy="548640"/>
          </a:xfrm>
          <a:prstGeom prst="rect">
            <a:avLst/>
          </a:prstGeom>
          <a:noFill/>
        </p:spPr>
        <p:txBody>
          <a:bodyPr wrap="square" lIns="0" tIns="0" rIns="0" bIns="0" anchor="t">
            <a:spAutoFit/>
          </a:bodyPr>
          <a:lstStyle/>
          <a:p>
            <a:pPr algn="ctr">
              <a:lnSpc>
                <a:spcPct val="95000"/>
              </a:lnSpc>
              <a:spcAft>
                <a:spcPts val="0"/>
              </a:spcAft>
            </a:pPr>
            <a:r>
              <a:rPr sz="1150" b="0" i="0">
                <a:solidFill>
                  <a:srgbClr val="56657A"/>
                </a:solidFill>
                <a:latin typeface="Segoe UI"/>
              </a:rPr>
              <a:t>Layanan digital · Data · AI</a:t>
            </a:r>
          </a:p>
        </p:txBody>
      </p:sp>
      <p:sp>
        <p:nvSpPr>
          <p:cNvPr id="50" name="TextBox 49"/>
          <p:cNvSpPr txBox="1"/>
          <p:nvPr/>
        </p:nvSpPr>
        <p:spPr>
          <a:xfrm>
            <a:off x="548640" y="6419088"/>
            <a:ext cx="8686800" cy="237744"/>
          </a:xfrm>
          <a:prstGeom prst="rect">
            <a:avLst/>
          </a:prstGeom>
          <a:noFill/>
        </p:spPr>
        <p:txBody>
          <a:bodyPr wrap="none" lIns="0" tIns="0" rIns="0" bIns="0" anchor="t">
            <a:spAutoFit/>
          </a:bodyPr>
          <a:lstStyle/>
          <a:p>
            <a:pPr algn="l">
              <a:lnSpc>
                <a:spcPct val="105000"/>
              </a:lnSpc>
              <a:spcAft>
                <a:spcPts val="0"/>
              </a:spcAft>
            </a:pPr>
            <a:r>
              <a:rPr sz="850" b="0" i="0">
                <a:solidFill>
                  <a:srgbClr val="98A3B3"/>
                </a:solidFill>
                <a:latin typeface="Segoe UI"/>
              </a:rPr>
              <a:t>Sumber: REF-021 (vault demo › 06 Referensi)</a:t>
            </a:r>
          </a:p>
        </p:txBody>
      </p:sp>
      <p:sp>
        <p:nvSpPr>
          <p:cNvPr id="51" name="TextBox 50"/>
          <p:cNvSpPr txBox="1"/>
          <p:nvPr/>
        </p:nvSpPr>
        <p:spPr>
          <a:xfrm>
            <a:off x="7071055" y="6419088"/>
            <a:ext cx="3657600" cy="237744"/>
          </a:xfrm>
          <a:prstGeom prst="rect">
            <a:avLst/>
          </a:prstGeom>
          <a:noFill/>
        </p:spPr>
        <p:txBody>
          <a:bodyPr wrap="none" lIns="0" tIns="0" rIns="0" bIns="0" anchor="ctr">
            <a:spAutoFit/>
          </a:bodyPr>
          <a:lstStyle/>
          <a:p>
            <a:pPr algn="r">
              <a:lnSpc>
                <a:spcPct val="105000"/>
              </a:lnSpc>
              <a:spcAft>
                <a:spcPts val="0"/>
              </a:spcAft>
            </a:pPr>
            <a:r>
              <a:rPr sz="800" b="0" i="0" spc="80">
                <a:solidFill>
                  <a:srgbClr val="56657A"/>
                </a:solidFill>
                <a:latin typeface="Segoe UI Semibold"/>
              </a:rPr>
              <a:t>MASRON HUTABALIAN</a:t>
            </a:r>
          </a:p>
        </p:txBody>
      </p:sp>
      <p:sp>
        <p:nvSpPr>
          <p:cNvPr id="52" name="TextBox 51"/>
          <p:cNvSpPr txBox="1"/>
          <p:nvPr/>
        </p:nvSpPr>
        <p:spPr>
          <a:xfrm>
            <a:off x="10911535" y="6419088"/>
            <a:ext cx="731520" cy="237744"/>
          </a:xfrm>
          <a:prstGeom prst="rect">
            <a:avLst/>
          </a:prstGeom>
          <a:noFill/>
        </p:spPr>
        <p:txBody>
          <a:bodyPr wrap="square" lIns="0" tIns="0" rIns="0" bIns="0" anchor="t">
            <a:spAutoFit/>
          </a:bodyPr>
          <a:lstStyle/>
          <a:p>
            <a:pPr algn="r">
              <a:lnSpc>
                <a:spcPct val="105000"/>
              </a:lnSpc>
              <a:spcAft>
                <a:spcPts val="0"/>
              </a:spcAft>
            </a:pPr>
            <a:r>
              <a:rPr sz="900" b="0" i="0">
                <a:solidFill>
                  <a:srgbClr val="98A3B3"/>
                </a:solidFill>
                <a:latin typeface="Segoe UI"/>
              </a:rPr>
              <a:t>05</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82880"/>
            <a:ext cx="95234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1F5BD8"/>
                </a:solidFill>
                <a:latin typeface="Segoe UI Semibold"/>
              </a:rPr>
              <a:t>DATA CENTER</a:t>
            </a:r>
          </a:p>
        </p:txBody>
      </p:sp>
      <p:sp>
        <p:nvSpPr>
          <p:cNvPr id="3" name="Rectangle 2"/>
          <p:cNvSpPr/>
          <p:nvPr/>
        </p:nvSpPr>
        <p:spPr>
          <a:xfrm>
            <a:off x="548640" y="420624"/>
            <a:ext cx="769463" cy="32004"/>
          </a:xfrm>
          <a:prstGeom prst="rect">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409543"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5" name="TextBox 4"/>
          <p:cNvSpPr txBox="1"/>
          <p:nvPr/>
        </p:nvSpPr>
        <p:spPr>
          <a:xfrm>
            <a:off x="1702151" y="182880"/>
            <a:ext cx="78485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INTERFACE</a:t>
            </a:r>
          </a:p>
        </p:txBody>
      </p:sp>
      <p:sp>
        <p:nvSpPr>
          <p:cNvPr id="6" name="TextBox 5"/>
          <p:cNvSpPr txBox="1"/>
          <p:nvPr/>
        </p:nvSpPr>
        <p:spPr>
          <a:xfrm>
            <a:off x="239556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7" name="TextBox 6"/>
          <p:cNvSpPr txBox="1"/>
          <p:nvPr/>
        </p:nvSpPr>
        <p:spPr>
          <a:xfrm>
            <a:off x="2688175" y="182880"/>
            <a:ext cx="724872"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CONTROL</a:t>
            </a:r>
          </a:p>
        </p:txBody>
      </p:sp>
      <p:sp>
        <p:nvSpPr>
          <p:cNvPr id="8" name="TextBox 7"/>
          <p:cNvSpPr txBox="1"/>
          <p:nvPr/>
        </p:nvSpPr>
        <p:spPr>
          <a:xfrm>
            <a:off x="3321608"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9" name="TextBox 8"/>
          <p:cNvSpPr txBox="1"/>
          <p:nvPr/>
        </p:nvSpPr>
        <p:spPr>
          <a:xfrm>
            <a:off x="3614216" y="182880"/>
            <a:ext cx="115377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COMMISSIONING</a:t>
            </a:r>
          </a:p>
        </p:txBody>
      </p:sp>
      <p:sp>
        <p:nvSpPr>
          <p:cNvPr id="10" name="TextBox 9"/>
          <p:cNvSpPr txBox="1"/>
          <p:nvPr/>
        </p:nvSpPr>
        <p:spPr>
          <a:xfrm>
            <a:off x="4676549"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1" name="TextBox 10"/>
          <p:cNvSpPr txBox="1"/>
          <p:nvPr/>
        </p:nvSpPr>
        <p:spPr>
          <a:xfrm>
            <a:off x="4969157" y="182880"/>
            <a:ext cx="945555"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MONITORING</a:t>
            </a:r>
          </a:p>
        </p:txBody>
      </p:sp>
      <p:sp>
        <p:nvSpPr>
          <p:cNvPr id="12" name="TextBox 11"/>
          <p:cNvSpPr txBox="1"/>
          <p:nvPr/>
        </p:nvSpPr>
        <p:spPr>
          <a:xfrm>
            <a:off x="582327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3" name="TextBox 12"/>
          <p:cNvSpPr txBox="1"/>
          <p:nvPr/>
        </p:nvSpPr>
        <p:spPr>
          <a:xfrm>
            <a:off x="6115879" y="182880"/>
            <a:ext cx="63679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REALITA</a:t>
            </a:r>
          </a:p>
        </p:txBody>
      </p:sp>
      <p:sp>
        <p:nvSpPr>
          <p:cNvPr id="14" name="TextBox 13"/>
          <p:cNvSpPr txBox="1"/>
          <p:nvPr/>
        </p:nvSpPr>
        <p:spPr>
          <a:xfrm>
            <a:off x="6661235"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5" name="TextBox 14"/>
          <p:cNvSpPr txBox="1"/>
          <p:nvPr/>
        </p:nvSpPr>
        <p:spPr>
          <a:xfrm>
            <a:off x="6953843" y="182880"/>
            <a:ext cx="821309"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INFORMASI</a:t>
            </a:r>
          </a:p>
        </p:txBody>
      </p:sp>
      <p:sp>
        <p:nvSpPr>
          <p:cNvPr id="16" name="TextBox 15"/>
          <p:cNvSpPr txBox="1"/>
          <p:nvPr/>
        </p:nvSpPr>
        <p:spPr>
          <a:xfrm>
            <a:off x="7683712"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7" name="TextBox 16"/>
          <p:cNvSpPr txBox="1"/>
          <p:nvPr/>
        </p:nvSpPr>
        <p:spPr>
          <a:xfrm>
            <a:off x="7976320" y="182880"/>
            <a:ext cx="899541"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KNOWLEDGE</a:t>
            </a:r>
          </a:p>
        </p:txBody>
      </p:sp>
      <p:sp>
        <p:nvSpPr>
          <p:cNvPr id="18" name="TextBox 17"/>
          <p:cNvSpPr txBox="1"/>
          <p:nvPr/>
        </p:nvSpPr>
        <p:spPr>
          <a:xfrm>
            <a:off x="878442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9" name="TextBox 18"/>
          <p:cNvSpPr txBox="1"/>
          <p:nvPr/>
        </p:nvSpPr>
        <p:spPr>
          <a:xfrm>
            <a:off x="9077029" y="182880"/>
            <a:ext cx="733298"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OBSIDIAN</a:t>
            </a:r>
          </a:p>
        </p:txBody>
      </p:sp>
      <p:sp>
        <p:nvSpPr>
          <p:cNvPr id="20" name="TextBox 19"/>
          <p:cNvSpPr txBox="1"/>
          <p:nvPr/>
        </p:nvSpPr>
        <p:spPr>
          <a:xfrm>
            <a:off x="971888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21" name="TextBox 20"/>
          <p:cNvSpPr txBox="1"/>
          <p:nvPr/>
        </p:nvSpPr>
        <p:spPr>
          <a:xfrm>
            <a:off x="10011495" y="182880"/>
            <a:ext cx="297434"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AI</a:t>
            </a:r>
          </a:p>
        </p:txBody>
      </p:sp>
      <p:sp>
        <p:nvSpPr>
          <p:cNvPr id="22" name="!!title"/>
          <p:cNvSpPr txBox="1"/>
          <p:nvPr/>
        </p:nvSpPr>
        <p:spPr>
          <a:xfrm>
            <a:off x="548640" y="566928"/>
            <a:ext cx="11094415" cy="841248"/>
          </a:xfrm>
          <a:prstGeom prst="rect">
            <a:avLst/>
          </a:prstGeom>
          <a:noFill/>
        </p:spPr>
        <p:txBody>
          <a:bodyPr wrap="square" lIns="0" tIns="0" rIns="0" bIns="0" anchor="b">
            <a:spAutoFit/>
          </a:bodyPr>
          <a:lstStyle/>
          <a:p>
            <a:pPr algn="l">
              <a:lnSpc>
                <a:spcPct val="95000"/>
              </a:lnSpc>
              <a:spcAft>
                <a:spcPts val="0"/>
              </a:spcAft>
            </a:pPr>
            <a:r>
              <a:rPr sz="2800" b="0" i="0">
                <a:solidFill>
                  <a:srgbClr val="0B1F33"/>
                </a:solidFill>
                <a:latin typeface="Georgia"/>
              </a:rPr>
              <a:t>Yang kita bangun lebih dari sekadar gedung</a:t>
            </a:r>
          </a:p>
        </p:txBody>
      </p:sp>
      <p:cxnSp>
        <p:nvCxnSpPr>
          <p:cNvPr id="23" name="Connector 22"/>
          <p:cNvCxnSpPr/>
          <p:nvPr/>
        </p:nvCxnSpPr>
        <p:spPr>
          <a:xfrm>
            <a:off x="548640" y="1517904"/>
            <a:ext cx="11094415" cy="0"/>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24" name="!!core"/>
          <p:cNvSpPr/>
          <p:nvPr/>
        </p:nvSpPr>
        <p:spPr>
          <a:xfrm>
            <a:off x="4358488" y="2057400"/>
            <a:ext cx="3474720" cy="3108960"/>
          </a:xfrm>
          <a:prstGeom prst="roundRect">
            <a:avLst>
              <a:gd name="adj" fmla="val 4705"/>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corei" descr="E731-0B1F33.png"/>
          <p:cNvPicPr>
            <a:picLocks noChangeAspect="1"/>
          </p:cNvPicPr>
          <p:nvPr/>
        </p:nvPicPr>
        <p:blipFill>
          <a:blip r:embed="rId3"/>
          <a:stretch>
            <a:fillRect/>
          </a:stretch>
        </p:blipFill>
        <p:spPr>
          <a:xfrm>
            <a:off x="5592928" y="2560320"/>
            <a:ext cx="1005840" cy="1005840"/>
          </a:xfrm>
          <a:prstGeom prst="rect">
            <a:avLst/>
          </a:prstGeom>
        </p:spPr>
      </p:pic>
      <p:sp>
        <p:nvSpPr>
          <p:cNvPr id="26" name="TextBox 25"/>
          <p:cNvSpPr txBox="1"/>
          <p:nvPr/>
        </p:nvSpPr>
        <p:spPr>
          <a:xfrm>
            <a:off x="4449928" y="3840480"/>
            <a:ext cx="3291840" cy="457200"/>
          </a:xfrm>
          <a:prstGeom prst="rect">
            <a:avLst/>
          </a:prstGeom>
          <a:noFill/>
        </p:spPr>
        <p:txBody>
          <a:bodyPr wrap="square" lIns="0" tIns="0" rIns="0" bIns="0" anchor="ctr">
            <a:spAutoFit/>
          </a:bodyPr>
          <a:lstStyle/>
          <a:p>
            <a:pPr algn="ctr">
              <a:lnSpc>
                <a:spcPct val="105000"/>
              </a:lnSpc>
              <a:spcAft>
                <a:spcPts val="0"/>
              </a:spcAft>
            </a:pPr>
            <a:r>
              <a:rPr sz="2000" b="0" i="0">
                <a:solidFill>
                  <a:srgbClr val="0B1F33"/>
                </a:solidFill>
                <a:latin typeface="Segoe UI Semibold"/>
              </a:rPr>
              <a:t>Data center</a:t>
            </a:r>
          </a:p>
        </p:txBody>
      </p:sp>
      <p:sp>
        <p:nvSpPr>
          <p:cNvPr id="27" name="TextBox 26"/>
          <p:cNvSpPr txBox="1"/>
          <p:nvPr/>
        </p:nvSpPr>
        <p:spPr>
          <a:xfrm>
            <a:off x="4541368" y="4297680"/>
            <a:ext cx="3108960" cy="640080"/>
          </a:xfrm>
          <a:prstGeom prst="rect">
            <a:avLst/>
          </a:prstGeom>
          <a:noFill/>
        </p:spPr>
        <p:txBody>
          <a:bodyPr wrap="square" lIns="0" tIns="0" rIns="0" bIns="0" anchor="t">
            <a:spAutoFit/>
          </a:bodyPr>
          <a:lstStyle/>
          <a:p>
            <a:pPr algn="ctr">
              <a:lnSpc>
                <a:spcPct val="105000"/>
              </a:lnSpc>
              <a:spcAft>
                <a:spcPts val="0"/>
              </a:spcAft>
            </a:pPr>
            <a:r>
              <a:rPr sz="1200" b="0" i="0">
                <a:solidFill>
                  <a:srgbClr val="56657A"/>
                </a:solidFill>
                <a:latin typeface="Segoe UI"/>
              </a:rPr>
              <a:t>Gedung yang menjaga server tetap menyala tanpa henti</a:t>
            </a:r>
          </a:p>
        </p:txBody>
      </p:sp>
      <p:sp>
        <p:nvSpPr>
          <p:cNvPr id="28" name="TextBox 27"/>
          <p:cNvSpPr txBox="1"/>
          <p:nvPr/>
        </p:nvSpPr>
        <p:spPr>
          <a:xfrm>
            <a:off x="548640" y="6419088"/>
            <a:ext cx="8686800" cy="237744"/>
          </a:xfrm>
          <a:prstGeom prst="rect">
            <a:avLst/>
          </a:prstGeom>
          <a:noFill/>
        </p:spPr>
        <p:txBody>
          <a:bodyPr wrap="none" lIns="0" tIns="0" rIns="0" bIns="0" anchor="t">
            <a:spAutoFit/>
          </a:bodyPr>
          <a:lstStyle/>
          <a:p>
            <a:pPr algn="l">
              <a:lnSpc>
                <a:spcPct val="105000"/>
              </a:lnSpc>
              <a:spcAft>
                <a:spcPts val="0"/>
              </a:spcAft>
            </a:pPr>
            <a:r>
              <a:rPr sz="850" b="0" i="0">
                <a:solidFill>
                  <a:srgbClr val="98A3B3"/>
                </a:solidFill>
                <a:latin typeface="Segoe UI"/>
              </a:rPr>
              <a:t>Sumber: REF-020, REF-023 (vault demo › 06 Referensi)</a:t>
            </a:r>
          </a:p>
        </p:txBody>
      </p:sp>
      <p:sp>
        <p:nvSpPr>
          <p:cNvPr id="29" name="TextBox 28"/>
          <p:cNvSpPr txBox="1"/>
          <p:nvPr/>
        </p:nvSpPr>
        <p:spPr>
          <a:xfrm>
            <a:off x="7071055" y="6419088"/>
            <a:ext cx="3657600" cy="237744"/>
          </a:xfrm>
          <a:prstGeom prst="rect">
            <a:avLst/>
          </a:prstGeom>
          <a:noFill/>
        </p:spPr>
        <p:txBody>
          <a:bodyPr wrap="none" lIns="0" tIns="0" rIns="0" bIns="0" anchor="ctr">
            <a:spAutoFit/>
          </a:bodyPr>
          <a:lstStyle/>
          <a:p>
            <a:pPr algn="r">
              <a:lnSpc>
                <a:spcPct val="105000"/>
              </a:lnSpc>
              <a:spcAft>
                <a:spcPts val="0"/>
              </a:spcAft>
            </a:pPr>
            <a:r>
              <a:rPr sz="800" b="0" i="0" spc="80">
                <a:solidFill>
                  <a:srgbClr val="56657A"/>
                </a:solidFill>
                <a:latin typeface="Segoe UI Semibold"/>
              </a:rPr>
              <a:t>MASRON HUTABALIAN</a:t>
            </a:r>
          </a:p>
        </p:txBody>
      </p:sp>
      <p:sp>
        <p:nvSpPr>
          <p:cNvPr id="30" name="TextBox 29"/>
          <p:cNvSpPr txBox="1"/>
          <p:nvPr/>
        </p:nvSpPr>
        <p:spPr>
          <a:xfrm>
            <a:off x="10911535" y="6419088"/>
            <a:ext cx="731520" cy="237744"/>
          </a:xfrm>
          <a:prstGeom prst="rect">
            <a:avLst/>
          </a:prstGeom>
          <a:noFill/>
        </p:spPr>
        <p:txBody>
          <a:bodyPr wrap="square" lIns="0" tIns="0" rIns="0" bIns="0" anchor="t">
            <a:spAutoFit/>
          </a:bodyPr>
          <a:lstStyle/>
          <a:p>
            <a:pPr algn="r">
              <a:lnSpc>
                <a:spcPct val="105000"/>
              </a:lnSpc>
              <a:spcAft>
                <a:spcPts val="0"/>
              </a:spcAft>
            </a:pPr>
            <a:r>
              <a:rPr sz="900" b="0" i="0">
                <a:solidFill>
                  <a:srgbClr val="98A3B3"/>
                </a:solidFill>
                <a:latin typeface="Segoe UI"/>
              </a:rPr>
              <a:t>06</a:t>
            </a: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82880"/>
            <a:ext cx="95234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1F5BD8"/>
                </a:solidFill>
                <a:latin typeface="Segoe UI Semibold"/>
              </a:rPr>
              <a:t>DATA CENTER</a:t>
            </a:r>
          </a:p>
        </p:txBody>
      </p:sp>
      <p:sp>
        <p:nvSpPr>
          <p:cNvPr id="3" name="Rectangle 2"/>
          <p:cNvSpPr/>
          <p:nvPr/>
        </p:nvSpPr>
        <p:spPr>
          <a:xfrm>
            <a:off x="548640" y="420624"/>
            <a:ext cx="769463" cy="32004"/>
          </a:xfrm>
          <a:prstGeom prst="rect">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409543"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5" name="TextBox 4"/>
          <p:cNvSpPr txBox="1"/>
          <p:nvPr/>
        </p:nvSpPr>
        <p:spPr>
          <a:xfrm>
            <a:off x="1702151" y="182880"/>
            <a:ext cx="78485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INTERFACE</a:t>
            </a:r>
          </a:p>
        </p:txBody>
      </p:sp>
      <p:sp>
        <p:nvSpPr>
          <p:cNvPr id="6" name="TextBox 5"/>
          <p:cNvSpPr txBox="1"/>
          <p:nvPr/>
        </p:nvSpPr>
        <p:spPr>
          <a:xfrm>
            <a:off x="239556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7" name="TextBox 6"/>
          <p:cNvSpPr txBox="1"/>
          <p:nvPr/>
        </p:nvSpPr>
        <p:spPr>
          <a:xfrm>
            <a:off x="2688175" y="182880"/>
            <a:ext cx="724872"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CONTROL</a:t>
            </a:r>
          </a:p>
        </p:txBody>
      </p:sp>
      <p:sp>
        <p:nvSpPr>
          <p:cNvPr id="8" name="TextBox 7"/>
          <p:cNvSpPr txBox="1"/>
          <p:nvPr/>
        </p:nvSpPr>
        <p:spPr>
          <a:xfrm>
            <a:off x="3321608"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9" name="TextBox 8"/>
          <p:cNvSpPr txBox="1"/>
          <p:nvPr/>
        </p:nvSpPr>
        <p:spPr>
          <a:xfrm>
            <a:off x="3614216" y="182880"/>
            <a:ext cx="115377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COMMISSIONING</a:t>
            </a:r>
          </a:p>
        </p:txBody>
      </p:sp>
      <p:sp>
        <p:nvSpPr>
          <p:cNvPr id="10" name="TextBox 9"/>
          <p:cNvSpPr txBox="1"/>
          <p:nvPr/>
        </p:nvSpPr>
        <p:spPr>
          <a:xfrm>
            <a:off x="4676549"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1" name="TextBox 10"/>
          <p:cNvSpPr txBox="1"/>
          <p:nvPr/>
        </p:nvSpPr>
        <p:spPr>
          <a:xfrm>
            <a:off x="4969157" y="182880"/>
            <a:ext cx="945555"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MONITORING</a:t>
            </a:r>
          </a:p>
        </p:txBody>
      </p:sp>
      <p:sp>
        <p:nvSpPr>
          <p:cNvPr id="12" name="TextBox 11"/>
          <p:cNvSpPr txBox="1"/>
          <p:nvPr/>
        </p:nvSpPr>
        <p:spPr>
          <a:xfrm>
            <a:off x="582327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3" name="TextBox 12"/>
          <p:cNvSpPr txBox="1"/>
          <p:nvPr/>
        </p:nvSpPr>
        <p:spPr>
          <a:xfrm>
            <a:off x="6115879" y="182880"/>
            <a:ext cx="63679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REALITA</a:t>
            </a:r>
          </a:p>
        </p:txBody>
      </p:sp>
      <p:sp>
        <p:nvSpPr>
          <p:cNvPr id="14" name="TextBox 13"/>
          <p:cNvSpPr txBox="1"/>
          <p:nvPr/>
        </p:nvSpPr>
        <p:spPr>
          <a:xfrm>
            <a:off x="6661235"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5" name="TextBox 14"/>
          <p:cNvSpPr txBox="1"/>
          <p:nvPr/>
        </p:nvSpPr>
        <p:spPr>
          <a:xfrm>
            <a:off x="6953843" y="182880"/>
            <a:ext cx="821309"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INFORMASI</a:t>
            </a:r>
          </a:p>
        </p:txBody>
      </p:sp>
      <p:sp>
        <p:nvSpPr>
          <p:cNvPr id="16" name="TextBox 15"/>
          <p:cNvSpPr txBox="1"/>
          <p:nvPr/>
        </p:nvSpPr>
        <p:spPr>
          <a:xfrm>
            <a:off x="7683712"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7" name="TextBox 16"/>
          <p:cNvSpPr txBox="1"/>
          <p:nvPr/>
        </p:nvSpPr>
        <p:spPr>
          <a:xfrm>
            <a:off x="7976320" y="182880"/>
            <a:ext cx="899541"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KNOWLEDGE</a:t>
            </a:r>
          </a:p>
        </p:txBody>
      </p:sp>
      <p:sp>
        <p:nvSpPr>
          <p:cNvPr id="18" name="TextBox 17"/>
          <p:cNvSpPr txBox="1"/>
          <p:nvPr/>
        </p:nvSpPr>
        <p:spPr>
          <a:xfrm>
            <a:off x="878442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9" name="TextBox 18"/>
          <p:cNvSpPr txBox="1"/>
          <p:nvPr/>
        </p:nvSpPr>
        <p:spPr>
          <a:xfrm>
            <a:off x="9077029" y="182880"/>
            <a:ext cx="733298"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OBSIDIAN</a:t>
            </a:r>
          </a:p>
        </p:txBody>
      </p:sp>
      <p:sp>
        <p:nvSpPr>
          <p:cNvPr id="20" name="TextBox 19"/>
          <p:cNvSpPr txBox="1"/>
          <p:nvPr/>
        </p:nvSpPr>
        <p:spPr>
          <a:xfrm>
            <a:off x="971888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21" name="TextBox 20"/>
          <p:cNvSpPr txBox="1"/>
          <p:nvPr/>
        </p:nvSpPr>
        <p:spPr>
          <a:xfrm>
            <a:off x="10011495" y="182880"/>
            <a:ext cx="297434"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AI</a:t>
            </a:r>
          </a:p>
        </p:txBody>
      </p:sp>
      <p:sp>
        <p:nvSpPr>
          <p:cNvPr id="22" name="!!title"/>
          <p:cNvSpPr txBox="1"/>
          <p:nvPr/>
        </p:nvSpPr>
        <p:spPr>
          <a:xfrm>
            <a:off x="548640" y="566928"/>
            <a:ext cx="11094415" cy="841248"/>
          </a:xfrm>
          <a:prstGeom prst="rect">
            <a:avLst/>
          </a:prstGeom>
          <a:noFill/>
        </p:spPr>
        <p:txBody>
          <a:bodyPr wrap="square" lIns="0" tIns="0" rIns="0" bIns="0" anchor="b">
            <a:spAutoFit/>
          </a:bodyPr>
          <a:lstStyle/>
          <a:p>
            <a:pPr algn="l">
              <a:lnSpc>
                <a:spcPct val="95000"/>
              </a:lnSpc>
              <a:spcAft>
                <a:spcPts val="0"/>
              </a:spcAft>
            </a:pPr>
            <a:r>
              <a:rPr sz="2800" b="0" i="0">
                <a:solidFill>
                  <a:srgbClr val="0B1F33"/>
                </a:solidFill>
                <a:latin typeface="Georgia"/>
              </a:rPr>
              <a:t>Dibedah: enam system bertemu di IT infrastructure</a:t>
            </a:r>
          </a:p>
        </p:txBody>
      </p:sp>
      <p:cxnSp>
        <p:nvCxnSpPr>
          <p:cNvPr id="23" name="Connector 22"/>
          <p:cNvCxnSpPr/>
          <p:nvPr/>
        </p:nvCxnSpPr>
        <p:spPr>
          <a:xfrm>
            <a:off x="548640" y="1517904"/>
            <a:ext cx="11094415" cy="0"/>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24" name="!!sys0"/>
          <p:cNvSpPr/>
          <p:nvPr/>
        </p:nvSpPr>
        <p:spPr>
          <a:xfrm>
            <a:off x="548640" y="1874520"/>
            <a:ext cx="3063240" cy="960120"/>
          </a:xfrm>
          <a:prstGeom prst="roundRect">
            <a:avLst>
              <a:gd name="adj" fmla="val 9523"/>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704088" y="2098548"/>
            <a:ext cx="512064" cy="512064"/>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E945-1F5BD8.png"/>
          <p:cNvPicPr>
            <a:picLocks noChangeAspect="1"/>
          </p:cNvPicPr>
          <p:nvPr/>
        </p:nvPicPr>
        <p:blipFill>
          <a:blip r:embed="rId3"/>
          <a:stretch>
            <a:fillRect/>
          </a:stretch>
        </p:blipFill>
        <p:spPr>
          <a:xfrm>
            <a:off x="832104" y="2226564"/>
            <a:ext cx="256032" cy="256032"/>
          </a:xfrm>
          <a:prstGeom prst="rect">
            <a:avLst/>
          </a:prstGeom>
        </p:spPr>
      </p:pic>
      <p:sp>
        <p:nvSpPr>
          <p:cNvPr id="27" name="TextBox 26"/>
          <p:cNvSpPr txBox="1"/>
          <p:nvPr/>
        </p:nvSpPr>
        <p:spPr>
          <a:xfrm>
            <a:off x="1325880" y="1965960"/>
            <a:ext cx="2148840" cy="347472"/>
          </a:xfrm>
          <a:prstGeom prst="rect">
            <a:avLst/>
          </a:prstGeom>
          <a:noFill/>
        </p:spPr>
        <p:txBody>
          <a:bodyPr wrap="square" lIns="0" tIns="0" rIns="0" bIns="0" anchor="ctr">
            <a:spAutoFit/>
          </a:bodyPr>
          <a:lstStyle/>
          <a:p>
            <a:pPr algn="l">
              <a:lnSpc>
                <a:spcPct val="105000"/>
              </a:lnSpc>
              <a:spcAft>
                <a:spcPts val="0"/>
              </a:spcAft>
            </a:pPr>
            <a:r>
              <a:rPr sz="1350" b="0" i="0">
                <a:solidFill>
                  <a:srgbClr val="0B1F33"/>
                </a:solidFill>
                <a:latin typeface="Segoe UI Semibold"/>
              </a:rPr>
              <a:t>Power</a:t>
            </a:r>
          </a:p>
        </p:txBody>
      </p:sp>
      <p:sp>
        <p:nvSpPr>
          <p:cNvPr id="28" name="TextBox 27"/>
          <p:cNvSpPr txBox="1"/>
          <p:nvPr/>
        </p:nvSpPr>
        <p:spPr>
          <a:xfrm>
            <a:off x="1325880" y="2313432"/>
            <a:ext cx="2148840" cy="457200"/>
          </a:xfrm>
          <a:prstGeom prst="rect">
            <a:avLst/>
          </a:prstGeom>
          <a:noFill/>
        </p:spPr>
        <p:txBody>
          <a:bodyPr wrap="square" lIns="0" tIns="0" rIns="0" bIns="0" anchor="t">
            <a:spAutoFit/>
          </a:bodyPr>
          <a:lstStyle/>
          <a:p>
            <a:pPr algn="l">
              <a:lnSpc>
                <a:spcPct val="95000"/>
              </a:lnSpc>
              <a:spcAft>
                <a:spcPts val="0"/>
              </a:spcAft>
            </a:pPr>
            <a:r>
              <a:rPr sz="1000" b="0" i="0">
                <a:solidFill>
                  <a:srgbClr val="56657A"/>
                </a:solidFill>
                <a:latin typeface="Segoe UI"/>
              </a:rPr>
              <a:t>Utility, generator, UPS sampai ke rack</a:t>
            </a:r>
          </a:p>
        </p:txBody>
      </p:sp>
      <p:cxnSp>
        <p:nvCxnSpPr>
          <p:cNvPr id="29" name="Connector 28"/>
          <p:cNvCxnSpPr/>
          <p:nvPr/>
        </p:nvCxnSpPr>
        <p:spPr>
          <a:xfrm>
            <a:off x="3666744" y="2354580"/>
            <a:ext cx="1057504" cy="617220"/>
          </a:xfrm>
          <a:prstGeom prst="line">
            <a:avLst/>
          </a:prstGeom>
          <a:ln w="19050">
            <a:solidFill>
              <a:srgbClr val="8DB4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sys1"/>
          <p:cNvSpPr/>
          <p:nvPr/>
        </p:nvSpPr>
        <p:spPr>
          <a:xfrm>
            <a:off x="548640" y="3063240"/>
            <a:ext cx="3063240" cy="960120"/>
          </a:xfrm>
          <a:prstGeom prst="roundRect">
            <a:avLst>
              <a:gd name="adj" fmla="val 9523"/>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704088" y="3287268"/>
            <a:ext cx="512064" cy="512064"/>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Picture 31" descr="E9CA-1F5BD8.png"/>
          <p:cNvPicPr>
            <a:picLocks noChangeAspect="1"/>
          </p:cNvPicPr>
          <p:nvPr/>
        </p:nvPicPr>
        <p:blipFill>
          <a:blip r:embed="rId4"/>
          <a:stretch>
            <a:fillRect/>
          </a:stretch>
        </p:blipFill>
        <p:spPr>
          <a:xfrm>
            <a:off x="832104" y="3415284"/>
            <a:ext cx="256032" cy="256032"/>
          </a:xfrm>
          <a:prstGeom prst="rect">
            <a:avLst/>
          </a:prstGeom>
        </p:spPr>
      </p:pic>
      <p:sp>
        <p:nvSpPr>
          <p:cNvPr id="33" name="TextBox 32"/>
          <p:cNvSpPr txBox="1"/>
          <p:nvPr/>
        </p:nvSpPr>
        <p:spPr>
          <a:xfrm>
            <a:off x="1325880" y="3154680"/>
            <a:ext cx="2148840" cy="347472"/>
          </a:xfrm>
          <a:prstGeom prst="rect">
            <a:avLst/>
          </a:prstGeom>
          <a:noFill/>
        </p:spPr>
        <p:txBody>
          <a:bodyPr wrap="square" lIns="0" tIns="0" rIns="0" bIns="0" anchor="ctr">
            <a:spAutoFit/>
          </a:bodyPr>
          <a:lstStyle/>
          <a:p>
            <a:pPr algn="l">
              <a:lnSpc>
                <a:spcPct val="105000"/>
              </a:lnSpc>
              <a:spcAft>
                <a:spcPts val="0"/>
              </a:spcAft>
            </a:pPr>
            <a:r>
              <a:rPr sz="1350" b="0" i="0">
                <a:solidFill>
                  <a:srgbClr val="0B1F33"/>
                </a:solidFill>
                <a:latin typeface="Segoe UI Semibold"/>
              </a:rPr>
              <a:t>Cooling</a:t>
            </a:r>
          </a:p>
        </p:txBody>
      </p:sp>
      <p:sp>
        <p:nvSpPr>
          <p:cNvPr id="34" name="TextBox 33"/>
          <p:cNvSpPr txBox="1"/>
          <p:nvPr/>
        </p:nvSpPr>
        <p:spPr>
          <a:xfrm>
            <a:off x="1325880" y="3502152"/>
            <a:ext cx="2148840" cy="457200"/>
          </a:xfrm>
          <a:prstGeom prst="rect">
            <a:avLst/>
          </a:prstGeom>
          <a:noFill/>
        </p:spPr>
        <p:txBody>
          <a:bodyPr wrap="square" lIns="0" tIns="0" rIns="0" bIns="0" anchor="t">
            <a:spAutoFit/>
          </a:bodyPr>
          <a:lstStyle/>
          <a:p>
            <a:pPr algn="l">
              <a:lnSpc>
                <a:spcPct val="95000"/>
              </a:lnSpc>
              <a:spcAft>
                <a:spcPts val="0"/>
              </a:spcAft>
            </a:pPr>
            <a:r>
              <a:rPr sz="1000" b="0" i="0">
                <a:solidFill>
                  <a:srgbClr val="56657A"/>
                </a:solidFill>
                <a:latin typeface="Segoe UI"/>
              </a:rPr>
              <a:t>Chiller dan CRAH membuang panas server</a:t>
            </a:r>
          </a:p>
        </p:txBody>
      </p:sp>
      <p:cxnSp>
        <p:nvCxnSpPr>
          <p:cNvPr id="35" name="Connector 34"/>
          <p:cNvCxnSpPr/>
          <p:nvPr/>
        </p:nvCxnSpPr>
        <p:spPr>
          <a:xfrm>
            <a:off x="3666744" y="3543300"/>
            <a:ext cx="1057504" cy="0"/>
          </a:xfrm>
          <a:prstGeom prst="line">
            <a:avLst/>
          </a:prstGeom>
          <a:ln w="19050">
            <a:solidFill>
              <a:srgbClr val="8DB4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sys2"/>
          <p:cNvSpPr/>
          <p:nvPr/>
        </p:nvSpPr>
        <p:spPr>
          <a:xfrm>
            <a:off x="548640" y="4251960"/>
            <a:ext cx="3063240" cy="960120"/>
          </a:xfrm>
          <a:prstGeom prst="roundRect">
            <a:avLst>
              <a:gd name="adj" fmla="val 9523"/>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704088" y="4475988"/>
            <a:ext cx="512064" cy="512064"/>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Picture 37" descr="E8CE-1F5BD8.png"/>
          <p:cNvPicPr>
            <a:picLocks noChangeAspect="1"/>
          </p:cNvPicPr>
          <p:nvPr/>
        </p:nvPicPr>
        <p:blipFill>
          <a:blip r:embed="rId5"/>
          <a:stretch>
            <a:fillRect/>
          </a:stretch>
        </p:blipFill>
        <p:spPr>
          <a:xfrm>
            <a:off x="832104" y="4604004"/>
            <a:ext cx="256032" cy="256032"/>
          </a:xfrm>
          <a:prstGeom prst="rect">
            <a:avLst/>
          </a:prstGeom>
        </p:spPr>
      </p:pic>
      <p:sp>
        <p:nvSpPr>
          <p:cNvPr id="39" name="TextBox 38"/>
          <p:cNvSpPr txBox="1"/>
          <p:nvPr/>
        </p:nvSpPr>
        <p:spPr>
          <a:xfrm>
            <a:off x="1325880" y="4343400"/>
            <a:ext cx="2148840" cy="347472"/>
          </a:xfrm>
          <a:prstGeom prst="rect">
            <a:avLst/>
          </a:prstGeom>
          <a:noFill/>
        </p:spPr>
        <p:txBody>
          <a:bodyPr wrap="square" lIns="0" tIns="0" rIns="0" bIns="0" anchor="ctr">
            <a:spAutoFit/>
          </a:bodyPr>
          <a:lstStyle/>
          <a:p>
            <a:pPr algn="l">
              <a:lnSpc>
                <a:spcPct val="105000"/>
              </a:lnSpc>
              <a:spcAft>
                <a:spcPts val="0"/>
              </a:spcAft>
            </a:pPr>
            <a:r>
              <a:rPr sz="1350" b="0" i="0">
                <a:solidFill>
                  <a:srgbClr val="0B1F33"/>
                </a:solidFill>
                <a:latin typeface="Segoe UI Semibold"/>
              </a:rPr>
              <a:t>Network</a:t>
            </a:r>
          </a:p>
        </p:txBody>
      </p:sp>
      <p:sp>
        <p:nvSpPr>
          <p:cNvPr id="40" name="TextBox 39"/>
          <p:cNvSpPr txBox="1"/>
          <p:nvPr/>
        </p:nvSpPr>
        <p:spPr>
          <a:xfrm>
            <a:off x="1325880" y="4690872"/>
            <a:ext cx="2148840" cy="457200"/>
          </a:xfrm>
          <a:prstGeom prst="rect">
            <a:avLst/>
          </a:prstGeom>
          <a:noFill/>
        </p:spPr>
        <p:txBody>
          <a:bodyPr wrap="square" lIns="0" tIns="0" rIns="0" bIns="0" anchor="t">
            <a:spAutoFit/>
          </a:bodyPr>
          <a:lstStyle/>
          <a:p>
            <a:pPr algn="l">
              <a:lnSpc>
                <a:spcPct val="95000"/>
              </a:lnSpc>
              <a:spcAft>
                <a:spcPts val="0"/>
              </a:spcAft>
            </a:pPr>
            <a:r>
              <a:rPr sz="1000" b="0" i="0">
                <a:solidFill>
                  <a:srgbClr val="56657A"/>
                </a:solidFill>
                <a:latin typeface="Segoe UI"/>
              </a:rPr>
              <a:t>Konektivitas ke dalam dan ke luar</a:t>
            </a:r>
          </a:p>
        </p:txBody>
      </p:sp>
      <p:cxnSp>
        <p:nvCxnSpPr>
          <p:cNvPr id="41" name="Connector 40"/>
          <p:cNvCxnSpPr/>
          <p:nvPr/>
        </p:nvCxnSpPr>
        <p:spPr>
          <a:xfrm flipV="1">
            <a:off x="3666744" y="4160520"/>
            <a:ext cx="1057504" cy="571500"/>
          </a:xfrm>
          <a:prstGeom prst="line">
            <a:avLst/>
          </a:prstGeom>
          <a:ln w="19050">
            <a:solidFill>
              <a:srgbClr val="8DB4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sys3"/>
          <p:cNvSpPr/>
          <p:nvPr/>
        </p:nvSpPr>
        <p:spPr>
          <a:xfrm>
            <a:off x="8579815" y="1874520"/>
            <a:ext cx="3063240" cy="960120"/>
          </a:xfrm>
          <a:prstGeom prst="roundRect">
            <a:avLst>
              <a:gd name="adj" fmla="val 9523"/>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8735263" y="2098548"/>
            <a:ext cx="512064" cy="512064"/>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4" name="Picture 43" descr="E7F4-1F5BD8.png"/>
          <p:cNvPicPr>
            <a:picLocks noChangeAspect="1"/>
          </p:cNvPicPr>
          <p:nvPr/>
        </p:nvPicPr>
        <p:blipFill>
          <a:blip r:embed="rId6"/>
          <a:stretch>
            <a:fillRect/>
          </a:stretch>
        </p:blipFill>
        <p:spPr>
          <a:xfrm>
            <a:off x="8863279" y="2226564"/>
            <a:ext cx="256032" cy="256032"/>
          </a:xfrm>
          <a:prstGeom prst="rect">
            <a:avLst/>
          </a:prstGeom>
        </p:spPr>
      </p:pic>
      <p:sp>
        <p:nvSpPr>
          <p:cNvPr id="45" name="TextBox 44"/>
          <p:cNvSpPr txBox="1"/>
          <p:nvPr/>
        </p:nvSpPr>
        <p:spPr>
          <a:xfrm>
            <a:off x="9357055" y="1965960"/>
            <a:ext cx="2148840" cy="347472"/>
          </a:xfrm>
          <a:prstGeom prst="rect">
            <a:avLst/>
          </a:prstGeom>
          <a:noFill/>
        </p:spPr>
        <p:txBody>
          <a:bodyPr wrap="square" lIns="0" tIns="0" rIns="0" bIns="0" anchor="ctr">
            <a:spAutoFit/>
          </a:bodyPr>
          <a:lstStyle/>
          <a:p>
            <a:pPr algn="l">
              <a:lnSpc>
                <a:spcPct val="105000"/>
              </a:lnSpc>
              <a:spcAft>
                <a:spcPts val="0"/>
              </a:spcAft>
            </a:pPr>
            <a:r>
              <a:rPr sz="1350" b="0" i="0">
                <a:solidFill>
                  <a:srgbClr val="0B1F33"/>
                </a:solidFill>
                <a:latin typeface="Segoe UI Semibold"/>
              </a:rPr>
              <a:t>Controls</a:t>
            </a:r>
          </a:p>
        </p:txBody>
      </p:sp>
      <p:sp>
        <p:nvSpPr>
          <p:cNvPr id="46" name="TextBox 45"/>
          <p:cNvSpPr txBox="1"/>
          <p:nvPr/>
        </p:nvSpPr>
        <p:spPr>
          <a:xfrm>
            <a:off x="9357055" y="2313432"/>
            <a:ext cx="2148840" cy="457200"/>
          </a:xfrm>
          <a:prstGeom prst="rect">
            <a:avLst/>
          </a:prstGeom>
          <a:noFill/>
        </p:spPr>
        <p:txBody>
          <a:bodyPr wrap="square" lIns="0" tIns="0" rIns="0" bIns="0" anchor="t">
            <a:spAutoFit/>
          </a:bodyPr>
          <a:lstStyle/>
          <a:p>
            <a:pPr algn="l">
              <a:lnSpc>
                <a:spcPct val="95000"/>
              </a:lnSpc>
              <a:spcAft>
                <a:spcPts val="0"/>
              </a:spcAft>
            </a:pPr>
            <a:r>
              <a:rPr sz="1000" b="0" i="0">
                <a:solidFill>
                  <a:srgbClr val="56657A"/>
                </a:solidFill>
                <a:latin typeface="Segoe UI"/>
              </a:rPr>
              <a:t>BMS dan EPMS memantau semua system</a:t>
            </a:r>
          </a:p>
        </p:txBody>
      </p:sp>
      <p:cxnSp>
        <p:nvCxnSpPr>
          <p:cNvPr id="47" name="Connector 46"/>
          <p:cNvCxnSpPr/>
          <p:nvPr/>
        </p:nvCxnSpPr>
        <p:spPr>
          <a:xfrm flipH="1">
            <a:off x="7467448" y="2354580"/>
            <a:ext cx="1057503" cy="617220"/>
          </a:xfrm>
          <a:prstGeom prst="line">
            <a:avLst/>
          </a:prstGeom>
          <a:ln w="19050">
            <a:solidFill>
              <a:srgbClr val="8DB4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sys4"/>
          <p:cNvSpPr/>
          <p:nvPr/>
        </p:nvSpPr>
        <p:spPr>
          <a:xfrm>
            <a:off x="8579815" y="3063240"/>
            <a:ext cx="3063240" cy="960120"/>
          </a:xfrm>
          <a:prstGeom prst="roundRect">
            <a:avLst>
              <a:gd name="adj" fmla="val 9523"/>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8735263" y="3287268"/>
            <a:ext cx="512064" cy="512064"/>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0" name="Picture 49" descr="ECAD-1F5BD8.png"/>
          <p:cNvPicPr>
            <a:picLocks noChangeAspect="1"/>
          </p:cNvPicPr>
          <p:nvPr/>
        </p:nvPicPr>
        <p:blipFill>
          <a:blip r:embed="rId7"/>
          <a:stretch>
            <a:fillRect/>
          </a:stretch>
        </p:blipFill>
        <p:spPr>
          <a:xfrm>
            <a:off x="8863279" y="3415284"/>
            <a:ext cx="256032" cy="256032"/>
          </a:xfrm>
          <a:prstGeom prst="rect">
            <a:avLst/>
          </a:prstGeom>
        </p:spPr>
      </p:pic>
      <p:sp>
        <p:nvSpPr>
          <p:cNvPr id="51" name="TextBox 50"/>
          <p:cNvSpPr txBox="1"/>
          <p:nvPr/>
        </p:nvSpPr>
        <p:spPr>
          <a:xfrm>
            <a:off x="9357055" y="3154680"/>
            <a:ext cx="2148840" cy="347472"/>
          </a:xfrm>
          <a:prstGeom prst="rect">
            <a:avLst/>
          </a:prstGeom>
          <a:noFill/>
        </p:spPr>
        <p:txBody>
          <a:bodyPr wrap="square" lIns="0" tIns="0" rIns="0" bIns="0" anchor="ctr">
            <a:spAutoFit/>
          </a:bodyPr>
          <a:lstStyle/>
          <a:p>
            <a:pPr algn="l">
              <a:lnSpc>
                <a:spcPct val="105000"/>
              </a:lnSpc>
              <a:spcAft>
                <a:spcPts val="0"/>
              </a:spcAft>
            </a:pPr>
            <a:r>
              <a:rPr sz="1350" b="0" i="0">
                <a:solidFill>
                  <a:srgbClr val="0B1F33"/>
                </a:solidFill>
                <a:latin typeface="Segoe UI Semibold"/>
              </a:rPr>
              <a:t>Fire &amp; life safety</a:t>
            </a:r>
          </a:p>
        </p:txBody>
      </p:sp>
      <p:sp>
        <p:nvSpPr>
          <p:cNvPr id="52" name="TextBox 51"/>
          <p:cNvSpPr txBox="1"/>
          <p:nvPr/>
        </p:nvSpPr>
        <p:spPr>
          <a:xfrm>
            <a:off x="9357055" y="3502152"/>
            <a:ext cx="2148840" cy="457200"/>
          </a:xfrm>
          <a:prstGeom prst="rect">
            <a:avLst/>
          </a:prstGeom>
          <a:noFill/>
        </p:spPr>
        <p:txBody>
          <a:bodyPr wrap="square" lIns="0" tIns="0" rIns="0" bIns="0" anchor="t">
            <a:spAutoFit/>
          </a:bodyPr>
          <a:lstStyle/>
          <a:p>
            <a:pPr algn="l">
              <a:lnSpc>
                <a:spcPct val="95000"/>
              </a:lnSpc>
              <a:spcAft>
                <a:spcPts val="0"/>
              </a:spcAft>
            </a:pPr>
            <a:r>
              <a:rPr sz="1000" b="0" i="0">
                <a:solidFill>
                  <a:srgbClr val="56657A"/>
                </a:solidFill>
                <a:latin typeface="Segoe UI"/>
              </a:rPr>
              <a:t>Deteksi dan pemadaman kebakaran</a:t>
            </a:r>
          </a:p>
        </p:txBody>
      </p:sp>
      <p:cxnSp>
        <p:nvCxnSpPr>
          <p:cNvPr id="53" name="Connector 52"/>
          <p:cNvCxnSpPr/>
          <p:nvPr/>
        </p:nvCxnSpPr>
        <p:spPr>
          <a:xfrm flipH="1">
            <a:off x="7467448" y="3543300"/>
            <a:ext cx="1057503" cy="0"/>
          </a:xfrm>
          <a:prstGeom prst="line">
            <a:avLst/>
          </a:prstGeom>
          <a:ln w="19050">
            <a:solidFill>
              <a:srgbClr val="8DB4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sys5"/>
          <p:cNvSpPr/>
          <p:nvPr/>
        </p:nvSpPr>
        <p:spPr>
          <a:xfrm>
            <a:off x="8579815" y="4251960"/>
            <a:ext cx="3063240" cy="960120"/>
          </a:xfrm>
          <a:prstGeom prst="roundRect">
            <a:avLst>
              <a:gd name="adj" fmla="val 9523"/>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8735263" y="4475988"/>
            <a:ext cx="512064" cy="512064"/>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6" name="Picture 55" descr="EA18-1F5BD8.png"/>
          <p:cNvPicPr>
            <a:picLocks noChangeAspect="1"/>
          </p:cNvPicPr>
          <p:nvPr/>
        </p:nvPicPr>
        <p:blipFill>
          <a:blip r:embed="rId8"/>
          <a:stretch>
            <a:fillRect/>
          </a:stretch>
        </p:blipFill>
        <p:spPr>
          <a:xfrm>
            <a:off x="8863279" y="4604004"/>
            <a:ext cx="256032" cy="256032"/>
          </a:xfrm>
          <a:prstGeom prst="rect">
            <a:avLst/>
          </a:prstGeom>
        </p:spPr>
      </p:pic>
      <p:sp>
        <p:nvSpPr>
          <p:cNvPr id="57" name="TextBox 56"/>
          <p:cNvSpPr txBox="1"/>
          <p:nvPr/>
        </p:nvSpPr>
        <p:spPr>
          <a:xfrm>
            <a:off x="9357055" y="4343400"/>
            <a:ext cx="2148840" cy="347472"/>
          </a:xfrm>
          <a:prstGeom prst="rect">
            <a:avLst/>
          </a:prstGeom>
          <a:noFill/>
        </p:spPr>
        <p:txBody>
          <a:bodyPr wrap="square" lIns="0" tIns="0" rIns="0" bIns="0" anchor="ctr">
            <a:spAutoFit/>
          </a:bodyPr>
          <a:lstStyle/>
          <a:p>
            <a:pPr algn="l">
              <a:lnSpc>
                <a:spcPct val="105000"/>
              </a:lnSpc>
              <a:spcAft>
                <a:spcPts val="0"/>
              </a:spcAft>
            </a:pPr>
            <a:r>
              <a:rPr sz="1350" b="0" i="0">
                <a:solidFill>
                  <a:srgbClr val="0B1F33"/>
                </a:solidFill>
                <a:latin typeface="Segoe UI Semibold"/>
              </a:rPr>
              <a:t>Security</a:t>
            </a:r>
          </a:p>
        </p:txBody>
      </p:sp>
      <p:sp>
        <p:nvSpPr>
          <p:cNvPr id="58" name="TextBox 57"/>
          <p:cNvSpPr txBox="1"/>
          <p:nvPr/>
        </p:nvSpPr>
        <p:spPr>
          <a:xfrm>
            <a:off x="9357055" y="4690872"/>
            <a:ext cx="2148840" cy="457200"/>
          </a:xfrm>
          <a:prstGeom prst="rect">
            <a:avLst/>
          </a:prstGeom>
          <a:noFill/>
        </p:spPr>
        <p:txBody>
          <a:bodyPr wrap="square" lIns="0" tIns="0" rIns="0" bIns="0" anchor="t">
            <a:spAutoFit/>
          </a:bodyPr>
          <a:lstStyle/>
          <a:p>
            <a:pPr algn="l">
              <a:lnSpc>
                <a:spcPct val="95000"/>
              </a:lnSpc>
              <a:spcAft>
                <a:spcPts val="0"/>
              </a:spcAft>
            </a:pPr>
            <a:r>
              <a:rPr sz="1000" b="0" i="0">
                <a:solidFill>
                  <a:srgbClr val="56657A"/>
                </a:solidFill>
                <a:latin typeface="Segoe UI"/>
              </a:rPr>
              <a:t>Akses fisik, CCTV, keamanan area</a:t>
            </a:r>
          </a:p>
        </p:txBody>
      </p:sp>
      <p:cxnSp>
        <p:nvCxnSpPr>
          <p:cNvPr id="59" name="Connector 58"/>
          <p:cNvCxnSpPr/>
          <p:nvPr/>
        </p:nvCxnSpPr>
        <p:spPr>
          <a:xfrm flipH="1" flipV="1">
            <a:off x="7467448" y="4160520"/>
            <a:ext cx="1057503" cy="571500"/>
          </a:xfrm>
          <a:prstGeom prst="line">
            <a:avLst/>
          </a:prstGeom>
          <a:ln w="19050">
            <a:solidFill>
              <a:srgbClr val="8DB4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core"/>
          <p:cNvSpPr/>
          <p:nvPr/>
        </p:nvSpPr>
        <p:spPr>
          <a:xfrm>
            <a:off x="4769968" y="2788920"/>
            <a:ext cx="2651760" cy="1554480"/>
          </a:xfrm>
          <a:prstGeom prst="roundRect">
            <a:avLst>
              <a:gd name="adj" fmla="val 9411"/>
            </a:avLst>
          </a:prstGeom>
          <a:solidFill>
            <a:srgbClr val="0B1F33"/>
          </a:solidFill>
          <a:ln>
            <a:no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1" name="!!corei" descr="E950-FFFFFF.png"/>
          <p:cNvPicPr>
            <a:picLocks noChangeAspect="1"/>
          </p:cNvPicPr>
          <p:nvPr/>
        </p:nvPicPr>
        <p:blipFill>
          <a:blip r:embed="rId9"/>
          <a:stretch>
            <a:fillRect/>
          </a:stretch>
        </p:blipFill>
        <p:spPr>
          <a:xfrm>
            <a:off x="5844388" y="2994660"/>
            <a:ext cx="502920" cy="502920"/>
          </a:xfrm>
          <a:prstGeom prst="rect">
            <a:avLst/>
          </a:prstGeom>
        </p:spPr>
      </p:pic>
      <p:sp>
        <p:nvSpPr>
          <p:cNvPr id="62" name="TextBox 61"/>
          <p:cNvSpPr txBox="1"/>
          <p:nvPr/>
        </p:nvSpPr>
        <p:spPr>
          <a:xfrm>
            <a:off x="4769968" y="3611880"/>
            <a:ext cx="2651760" cy="365760"/>
          </a:xfrm>
          <a:prstGeom prst="rect">
            <a:avLst/>
          </a:prstGeom>
          <a:noFill/>
        </p:spPr>
        <p:txBody>
          <a:bodyPr wrap="square" lIns="0" tIns="0" rIns="0" bIns="0" anchor="ctr">
            <a:spAutoFit/>
          </a:bodyPr>
          <a:lstStyle/>
          <a:p>
            <a:pPr algn="ctr">
              <a:lnSpc>
                <a:spcPct val="105000"/>
              </a:lnSpc>
              <a:spcAft>
                <a:spcPts val="0"/>
              </a:spcAft>
            </a:pPr>
            <a:r>
              <a:rPr sz="1600" b="0" i="0">
                <a:solidFill>
                  <a:srgbClr val="FFFFFF"/>
                </a:solidFill>
                <a:latin typeface="Segoe UI Semibold"/>
              </a:rPr>
              <a:t>IT infrastructure</a:t>
            </a:r>
          </a:p>
        </p:txBody>
      </p:sp>
      <p:sp>
        <p:nvSpPr>
          <p:cNvPr id="63" name="TextBox 62"/>
          <p:cNvSpPr txBox="1"/>
          <p:nvPr/>
        </p:nvSpPr>
        <p:spPr>
          <a:xfrm>
            <a:off x="4769968" y="3977640"/>
            <a:ext cx="2651760" cy="320040"/>
          </a:xfrm>
          <a:prstGeom prst="rect">
            <a:avLst/>
          </a:prstGeom>
          <a:noFill/>
        </p:spPr>
        <p:txBody>
          <a:bodyPr wrap="square" lIns="0" tIns="0" rIns="0" bIns="0" anchor="ctr">
            <a:spAutoFit/>
          </a:bodyPr>
          <a:lstStyle/>
          <a:p>
            <a:pPr algn="ctr">
              <a:lnSpc>
                <a:spcPct val="105000"/>
              </a:lnSpc>
              <a:spcAft>
                <a:spcPts val="0"/>
              </a:spcAft>
            </a:pPr>
            <a:r>
              <a:rPr sz="1050" b="0" i="0">
                <a:solidFill>
                  <a:srgbClr val="8DB4FF"/>
                </a:solidFill>
                <a:latin typeface="Segoe UI"/>
              </a:rPr>
              <a:t>server · storage · network</a:t>
            </a:r>
          </a:p>
        </p:txBody>
      </p:sp>
      <p:sp>
        <p:nvSpPr>
          <p:cNvPr id="64" name="Rectangle 63"/>
          <p:cNvSpPr/>
          <p:nvPr/>
        </p:nvSpPr>
        <p:spPr>
          <a:xfrm>
            <a:off x="548640" y="5596128"/>
            <a:ext cx="11094415" cy="56692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548640" y="5596128"/>
            <a:ext cx="54864" cy="566928"/>
          </a:xfrm>
          <a:prstGeom prst="rect">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6" name="Picture 65" descr="EA80-1F5BD8.png"/>
          <p:cNvPicPr>
            <a:picLocks noChangeAspect="1"/>
          </p:cNvPicPr>
          <p:nvPr/>
        </p:nvPicPr>
        <p:blipFill>
          <a:blip r:embed="rId10"/>
          <a:stretch>
            <a:fillRect/>
          </a:stretch>
        </p:blipFill>
        <p:spPr>
          <a:xfrm>
            <a:off x="758952" y="5742432"/>
            <a:ext cx="274320" cy="274320"/>
          </a:xfrm>
          <a:prstGeom prst="rect">
            <a:avLst/>
          </a:prstGeom>
        </p:spPr>
      </p:pic>
      <p:sp>
        <p:nvSpPr>
          <p:cNvPr id="67" name="TextBox 66"/>
          <p:cNvSpPr txBox="1"/>
          <p:nvPr/>
        </p:nvSpPr>
        <p:spPr>
          <a:xfrm>
            <a:off x="1188720" y="5596128"/>
            <a:ext cx="10317175" cy="566928"/>
          </a:xfrm>
          <a:prstGeom prst="rect">
            <a:avLst/>
          </a:prstGeom>
          <a:noFill/>
        </p:spPr>
        <p:txBody>
          <a:bodyPr wrap="square" lIns="0" tIns="0" rIns="0" bIns="0" anchor="ctr">
            <a:spAutoFit/>
          </a:bodyPr>
          <a:lstStyle/>
          <a:p>
            <a:pPr algn="l">
              <a:lnSpc>
                <a:spcPct val="105000"/>
              </a:lnSpc>
              <a:spcAft>
                <a:spcPts val="0"/>
              </a:spcAft>
            </a:pPr>
            <a:r>
              <a:rPr sz="1500" b="0" i="0">
                <a:solidFill>
                  <a:srgbClr val="0B1F33"/>
                </a:solidFill>
                <a:latin typeface="Segoe UI Semibold"/>
              </a:rPr>
              <a:t>Data center bukan satu sistem. Data center adalah ekosistem sistem yang saling terhubung.</a:t>
            </a:r>
          </a:p>
        </p:txBody>
      </p:sp>
      <p:sp>
        <p:nvSpPr>
          <p:cNvPr id="68" name="TextBox 67"/>
          <p:cNvSpPr txBox="1"/>
          <p:nvPr/>
        </p:nvSpPr>
        <p:spPr>
          <a:xfrm>
            <a:off x="548640" y="6419088"/>
            <a:ext cx="8686800" cy="237744"/>
          </a:xfrm>
          <a:prstGeom prst="rect">
            <a:avLst/>
          </a:prstGeom>
          <a:noFill/>
        </p:spPr>
        <p:txBody>
          <a:bodyPr wrap="none" lIns="0" tIns="0" rIns="0" bIns="0" anchor="t">
            <a:spAutoFit/>
          </a:bodyPr>
          <a:lstStyle/>
          <a:p>
            <a:pPr algn="l">
              <a:lnSpc>
                <a:spcPct val="105000"/>
              </a:lnSpc>
              <a:spcAft>
                <a:spcPts val="0"/>
              </a:spcAft>
            </a:pPr>
            <a:r>
              <a:rPr sz="850" b="0" i="0">
                <a:solidFill>
                  <a:srgbClr val="98A3B3"/>
                </a:solidFill>
                <a:latin typeface="Segoe UI"/>
              </a:rPr>
              <a:t>Sumber: REF-020, REF-023 (vault demo › 06 Referensi)</a:t>
            </a:r>
          </a:p>
        </p:txBody>
      </p:sp>
      <p:sp>
        <p:nvSpPr>
          <p:cNvPr id="69" name="TextBox 68"/>
          <p:cNvSpPr txBox="1"/>
          <p:nvPr/>
        </p:nvSpPr>
        <p:spPr>
          <a:xfrm>
            <a:off x="7071055" y="6419088"/>
            <a:ext cx="3657600" cy="237744"/>
          </a:xfrm>
          <a:prstGeom prst="rect">
            <a:avLst/>
          </a:prstGeom>
          <a:noFill/>
        </p:spPr>
        <p:txBody>
          <a:bodyPr wrap="none" lIns="0" tIns="0" rIns="0" bIns="0" anchor="ctr">
            <a:spAutoFit/>
          </a:bodyPr>
          <a:lstStyle/>
          <a:p>
            <a:pPr algn="r">
              <a:lnSpc>
                <a:spcPct val="105000"/>
              </a:lnSpc>
              <a:spcAft>
                <a:spcPts val="0"/>
              </a:spcAft>
            </a:pPr>
            <a:r>
              <a:rPr sz="800" b="0" i="0" spc="80">
                <a:solidFill>
                  <a:srgbClr val="56657A"/>
                </a:solidFill>
                <a:latin typeface="Segoe UI Semibold"/>
              </a:rPr>
              <a:t>MASRON HUTABALIAN</a:t>
            </a:r>
          </a:p>
        </p:txBody>
      </p:sp>
      <p:sp>
        <p:nvSpPr>
          <p:cNvPr id="70" name="TextBox 69"/>
          <p:cNvSpPr txBox="1"/>
          <p:nvPr/>
        </p:nvSpPr>
        <p:spPr>
          <a:xfrm>
            <a:off x="10911535" y="6419088"/>
            <a:ext cx="731520" cy="237744"/>
          </a:xfrm>
          <a:prstGeom prst="rect">
            <a:avLst/>
          </a:prstGeom>
          <a:noFill/>
        </p:spPr>
        <p:txBody>
          <a:bodyPr wrap="square" lIns="0" tIns="0" rIns="0" bIns="0" anchor="t">
            <a:spAutoFit/>
          </a:bodyPr>
          <a:lstStyle/>
          <a:p>
            <a:pPr algn="r">
              <a:lnSpc>
                <a:spcPct val="105000"/>
              </a:lnSpc>
              <a:spcAft>
                <a:spcPts val="0"/>
              </a:spcAft>
            </a:pPr>
            <a:r>
              <a:rPr sz="900" b="0" i="0">
                <a:solidFill>
                  <a:srgbClr val="98A3B3"/>
                </a:solidFill>
                <a:latin typeface="Segoe UI"/>
              </a:rPr>
              <a:t>07</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82880"/>
            <a:ext cx="95234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DATA CENTER</a:t>
            </a:r>
          </a:p>
        </p:txBody>
      </p:sp>
      <p:sp>
        <p:nvSpPr>
          <p:cNvPr id="3" name="TextBox 2"/>
          <p:cNvSpPr txBox="1"/>
          <p:nvPr/>
        </p:nvSpPr>
        <p:spPr>
          <a:xfrm>
            <a:off x="1409543"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4" name="TextBox 3"/>
          <p:cNvSpPr txBox="1"/>
          <p:nvPr/>
        </p:nvSpPr>
        <p:spPr>
          <a:xfrm>
            <a:off x="1702151" y="182880"/>
            <a:ext cx="78485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1F5BD8"/>
                </a:solidFill>
                <a:latin typeface="Segoe UI Semibold"/>
              </a:rPr>
              <a:t>INTERFACE</a:t>
            </a:r>
          </a:p>
        </p:txBody>
      </p:sp>
      <p:sp>
        <p:nvSpPr>
          <p:cNvPr id="5" name="Rectangle 4"/>
          <p:cNvSpPr/>
          <p:nvPr/>
        </p:nvSpPr>
        <p:spPr>
          <a:xfrm>
            <a:off x="1702151" y="420624"/>
            <a:ext cx="601976" cy="32004"/>
          </a:xfrm>
          <a:prstGeom prst="rect">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39556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7" name="TextBox 6"/>
          <p:cNvSpPr txBox="1"/>
          <p:nvPr/>
        </p:nvSpPr>
        <p:spPr>
          <a:xfrm>
            <a:off x="2688175" y="182880"/>
            <a:ext cx="724872"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CONTROL</a:t>
            </a:r>
          </a:p>
        </p:txBody>
      </p:sp>
      <p:sp>
        <p:nvSpPr>
          <p:cNvPr id="8" name="TextBox 7"/>
          <p:cNvSpPr txBox="1"/>
          <p:nvPr/>
        </p:nvSpPr>
        <p:spPr>
          <a:xfrm>
            <a:off x="3321608"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9" name="TextBox 8"/>
          <p:cNvSpPr txBox="1"/>
          <p:nvPr/>
        </p:nvSpPr>
        <p:spPr>
          <a:xfrm>
            <a:off x="3614216" y="182880"/>
            <a:ext cx="115377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COMMISSIONING</a:t>
            </a:r>
          </a:p>
        </p:txBody>
      </p:sp>
      <p:sp>
        <p:nvSpPr>
          <p:cNvPr id="10" name="TextBox 9"/>
          <p:cNvSpPr txBox="1"/>
          <p:nvPr/>
        </p:nvSpPr>
        <p:spPr>
          <a:xfrm>
            <a:off x="4676549"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1" name="TextBox 10"/>
          <p:cNvSpPr txBox="1"/>
          <p:nvPr/>
        </p:nvSpPr>
        <p:spPr>
          <a:xfrm>
            <a:off x="4969157" y="182880"/>
            <a:ext cx="945555"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MONITORING</a:t>
            </a:r>
          </a:p>
        </p:txBody>
      </p:sp>
      <p:sp>
        <p:nvSpPr>
          <p:cNvPr id="12" name="TextBox 11"/>
          <p:cNvSpPr txBox="1"/>
          <p:nvPr/>
        </p:nvSpPr>
        <p:spPr>
          <a:xfrm>
            <a:off x="582327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3" name="TextBox 12"/>
          <p:cNvSpPr txBox="1"/>
          <p:nvPr/>
        </p:nvSpPr>
        <p:spPr>
          <a:xfrm>
            <a:off x="6115879" y="182880"/>
            <a:ext cx="63679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REALITA</a:t>
            </a:r>
          </a:p>
        </p:txBody>
      </p:sp>
      <p:sp>
        <p:nvSpPr>
          <p:cNvPr id="14" name="TextBox 13"/>
          <p:cNvSpPr txBox="1"/>
          <p:nvPr/>
        </p:nvSpPr>
        <p:spPr>
          <a:xfrm>
            <a:off x="6661235"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5" name="TextBox 14"/>
          <p:cNvSpPr txBox="1"/>
          <p:nvPr/>
        </p:nvSpPr>
        <p:spPr>
          <a:xfrm>
            <a:off x="6953843" y="182880"/>
            <a:ext cx="821309"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INFORMASI</a:t>
            </a:r>
          </a:p>
        </p:txBody>
      </p:sp>
      <p:sp>
        <p:nvSpPr>
          <p:cNvPr id="16" name="TextBox 15"/>
          <p:cNvSpPr txBox="1"/>
          <p:nvPr/>
        </p:nvSpPr>
        <p:spPr>
          <a:xfrm>
            <a:off x="7683712"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7" name="TextBox 16"/>
          <p:cNvSpPr txBox="1"/>
          <p:nvPr/>
        </p:nvSpPr>
        <p:spPr>
          <a:xfrm>
            <a:off x="7976320" y="182880"/>
            <a:ext cx="899541"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KNOWLEDGE</a:t>
            </a:r>
          </a:p>
        </p:txBody>
      </p:sp>
      <p:sp>
        <p:nvSpPr>
          <p:cNvPr id="18" name="TextBox 17"/>
          <p:cNvSpPr txBox="1"/>
          <p:nvPr/>
        </p:nvSpPr>
        <p:spPr>
          <a:xfrm>
            <a:off x="878442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9" name="TextBox 18"/>
          <p:cNvSpPr txBox="1"/>
          <p:nvPr/>
        </p:nvSpPr>
        <p:spPr>
          <a:xfrm>
            <a:off x="9077029" y="182880"/>
            <a:ext cx="733298"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OBSIDIAN</a:t>
            </a:r>
          </a:p>
        </p:txBody>
      </p:sp>
      <p:sp>
        <p:nvSpPr>
          <p:cNvPr id="20" name="TextBox 19"/>
          <p:cNvSpPr txBox="1"/>
          <p:nvPr/>
        </p:nvSpPr>
        <p:spPr>
          <a:xfrm>
            <a:off x="971888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21" name="TextBox 20"/>
          <p:cNvSpPr txBox="1"/>
          <p:nvPr/>
        </p:nvSpPr>
        <p:spPr>
          <a:xfrm>
            <a:off x="10011495" y="182880"/>
            <a:ext cx="297434"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AI</a:t>
            </a:r>
          </a:p>
        </p:txBody>
      </p:sp>
      <p:sp>
        <p:nvSpPr>
          <p:cNvPr id="22" name="!!title"/>
          <p:cNvSpPr txBox="1"/>
          <p:nvPr/>
        </p:nvSpPr>
        <p:spPr>
          <a:xfrm>
            <a:off x="548640" y="566928"/>
            <a:ext cx="11094415" cy="841248"/>
          </a:xfrm>
          <a:prstGeom prst="rect">
            <a:avLst/>
          </a:prstGeom>
          <a:noFill/>
        </p:spPr>
        <p:txBody>
          <a:bodyPr wrap="square" lIns="0" tIns="0" rIns="0" bIns="0" anchor="b">
            <a:spAutoFit/>
          </a:bodyPr>
          <a:lstStyle/>
          <a:p>
            <a:pPr algn="l">
              <a:lnSpc>
                <a:spcPct val="95000"/>
              </a:lnSpc>
              <a:spcAft>
                <a:spcPts val="0"/>
              </a:spcAft>
            </a:pPr>
            <a:r>
              <a:rPr sz="2800" b="0" i="0">
                <a:solidFill>
                  <a:srgbClr val="0B1F33"/>
                </a:solidFill>
                <a:latin typeface="Georgia"/>
              </a:rPr>
              <a:t>Ambil satu equipment saja</a:t>
            </a:r>
          </a:p>
        </p:txBody>
      </p:sp>
      <p:cxnSp>
        <p:nvCxnSpPr>
          <p:cNvPr id="23" name="Connector 22"/>
          <p:cNvCxnSpPr/>
          <p:nvPr/>
        </p:nvCxnSpPr>
        <p:spPr>
          <a:xfrm>
            <a:off x="548640" y="1517904"/>
            <a:ext cx="11094415" cy="0"/>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24" name="!!eq"/>
          <p:cNvSpPr/>
          <p:nvPr/>
        </p:nvSpPr>
        <p:spPr>
          <a:xfrm>
            <a:off x="4861408" y="3108960"/>
            <a:ext cx="2468880" cy="1188720"/>
          </a:xfrm>
          <a:prstGeom prst="roundRect">
            <a:avLst>
              <a:gd name="adj" fmla="val 10769"/>
            </a:avLst>
          </a:prstGeom>
          <a:solidFill>
            <a:srgbClr val="0B1F33"/>
          </a:solidFill>
          <a:ln>
            <a:no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eqi" descr="E968-FFFFFF.png"/>
          <p:cNvPicPr>
            <a:picLocks noChangeAspect="1"/>
          </p:cNvPicPr>
          <p:nvPr/>
        </p:nvPicPr>
        <p:blipFill>
          <a:blip r:embed="rId3"/>
          <a:stretch>
            <a:fillRect/>
          </a:stretch>
        </p:blipFill>
        <p:spPr>
          <a:xfrm>
            <a:off x="5903824" y="3264408"/>
            <a:ext cx="384048" cy="384048"/>
          </a:xfrm>
          <a:prstGeom prst="rect">
            <a:avLst/>
          </a:prstGeom>
        </p:spPr>
      </p:pic>
      <p:sp>
        <p:nvSpPr>
          <p:cNvPr id="26" name="TextBox 25"/>
          <p:cNvSpPr txBox="1"/>
          <p:nvPr/>
        </p:nvSpPr>
        <p:spPr>
          <a:xfrm>
            <a:off x="4861408" y="3694176"/>
            <a:ext cx="2468880" cy="310896"/>
          </a:xfrm>
          <a:prstGeom prst="rect">
            <a:avLst/>
          </a:prstGeom>
          <a:noFill/>
        </p:spPr>
        <p:txBody>
          <a:bodyPr wrap="square" lIns="0" tIns="0" rIns="0" bIns="0" anchor="ctr">
            <a:spAutoFit/>
          </a:bodyPr>
          <a:lstStyle/>
          <a:p>
            <a:pPr algn="ctr">
              <a:lnSpc>
                <a:spcPct val="105000"/>
              </a:lnSpc>
              <a:spcAft>
                <a:spcPts val="0"/>
              </a:spcAft>
            </a:pPr>
            <a:r>
              <a:rPr sz="1500" b="0" i="0">
                <a:solidFill>
                  <a:srgbClr val="FFFFFF"/>
                </a:solidFill>
                <a:latin typeface="Segoe UI Semibold"/>
              </a:rPr>
              <a:t>Equipment</a:t>
            </a:r>
          </a:p>
        </p:txBody>
      </p:sp>
      <p:sp>
        <p:nvSpPr>
          <p:cNvPr id="27" name="TextBox 26"/>
          <p:cNvSpPr txBox="1"/>
          <p:nvPr/>
        </p:nvSpPr>
        <p:spPr>
          <a:xfrm>
            <a:off x="4861408" y="3986784"/>
            <a:ext cx="2468880" cy="256032"/>
          </a:xfrm>
          <a:prstGeom prst="rect">
            <a:avLst/>
          </a:prstGeom>
          <a:noFill/>
        </p:spPr>
        <p:txBody>
          <a:bodyPr wrap="square" lIns="0" tIns="0" rIns="0" bIns="0" anchor="ctr">
            <a:spAutoFit/>
          </a:bodyPr>
          <a:lstStyle/>
          <a:p>
            <a:pPr algn="ctr">
              <a:lnSpc>
                <a:spcPct val="105000"/>
              </a:lnSpc>
              <a:spcAft>
                <a:spcPts val="0"/>
              </a:spcAft>
            </a:pPr>
            <a:r>
              <a:rPr sz="1000" b="0" i="0">
                <a:solidFill>
                  <a:srgbClr val="8DB4FF"/>
                </a:solidFill>
                <a:latin typeface="Segoe UI"/>
              </a:rPr>
              <a:t>misalnya UPS atau switchboard</a:t>
            </a:r>
          </a:p>
        </p:txBody>
      </p:sp>
      <p:sp>
        <p:nvSpPr>
          <p:cNvPr id="28" name="TextBox 27"/>
          <p:cNvSpPr txBox="1"/>
          <p:nvPr/>
        </p:nvSpPr>
        <p:spPr>
          <a:xfrm>
            <a:off x="548640" y="4846320"/>
            <a:ext cx="11094415" cy="640080"/>
          </a:xfrm>
          <a:prstGeom prst="rect">
            <a:avLst/>
          </a:prstGeom>
          <a:noFill/>
        </p:spPr>
        <p:txBody>
          <a:bodyPr wrap="square" lIns="0" tIns="0" rIns="0" bIns="0" anchor="ctr">
            <a:spAutoFit/>
          </a:bodyPr>
          <a:lstStyle/>
          <a:p>
            <a:pPr algn="ctr">
              <a:lnSpc>
                <a:spcPct val="105000"/>
              </a:lnSpc>
              <a:spcAft>
                <a:spcPts val="0"/>
              </a:spcAft>
            </a:pPr>
            <a:r>
              <a:rPr sz="2200" b="0" i="1">
                <a:solidFill>
                  <a:srgbClr val="56657A"/>
                </a:solidFill>
                <a:latin typeface="Georgia"/>
              </a:rPr>
              <a:t>Satu equipment. Kelihatannya sederhana.</a:t>
            </a:r>
          </a:p>
        </p:txBody>
      </p:sp>
      <p:sp>
        <p:nvSpPr>
          <p:cNvPr id="29" name="TextBox 28"/>
          <p:cNvSpPr txBox="1"/>
          <p:nvPr/>
        </p:nvSpPr>
        <p:spPr>
          <a:xfrm>
            <a:off x="7071055" y="6419088"/>
            <a:ext cx="3657600" cy="237744"/>
          </a:xfrm>
          <a:prstGeom prst="rect">
            <a:avLst/>
          </a:prstGeom>
          <a:noFill/>
        </p:spPr>
        <p:txBody>
          <a:bodyPr wrap="none" lIns="0" tIns="0" rIns="0" bIns="0" anchor="ctr">
            <a:spAutoFit/>
          </a:bodyPr>
          <a:lstStyle/>
          <a:p>
            <a:pPr algn="r">
              <a:lnSpc>
                <a:spcPct val="105000"/>
              </a:lnSpc>
              <a:spcAft>
                <a:spcPts val="0"/>
              </a:spcAft>
            </a:pPr>
            <a:r>
              <a:rPr sz="800" b="0" i="0" spc="80">
                <a:solidFill>
                  <a:srgbClr val="56657A"/>
                </a:solidFill>
                <a:latin typeface="Segoe UI Semibold"/>
              </a:rPr>
              <a:t>MASRON HUTABALIAN</a:t>
            </a:r>
          </a:p>
        </p:txBody>
      </p:sp>
      <p:sp>
        <p:nvSpPr>
          <p:cNvPr id="30" name="TextBox 29"/>
          <p:cNvSpPr txBox="1"/>
          <p:nvPr/>
        </p:nvSpPr>
        <p:spPr>
          <a:xfrm>
            <a:off x="10911535" y="6419088"/>
            <a:ext cx="731520" cy="237744"/>
          </a:xfrm>
          <a:prstGeom prst="rect">
            <a:avLst/>
          </a:prstGeom>
          <a:noFill/>
        </p:spPr>
        <p:txBody>
          <a:bodyPr wrap="square" lIns="0" tIns="0" rIns="0" bIns="0" anchor="t">
            <a:spAutoFit/>
          </a:bodyPr>
          <a:lstStyle/>
          <a:p>
            <a:pPr algn="r">
              <a:lnSpc>
                <a:spcPct val="105000"/>
              </a:lnSpc>
              <a:spcAft>
                <a:spcPts val="0"/>
              </a:spcAft>
            </a:pPr>
            <a:r>
              <a:rPr sz="900" b="0" i="0">
                <a:solidFill>
                  <a:srgbClr val="98A3B3"/>
                </a:solidFill>
                <a:latin typeface="Segoe UI"/>
              </a:rPr>
              <a:t>08</a:t>
            </a: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82880"/>
            <a:ext cx="95234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DATA CENTER</a:t>
            </a:r>
          </a:p>
        </p:txBody>
      </p:sp>
      <p:sp>
        <p:nvSpPr>
          <p:cNvPr id="3" name="TextBox 2"/>
          <p:cNvSpPr txBox="1"/>
          <p:nvPr/>
        </p:nvSpPr>
        <p:spPr>
          <a:xfrm>
            <a:off x="1409543"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4" name="TextBox 3"/>
          <p:cNvSpPr txBox="1"/>
          <p:nvPr/>
        </p:nvSpPr>
        <p:spPr>
          <a:xfrm>
            <a:off x="1702151" y="182880"/>
            <a:ext cx="78485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1F5BD8"/>
                </a:solidFill>
                <a:latin typeface="Segoe UI Semibold"/>
              </a:rPr>
              <a:t>INTERFACE</a:t>
            </a:r>
          </a:p>
        </p:txBody>
      </p:sp>
      <p:sp>
        <p:nvSpPr>
          <p:cNvPr id="5" name="Rectangle 4"/>
          <p:cNvSpPr/>
          <p:nvPr/>
        </p:nvSpPr>
        <p:spPr>
          <a:xfrm>
            <a:off x="1702151" y="420624"/>
            <a:ext cx="601976" cy="32004"/>
          </a:xfrm>
          <a:prstGeom prst="rect">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39556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7" name="TextBox 6"/>
          <p:cNvSpPr txBox="1"/>
          <p:nvPr/>
        </p:nvSpPr>
        <p:spPr>
          <a:xfrm>
            <a:off x="2688175" y="182880"/>
            <a:ext cx="724872"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CONTROL</a:t>
            </a:r>
          </a:p>
        </p:txBody>
      </p:sp>
      <p:sp>
        <p:nvSpPr>
          <p:cNvPr id="8" name="TextBox 7"/>
          <p:cNvSpPr txBox="1"/>
          <p:nvPr/>
        </p:nvSpPr>
        <p:spPr>
          <a:xfrm>
            <a:off x="3321608"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9" name="TextBox 8"/>
          <p:cNvSpPr txBox="1"/>
          <p:nvPr/>
        </p:nvSpPr>
        <p:spPr>
          <a:xfrm>
            <a:off x="3614216" y="182880"/>
            <a:ext cx="115377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COMMISSIONING</a:t>
            </a:r>
          </a:p>
        </p:txBody>
      </p:sp>
      <p:sp>
        <p:nvSpPr>
          <p:cNvPr id="10" name="TextBox 9"/>
          <p:cNvSpPr txBox="1"/>
          <p:nvPr/>
        </p:nvSpPr>
        <p:spPr>
          <a:xfrm>
            <a:off x="4676549"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1" name="TextBox 10"/>
          <p:cNvSpPr txBox="1"/>
          <p:nvPr/>
        </p:nvSpPr>
        <p:spPr>
          <a:xfrm>
            <a:off x="4969157" y="182880"/>
            <a:ext cx="945555"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MONITORING</a:t>
            </a:r>
          </a:p>
        </p:txBody>
      </p:sp>
      <p:sp>
        <p:nvSpPr>
          <p:cNvPr id="12" name="TextBox 11"/>
          <p:cNvSpPr txBox="1"/>
          <p:nvPr/>
        </p:nvSpPr>
        <p:spPr>
          <a:xfrm>
            <a:off x="582327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3" name="TextBox 12"/>
          <p:cNvSpPr txBox="1"/>
          <p:nvPr/>
        </p:nvSpPr>
        <p:spPr>
          <a:xfrm>
            <a:off x="6115879" y="182880"/>
            <a:ext cx="63679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REALITA</a:t>
            </a:r>
          </a:p>
        </p:txBody>
      </p:sp>
      <p:sp>
        <p:nvSpPr>
          <p:cNvPr id="14" name="TextBox 13"/>
          <p:cNvSpPr txBox="1"/>
          <p:nvPr/>
        </p:nvSpPr>
        <p:spPr>
          <a:xfrm>
            <a:off x="6661235"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5" name="TextBox 14"/>
          <p:cNvSpPr txBox="1"/>
          <p:nvPr/>
        </p:nvSpPr>
        <p:spPr>
          <a:xfrm>
            <a:off x="6953843" y="182880"/>
            <a:ext cx="821309"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INFORMASI</a:t>
            </a:r>
          </a:p>
        </p:txBody>
      </p:sp>
      <p:sp>
        <p:nvSpPr>
          <p:cNvPr id="16" name="TextBox 15"/>
          <p:cNvSpPr txBox="1"/>
          <p:nvPr/>
        </p:nvSpPr>
        <p:spPr>
          <a:xfrm>
            <a:off x="7683712"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7" name="TextBox 16"/>
          <p:cNvSpPr txBox="1"/>
          <p:nvPr/>
        </p:nvSpPr>
        <p:spPr>
          <a:xfrm>
            <a:off x="7976320" y="182880"/>
            <a:ext cx="899541"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KNOWLEDGE</a:t>
            </a:r>
          </a:p>
        </p:txBody>
      </p:sp>
      <p:sp>
        <p:nvSpPr>
          <p:cNvPr id="18" name="TextBox 17"/>
          <p:cNvSpPr txBox="1"/>
          <p:nvPr/>
        </p:nvSpPr>
        <p:spPr>
          <a:xfrm>
            <a:off x="878442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9" name="TextBox 18"/>
          <p:cNvSpPr txBox="1"/>
          <p:nvPr/>
        </p:nvSpPr>
        <p:spPr>
          <a:xfrm>
            <a:off x="9077029" y="182880"/>
            <a:ext cx="733298"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OBSIDIAN</a:t>
            </a:r>
          </a:p>
        </p:txBody>
      </p:sp>
      <p:sp>
        <p:nvSpPr>
          <p:cNvPr id="20" name="TextBox 19"/>
          <p:cNvSpPr txBox="1"/>
          <p:nvPr/>
        </p:nvSpPr>
        <p:spPr>
          <a:xfrm>
            <a:off x="971888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21" name="TextBox 20"/>
          <p:cNvSpPr txBox="1"/>
          <p:nvPr/>
        </p:nvSpPr>
        <p:spPr>
          <a:xfrm>
            <a:off x="10011495" y="182880"/>
            <a:ext cx="297434"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AI</a:t>
            </a:r>
          </a:p>
        </p:txBody>
      </p:sp>
      <p:sp>
        <p:nvSpPr>
          <p:cNvPr id="22" name="!!title"/>
          <p:cNvSpPr txBox="1"/>
          <p:nvPr/>
        </p:nvSpPr>
        <p:spPr>
          <a:xfrm>
            <a:off x="548640" y="566928"/>
            <a:ext cx="11094415" cy="841248"/>
          </a:xfrm>
          <a:prstGeom prst="rect">
            <a:avLst/>
          </a:prstGeom>
          <a:noFill/>
        </p:spPr>
        <p:txBody>
          <a:bodyPr wrap="square" lIns="0" tIns="0" rIns="0" bIns="0" anchor="b">
            <a:spAutoFit/>
          </a:bodyPr>
          <a:lstStyle/>
          <a:p>
            <a:pPr algn="l">
              <a:lnSpc>
                <a:spcPct val="95000"/>
              </a:lnSpc>
              <a:spcAft>
                <a:spcPts val="0"/>
              </a:spcAft>
            </a:pPr>
            <a:r>
              <a:rPr sz="2800" b="0" i="0">
                <a:solidFill>
                  <a:srgbClr val="0B1F33"/>
                </a:solidFill>
                <a:latin typeface="Georgia"/>
              </a:rPr>
              <a:t>Kompleksitas proyek data center ada di interface</a:t>
            </a:r>
          </a:p>
        </p:txBody>
      </p:sp>
      <p:cxnSp>
        <p:nvCxnSpPr>
          <p:cNvPr id="23" name="Connector 22"/>
          <p:cNvCxnSpPr/>
          <p:nvPr/>
        </p:nvCxnSpPr>
        <p:spPr>
          <a:xfrm>
            <a:off x="548640" y="1517904"/>
            <a:ext cx="11094415" cy="0"/>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24" name="!!eq"/>
          <p:cNvSpPr/>
          <p:nvPr/>
        </p:nvSpPr>
        <p:spPr>
          <a:xfrm>
            <a:off x="4861408" y="3108960"/>
            <a:ext cx="2468880" cy="1188720"/>
          </a:xfrm>
          <a:prstGeom prst="roundRect">
            <a:avLst>
              <a:gd name="adj" fmla="val 10769"/>
            </a:avLst>
          </a:prstGeom>
          <a:solidFill>
            <a:srgbClr val="0B1F33"/>
          </a:solidFill>
          <a:ln>
            <a:no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eqi" descr="E968-FFFFFF.png"/>
          <p:cNvPicPr>
            <a:picLocks noChangeAspect="1"/>
          </p:cNvPicPr>
          <p:nvPr/>
        </p:nvPicPr>
        <p:blipFill>
          <a:blip r:embed="rId3"/>
          <a:stretch>
            <a:fillRect/>
          </a:stretch>
        </p:blipFill>
        <p:spPr>
          <a:xfrm>
            <a:off x="5903824" y="3264408"/>
            <a:ext cx="384048" cy="384048"/>
          </a:xfrm>
          <a:prstGeom prst="rect">
            <a:avLst/>
          </a:prstGeom>
        </p:spPr>
      </p:pic>
      <p:sp>
        <p:nvSpPr>
          <p:cNvPr id="26" name="TextBox 25"/>
          <p:cNvSpPr txBox="1"/>
          <p:nvPr/>
        </p:nvSpPr>
        <p:spPr>
          <a:xfrm>
            <a:off x="4861408" y="3694176"/>
            <a:ext cx="2468880" cy="310896"/>
          </a:xfrm>
          <a:prstGeom prst="rect">
            <a:avLst/>
          </a:prstGeom>
          <a:noFill/>
        </p:spPr>
        <p:txBody>
          <a:bodyPr wrap="square" lIns="0" tIns="0" rIns="0" bIns="0" anchor="ctr">
            <a:spAutoFit/>
          </a:bodyPr>
          <a:lstStyle/>
          <a:p>
            <a:pPr algn="ctr">
              <a:lnSpc>
                <a:spcPct val="105000"/>
              </a:lnSpc>
              <a:spcAft>
                <a:spcPts val="0"/>
              </a:spcAft>
            </a:pPr>
            <a:r>
              <a:rPr sz="1500" b="0" i="0">
                <a:solidFill>
                  <a:srgbClr val="FFFFFF"/>
                </a:solidFill>
                <a:latin typeface="Segoe UI Semibold"/>
              </a:rPr>
              <a:t>Equipment</a:t>
            </a:r>
          </a:p>
        </p:txBody>
      </p:sp>
      <p:sp>
        <p:nvSpPr>
          <p:cNvPr id="27" name="TextBox 26"/>
          <p:cNvSpPr txBox="1"/>
          <p:nvPr/>
        </p:nvSpPr>
        <p:spPr>
          <a:xfrm>
            <a:off x="4861408" y="3986784"/>
            <a:ext cx="2468880" cy="256032"/>
          </a:xfrm>
          <a:prstGeom prst="rect">
            <a:avLst/>
          </a:prstGeom>
          <a:noFill/>
        </p:spPr>
        <p:txBody>
          <a:bodyPr wrap="square" lIns="0" tIns="0" rIns="0" bIns="0" anchor="ctr">
            <a:spAutoFit/>
          </a:bodyPr>
          <a:lstStyle/>
          <a:p>
            <a:pPr algn="ctr">
              <a:lnSpc>
                <a:spcPct val="105000"/>
              </a:lnSpc>
              <a:spcAft>
                <a:spcPts val="0"/>
              </a:spcAft>
            </a:pPr>
            <a:r>
              <a:rPr sz="1000" b="0" i="0">
                <a:solidFill>
                  <a:srgbClr val="8DB4FF"/>
                </a:solidFill>
                <a:latin typeface="Segoe UI"/>
              </a:rPr>
              <a:t>misalnya UPS atau switchboard</a:t>
            </a:r>
          </a:p>
        </p:txBody>
      </p:sp>
      <p:sp>
        <p:nvSpPr>
          <p:cNvPr id="28" name="Rounded Rectangle 27"/>
          <p:cNvSpPr/>
          <p:nvPr/>
        </p:nvSpPr>
        <p:spPr>
          <a:xfrm>
            <a:off x="4838548" y="1810512"/>
            <a:ext cx="2514600" cy="914400"/>
          </a:xfrm>
          <a:prstGeom prst="roundRect">
            <a:avLst>
              <a:gd name="adj" fmla="val 10000"/>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4984852" y="2029968"/>
            <a:ext cx="475488" cy="475488"/>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E8A5-1F5BD8.png"/>
          <p:cNvPicPr>
            <a:picLocks noChangeAspect="1"/>
          </p:cNvPicPr>
          <p:nvPr/>
        </p:nvPicPr>
        <p:blipFill>
          <a:blip r:embed="rId4"/>
          <a:stretch>
            <a:fillRect/>
          </a:stretch>
        </p:blipFill>
        <p:spPr>
          <a:xfrm>
            <a:off x="5103724" y="2148840"/>
            <a:ext cx="237744" cy="237744"/>
          </a:xfrm>
          <a:prstGeom prst="rect">
            <a:avLst/>
          </a:prstGeom>
        </p:spPr>
      </p:pic>
      <p:sp>
        <p:nvSpPr>
          <p:cNvPr id="31" name="TextBox 30"/>
          <p:cNvSpPr txBox="1"/>
          <p:nvPr/>
        </p:nvSpPr>
        <p:spPr>
          <a:xfrm>
            <a:off x="5570068" y="1883664"/>
            <a:ext cx="1691640" cy="329184"/>
          </a:xfrm>
          <a:prstGeom prst="rect">
            <a:avLst/>
          </a:prstGeom>
          <a:noFill/>
        </p:spPr>
        <p:txBody>
          <a:bodyPr wrap="square" lIns="0" tIns="0" rIns="0" bIns="0" anchor="ctr">
            <a:spAutoFit/>
          </a:bodyPr>
          <a:lstStyle/>
          <a:p>
            <a:pPr algn="l">
              <a:lnSpc>
                <a:spcPct val="105000"/>
              </a:lnSpc>
              <a:spcAft>
                <a:spcPts val="0"/>
              </a:spcAft>
            </a:pPr>
            <a:r>
              <a:rPr sz="1300" b="0" i="0">
                <a:solidFill>
                  <a:srgbClr val="0B1F33"/>
                </a:solidFill>
                <a:latin typeface="Segoe UI Semibold"/>
              </a:rPr>
              <a:t>Engineering</a:t>
            </a:r>
          </a:p>
        </p:txBody>
      </p:sp>
      <p:sp>
        <p:nvSpPr>
          <p:cNvPr id="32" name="TextBox 31"/>
          <p:cNvSpPr txBox="1"/>
          <p:nvPr/>
        </p:nvSpPr>
        <p:spPr>
          <a:xfrm>
            <a:off x="5570068" y="2212848"/>
            <a:ext cx="1691640" cy="457200"/>
          </a:xfrm>
          <a:prstGeom prst="rect">
            <a:avLst/>
          </a:prstGeom>
          <a:noFill/>
        </p:spPr>
        <p:txBody>
          <a:bodyPr wrap="square" lIns="0" tIns="0" rIns="0" bIns="0" anchor="t">
            <a:spAutoFit/>
          </a:bodyPr>
          <a:lstStyle/>
          <a:p>
            <a:pPr algn="l">
              <a:lnSpc>
                <a:spcPct val="95000"/>
              </a:lnSpc>
              <a:spcAft>
                <a:spcPts val="0"/>
              </a:spcAft>
            </a:pPr>
            <a:r>
              <a:rPr sz="1000" b="0" i="0">
                <a:solidFill>
                  <a:srgbClr val="56657A"/>
                </a:solidFill>
                <a:latin typeface="Segoe UI"/>
              </a:rPr>
              <a:t>Drawing dan submittal disetujui</a:t>
            </a:r>
          </a:p>
        </p:txBody>
      </p:sp>
      <p:cxnSp>
        <p:nvCxnSpPr>
          <p:cNvPr id="33" name="Connector 32"/>
          <p:cNvCxnSpPr/>
          <p:nvPr/>
        </p:nvCxnSpPr>
        <p:spPr>
          <a:xfrm>
            <a:off x="6095848" y="2770632"/>
            <a:ext cx="0" cy="292608"/>
          </a:xfrm>
          <a:prstGeom prst="line">
            <a:avLst/>
          </a:prstGeom>
          <a:ln w="19050">
            <a:solidFill>
              <a:srgbClr val="1F5B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548640" y="3246120"/>
            <a:ext cx="2514600" cy="914400"/>
          </a:xfrm>
          <a:prstGeom prst="roundRect">
            <a:avLst>
              <a:gd name="adj" fmla="val 10000"/>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694944" y="3465576"/>
            <a:ext cx="475488" cy="475488"/>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Picture 35" descr="E7B8-1F5BD8.png"/>
          <p:cNvPicPr>
            <a:picLocks noChangeAspect="1"/>
          </p:cNvPicPr>
          <p:nvPr/>
        </p:nvPicPr>
        <p:blipFill>
          <a:blip r:embed="rId5"/>
          <a:stretch>
            <a:fillRect/>
          </a:stretch>
        </p:blipFill>
        <p:spPr>
          <a:xfrm>
            <a:off x="813816" y="3584448"/>
            <a:ext cx="237744" cy="237744"/>
          </a:xfrm>
          <a:prstGeom prst="rect">
            <a:avLst/>
          </a:prstGeom>
        </p:spPr>
      </p:pic>
      <p:sp>
        <p:nvSpPr>
          <p:cNvPr id="37" name="TextBox 36"/>
          <p:cNvSpPr txBox="1"/>
          <p:nvPr/>
        </p:nvSpPr>
        <p:spPr>
          <a:xfrm>
            <a:off x="1280160" y="3319272"/>
            <a:ext cx="1691640" cy="329184"/>
          </a:xfrm>
          <a:prstGeom prst="rect">
            <a:avLst/>
          </a:prstGeom>
          <a:noFill/>
        </p:spPr>
        <p:txBody>
          <a:bodyPr wrap="square" lIns="0" tIns="0" rIns="0" bIns="0" anchor="ctr">
            <a:spAutoFit/>
          </a:bodyPr>
          <a:lstStyle/>
          <a:p>
            <a:pPr algn="l">
              <a:lnSpc>
                <a:spcPct val="105000"/>
              </a:lnSpc>
              <a:spcAft>
                <a:spcPts val="0"/>
              </a:spcAft>
            </a:pPr>
            <a:r>
              <a:rPr sz="1300" b="0" i="0">
                <a:solidFill>
                  <a:srgbClr val="0B1F33"/>
                </a:solidFill>
                <a:latin typeface="Segoe UI Semibold"/>
              </a:rPr>
              <a:t>Procurement</a:t>
            </a:r>
          </a:p>
        </p:txBody>
      </p:sp>
      <p:sp>
        <p:nvSpPr>
          <p:cNvPr id="38" name="TextBox 37"/>
          <p:cNvSpPr txBox="1"/>
          <p:nvPr/>
        </p:nvSpPr>
        <p:spPr>
          <a:xfrm>
            <a:off x="1280160" y="3648456"/>
            <a:ext cx="1691640" cy="457200"/>
          </a:xfrm>
          <a:prstGeom prst="rect">
            <a:avLst/>
          </a:prstGeom>
          <a:noFill/>
        </p:spPr>
        <p:txBody>
          <a:bodyPr wrap="square" lIns="0" tIns="0" rIns="0" bIns="0" anchor="t">
            <a:spAutoFit/>
          </a:bodyPr>
          <a:lstStyle/>
          <a:p>
            <a:pPr algn="l">
              <a:lnSpc>
                <a:spcPct val="95000"/>
              </a:lnSpc>
              <a:spcAft>
                <a:spcPts val="0"/>
              </a:spcAft>
            </a:pPr>
            <a:r>
              <a:rPr sz="1000" b="0" i="0">
                <a:solidFill>
                  <a:srgbClr val="56657A"/>
                </a:solidFill>
                <a:latin typeface="Segoe UI"/>
              </a:rPr>
              <a:t>Dites di pabrik, tiba di site</a:t>
            </a:r>
          </a:p>
        </p:txBody>
      </p:sp>
      <p:cxnSp>
        <p:nvCxnSpPr>
          <p:cNvPr id="39" name="Connector 38"/>
          <p:cNvCxnSpPr/>
          <p:nvPr/>
        </p:nvCxnSpPr>
        <p:spPr>
          <a:xfrm>
            <a:off x="3108960" y="3703320"/>
            <a:ext cx="1706728" cy="0"/>
          </a:xfrm>
          <a:prstGeom prst="line">
            <a:avLst/>
          </a:prstGeom>
          <a:ln w="19050">
            <a:solidFill>
              <a:srgbClr val="1F5B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9128455" y="3246120"/>
            <a:ext cx="2514600" cy="914400"/>
          </a:xfrm>
          <a:prstGeom prst="roundRect">
            <a:avLst>
              <a:gd name="adj" fmla="val 10000"/>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9274759" y="3465576"/>
            <a:ext cx="475488" cy="475488"/>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2" name="Picture 41" descr="EC7A-1F5BD8.png"/>
          <p:cNvPicPr>
            <a:picLocks noChangeAspect="1"/>
          </p:cNvPicPr>
          <p:nvPr/>
        </p:nvPicPr>
        <p:blipFill>
          <a:blip r:embed="rId6"/>
          <a:stretch>
            <a:fillRect/>
          </a:stretch>
        </p:blipFill>
        <p:spPr>
          <a:xfrm>
            <a:off x="9393631" y="3584448"/>
            <a:ext cx="237744" cy="237744"/>
          </a:xfrm>
          <a:prstGeom prst="rect">
            <a:avLst/>
          </a:prstGeom>
        </p:spPr>
      </p:pic>
      <p:sp>
        <p:nvSpPr>
          <p:cNvPr id="43" name="TextBox 42"/>
          <p:cNvSpPr txBox="1"/>
          <p:nvPr/>
        </p:nvSpPr>
        <p:spPr>
          <a:xfrm>
            <a:off x="9859975" y="3319272"/>
            <a:ext cx="1691640" cy="329184"/>
          </a:xfrm>
          <a:prstGeom prst="rect">
            <a:avLst/>
          </a:prstGeom>
          <a:noFill/>
        </p:spPr>
        <p:txBody>
          <a:bodyPr wrap="square" lIns="0" tIns="0" rIns="0" bIns="0" anchor="ctr">
            <a:spAutoFit/>
          </a:bodyPr>
          <a:lstStyle/>
          <a:p>
            <a:pPr algn="l">
              <a:lnSpc>
                <a:spcPct val="105000"/>
              </a:lnSpc>
              <a:spcAft>
                <a:spcPts val="0"/>
              </a:spcAft>
            </a:pPr>
            <a:r>
              <a:rPr sz="1300" b="0" i="0">
                <a:solidFill>
                  <a:srgbClr val="0B1F33"/>
                </a:solidFill>
                <a:latin typeface="Segoe UI Semibold"/>
              </a:rPr>
              <a:t>Construction</a:t>
            </a:r>
          </a:p>
        </p:txBody>
      </p:sp>
      <p:sp>
        <p:nvSpPr>
          <p:cNvPr id="44" name="TextBox 43"/>
          <p:cNvSpPr txBox="1"/>
          <p:nvPr/>
        </p:nvSpPr>
        <p:spPr>
          <a:xfrm>
            <a:off x="9859975" y="3648456"/>
            <a:ext cx="1691640" cy="457200"/>
          </a:xfrm>
          <a:prstGeom prst="rect">
            <a:avLst/>
          </a:prstGeom>
          <a:noFill/>
        </p:spPr>
        <p:txBody>
          <a:bodyPr wrap="square" lIns="0" tIns="0" rIns="0" bIns="0" anchor="t">
            <a:spAutoFit/>
          </a:bodyPr>
          <a:lstStyle/>
          <a:p>
            <a:pPr algn="l">
              <a:lnSpc>
                <a:spcPct val="95000"/>
              </a:lnSpc>
              <a:spcAft>
                <a:spcPts val="0"/>
              </a:spcAft>
            </a:pPr>
            <a:r>
              <a:rPr sz="1000" b="0" i="0">
                <a:solidFill>
                  <a:srgbClr val="56657A"/>
                </a:solidFill>
                <a:latin typeface="Segoe UI"/>
              </a:rPr>
              <a:t>Ruangan dan jalur kabel siap</a:t>
            </a:r>
          </a:p>
        </p:txBody>
      </p:sp>
      <p:cxnSp>
        <p:nvCxnSpPr>
          <p:cNvPr id="45" name="Connector 44"/>
          <p:cNvCxnSpPr/>
          <p:nvPr/>
        </p:nvCxnSpPr>
        <p:spPr>
          <a:xfrm flipH="1">
            <a:off x="7376008" y="3703320"/>
            <a:ext cx="1706727" cy="0"/>
          </a:xfrm>
          <a:prstGeom prst="line">
            <a:avLst/>
          </a:prstGeom>
          <a:ln w="19050">
            <a:solidFill>
              <a:srgbClr val="1F5B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1463040" y="4681728"/>
            <a:ext cx="2514600" cy="914400"/>
          </a:xfrm>
          <a:prstGeom prst="roundRect">
            <a:avLst>
              <a:gd name="adj" fmla="val 10000"/>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1609344" y="4901184"/>
            <a:ext cx="475488" cy="475488"/>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8" name="Picture 47" descr="E8D7-1F5BD8.png"/>
          <p:cNvPicPr>
            <a:picLocks noChangeAspect="1"/>
          </p:cNvPicPr>
          <p:nvPr/>
        </p:nvPicPr>
        <p:blipFill>
          <a:blip r:embed="rId7"/>
          <a:stretch>
            <a:fillRect/>
          </a:stretch>
        </p:blipFill>
        <p:spPr>
          <a:xfrm>
            <a:off x="1728216" y="5020056"/>
            <a:ext cx="237744" cy="237744"/>
          </a:xfrm>
          <a:prstGeom prst="rect">
            <a:avLst/>
          </a:prstGeom>
        </p:spPr>
      </p:pic>
      <p:sp>
        <p:nvSpPr>
          <p:cNvPr id="49" name="TextBox 48"/>
          <p:cNvSpPr txBox="1"/>
          <p:nvPr/>
        </p:nvSpPr>
        <p:spPr>
          <a:xfrm>
            <a:off x="2194560" y="4754880"/>
            <a:ext cx="1691640" cy="329184"/>
          </a:xfrm>
          <a:prstGeom prst="rect">
            <a:avLst/>
          </a:prstGeom>
          <a:noFill/>
        </p:spPr>
        <p:txBody>
          <a:bodyPr wrap="square" lIns="0" tIns="0" rIns="0" bIns="0" anchor="ctr">
            <a:spAutoFit/>
          </a:bodyPr>
          <a:lstStyle/>
          <a:p>
            <a:pPr algn="l">
              <a:lnSpc>
                <a:spcPct val="105000"/>
              </a:lnSpc>
              <a:spcAft>
                <a:spcPts val="0"/>
              </a:spcAft>
            </a:pPr>
            <a:r>
              <a:rPr sz="1300" b="0" i="0">
                <a:solidFill>
                  <a:srgbClr val="0B1F33"/>
                </a:solidFill>
                <a:latin typeface="Segoe UI Semibold"/>
              </a:rPr>
              <a:t>Access</a:t>
            </a:r>
          </a:p>
        </p:txBody>
      </p:sp>
      <p:sp>
        <p:nvSpPr>
          <p:cNvPr id="50" name="TextBox 49"/>
          <p:cNvSpPr txBox="1"/>
          <p:nvPr/>
        </p:nvSpPr>
        <p:spPr>
          <a:xfrm>
            <a:off x="2194560" y="5084064"/>
            <a:ext cx="1691640" cy="457200"/>
          </a:xfrm>
          <a:prstGeom prst="rect">
            <a:avLst/>
          </a:prstGeom>
          <a:noFill/>
        </p:spPr>
        <p:txBody>
          <a:bodyPr wrap="square" lIns="0" tIns="0" rIns="0" bIns="0" anchor="t">
            <a:spAutoFit/>
          </a:bodyPr>
          <a:lstStyle/>
          <a:p>
            <a:pPr algn="l">
              <a:lnSpc>
                <a:spcPct val="95000"/>
              </a:lnSpc>
              <a:spcAft>
                <a:spcPts val="0"/>
              </a:spcAft>
            </a:pPr>
            <a:r>
              <a:rPr sz="1000" b="0" i="0">
                <a:solidFill>
                  <a:srgbClr val="56657A"/>
                </a:solidFill>
                <a:latin typeface="Segoe UI"/>
              </a:rPr>
              <a:t>Jalur rigging dan permit</a:t>
            </a:r>
          </a:p>
        </p:txBody>
      </p:sp>
      <p:cxnSp>
        <p:nvCxnSpPr>
          <p:cNvPr id="51" name="Connector 50"/>
          <p:cNvCxnSpPr/>
          <p:nvPr/>
        </p:nvCxnSpPr>
        <p:spPr>
          <a:xfrm flipV="1">
            <a:off x="2720340" y="4343400"/>
            <a:ext cx="2415388" cy="292608"/>
          </a:xfrm>
          <a:prstGeom prst="line">
            <a:avLst/>
          </a:prstGeom>
          <a:ln w="19050">
            <a:solidFill>
              <a:srgbClr val="1F5B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4838548" y="4681728"/>
            <a:ext cx="2514600" cy="914400"/>
          </a:xfrm>
          <a:prstGeom prst="roundRect">
            <a:avLst>
              <a:gd name="adj" fmla="val 10000"/>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4984852" y="4901184"/>
            <a:ext cx="475488" cy="475488"/>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4" name="Picture 53" descr="E945-1F5BD8.png"/>
          <p:cNvPicPr>
            <a:picLocks noChangeAspect="1"/>
          </p:cNvPicPr>
          <p:nvPr/>
        </p:nvPicPr>
        <p:blipFill>
          <a:blip r:embed="rId8"/>
          <a:stretch>
            <a:fillRect/>
          </a:stretch>
        </p:blipFill>
        <p:spPr>
          <a:xfrm>
            <a:off x="5103724" y="5020056"/>
            <a:ext cx="237744" cy="237744"/>
          </a:xfrm>
          <a:prstGeom prst="rect">
            <a:avLst/>
          </a:prstGeom>
        </p:spPr>
      </p:pic>
      <p:sp>
        <p:nvSpPr>
          <p:cNvPr id="55" name="TextBox 54"/>
          <p:cNvSpPr txBox="1"/>
          <p:nvPr/>
        </p:nvSpPr>
        <p:spPr>
          <a:xfrm>
            <a:off x="5570068" y="4754880"/>
            <a:ext cx="1691640" cy="329184"/>
          </a:xfrm>
          <a:prstGeom prst="rect">
            <a:avLst/>
          </a:prstGeom>
          <a:noFill/>
        </p:spPr>
        <p:txBody>
          <a:bodyPr wrap="square" lIns="0" tIns="0" rIns="0" bIns="0" anchor="ctr">
            <a:spAutoFit/>
          </a:bodyPr>
          <a:lstStyle/>
          <a:p>
            <a:pPr algn="l">
              <a:lnSpc>
                <a:spcPct val="105000"/>
              </a:lnSpc>
              <a:spcAft>
                <a:spcPts val="0"/>
              </a:spcAft>
            </a:pPr>
            <a:r>
              <a:rPr sz="1300" b="0" i="0">
                <a:solidFill>
                  <a:srgbClr val="0B1F33"/>
                </a:solidFill>
                <a:latin typeface="Segoe UI Semibold"/>
              </a:rPr>
              <a:t>Power</a:t>
            </a:r>
          </a:p>
        </p:txBody>
      </p:sp>
      <p:sp>
        <p:nvSpPr>
          <p:cNvPr id="56" name="TextBox 55"/>
          <p:cNvSpPr txBox="1"/>
          <p:nvPr/>
        </p:nvSpPr>
        <p:spPr>
          <a:xfrm>
            <a:off x="5570068" y="5084064"/>
            <a:ext cx="1691640" cy="457200"/>
          </a:xfrm>
          <a:prstGeom prst="rect">
            <a:avLst/>
          </a:prstGeom>
          <a:noFill/>
        </p:spPr>
        <p:txBody>
          <a:bodyPr wrap="square" lIns="0" tIns="0" rIns="0" bIns="0" anchor="t">
            <a:spAutoFit/>
          </a:bodyPr>
          <a:lstStyle/>
          <a:p>
            <a:pPr algn="l">
              <a:lnSpc>
                <a:spcPct val="95000"/>
              </a:lnSpc>
              <a:spcAft>
                <a:spcPts val="0"/>
              </a:spcAft>
            </a:pPr>
            <a:r>
              <a:rPr sz="1000" b="0" i="0">
                <a:solidFill>
                  <a:srgbClr val="56657A"/>
                </a:solidFill>
                <a:latin typeface="Segoe UI"/>
              </a:rPr>
              <a:t>Listrik untuk energization dan tes</a:t>
            </a:r>
          </a:p>
        </p:txBody>
      </p:sp>
      <p:cxnSp>
        <p:nvCxnSpPr>
          <p:cNvPr id="57" name="Connector 56"/>
          <p:cNvCxnSpPr/>
          <p:nvPr/>
        </p:nvCxnSpPr>
        <p:spPr>
          <a:xfrm flipV="1">
            <a:off x="6095848" y="4343400"/>
            <a:ext cx="0" cy="292608"/>
          </a:xfrm>
          <a:prstGeom prst="line">
            <a:avLst/>
          </a:prstGeom>
          <a:ln w="19050">
            <a:solidFill>
              <a:srgbClr val="1F5B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8214055" y="4681728"/>
            <a:ext cx="2514600" cy="914400"/>
          </a:xfrm>
          <a:prstGeom prst="roundRect">
            <a:avLst>
              <a:gd name="adj" fmla="val 10000"/>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8360359" y="4901184"/>
            <a:ext cx="475488" cy="475488"/>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0" name="Picture 59" descr="EADF-1F5BD8.png"/>
          <p:cNvPicPr>
            <a:picLocks noChangeAspect="1"/>
          </p:cNvPicPr>
          <p:nvPr/>
        </p:nvPicPr>
        <p:blipFill>
          <a:blip r:embed="rId9"/>
          <a:stretch>
            <a:fillRect/>
          </a:stretch>
        </p:blipFill>
        <p:spPr>
          <a:xfrm>
            <a:off x="8479231" y="5020056"/>
            <a:ext cx="237744" cy="237744"/>
          </a:xfrm>
          <a:prstGeom prst="rect">
            <a:avLst/>
          </a:prstGeom>
        </p:spPr>
      </p:pic>
      <p:sp>
        <p:nvSpPr>
          <p:cNvPr id="61" name="TextBox 60"/>
          <p:cNvSpPr txBox="1"/>
          <p:nvPr/>
        </p:nvSpPr>
        <p:spPr>
          <a:xfrm>
            <a:off x="8945575" y="4754880"/>
            <a:ext cx="1691640" cy="329184"/>
          </a:xfrm>
          <a:prstGeom prst="rect">
            <a:avLst/>
          </a:prstGeom>
          <a:noFill/>
        </p:spPr>
        <p:txBody>
          <a:bodyPr wrap="square" lIns="0" tIns="0" rIns="0" bIns="0" anchor="ctr">
            <a:spAutoFit/>
          </a:bodyPr>
          <a:lstStyle/>
          <a:p>
            <a:pPr algn="l">
              <a:lnSpc>
                <a:spcPct val="105000"/>
              </a:lnSpc>
              <a:spcAft>
                <a:spcPts val="0"/>
              </a:spcAft>
            </a:pPr>
            <a:r>
              <a:rPr sz="1300" b="0" i="0">
                <a:solidFill>
                  <a:srgbClr val="0B1F33"/>
                </a:solidFill>
                <a:latin typeface="Segoe UI Semibold"/>
              </a:rPr>
              <a:t>Testing</a:t>
            </a:r>
          </a:p>
        </p:txBody>
      </p:sp>
      <p:sp>
        <p:nvSpPr>
          <p:cNvPr id="62" name="TextBox 61"/>
          <p:cNvSpPr txBox="1"/>
          <p:nvPr/>
        </p:nvSpPr>
        <p:spPr>
          <a:xfrm>
            <a:off x="8945575" y="5084064"/>
            <a:ext cx="1691640" cy="457200"/>
          </a:xfrm>
          <a:prstGeom prst="rect">
            <a:avLst/>
          </a:prstGeom>
          <a:noFill/>
        </p:spPr>
        <p:txBody>
          <a:bodyPr wrap="square" lIns="0" tIns="0" rIns="0" bIns="0" anchor="t">
            <a:spAutoFit/>
          </a:bodyPr>
          <a:lstStyle/>
          <a:p>
            <a:pPr algn="l">
              <a:lnSpc>
                <a:spcPct val="95000"/>
              </a:lnSpc>
              <a:spcAft>
                <a:spcPts val="0"/>
              </a:spcAft>
            </a:pPr>
            <a:r>
              <a:rPr sz="1000" b="0" i="0">
                <a:solidFill>
                  <a:srgbClr val="56657A"/>
                </a:solidFill>
                <a:latin typeface="Segoe UI"/>
              </a:rPr>
              <a:t>Tim dan script commissioning</a:t>
            </a:r>
          </a:p>
        </p:txBody>
      </p:sp>
      <p:cxnSp>
        <p:nvCxnSpPr>
          <p:cNvPr id="63" name="Connector 62"/>
          <p:cNvCxnSpPr/>
          <p:nvPr/>
        </p:nvCxnSpPr>
        <p:spPr>
          <a:xfrm flipH="1" flipV="1">
            <a:off x="7055968" y="4343400"/>
            <a:ext cx="2415387" cy="292608"/>
          </a:xfrm>
          <a:prstGeom prst="line">
            <a:avLst/>
          </a:prstGeom>
          <a:ln w="19050">
            <a:solidFill>
              <a:srgbClr val="1F5B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64" name="Rectangle 63"/>
          <p:cNvSpPr/>
          <p:nvPr/>
        </p:nvSpPr>
        <p:spPr>
          <a:xfrm>
            <a:off x="548640" y="5760720"/>
            <a:ext cx="11094415" cy="5029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548640" y="5760720"/>
            <a:ext cx="54864" cy="502920"/>
          </a:xfrm>
          <a:prstGeom prst="rect">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6" name="Picture 65" descr="EA80-1F5BD8.png"/>
          <p:cNvPicPr>
            <a:picLocks noChangeAspect="1"/>
          </p:cNvPicPr>
          <p:nvPr/>
        </p:nvPicPr>
        <p:blipFill>
          <a:blip r:embed="rId10"/>
          <a:stretch>
            <a:fillRect/>
          </a:stretch>
        </p:blipFill>
        <p:spPr>
          <a:xfrm>
            <a:off x="758952" y="5875020"/>
            <a:ext cx="274320" cy="274320"/>
          </a:xfrm>
          <a:prstGeom prst="rect">
            <a:avLst/>
          </a:prstGeom>
        </p:spPr>
      </p:pic>
      <p:sp>
        <p:nvSpPr>
          <p:cNvPr id="67" name="TextBox 66"/>
          <p:cNvSpPr txBox="1"/>
          <p:nvPr/>
        </p:nvSpPr>
        <p:spPr>
          <a:xfrm>
            <a:off x="1188720" y="5760720"/>
            <a:ext cx="10317175" cy="502920"/>
          </a:xfrm>
          <a:prstGeom prst="rect">
            <a:avLst/>
          </a:prstGeom>
          <a:noFill/>
        </p:spPr>
        <p:txBody>
          <a:bodyPr wrap="square" lIns="0" tIns="0" rIns="0" bIns="0" anchor="ctr">
            <a:spAutoFit/>
          </a:bodyPr>
          <a:lstStyle/>
          <a:p>
            <a:pPr algn="l">
              <a:lnSpc>
                <a:spcPct val="105000"/>
              </a:lnSpc>
              <a:spcAft>
                <a:spcPts val="0"/>
              </a:spcAft>
            </a:pPr>
            <a:r>
              <a:rPr sz="1400" b="0" i="0">
                <a:solidFill>
                  <a:srgbClr val="0B1F33"/>
                </a:solidFill>
                <a:latin typeface="Segoe UI Semibold"/>
              </a:rPr>
              <a:t>Tantangannya bukan hanya banyaknya pekerjaan, tapi banyaknya interface.</a:t>
            </a:r>
          </a:p>
        </p:txBody>
      </p:sp>
      <p:sp>
        <p:nvSpPr>
          <p:cNvPr id="68" name="TextBox 67"/>
          <p:cNvSpPr txBox="1"/>
          <p:nvPr/>
        </p:nvSpPr>
        <p:spPr>
          <a:xfrm>
            <a:off x="7071055" y="6419088"/>
            <a:ext cx="3657600" cy="237744"/>
          </a:xfrm>
          <a:prstGeom prst="rect">
            <a:avLst/>
          </a:prstGeom>
          <a:noFill/>
        </p:spPr>
        <p:txBody>
          <a:bodyPr wrap="none" lIns="0" tIns="0" rIns="0" bIns="0" anchor="ctr">
            <a:spAutoFit/>
          </a:bodyPr>
          <a:lstStyle/>
          <a:p>
            <a:pPr algn="r">
              <a:lnSpc>
                <a:spcPct val="105000"/>
              </a:lnSpc>
              <a:spcAft>
                <a:spcPts val="0"/>
              </a:spcAft>
            </a:pPr>
            <a:r>
              <a:rPr sz="800" b="0" i="0" spc="80">
                <a:solidFill>
                  <a:srgbClr val="56657A"/>
                </a:solidFill>
                <a:latin typeface="Segoe UI Semibold"/>
              </a:rPr>
              <a:t>MASRON HUTABALIAN</a:t>
            </a:r>
          </a:p>
        </p:txBody>
      </p:sp>
      <p:sp>
        <p:nvSpPr>
          <p:cNvPr id="69" name="TextBox 68"/>
          <p:cNvSpPr txBox="1"/>
          <p:nvPr/>
        </p:nvSpPr>
        <p:spPr>
          <a:xfrm>
            <a:off x="10911535" y="6419088"/>
            <a:ext cx="731520" cy="237744"/>
          </a:xfrm>
          <a:prstGeom prst="rect">
            <a:avLst/>
          </a:prstGeom>
          <a:noFill/>
        </p:spPr>
        <p:txBody>
          <a:bodyPr wrap="square" lIns="0" tIns="0" rIns="0" bIns="0" anchor="t">
            <a:spAutoFit/>
          </a:bodyPr>
          <a:lstStyle/>
          <a:p>
            <a:pPr algn="r">
              <a:lnSpc>
                <a:spcPct val="105000"/>
              </a:lnSpc>
              <a:spcAft>
                <a:spcPts val="0"/>
              </a:spcAft>
            </a:pPr>
            <a:r>
              <a:rPr sz="900" b="0" i="0">
                <a:solidFill>
                  <a:srgbClr val="98A3B3"/>
                </a:solidFill>
                <a:latin typeface="Segoe UI"/>
              </a:rPr>
              <a:t>09</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82880"/>
            <a:ext cx="95234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DATA CENTER</a:t>
            </a:r>
          </a:p>
        </p:txBody>
      </p:sp>
      <p:sp>
        <p:nvSpPr>
          <p:cNvPr id="3" name="TextBox 2"/>
          <p:cNvSpPr txBox="1"/>
          <p:nvPr/>
        </p:nvSpPr>
        <p:spPr>
          <a:xfrm>
            <a:off x="1409543"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4" name="TextBox 3"/>
          <p:cNvSpPr txBox="1"/>
          <p:nvPr/>
        </p:nvSpPr>
        <p:spPr>
          <a:xfrm>
            <a:off x="1702151" y="182880"/>
            <a:ext cx="78485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INTERFACE</a:t>
            </a:r>
          </a:p>
        </p:txBody>
      </p:sp>
      <p:sp>
        <p:nvSpPr>
          <p:cNvPr id="5" name="TextBox 4"/>
          <p:cNvSpPr txBox="1"/>
          <p:nvPr/>
        </p:nvSpPr>
        <p:spPr>
          <a:xfrm>
            <a:off x="239556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6" name="TextBox 5"/>
          <p:cNvSpPr txBox="1"/>
          <p:nvPr/>
        </p:nvSpPr>
        <p:spPr>
          <a:xfrm>
            <a:off x="2688175" y="182880"/>
            <a:ext cx="724872"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1F5BD8"/>
                </a:solidFill>
                <a:latin typeface="Segoe UI Semibold"/>
              </a:rPr>
              <a:t>CONTROL</a:t>
            </a:r>
          </a:p>
        </p:txBody>
      </p:sp>
      <p:sp>
        <p:nvSpPr>
          <p:cNvPr id="7" name="Rectangle 6"/>
          <p:cNvSpPr/>
          <p:nvPr/>
        </p:nvSpPr>
        <p:spPr>
          <a:xfrm>
            <a:off x="2688175" y="420624"/>
            <a:ext cx="541992" cy="32004"/>
          </a:xfrm>
          <a:prstGeom prst="rect">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21608"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9" name="TextBox 8"/>
          <p:cNvSpPr txBox="1"/>
          <p:nvPr/>
        </p:nvSpPr>
        <p:spPr>
          <a:xfrm>
            <a:off x="3614216" y="182880"/>
            <a:ext cx="115377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COMMISSIONING</a:t>
            </a:r>
          </a:p>
        </p:txBody>
      </p:sp>
      <p:sp>
        <p:nvSpPr>
          <p:cNvPr id="10" name="TextBox 9"/>
          <p:cNvSpPr txBox="1"/>
          <p:nvPr/>
        </p:nvSpPr>
        <p:spPr>
          <a:xfrm>
            <a:off x="4676549"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1" name="TextBox 10"/>
          <p:cNvSpPr txBox="1"/>
          <p:nvPr/>
        </p:nvSpPr>
        <p:spPr>
          <a:xfrm>
            <a:off x="4969157" y="182880"/>
            <a:ext cx="945555"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MONITORING</a:t>
            </a:r>
          </a:p>
        </p:txBody>
      </p:sp>
      <p:sp>
        <p:nvSpPr>
          <p:cNvPr id="12" name="TextBox 11"/>
          <p:cNvSpPr txBox="1"/>
          <p:nvPr/>
        </p:nvSpPr>
        <p:spPr>
          <a:xfrm>
            <a:off x="582327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3" name="TextBox 12"/>
          <p:cNvSpPr txBox="1"/>
          <p:nvPr/>
        </p:nvSpPr>
        <p:spPr>
          <a:xfrm>
            <a:off x="6115879" y="182880"/>
            <a:ext cx="63679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REALITA</a:t>
            </a:r>
          </a:p>
        </p:txBody>
      </p:sp>
      <p:sp>
        <p:nvSpPr>
          <p:cNvPr id="14" name="TextBox 13"/>
          <p:cNvSpPr txBox="1"/>
          <p:nvPr/>
        </p:nvSpPr>
        <p:spPr>
          <a:xfrm>
            <a:off x="6661235"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5" name="TextBox 14"/>
          <p:cNvSpPr txBox="1"/>
          <p:nvPr/>
        </p:nvSpPr>
        <p:spPr>
          <a:xfrm>
            <a:off x="6953843" y="182880"/>
            <a:ext cx="821309"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INFORMASI</a:t>
            </a:r>
          </a:p>
        </p:txBody>
      </p:sp>
      <p:sp>
        <p:nvSpPr>
          <p:cNvPr id="16" name="TextBox 15"/>
          <p:cNvSpPr txBox="1"/>
          <p:nvPr/>
        </p:nvSpPr>
        <p:spPr>
          <a:xfrm>
            <a:off x="7683712"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7" name="TextBox 16"/>
          <p:cNvSpPr txBox="1"/>
          <p:nvPr/>
        </p:nvSpPr>
        <p:spPr>
          <a:xfrm>
            <a:off x="7976320" y="182880"/>
            <a:ext cx="899541"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KNOWLEDGE</a:t>
            </a:r>
          </a:p>
        </p:txBody>
      </p:sp>
      <p:sp>
        <p:nvSpPr>
          <p:cNvPr id="18" name="TextBox 17"/>
          <p:cNvSpPr txBox="1"/>
          <p:nvPr/>
        </p:nvSpPr>
        <p:spPr>
          <a:xfrm>
            <a:off x="878442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9" name="TextBox 18"/>
          <p:cNvSpPr txBox="1"/>
          <p:nvPr/>
        </p:nvSpPr>
        <p:spPr>
          <a:xfrm>
            <a:off x="9077029" y="182880"/>
            <a:ext cx="733298"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OBSIDIAN</a:t>
            </a:r>
          </a:p>
        </p:txBody>
      </p:sp>
      <p:sp>
        <p:nvSpPr>
          <p:cNvPr id="20" name="TextBox 19"/>
          <p:cNvSpPr txBox="1"/>
          <p:nvPr/>
        </p:nvSpPr>
        <p:spPr>
          <a:xfrm>
            <a:off x="971888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21" name="TextBox 20"/>
          <p:cNvSpPr txBox="1"/>
          <p:nvPr/>
        </p:nvSpPr>
        <p:spPr>
          <a:xfrm>
            <a:off x="10011495" y="182880"/>
            <a:ext cx="297434"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AI</a:t>
            </a:r>
          </a:p>
        </p:txBody>
      </p:sp>
      <p:sp>
        <p:nvSpPr>
          <p:cNvPr id="22" name="!!title"/>
          <p:cNvSpPr txBox="1"/>
          <p:nvPr/>
        </p:nvSpPr>
        <p:spPr>
          <a:xfrm>
            <a:off x="548640" y="566928"/>
            <a:ext cx="11094415" cy="841248"/>
          </a:xfrm>
          <a:prstGeom prst="rect">
            <a:avLst/>
          </a:prstGeom>
          <a:noFill/>
        </p:spPr>
        <p:txBody>
          <a:bodyPr wrap="square" lIns="0" tIns="0" rIns="0" bIns="0" anchor="b">
            <a:spAutoFit/>
          </a:bodyPr>
          <a:lstStyle/>
          <a:p>
            <a:pPr algn="l">
              <a:lnSpc>
                <a:spcPct val="95000"/>
              </a:lnSpc>
              <a:spcAft>
                <a:spcPts val="0"/>
              </a:spcAft>
            </a:pPr>
            <a:r>
              <a:rPr sz="2800" b="0" i="0">
                <a:solidFill>
                  <a:srgbClr val="0B1F33"/>
                </a:solidFill>
                <a:latin typeface="Georgia"/>
              </a:rPr>
              <a:t>Project control adalah sebuah loop, bukan sebuah laporan</a:t>
            </a:r>
          </a:p>
        </p:txBody>
      </p:sp>
      <p:cxnSp>
        <p:nvCxnSpPr>
          <p:cNvPr id="23" name="Connector 22"/>
          <p:cNvCxnSpPr/>
          <p:nvPr/>
        </p:nvCxnSpPr>
        <p:spPr>
          <a:xfrm>
            <a:off x="548640" y="1517904"/>
            <a:ext cx="11094415" cy="0"/>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24" name="!!cln0"/>
          <p:cNvSpPr/>
          <p:nvPr/>
        </p:nvSpPr>
        <p:spPr>
          <a:xfrm>
            <a:off x="3264408" y="2103120"/>
            <a:ext cx="603504" cy="603504"/>
          </a:xfrm>
          <a:prstGeom prst="ellipse">
            <a:avLst/>
          </a:prstGeom>
          <a:solidFill>
            <a:srgbClr val="FFFFFF"/>
          </a:solidFill>
          <a:ln w="19050">
            <a:solidFill>
              <a:srgbClr val="0B1F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cli0" descr="E787-0B1F33.png"/>
          <p:cNvPicPr>
            <a:picLocks noChangeAspect="1"/>
          </p:cNvPicPr>
          <p:nvPr/>
        </p:nvPicPr>
        <p:blipFill>
          <a:blip r:embed="rId3"/>
          <a:stretch>
            <a:fillRect/>
          </a:stretch>
        </p:blipFill>
        <p:spPr>
          <a:xfrm>
            <a:off x="3427354" y="2266066"/>
            <a:ext cx="277612" cy="277612"/>
          </a:xfrm>
          <a:prstGeom prst="rect">
            <a:avLst/>
          </a:prstGeom>
        </p:spPr>
      </p:pic>
      <p:sp>
        <p:nvSpPr>
          <p:cNvPr id="26" name="!!cll0"/>
          <p:cNvSpPr txBox="1"/>
          <p:nvPr/>
        </p:nvSpPr>
        <p:spPr>
          <a:xfrm>
            <a:off x="3356356" y="1792224"/>
            <a:ext cx="419608" cy="292608"/>
          </a:xfrm>
          <a:prstGeom prst="rect">
            <a:avLst/>
          </a:prstGeom>
          <a:noFill/>
        </p:spPr>
        <p:txBody>
          <a:bodyPr wrap="none" lIns="0" tIns="0" rIns="0" bIns="0" anchor="ctr">
            <a:spAutoFit/>
          </a:bodyPr>
          <a:lstStyle/>
          <a:p>
            <a:pPr algn="ctr">
              <a:lnSpc>
                <a:spcPct val="105000"/>
              </a:lnSpc>
              <a:spcAft>
                <a:spcPts val="0"/>
              </a:spcAft>
            </a:pPr>
            <a:r>
              <a:rPr sz="1250" b="0" i="0">
                <a:solidFill>
                  <a:srgbClr val="0B1F33"/>
                </a:solidFill>
                <a:latin typeface="Segoe UI Semibold"/>
              </a:rPr>
              <a:t>Plan</a:t>
            </a:r>
          </a:p>
        </p:txBody>
      </p:sp>
      <p:sp>
        <p:nvSpPr>
          <p:cNvPr id="27" name="!!cln1"/>
          <p:cNvSpPr/>
          <p:nvPr/>
        </p:nvSpPr>
        <p:spPr>
          <a:xfrm>
            <a:off x="4760199" y="3189876"/>
            <a:ext cx="603504" cy="603504"/>
          </a:xfrm>
          <a:prstGeom prst="ellipse">
            <a:avLst/>
          </a:prstGeom>
          <a:solidFill>
            <a:srgbClr val="FFFFFF"/>
          </a:solidFill>
          <a:ln w="19050">
            <a:solidFill>
              <a:srgbClr val="0B1F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cli1" descr="E7F4-0B1F33.png"/>
          <p:cNvPicPr>
            <a:picLocks noChangeAspect="1"/>
          </p:cNvPicPr>
          <p:nvPr/>
        </p:nvPicPr>
        <p:blipFill>
          <a:blip r:embed="rId4"/>
          <a:stretch>
            <a:fillRect/>
          </a:stretch>
        </p:blipFill>
        <p:spPr>
          <a:xfrm>
            <a:off x="4923145" y="3352822"/>
            <a:ext cx="277612" cy="277612"/>
          </a:xfrm>
          <a:prstGeom prst="rect">
            <a:avLst/>
          </a:prstGeom>
        </p:spPr>
      </p:pic>
      <p:sp>
        <p:nvSpPr>
          <p:cNvPr id="29" name="!!cll1"/>
          <p:cNvSpPr txBox="1"/>
          <p:nvPr/>
        </p:nvSpPr>
        <p:spPr>
          <a:xfrm>
            <a:off x="5455143" y="3345324"/>
            <a:ext cx="697718" cy="292608"/>
          </a:xfrm>
          <a:prstGeom prst="rect">
            <a:avLst/>
          </a:prstGeom>
          <a:noFill/>
        </p:spPr>
        <p:txBody>
          <a:bodyPr wrap="none" lIns="0" tIns="0" rIns="0" bIns="0" anchor="ctr">
            <a:spAutoFit/>
          </a:bodyPr>
          <a:lstStyle/>
          <a:p>
            <a:pPr algn="l">
              <a:lnSpc>
                <a:spcPct val="105000"/>
              </a:lnSpc>
              <a:spcAft>
                <a:spcPts val="0"/>
              </a:spcAft>
            </a:pPr>
            <a:r>
              <a:rPr sz="1250" b="0" i="0">
                <a:solidFill>
                  <a:srgbClr val="0B1F33"/>
                </a:solidFill>
                <a:latin typeface="Segoe UI Semibold"/>
              </a:rPr>
              <a:t>Monitor</a:t>
            </a:r>
          </a:p>
        </p:txBody>
      </p:sp>
      <p:sp>
        <p:nvSpPr>
          <p:cNvPr id="30" name="!!cln2"/>
          <p:cNvSpPr/>
          <p:nvPr/>
        </p:nvSpPr>
        <p:spPr>
          <a:xfrm>
            <a:off x="4188858" y="4948284"/>
            <a:ext cx="603504" cy="603504"/>
          </a:xfrm>
          <a:prstGeom prst="ellipse">
            <a:avLst/>
          </a:prstGeom>
          <a:solidFill>
            <a:srgbClr val="FFFFFF"/>
          </a:solidFill>
          <a:ln w="19050">
            <a:solidFill>
              <a:srgbClr val="0B1F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cli2" descr="E9D9-0B1F33.png"/>
          <p:cNvPicPr>
            <a:picLocks noChangeAspect="1"/>
          </p:cNvPicPr>
          <p:nvPr/>
        </p:nvPicPr>
        <p:blipFill>
          <a:blip r:embed="rId5"/>
          <a:stretch>
            <a:fillRect/>
          </a:stretch>
        </p:blipFill>
        <p:spPr>
          <a:xfrm>
            <a:off x="4351804" y="5111230"/>
            <a:ext cx="277612" cy="277612"/>
          </a:xfrm>
          <a:prstGeom prst="rect">
            <a:avLst/>
          </a:prstGeom>
        </p:spPr>
      </p:pic>
      <p:sp>
        <p:nvSpPr>
          <p:cNvPr id="32" name="!!cll2"/>
          <p:cNvSpPr txBox="1"/>
          <p:nvPr/>
        </p:nvSpPr>
        <p:spPr>
          <a:xfrm>
            <a:off x="4883802" y="5103732"/>
            <a:ext cx="672338" cy="292608"/>
          </a:xfrm>
          <a:prstGeom prst="rect">
            <a:avLst/>
          </a:prstGeom>
          <a:noFill/>
        </p:spPr>
        <p:txBody>
          <a:bodyPr wrap="none" lIns="0" tIns="0" rIns="0" bIns="0" anchor="ctr">
            <a:spAutoFit/>
          </a:bodyPr>
          <a:lstStyle/>
          <a:p>
            <a:pPr algn="l">
              <a:lnSpc>
                <a:spcPct val="105000"/>
              </a:lnSpc>
              <a:spcAft>
                <a:spcPts val="0"/>
              </a:spcAft>
            </a:pPr>
            <a:r>
              <a:rPr sz="1250" b="0" i="0">
                <a:solidFill>
                  <a:srgbClr val="0B1F33"/>
                </a:solidFill>
                <a:latin typeface="Segoe UI Semibold"/>
              </a:rPr>
              <a:t>Analyze</a:t>
            </a:r>
          </a:p>
        </p:txBody>
      </p:sp>
      <p:sp>
        <p:nvSpPr>
          <p:cNvPr id="33" name="!!cln3"/>
          <p:cNvSpPr/>
          <p:nvPr/>
        </p:nvSpPr>
        <p:spPr>
          <a:xfrm>
            <a:off x="2339958" y="4948284"/>
            <a:ext cx="603504" cy="603504"/>
          </a:xfrm>
          <a:prstGeom prst="ellipse">
            <a:avLst/>
          </a:prstGeom>
          <a:solidFill>
            <a:srgbClr val="FFFFFF"/>
          </a:solidFill>
          <a:ln w="19050">
            <a:solidFill>
              <a:srgbClr val="0B1F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cli3" descr="E9D2-0B1F33.png"/>
          <p:cNvPicPr>
            <a:picLocks noChangeAspect="1"/>
          </p:cNvPicPr>
          <p:nvPr/>
        </p:nvPicPr>
        <p:blipFill>
          <a:blip r:embed="rId6"/>
          <a:stretch>
            <a:fillRect/>
          </a:stretch>
        </p:blipFill>
        <p:spPr>
          <a:xfrm>
            <a:off x="2502904" y="5111230"/>
            <a:ext cx="277612" cy="277612"/>
          </a:xfrm>
          <a:prstGeom prst="rect">
            <a:avLst/>
          </a:prstGeom>
        </p:spPr>
      </p:pic>
      <p:sp>
        <p:nvSpPr>
          <p:cNvPr id="35" name="!!cll3"/>
          <p:cNvSpPr txBox="1"/>
          <p:nvPr/>
        </p:nvSpPr>
        <p:spPr>
          <a:xfrm>
            <a:off x="1538100" y="5103732"/>
            <a:ext cx="710418" cy="292608"/>
          </a:xfrm>
          <a:prstGeom prst="rect">
            <a:avLst/>
          </a:prstGeom>
          <a:noFill/>
        </p:spPr>
        <p:txBody>
          <a:bodyPr wrap="none" lIns="0" tIns="0" rIns="0" bIns="0" anchor="ctr">
            <a:spAutoFit/>
          </a:bodyPr>
          <a:lstStyle/>
          <a:p>
            <a:pPr algn="r">
              <a:lnSpc>
                <a:spcPct val="105000"/>
              </a:lnSpc>
              <a:spcAft>
                <a:spcPts val="0"/>
              </a:spcAft>
            </a:pPr>
            <a:r>
              <a:rPr sz="1250" b="0" i="0">
                <a:solidFill>
                  <a:srgbClr val="0B1F33"/>
                </a:solidFill>
                <a:latin typeface="Segoe UI Semibold"/>
              </a:rPr>
              <a:t>Forecast</a:t>
            </a:r>
          </a:p>
        </p:txBody>
      </p:sp>
      <p:sp>
        <p:nvSpPr>
          <p:cNvPr id="36" name="!!cln4"/>
          <p:cNvSpPr/>
          <p:nvPr/>
        </p:nvSpPr>
        <p:spPr>
          <a:xfrm>
            <a:off x="1768617" y="3189876"/>
            <a:ext cx="603504" cy="603504"/>
          </a:xfrm>
          <a:prstGeom prst="ellipse">
            <a:avLst/>
          </a:prstGeom>
          <a:solidFill>
            <a:srgbClr val="FFFFFF"/>
          </a:solidFill>
          <a:ln w="19050">
            <a:solidFill>
              <a:srgbClr val="0B1F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7" name="!!cli4" descr="E73E-0B1F33.png"/>
          <p:cNvPicPr>
            <a:picLocks noChangeAspect="1"/>
          </p:cNvPicPr>
          <p:nvPr/>
        </p:nvPicPr>
        <p:blipFill>
          <a:blip r:embed="rId7"/>
          <a:stretch>
            <a:fillRect/>
          </a:stretch>
        </p:blipFill>
        <p:spPr>
          <a:xfrm>
            <a:off x="1931563" y="3352822"/>
            <a:ext cx="277612" cy="277612"/>
          </a:xfrm>
          <a:prstGeom prst="rect">
            <a:avLst/>
          </a:prstGeom>
        </p:spPr>
      </p:pic>
      <p:sp>
        <p:nvSpPr>
          <p:cNvPr id="38" name="!!cll4"/>
          <p:cNvSpPr txBox="1"/>
          <p:nvPr/>
        </p:nvSpPr>
        <p:spPr>
          <a:xfrm>
            <a:off x="1328689" y="3345324"/>
            <a:ext cx="348488" cy="292608"/>
          </a:xfrm>
          <a:prstGeom prst="rect">
            <a:avLst/>
          </a:prstGeom>
          <a:noFill/>
        </p:spPr>
        <p:txBody>
          <a:bodyPr wrap="none" lIns="0" tIns="0" rIns="0" bIns="0" anchor="ctr">
            <a:spAutoFit/>
          </a:bodyPr>
          <a:lstStyle/>
          <a:p>
            <a:pPr algn="r">
              <a:lnSpc>
                <a:spcPct val="105000"/>
              </a:lnSpc>
              <a:spcAft>
                <a:spcPts val="0"/>
              </a:spcAft>
            </a:pPr>
            <a:r>
              <a:rPr sz="1250" b="0" i="0">
                <a:solidFill>
                  <a:srgbClr val="0B1F33"/>
                </a:solidFill>
                <a:latin typeface="Segoe UI Semibold"/>
              </a:rPr>
              <a:t>Act</a:t>
            </a:r>
          </a:p>
        </p:txBody>
      </p:sp>
      <p:sp>
        <p:nvSpPr>
          <p:cNvPr id="39" name="!!cla0"/>
          <p:cNvSpPr/>
          <p:nvPr/>
        </p:nvSpPr>
        <p:spPr>
          <a:xfrm>
            <a:off x="3955269" y="2453766"/>
            <a:ext cx="939940" cy="682906"/>
          </a:xfrm>
          <a:custGeom>
            <a:avLst/>
            <a:gdLst/>
            <a:ahLst/>
            <a:cxnLst/>
            <a:rect l="l" t="t" r="r" b="b"/>
            <a:pathLst>
              <a:path w="939940" h="682906">
                <a:moveTo>
                  <a:pt x="0" y="0"/>
                </a:moveTo>
                <a:lnTo>
                  <a:pt x="95248" y="27546"/>
                </a:lnTo>
                <a:lnTo>
                  <a:pt x="188571" y="61040"/>
                </a:lnTo>
                <a:lnTo>
                  <a:pt x="279598" y="100347"/>
                </a:lnTo>
                <a:lnTo>
                  <a:pt x="367968" y="145312"/>
                </a:lnTo>
                <a:lnTo>
                  <a:pt x="453328" y="195756"/>
                </a:lnTo>
                <a:lnTo>
                  <a:pt x="535341" y="251478"/>
                </a:lnTo>
                <a:lnTo>
                  <a:pt x="613679" y="312257"/>
                </a:lnTo>
                <a:lnTo>
                  <a:pt x="688032" y="377852"/>
                </a:lnTo>
                <a:lnTo>
                  <a:pt x="758104" y="448001"/>
                </a:lnTo>
                <a:lnTo>
                  <a:pt x="823616" y="522427"/>
                </a:lnTo>
                <a:lnTo>
                  <a:pt x="884309" y="600832"/>
                </a:lnTo>
                <a:lnTo>
                  <a:pt x="939940" y="682906"/>
                </a:lnTo>
              </a:path>
            </a:pathLst>
          </a:custGeom>
          <a:noFill/>
          <a:ln w="15875">
            <a:solidFill>
              <a:srgbClr val="98A3B3"/>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cla1"/>
          <p:cNvSpPr/>
          <p:nvPr/>
        </p:nvSpPr>
        <p:spPr>
          <a:xfrm>
            <a:off x="4776667" y="3876802"/>
            <a:ext cx="362260" cy="1104966"/>
          </a:xfrm>
          <a:custGeom>
            <a:avLst/>
            <a:gdLst/>
            <a:ahLst/>
            <a:cxnLst/>
            <a:rect l="l" t="t" r="r" b="b"/>
            <a:pathLst>
              <a:path w="362260" h="1104966">
                <a:moveTo>
                  <a:pt x="359025" y="0"/>
                </a:moveTo>
                <a:lnTo>
                  <a:pt x="362260" y="99098"/>
                </a:lnTo>
                <a:lnTo>
                  <a:pt x="359244" y="198204"/>
                </a:lnTo>
                <a:lnTo>
                  <a:pt x="349990" y="296922"/>
                </a:lnTo>
                <a:lnTo>
                  <a:pt x="334533" y="394862"/>
                </a:lnTo>
                <a:lnTo>
                  <a:pt x="312936" y="491632"/>
                </a:lnTo>
                <a:lnTo>
                  <a:pt x="285284" y="586850"/>
                </a:lnTo>
                <a:lnTo>
                  <a:pt x="251688" y="680136"/>
                </a:lnTo>
                <a:lnTo>
                  <a:pt x="212280" y="771120"/>
                </a:lnTo>
                <a:lnTo>
                  <a:pt x="167217" y="859439"/>
                </a:lnTo>
                <a:lnTo>
                  <a:pt x="116679" y="944744"/>
                </a:lnTo>
                <a:lnTo>
                  <a:pt x="60866" y="1026695"/>
                </a:lnTo>
                <a:lnTo>
                  <a:pt x="0" y="1104966"/>
                </a:lnTo>
              </a:path>
            </a:pathLst>
          </a:custGeom>
          <a:noFill/>
          <a:ln w="15875">
            <a:solidFill>
              <a:srgbClr val="98A3B3"/>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cla2"/>
          <p:cNvSpPr/>
          <p:nvPr/>
        </p:nvSpPr>
        <p:spPr>
          <a:xfrm>
            <a:off x="2985245" y="5439193"/>
            <a:ext cx="1161830" cy="111215"/>
          </a:xfrm>
          <a:custGeom>
            <a:avLst/>
            <a:gdLst/>
            <a:ahLst/>
            <a:cxnLst/>
            <a:rect l="l" t="t" r="r" b="b"/>
            <a:pathLst>
              <a:path w="1161830" h="111215">
                <a:moveTo>
                  <a:pt x="1161830" y="0"/>
                </a:moveTo>
                <a:lnTo>
                  <a:pt x="1068581" y="33700"/>
                </a:lnTo>
                <a:lnTo>
                  <a:pt x="973394" y="61457"/>
                </a:lnTo>
                <a:lnTo>
                  <a:pt x="876648" y="83161"/>
                </a:lnTo>
                <a:lnTo>
                  <a:pt x="778725" y="98726"/>
                </a:lnTo>
                <a:lnTo>
                  <a:pt x="680017" y="108090"/>
                </a:lnTo>
                <a:lnTo>
                  <a:pt x="580915" y="111215"/>
                </a:lnTo>
                <a:lnTo>
                  <a:pt x="481813" y="108090"/>
                </a:lnTo>
                <a:lnTo>
                  <a:pt x="383105" y="98726"/>
                </a:lnTo>
                <a:lnTo>
                  <a:pt x="285182" y="83161"/>
                </a:lnTo>
                <a:lnTo>
                  <a:pt x="188436" y="61457"/>
                </a:lnTo>
                <a:lnTo>
                  <a:pt x="93249" y="33700"/>
                </a:lnTo>
                <a:lnTo>
                  <a:pt x="0" y="0"/>
                </a:lnTo>
              </a:path>
            </a:pathLst>
          </a:custGeom>
          <a:noFill/>
          <a:ln w="15875">
            <a:solidFill>
              <a:srgbClr val="98A3B3"/>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cla3"/>
          <p:cNvSpPr/>
          <p:nvPr/>
        </p:nvSpPr>
        <p:spPr>
          <a:xfrm>
            <a:off x="1993393" y="3876802"/>
            <a:ext cx="362260" cy="1104966"/>
          </a:xfrm>
          <a:custGeom>
            <a:avLst/>
            <a:gdLst/>
            <a:ahLst/>
            <a:cxnLst/>
            <a:rect l="l" t="t" r="r" b="b"/>
            <a:pathLst>
              <a:path w="362260" h="1104966">
                <a:moveTo>
                  <a:pt x="362260" y="1104966"/>
                </a:moveTo>
                <a:lnTo>
                  <a:pt x="301394" y="1026695"/>
                </a:lnTo>
                <a:lnTo>
                  <a:pt x="245581" y="944744"/>
                </a:lnTo>
                <a:lnTo>
                  <a:pt x="195043" y="859439"/>
                </a:lnTo>
                <a:lnTo>
                  <a:pt x="149980" y="771120"/>
                </a:lnTo>
                <a:lnTo>
                  <a:pt x="110572" y="680136"/>
                </a:lnTo>
                <a:lnTo>
                  <a:pt x="76976" y="586850"/>
                </a:lnTo>
                <a:lnTo>
                  <a:pt x="49324" y="491632"/>
                </a:lnTo>
                <a:lnTo>
                  <a:pt x="27727" y="394862"/>
                </a:lnTo>
                <a:lnTo>
                  <a:pt x="12270" y="296922"/>
                </a:lnTo>
                <a:lnTo>
                  <a:pt x="3016" y="198204"/>
                </a:lnTo>
                <a:lnTo>
                  <a:pt x="0" y="99098"/>
                </a:lnTo>
                <a:lnTo>
                  <a:pt x="3235" y="0"/>
                </a:lnTo>
              </a:path>
            </a:pathLst>
          </a:custGeom>
          <a:noFill/>
          <a:ln w="15875">
            <a:solidFill>
              <a:srgbClr val="98A3B3"/>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cla4"/>
          <p:cNvSpPr/>
          <p:nvPr/>
        </p:nvSpPr>
        <p:spPr>
          <a:xfrm>
            <a:off x="2237111" y="2453766"/>
            <a:ext cx="939940" cy="682906"/>
          </a:xfrm>
          <a:custGeom>
            <a:avLst/>
            <a:gdLst/>
            <a:ahLst/>
            <a:cxnLst/>
            <a:rect l="l" t="t" r="r" b="b"/>
            <a:pathLst>
              <a:path w="939940" h="682906">
                <a:moveTo>
                  <a:pt x="0" y="682906"/>
                </a:moveTo>
                <a:lnTo>
                  <a:pt x="55631" y="600832"/>
                </a:lnTo>
                <a:lnTo>
                  <a:pt x="116324" y="522427"/>
                </a:lnTo>
                <a:lnTo>
                  <a:pt x="181836" y="448001"/>
                </a:lnTo>
                <a:lnTo>
                  <a:pt x="251908" y="377852"/>
                </a:lnTo>
                <a:lnTo>
                  <a:pt x="326261" y="312257"/>
                </a:lnTo>
                <a:lnTo>
                  <a:pt x="404599" y="251478"/>
                </a:lnTo>
                <a:lnTo>
                  <a:pt x="486612" y="195756"/>
                </a:lnTo>
                <a:lnTo>
                  <a:pt x="571972" y="145312"/>
                </a:lnTo>
                <a:lnTo>
                  <a:pt x="660342" y="100347"/>
                </a:lnTo>
                <a:lnTo>
                  <a:pt x="751369" y="61040"/>
                </a:lnTo>
                <a:lnTo>
                  <a:pt x="844692" y="27546"/>
                </a:lnTo>
                <a:lnTo>
                  <a:pt x="939940" y="0"/>
                </a:lnTo>
              </a:path>
            </a:pathLst>
          </a:custGeom>
          <a:noFill/>
          <a:ln w="15875">
            <a:solidFill>
              <a:srgbClr val="98A3B3"/>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clcore"/>
          <p:cNvSpPr/>
          <p:nvPr/>
        </p:nvSpPr>
        <p:spPr>
          <a:xfrm>
            <a:off x="3108960" y="3520440"/>
            <a:ext cx="914400" cy="914400"/>
          </a:xfrm>
          <a:prstGeom prst="ellipse">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5" name="!!clci" descr="EC4A-FFFFFF.png"/>
          <p:cNvPicPr>
            <a:picLocks noChangeAspect="1"/>
          </p:cNvPicPr>
          <p:nvPr/>
        </p:nvPicPr>
        <p:blipFill>
          <a:blip r:embed="rId8"/>
          <a:stretch>
            <a:fillRect/>
          </a:stretch>
        </p:blipFill>
        <p:spPr>
          <a:xfrm>
            <a:off x="3392424" y="3712464"/>
            <a:ext cx="347472" cy="347472"/>
          </a:xfrm>
          <a:prstGeom prst="rect">
            <a:avLst/>
          </a:prstGeom>
        </p:spPr>
      </p:pic>
      <p:sp>
        <p:nvSpPr>
          <p:cNvPr id="46" name="!!clcl"/>
          <p:cNvSpPr txBox="1"/>
          <p:nvPr/>
        </p:nvSpPr>
        <p:spPr>
          <a:xfrm>
            <a:off x="2834640" y="4087368"/>
            <a:ext cx="1463040" cy="219456"/>
          </a:xfrm>
          <a:prstGeom prst="rect">
            <a:avLst/>
          </a:prstGeom>
          <a:noFill/>
        </p:spPr>
        <p:txBody>
          <a:bodyPr wrap="none" lIns="0" tIns="0" rIns="0" bIns="0" anchor="t">
            <a:spAutoFit/>
          </a:bodyPr>
          <a:lstStyle/>
          <a:p>
            <a:pPr algn="ctr">
              <a:lnSpc>
                <a:spcPct val="105000"/>
              </a:lnSpc>
              <a:spcAft>
                <a:spcPts val="0"/>
              </a:spcAft>
            </a:pPr>
            <a:r>
              <a:rPr sz="800" b="0" i="0" spc="60">
                <a:solidFill>
                  <a:srgbClr val="FFFFFF"/>
                </a:solidFill>
                <a:latin typeface="Segoe UI Semibold"/>
              </a:rPr>
              <a:t>CONTROL</a:t>
            </a:r>
          </a:p>
        </p:txBody>
      </p:sp>
      <p:sp>
        <p:nvSpPr>
          <p:cNvPr id="47" name="TextBox 46"/>
          <p:cNvSpPr txBox="1"/>
          <p:nvPr/>
        </p:nvSpPr>
        <p:spPr>
          <a:xfrm>
            <a:off x="6903720" y="1874520"/>
            <a:ext cx="4739335" cy="237744"/>
          </a:xfrm>
          <a:prstGeom prst="rect">
            <a:avLst/>
          </a:prstGeom>
          <a:noFill/>
        </p:spPr>
        <p:txBody>
          <a:bodyPr wrap="none" lIns="0" tIns="0" rIns="0" bIns="0" anchor="ctr">
            <a:spAutoFit/>
          </a:bodyPr>
          <a:lstStyle/>
          <a:p>
            <a:pPr algn="l">
              <a:lnSpc>
                <a:spcPct val="105000"/>
              </a:lnSpc>
              <a:spcAft>
                <a:spcPts val="0"/>
              </a:spcAft>
            </a:pPr>
            <a:r>
              <a:rPr sz="950" b="0" i="0" spc="80">
                <a:solidFill>
                  <a:srgbClr val="56657A"/>
                </a:solidFill>
                <a:latin typeface="Segoe UI Semibold"/>
              </a:rPr>
              <a:t>PERTANYAAN DI SETIAP PUTARAN</a:t>
            </a:r>
          </a:p>
        </p:txBody>
      </p:sp>
      <p:sp>
        <p:nvSpPr>
          <p:cNvPr id="48" name="TextBox 47"/>
          <p:cNvSpPr txBox="1"/>
          <p:nvPr/>
        </p:nvSpPr>
        <p:spPr>
          <a:xfrm>
            <a:off x="6903720" y="2194560"/>
            <a:ext cx="1234440" cy="475488"/>
          </a:xfrm>
          <a:prstGeom prst="rect">
            <a:avLst/>
          </a:prstGeom>
          <a:noFill/>
        </p:spPr>
        <p:txBody>
          <a:bodyPr wrap="square" lIns="0" tIns="0" rIns="0" bIns="0" anchor="ctr">
            <a:spAutoFit/>
          </a:bodyPr>
          <a:lstStyle/>
          <a:p>
            <a:pPr algn="l">
              <a:lnSpc>
                <a:spcPct val="105000"/>
              </a:lnSpc>
              <a:spcAft>
                <a:spcPts val="0"/>
              </a:spcAft>
            </a:pPr>
            <a:r>
              <a:rPr sz="1400" b="0" i="0">
                <a:solidFill>
                  <a:srgbClr val="1F5BD8"/>
                </a:solidFill>
                <a:latin typeface="Segoe UI Semibold"/>
              </a:rPr>
              <a:t>Plan</a:t>
            </a:r>
          </a:p>
        </p:txBody>
      </p:sp>
      <p:sp>
        <p:nvSpPr>
          <p:cNvPr id="49" name="TextBox 48"/>
          <p:cNvSpPr txBox="1"/>
          <p:nvPr/>
        </p:nvSpPr>
        <p:spPr>
          <a:xfrm>
            <a:off x="8138160" y="2194560"/>
            <a:ext cx="3504895" cy="475488"/>
          </a:xfrm>
          <a:prstGeom prst="rect">
            <a:avLst/>
          </a:prstGeom>
          <a:noFill/>
        </p:spPr>
        <p:txBody>
          <a:bodyPr wrap="square" lIns="0" tIns="0" rIns="0" bIns="0" anchor="ctr">
            <a:spAutoFit/>
          </a:bodyPr>
          <a:lstStyle/>
          <a:p>
            <a:pPr algn="l">
              <a:lnSpc>
                <a:spcPct val="105000"/>
              </a:lnSpc>
              <a:spcAft>
                <a:spcPts val="0"/>
              </a:spcAft>
            </a:pPr>
            <a:r>
              <a:rPr sz="1450" b="0" i="1">
                <a:solidFill>
                  <a:srgbClr val="0B1F33"/>
                </a:solidFill>
                <a:latin typeface="Georgia"/>
              </a:rPr>
              <a:t>Apa yang seharusnya terjadi?</a:t>
            </a:r>
          </a:p>
        </p:txBody>
      </p:sp>
      <p:cxnSp>
        <p:nvCxnSpPr>
          <p:cNvPr id="50" name="Connector 49"/>
          <p:cNvCxnSpPr/>
          <p:nvPr/>
        </p:nvCxnSpPr>
        <p:spPr>
          <a:xfrm>
            <a:off x="6903720" y="2706624"/>
            <a:ext cx="4739335" cy="0"/>
          </a:xfrm>
          <a:prstGeom prst="line">
            <a:avLst/>
          </a:prstGeom>
          <a:ln w="6350">
            <a:solidFill>
              <a:srgbClr val="DDE2E9"/>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6903720" y="2743200"/>
            <a:ext cx="1234440" cy="475488"/>
          </a:xfrm>
          <a:prstGeom prst="rect">
            <a:avLst/>
          </a:prstGeom>
          <a:noFill/>
        </p:spPr>
        <p:txBody>
          <a:bodyPr wrap="square" lIns="0" tIns="0" rIns="0" bIns="0" anchor="ctr">
            <a:spAutoFit/>
          </a:bodyPr>
          <a:lstStyle/>
          <a:p>
            <a:pPr algn="l">
              <a:lnSpc>
                <a:spcPct val="105000"/>
              </a:lnSpc>
              <a:spcAft>
                <a:spcPts val="0"/>
              </a:spcAft>
            </a:pPr>
            <a:r>
              <a:rPr sz="1400" b="0" i="0">
                <a:solidFill>
                  <a:srgbClr val="1F5BD8"/>
                </a:solidFill>
                <a:latin typeface="Segoe UI Semibold"/>
              </a:rPr>
              <a:t>Monitor</a:t>
            </a:r>
          </a:p>
        </p:txBody>
      </p:sp>
      <p:sp>
        <p:nvSpPr>
          <p:cNvPr id="52" name="TextBox 51"/>
          <p:cNvSpPr txBox="1"/>
          <p:nvPr/>
        </p:nvSpPr>
        <p:spPr>
          <a:xfrm>
            <a:off x="8138160" y="2743200"/>
            <a:ext cx="3504895" cy="475488"/>
          </a:xfrm>
          <a:prstGeom prst="rect">
            <a:avLst/>
          </a:prstGeom>
          <a:noFill/>
        </p:spPr>
        <p:txBody>
          <a:bodyPr wrap="square" lIns="0" tIns="0" rIns="0" bIns="0" anchor="ctr">
            <a:spAutoFit/>
          </a:bodyPr>
          <a:lstStyle/>
          <a:p>
            <a:pPr algn="l">
              <a:lnSpc>
                <a:spcPct val="105000"/>
              </a:lnSpc>
              <a:spcAft>
                <a:spcPts val="0"/>
              </a:spcAft>
            </a:pPr>
            <a:r>
              <a:rPr sz="1450" b="0" i="1">
                <a:solidFill>
                  <a:srgbClr val="0B1F33"/>
                </a:solidFill>
                <a:latin typeface="Georgia"/>
              </a:rPr>
              <a:t>Apa yang sedang terjadi?</a:t>
            </a:r>
          </a:p>
        </p:txBody>
      </p:sp>
      <p:cxnSp>
        <p:nvCxnSpPr>
          <p:cNvPr id="53" name="Connector 52"/>
          <p:cNvCxnSpPr/>
          <p:nvPr/>
        </p:nvCxnSpPr>
        <p:spPr>
          <a:xfrm>
            <a:off x="6903720" y="3255264"/>
            <a:ext cx="4739335" cy="0"/>
          </a:xfrm>
          <a:prstGeom prst="line">
            <a:avLst/>
          </a:prstGeom>
          <a:ln w="6350">
            <a:solidFill>
              <a:srgbClr val="DDE2E9"/>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6903720" y="3291840"/>
            <a:ext cx="1234440" cy="475488"/>
          </a:xfrm>
          <a:prstGeom prst="rect">
            <a:avLst/>
          </a:prstGeom>
          <a:noFill/>
        </p:spPr>
        <p:txBody>
          <a:bodyPr wrap="square" lIns="0" tIns="0" rIns="0" bIns="0" anchor="ctr">
            <a:spAutoFit/>
          </a:bodyPr>
          <a:lstStyle/>
          <a:p>
            <a:pPr algn="l">
              <a:lnSpc>
                <a:spcPct val="105000"/>
              </a:lnSpc>
              <a:spcAft>
                <a:spcPts val="0"/>
              </a:spcAft>
            </a:pPr>
            <a:r>
              <a:rPr sz="1400" b="0" i="0">
                <a:solidFill>
                  <a:srgbClr val="1F5BD8"/>
                </a:solidFill>
                <a:latin typeface="Segoe UI Semibold"/>
              </a:rPr>
              <a:t>Analyze</a:t>
            </a:r>
          </a:p>
        </p:txBody>
      </p:sp>
      <p:sp>
        <p:nvSpPr>
          <p:cNvPr id="55" name="TextBox 54"/>
          <p:cNvSpPr txBox="1"/>
          <p:nvPr/>
        </p:nvSpPr>
        <p:spPr>
          <a:xfrm>
            <a:off x="8138160" y="3291840"/>
            <a:ext cx="3504895" cy="475488"/>
          </a:xfrm>
          <a:prstGeom prst="rect">
            <a:avLst/>
          </a:prstGeom>
          <a:noFill/>
        </p:spPr>
        <p:txBody>
          <a:bodyPr wrap="square" lIns="0" tIns="0" rIns="0" bIns="0" anchor="ctr">
            <a:spAutoFit/>
          </a:bodyPr>
          <a:lstStyle/>
          <a:p>
            <a:pPr algn="l">
              <a:lnSpc>
                <a:spcPct val="105000"/>
              </a:lnSpc>
              <a:spcAft>
                <a:spcPts val="0"/>
              </a:spcAft>
            </a:pPr>
            <a:r>
              <a:rPr sz="1450" b="0" i="1">
                <a:solidFill>
                  <a:srgbClr val="0B1F33"/>
                </a:solidFill>
                <a:latin typeface="Georgia"/>
              </a:rPr>
              <a:t>Kenapa berbeda?</a:t>
            </a:r>
          </a:p>
        </p:txBody>
      </p:sp>
      <p:cxnSp>
        <p:nvCxnSpPr>
          <p:cNvPr id="56" name="Connector 55"/>
          <p:cNvCxnSpPr/>
          <p:nvPr/>
        </p:nvCxnSpPr>
        <p:spPr>
          <a:xfrm>
            <a:off x="6903720" y="3803904"/>
            <a:ext cx="4739335" cy="0"/>
          </a:xfrm>
          <a:prstGeom prst="line">
            <a:avLst/>
          </a:prstGeom>
          <a:ln w="6350">
            <a:solidFill>
              <a:srgbClr val="DDE2E9"/>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6903720" y="3840480"/>
            <a:ext cx="1234440" cy="475488"/>
          </a:xfrm>
          <a:prstGeom prst="rect">
            <a:avLst/>
          </a:prstGeom>
          <a:noFill/>
        </p:spPr>
        <p:txBody>
          <a:bodyPr wrap="square" lIns="0" tIns="0" rIns="0" bIns="0" anchor="ctr">
            <a:spAutoFit/>
          </a:bodyPr>
          <a:lstStyle/>
          <a:p>
            <a:pPr algn="l">
              <a:lnSpc>
                <a:spcPct val="105000"/>
              </a:lnSpc>
              <a:spcAft>
                <a:spcPts val="0"/>
              </a:spcAft>
            </a:pPr>
            <a:r>
              <a:rPr sz="1400" b="0" i="0">
                <a:solidFill>
                  <a:srgbClr val="1F5BD8"/>
                </a:solidFill>
                <a:latin typeface="Segoe UI Semibold"/>
              </a:rPr>
              <a:t>Forecast</a:t>
            </a:r>
          </a:p>
        </p:txBody>
      </p:sp>
      <p:sp>
        <p:nvSpPr>
          <p:cNvPr id="58" name="TextBox 57"/>
          <p:cNvSpPr txBox="1"/>
          <p:nvPr/>
        </p:nvSpPr>
        <p:spPr>
          <a:xfrm>
            <a:off x="8138160" y="3840480"/>
            <a:ext cx="3504895" cy="475488"/>
          </a:xfrm>
          <a:prstGeom prst="rect">
            <a:avLst/>
          </a:prstGeom>
          <a:noFill/>
        </p:spPr>
        <p:txBody>
          <a:bodyPr wrap="square" lIns="0" tIns="0" rIns="0" bIns="0" anchor="ctr">
            <a:spAutoFit/>
          </a:bodyPr>
          <a:lstStyle/>
          <a:p>
            <a:pPr algn="l">
              <a:lnSpc>
                <a:spcPct val="105000"/>
              </a:lnSpc>
              <a:spcAft>
                <a:spcPts val="0"/>
              </a:spcAft>
            </a:pPr>
            <a:r>
              <a:rPr sz="1450" b="0" i="1">
                <a:solidFill>
                  <a:srgbClr val="0B1F33"/>
                </a:solidFill>
                <a:latin typeface="Georgia"/>
              </a:rPr>
              <a:t>Apa yang akan terjadi berikutnya?</a:t>
            </a:r>
          </a:p>
        </p:txBody>
      </p:sp>
      <p:cxnSp>
        <p:nvCxnSpPr>
          <p:cNvPr id="59" name="Connector 58"/>
          <p:cNvCxnSpPr/>
          <p:nvPr/>
        </p:nvCxnSpPr>
        <p:spPr>
          <a:xfrm>
            <a:off x="6903720" y="4352544"/>
            <a:ext cx="4739335" cy="0"/>
          </a:xfrm>
          <a:prstGeom prst="line">
            <a:avLst/>
          </a:prstGeom>
          <a:ln w="6350">
            <a:solidFill>
              <a:srgbClr val="DDE2E9"/>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6903720" y="4389120"/>
            <a:ext cx="1234440" cy="475488"/>
          </a:xfrm>
          <a:prstGeom prst="rect">
            <a:avLst/>
          </a:prstGeom>
          <a:noFill/>
        </p:spPr>
        <p:txBody>
          <a:bodyPr wrap="square" lIns="0" tIns="0" rIns="0" bIns="0" anchor="ctr">
            <a:spAutoFit/>
          </a:bodyPr>
          <a:lstStyle/>
          <a:p>
            <a:pPr algn="l">
              <a:lnSpc>
                <a:spcPct val="105000"/>
              </a:lnSpc>
              <a:spcAft>
                <a:spcPts val="0"/>
              </a:spcAft>
            </a:pPr>
            <a:r>
              <a:rPr sz="1400" b="0" i="0">
                <a:solidFill>
                  <a:srgbClr val="1F5BD8"/>
                </a:solidFill>
                <a:latin typeface="Segoe UI Semibold"/>
              </a:rPr>
              <a:t>Act</a:t>
            </a:r>
          </a:p>
        </p:txBody>
      </p:sp>
      <p:sp>
        <p:nvSpPr>
          <p:cNvPr id="61" name="TextBox 60"/>
          <p:cNvSpPr txBox="1"/>
          <p:nvPr/>
        </p:nvSpPr>
        <p:spPr>
          <a:xfrm>
            <a:off x="8138160" y="4389120"/>
            <a:ext cx="3504895" cy="475488"/>
          </a:xfrm>
          <a:prstGeom prst="rect">
            <a:avLst/>
          </a:prstGeom>
          <a:noFill/>
        </p:spPr>
        <p:txBody>
          <a:bodyPr wrap="square" lIns="0" tIns="0" rIns="0" bIns="0" anchor="ctr">
            <a:spAutoFit/>
          </a:bodyPr>
          <a:lstStyle/>
          <a:p>
            <a:pPr algn="l">
              <a:lnSpc>
                <a:spcPct val="105000"/>
              </a:lnSpc>
              <a:spcAft>
                <a:spcPts val="0"/>
              </a:spcAft>
            </a:pPr>
            <a:r>
              <a:rPr sz="1450" b="0" i="1">
                <a:solidFill>
                  <a:srgbClr val="0B1F33"/>
                </a:solidFill>
                <a:latin typeface="Georgia"/>
              </a:rPr>
              <a:t>Apa yang harus kita lakukan sekarang?</a:t>
            </a:r>
          </a:p>
        </p:txBody>
      </p:sp>
      <p:cxnSp>
        <p:nvCxnSpPr>
          <p:cNvPr id="62" name="Connector 61"/>
          <p:cNvCxnSpPr/>
          <p:nvPr/>
        </p:nvCxnSpPr>
        <p:spPr>
          <a:xfrm>
            <a:off x="6903720" y="4901184"/>
            <a:ext cx="4739335" cy="0"/>
          </a:xfrm>
          <a:prstGeom prst="line">
            <a:avLst/>
          </a:prstGeom>
          <a:ln w="6350">
            <a:solidFill>
              <a:srgbClr val="DDE2E9"/>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6903720" y="5074920"/>
            <a:ext cx="4739335" cy="237744"/>
          </a:xfrm>
          <a:prstGeom prst="rect">
            <a:avLst/>
          </a:prstGeom>
          <a:noFill/>
        </p:spPr>
        <p:txBody>
          <a:bodyPr wrap="none" lIns="0" tIns="0" rIns="0" bIns="0" anchor="ctr">
            <a:spAutoFit/>
          </a:bodyPr>
          <a:lstStyle/>
          <a:p>
            <a:pPr algn="l">
              <a:lnSpc>
                <a:spcPct val="105000"/>
              </a:lnSpc>
              <a:spcAft>
                <a:spcPts val="0"/>
              </a:spcAft>
            </a:pPr>
            <a:r>
              <a:rPr sz="950" b="0" i="0" spc="80">
                <a:solidFill>
                  <a:srgbClr val="56657A"/>
                </a:solidFill>
                <a:latin typeface="Segoe UI Semibold"/>
              </a:rPr>
              <a:t>ALAT YANG MEMBANTU</a:t>
            </a:r>
          </a:p>
        </p:txBody>
      </p:sp>
      <p:sp>
        <p:nvSpPr>
          <p:cNvPr id="64" name="Rounded Rectangle 63"/>
          <p:cNvSpPr/>
          <p:nvPr/>
        </p:nvSpPr>
        <p:spPr>
          <a:xfrm>
            <a:off x="6903720" y="5394960"/>
            <a:ext cx="1088878" cy="274320"/>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050024" y="5394960"/>
            <a:ext cx="1088878" cy="274320"/>
          </a:xfrm>
          <a:prstGeom prst="rect">
            <a:avLst/>
          </a:prstGeom>
          <a:noFill/>
        </p:spPr>
        <p:txBody>
          <a:bodyPr wrap="none" lIns="0" tIns="0" rIns="0" bIns="0" anchor="ctr">
            <a:spAutoFit/>
          </a:bodyPr>
          <a:lstStyle/>
          <a:p>
            <a:pPr algn="l">
              <a:lnSpc>
                <a:spcPct val="105000"/>
              </a:lnSpc>
              <a:spcAft>
                <a:spcPts val="0"/>
              </a:spcAft>
            </a:pPr>
            <a:r>
              <a:rPr sz="1050" b="0" i="0">
                <a:solidFill>
                  <a:srgbClr val="0B1F33"/>
                </a:solidFill>
                <a:latin typeface="Segoe UI Semibold"/>
              </a:rPr>
              <a:t>Primavera P6</a:t>
            </a:r>
          </a:p>
        </p:txBody>
      </p:sp>
      <p:sp>
        <p:nvSpPr>
          <p:cNvPr id="66" name="Rounded Rectangle 65"/>
          <p:cNvSpPr/>
          <p:nvPr/>
        </p:nvSpPr>
        <p:spPr>
          <a:xfrm>
            <a:off x="8084038" y="5394960"/>
            <a:ext cx="1278068" cy="274320"/>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8230342" y="5394960"/>
            <a:ext cx="1278068" cy="274320"/>
          </a:xfrm>
          <a:prstGeom prst="rect">
            <a:avLst/>
          </a:prstGeom>
          <a:noFill/>
        </p:spPr>
        <p:txBody>
          <a:bodyPr wrap="none" lIns="0" tIns="0" rIns="0" bIns="0" anchor="ctr">
            <a:spAutoFit/>
          </a:bodyPr>
          <a:lstStyle/>
          <a:p>
            <a:pPr algn="l">
              <a:lnSpc>
                <a:spcPct val="105000"/>
              </a:lnSpc>
              <a:spcAft>
                <a:spcPts val="0"/>
              </a:spcAft>
            </a:pPr>
            <a:r>
              <a:rPr sz="1050" b="0" i="0">
                <a:solidFill>
                  <a:srgbClr val="0B1F33"/>
                </a:solidFill>
                <a:latin typeface="Segoe UI Semibold"/>
              </a:rPr>
              <a:t>Progress update</a:t>
            </a:r>
          </a:p>
        </p:txBody>
      </p:sp>
      <p:sp>
        <p:nvSpPr>
          <p:cNvPr id="68" name="Rounded Rectangle 67"/>
          <p:cNvSpPr/>
          <p:nvPr/>
        </p:nvSpPr>
        <p:spPr>
          <a:xfrm>
            <a:off x="9453547" y="5394960"/>
            <a:ext cx="955548" cy="274320"/>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9599851" y="5394960"/>
            <a:ext cx="955548" cy="274320"/>
          </a:xfrm>
          <a:prstGeom prst="rect">
            <a:avLst/>
          </a:prstGeom>
          <a:noFill/>
        </p:spPr>
        <p:txBody>
          <a:bodyPr wrap="none" lIns="0" tIns="0" rIns="0" bIns="0" anchor="ctr">
            <a:spAutoFit/>
          </a:bodyPr>
          <a:lstStyle/>
          <a:p>
            <a:pPr algn="l">
              <a:lnSpc>
                <a:spcPct val="105000"/>
              </a:lnSpc>
              <a:spcAft>
                <a:spcPts val="0"/>
              </a:spcAft>
            </a:pPr>
            <a:r>
              <a:rPr sz="1050" b="0" i="0">
                <a:solidFill>
                  <a:srgbClr val="0B1F33"/>
                </a:solidFill>
                <a:latin typeface="Segoe UI Semibold"/>
              </a:rPr>
              <a:t>Lookahead</a:t>
            </a:r>
          </a:p>
        </p:txBody>
      </p:sp>
      <p:sp>
        <p:nvSpPr>
          <p:cNvPr id="70" name="Rounded Rectangle 69"/>
          <p:cNvSpPr/>
          <p:nvPr/>
        </p:nvSpPr>
        <p:spPr>
          <a:xfrm>
            <a:off x="6903720" y="5779008"/>
            <a:ext cx="1415248" cy="274320"/>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7050024" y="5779008"/>
            <a:ext cx="1415248" cy="274320"/>
          </a:xfrm>
          <a:prstGeom prst="rect">
            <a:avLst/>
          </a:prstGeom>
          <a:noFill/>
        </p:spPr>
        <p:txBody>
          <a:bodyPr wrap="none" lIns="0" tIns="0" rIns="0" bIns="0" anchor="ctr">
            <a:spAutoFit/>
          </a:bodyPr>
          <a:lstStyle/>
          <a:p>
            <a:pPr algn="l">
              <a:lnSpc>
                <a:spcPct val="105000"/>
              </a:lnSpc>
              <a:spcAft>
                <a:spcPts val="0"/>
              </a:spcAft>
            </a:pPr>
            <a:r>
              <a:rPr sz="1050" b="0" i="0">
                <a:solidFill>
                  <a:srgbClr val="0B1F33"/>
                </a:solidFill>
                <a:latin typeface="Segoe UI Semibold"/>
              </a:rPr>
              <a:t>Constraint register</a:t>
            </a:r>
          </a:p>
        </p:txBody>
      </p:sp>
      <p:sp>
        <p:nvSpPr>
          <p:cNvPr id="72" name="Rounded Rectangle 71"/>
          <p:cNvSpPr/>
          <p:nvPr/>
        </p:nvSpPr>
        <p:spPr>
          <a:xfrm>
            <a:off x="8410408" y="5779008"/>
            <a:ext cx="989818" cy="274320"/>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8556712" y="5779008"/>
            <a:ext cx="989818" cy="274320"/>
          </a:xfrm>
          <a:prstGeom prst="rect">
            <a:avLst/>
          </a:prstGeom>
          <a:noFill/>
        </p:spPr>
        <p:txBody>
          <a:bodyPr wrap="none" lIns="0" tIns="0" rIns="0" bIns="0" anchor="ctr">
            <a:spAutoFit/>
          </a:bodyPr>
          <a:lstStyle/>
          <a:p>
            <a:pPr algn="l">
              <a:lnSpc>
                <a:spcPct val="105000"/>
              </a:lnSpc>
              <a:spcAft>
                <a:spcPts val="0"/>
              </a:spcAft>
            </a:pPr>
            <a:r>
              <a:rPr sz="1050" b="0" i="0">
                <a:solidFill>
                  <a:srgbClr val="0B1F33"/>
                </a:solidFill>
                <a:latin typeface="Segoe UI Semibold"/>
              </a:rPr>
              <a:t>Forecasting</a:t>
            </a:r>
          </a:p>
        </p:txBody>
      </p:sp>
      <p:sp>
        <p:nvSpPr>
          <p:cNvPr id="74" name="Rounded Rectangle 73"/>
          <p:cNvSpPr/>
          <p:nvPr/>
        </p:nvSpPr>
        <p:spPr>
          <a:xfrm>
            <a:off x="9491666" y="5779008"/>
            <a:ext cx="1312339" cy="274320"/>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9637970" y="5779008"/>
            <a:ext cx="1312339" cy="274320"/>
          </a:xfrm>
          <a:prstGeom prst="rect">
            <a:avLst/>
          </a:prstGeom>
          <a:noFill/>
        </p:spPr>
        <p:txBody>
          <a:bodyPr wrap="none" lIns="0" tIns="0" rIns="0" bIns="0" anchor="ctr">
            <a:spAutoFit/>
          </a:bodyPr>
          <a:lstStyle/>
          <a:p>
            <a:pPr algn="l">
              <a:lnSpc>
                <a:spcPct val="105000"/>
              </a:lnSpc>
              <a:spcAft>
                <a:spcPts val="0"/>
              </a:spcAft>
            </a:pPr>
            <a:r>
              <a:rPr sz="1050" b="0" i="0">
                <a:solidFill>
                  <a:srgbClr val="0B1F33"/>
                </a:solidFill>
                <a:latin typeface="Segoe UI Semibold"/>
              </a:rPr>
              <a:t>Rapat koordinasi</a:t>
            </a:r>
          </a:p>
        </p:txBody>
      </p:sp>
      <p:sp>
        <p:nvSpPr>
          <p:cNvPr id="76" name="TextBox 75"/>
          <p:cNvSpPr txBox="1"/>
          <p:nvPr/>
        </p:nvSpPr>
        <p:spPr>
          <a:xfrm>
            <a:off x="548640" y="6419088"/>
            <a:ext cx="8686800" cy="237744"/>
          </a:xfrm>
          <a:prstGeom prst="rect">
            <a:avLst/>
          </a:prstGeom>
          <a:noFill/>
        </p:spPr>
        <p:txBody>
          <a:bodyPr wrap="none" lIns="0" tIns="0" rIns="0" bIns="0" anchor="t">
            <a:spAutoFit/>
          </a:bodyPr>
          <a:lstStyle/>
          <a:p>
            <a:pPr algn="l">
              <a:lnSpc>
                <a:spcPct val="105000"/>
              </a:lnSpc>
              <a:spcAft>
                <a:spcPts val="0"/>
              </a:spcAft>
            </a:pPr>
            <a:r>
              <a:rPr sz="850" b="0" i="0">
                <a:solidFill>
                  <a:srgbClr val="98A3B3"/>
                </a:solidFill>
                <a:latin typeface="Segoe UI"/>
              </a:rPr>
              <a:t>Sumber: REF-001 (vault demo › 06 Referensi)</a:t>
            </a:r>
          </a:p>
        </p:txBody>
      </p:sp>
      <p:sp>
        <p:nvSpPr>
          <p:cNvPr id="77" name="TextBox 76"/>
          <p:cNvSpPr txBox="1"/>
          <p:nvPr/>
        </p:nvSpPr>
        <p:spPr>
          <a:xfrm>
            <a:off x="7071055" y="6419088"/>
            <a:ext cx="3657600" cy="237744"/>
          </a:xfrm>
          <a:prstGeom prst="rect">
            <a:avLst/>
          </a:prstGeom>
          <a:noFill/>
        </p:spPr>
        <p:txBody>
          <a:bodyPr wrap="none" lIns="0" tIns="0" rIns="0" bIns="0" anchor="ctr">
            <a:spAutoFit/>
          </a:bodyPr>
          <a:lstStyle/>
          <a:p>
            <a:pPr algn="r">
              <a:lnSpc>
                <a:spcPct val="105000"/>
              </a:lnSpc>
              <a:spcAft>
                <a:spcPts val="0"/>
              </a:spcAft>
            </a:pPr>
            <a:r>
              <a:rPr sz="800" b="0" i="0" spc="80">
                <a:solidFill>
                  <a:srgbClr val="56657A"/>
                </a:solidFill>
                <a:latin typeface="Segoe UI Semibold"/>
              </a:rPr>
              <a:t>MASRON HUTABALIAN</a:t>
            </a:r>
          </a:p>
        </p:txBody>
      </p:sp>
      <p:sp>
        <p:nvSpPr>
          <p:cNvPr id="78" name="TextBox 77"/>
          <p:cNvSpPr txBox="1"/>
          <p:nvPr/>
        </p:nvSpPr>
        <p:spPr>
          <a:xfrm>
            <a:off x="10911535" y="6419088"/>
            <a:ext cx="731520" cy="237744"/>
          </a:xfrm>
          <a:prstGeom prst="rect">
            <a:avLst/>
          </a:prstGeom>
          <a:noFill/>
        </p:spPr>
        <p:txBody>
          <a:bodyPr wrap="square" lIns="0" tIns="0" rIns="0" bIns="0" anchor="t">
            <a:spAutoFit/>
          </a:bodyPr>
          <a:lstStyle/>
          <a:p>
            <a:pPr algn="r">
              <a:lnSpc>
                <a:spcPct val="105000"/>
              </a:lnSpc>
              <a:spcAft>
                <a:spcPts val="0"/>
              </a:spcAft>
            </a:pPr>
            <a:r>
              <a:rPr sz="900" b="0" i="0">
                <a:solidFill>
                  <a:srgbClr val="98A3B3"/>
                </a:solidFill>
                <a:latin typeface="Segoe UI"/>
              </a:rPr>
              <a:t>10</a:t>
            </a: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82880"/>
            <a:ext cx="95234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DATA CENTER</a:t>
            </a:r>
          </a:p>
        </p:txBody>
      </p:sp>
      <p:sp>
        <p:nvSpPr>
          <p:cNvPr id="3" name="TextBox 2"/>
          <p:cNvSpPr txBox="1"/>
          <p:nvPr/>
        </p:nvSpPr>
        <p:spPr>
          <a:xfrm>
            <a:off x="1409543"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4" name="TextBox 3"/>
          <p:cNvSpPr txBox="1"/>
          <p:nvPr/>
        </p:nvSpPr>
        <p:spPr>
          <a:xfrm>
            <a:off x="1702151" y="182880"/>
            <a:ext cx="78485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INTERFACE</a:t>
            </a:r>
          </a:p>
        </p:txBody>
      </p:sp>
      <p:sp>
        <p:nvSpPr>
          <p:cNvPr id="5" name="TextBox 4"/>
          <p:cNvSpPr txBox="1"/>
          <p:nvPr/>
        </p:nvSpPr>
        <p:spPr>
          <a:xfrm>
            <a:off x="239556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6" name="TextBox 5"/>
          <p:cNvSpPr txBox="1"/>
          <p:nvPr/>
        </p:nvSpPr>
        <p:spPr>
          <a:xfrm>
            <a:off x="2688175" y="182880"/>
            <a:ext cx="724872"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CONTROL</a:t>
            </a:r>
          </a:p>
        </p:txBody>
      </p:sp>
      <p:sp>
        <p:nvSpPr>
          <p:cNvPr id="7" name="TextBox 6"/>
          <p:cNvSpPr txBox="1"/>
          <p:nvPr/>
        </p:nvSpPr>
        <p:spPr>
          <a:xfrm>
            <a:off x="3321608"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8" name="TextBox 7"/>
          <p:cNvSpPr txBox="1"/>
          <p:nvPr/>
        </p:nvSpPr>
        <p:spPr>
          <a:xfrm>
            <a:off x="3614216" y="182880"/>
            <a:ext cx="115377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1F5BD8"/>
                </a:solidFill>
                <a:latin typeface="Segoe UI Semibold"/>
              </a:rPr>
              <a:t>COMMISSIONING</a:t>
            </a:r>
          </a:p>
        </p:txBody>
      </p:sp>
      <p:sp>
        <p:nvSpPr>
          <p:cNvPr id="9" name="Rectangle 8"/>
          <p:cNvSpPr/>
          <p:nvPr/>
        </p:nvSpPr>
        <p:spPr>
          <a:xfrm>
            <a:off x="3614216" y="420624"/>
            <a:ext cx="970893" cy="32004"/>
          </a:xfrm>
          <a:prstGeom prst="rect">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76549"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1" name="TextBox 10"/>
          <p:cNvSpPr txBox="1"/>
          <p:nvPr/>
        </p:nvSpPr>
        <p:spPr>
          <a:xfrm>
            <a:off x="4969157" y="182880"/>
            <a:ext cx="945555"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MONITORING</a:t>
            </a:r>
          </a:p>
        </p:txBody>
      </p:sp>
      <p:sp>
        <p:nvSpPr>
          <p:cNvPr id="12" name="TextBox 11"/>
          <p:cNvSpPr txBox="1"/>
          <p:nvPr/>
        </p:nvSpPr>
        <p:spPr>
          <a:xfrm>
            <a:off x="582327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3" name="TextBox 12"/>
          <p:cNvSpPr txBox="1"/>
          <p:nvPr/>
        </p:nvSpPr>
        <p:spPr>
          <a:xfrm>
            <a:off x="6115879" y="182880"/>
            <a:ext cx="63679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REALITA</a:t>
            </a:r>
          </a:p>
        </p:txBody>
      </p:sp>
      <p:sp>
        <p:nvSpPr>
          <p:cNvPr id="14" name="TextBox 13"/>
          <p:cNvSpPr txBox="1"/>
          <p:nvPr/>
        </p:nvSpPr>
        <p:spPr>
          <a:xfrm>
            <a:off x="6661235"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5" name="TextBox 14"/>
          <p:cNvSpPr txBox="1"/>
          <p:nvPr/>
        </p:nvSpPr>
        <p:spPr>
          <a:xfrm>
            <a:off x="6953843" y="182880"/>
            <a:ext cx="821309"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INFORMASI</a:t>
            </a:r>
          </a:p>
        </p:txBody>
      </p:sp>
      <p:sp>
        <p:nvSpPr>
          <p:cNvPr id="16" name="TextBox 15"/>
          <p:cNvSpPr txBox="1"/>
          <p:nvPr/>
        </p:nvSpPr>
        <p:spPr>
          <a:xfrm>
            <a:off x="7683712"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7" name="TextBox 16"/>
          <p:cNvSpPr txBox="1"/>
          <p:nvPr/>
        </p:nvSpPr>
        <p:spPr>
          <a:xfrm>
            <a:off x="7976320" y="182880"/>
            <a:ext cx="899541"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KNOWLEDGE</a:t>
            </a:r>
          </a:p>
        </p:txBody>
      </p:sp>
      <p:sp>
        <p:nvSpPr>
          <p:cNvPr id="18" name="TextBox 17"/>
          <p:cNvSpPr txBox="1"/>
          <p:nvPr/>
        </p:nvSpPr>
        <p:spPr>
          <a:xfrm>
            <a:off x="878442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9" name="TextBox 18"/>
          <p:cNvSpPr txBox="1"/>
          <p:nvPr/>
        </p:nvSpPr>
        <p:spPr>
          <a:xfrm>
            <a:off x="9077029" y="182880"/>
            <a:ext cx="733298"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OBSIDIAN</a:t>
            </a:r>
          </a:p>
        </p:txBody>
      </p:sp>
      <p:sp>
        <p:nvSpPr>
          <p:cNvPr id="20" name="TextBox 19"/>
          <p:cNvSpPr txBox="1"/>
          <p:nvPr/>
        </p:nvSpPr>
        <p:spPr>
          <a:xfrm>
            <a:off x="971888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21" name="TextBox 20"/>
          <p:cNvSpPr txBox="1"/>
          <p:nvPr/>
        </p:nvSpPr>
        <p:spPr>
          <a:xfrm>
            <a:off x="10011495" y="182880"/>
            <a:ext cx="297434"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AI</a:t>
            </a:r>
          </a:p>
        </p:txBody>
      </p:sp>
      <p:sp>
        <p:nvSpPr>
          <p:cNvPr id="22" name="!!title"/>
          <p:cNvSpPr txBox="1"/>
          <p:nvPr/>
        </p:nvSpPr>
        <p:spPr>
          <a:xfrm>
            <a:off x="548640" y="566928"/>
            <a:ext cx="11094415" cy="841248"/>
          </a:xfrm>
          <a:prstGeom prst="rect">
            <a:avLst/>
          </a:prstGeom>
          <a:noFill/>
        </p:spPr>
        <p:txBody>
          <a:bodyPr wrap="square" lIns="0" tIns="0" rIns="0" bIns="0" anchor="b">
            <a:spAutoFit/>
          </a:bodyPr>
          <a:lstStyle/>
          <a:p>
            <a:pPr algn="l">
              <a:lnSpc>
                <a:spcPct val="95000"/>
              </a:lnSpc>
              <a:spcAft>
                <a:spcPts val="0"/>
              </a:spcAft>
            </a:pPr>
            <a:r>
              <a:rPr sz="2800" b="0" i="0">
                <a:solidFill>
                  <a:srgbClr val="0B1F33"/>
                </a:solidFill>
                <a:latin typeface="Georgia"/>
              </a:rPr>
              <a:t>Proyek data center bergerak dari engineering sampai handover</a:t>
            </a:r>
          </a:p>
        </p:txBody>
      </p:sp>
      <p:cxnSp>
        <p:nvCxnSpPr>
          <p:cNvPr id="23" name="Connector 22"/>
          <p:cNvCxnSpPr/>
          <p:nvPr/>
        </p:nvCxnSpPr>
        <p:spPr>
          <a:xfrm>
            <a:off x="548640" y="1517904"/>
            <a:ext cx="11094415" cy="0"/>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24" name="!!ph0"/>
          <p:cNvSpPr/>
          <p:nvPr/>
        </p:nvSpPr>
        <p:spPr>
          <a:xfrm>
            <a:off x="548640" y="1828800"/>
            <a:ext cx="1925269" cy="566928"/>
          </a:xfrm>
          <a:prstGeom prst="homePlate">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04672" y="1828800"/>
            <a:ext cx="1513789" cy="566928"/>
          </a:xfrm>
          <a:prstGeom prst="rect">
            <a:avLst/>
          </a:prstGeom>
          <a:noFill/>
        </p:spPr>
        <p:txBody>
          <a:bodyPr wrap="square" lIns="0" tIns="0" rIns="0" bIns="0" anchor="ctr">
            <a:spAutoFit/>
          </a:bodyPr>
          <a:lstStyle/>
          <a:p>
            <a:pPr algn="ctr">
              <a:lnSpc>
                <a:spcPct val="105000"/>
              </a:lnSpc>
              <a:spcAft>
                <a:spcPts val="0"/>
              </a:spcAft>
            </a:pPr>
            <a:r>
              <a:rPr sz="1100" b="0" i="0">
                <a:solidFill>
                  <a:srgbClr val="0B1F33"/>
                </a:solidFill>
                <a:latin typeface="Segoe UI Semibold"/>
              </a:rPr>
              <a:t>Engineering</a:t>
            </a:r>
          </a:p>
        </p:txBody>
      </p:sp>
      <p:sp>
        <p:nvSpPr>
          <p:cNvPr id="26" name="TextBox 25"/>
          <p:cNvSpPr txBox="1"/>
          <p:nvPr/>
        </p:nvSpPr>
        <p:spPr>
          <a:xfrm>
            <a:off x="658368" y="2487168"/>
            <a:ext cx="1705813" cy="502920"/>
          </a:xfrm>
          <a:prstGeom prst="rect">
            <a:avLst/>
          </a:prstGeom>
          <a:noFill/>
        </p:spPr>
        <p:txBody>
          <a:bodyPr wrap="square" lIns="0" tIns="0" rIns="0" bIns="0" anchor="t">
            <a:spAutoFit/>
          </a:bodyPr>
          <a:lstStyle/>
          <a:p>
            <a:pPr algn="ctr">
              <a:lnSpc>
                <a:spcPct val="95000"/>
              </a:lnSpc>
              <a:spcAft>
                <a:spcPts val="0"/>
              </a:spcAft>
            </a:pPr>
            <a:r>
              <a:rPr sz="950" b="0" i="0">
                <a:solidFill>
                  <a:srgbClr val="56657A"/>
                </a:solidFill>
                <a:latin typeface="Segoe UI"/>
              </a:rPr>
              <a:t>Desain dan equipment disetujui</a:t>
            </a:r>
          </a:p>
        </p:txBody>
      </p:sp>
      <p:sp>
        <p:nvSpPr>
          <p:cNvPr id="27" name="!!ph1"/>
          <p:cNvSpPr/>
          <p:nvPr/>
        </p:nvSpPr>
        <p:spPr>
          <a:xfrm>
            <a:off x="2382469" y="1828800"/>
            <a:ext cx="1925269" cy="566928"/>
          </a:xfrm>
          <a:prstGeom prst="chevron">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638501" y="1828800"/>
            <a:ext cx="1513789" cy="566928"/>
          </a:xfrm>
          <a:prstGeom prst="rect">
            <a:avLst/>
          </a:prstGeom>
          <a:noFill/>
        </p:spPr>
        <p:txBody>
          <a:bodyPr wrap="square" lIns="0" tIns="0" rIns="0" bIns="0" anchor="ctr">
            <a:spAutoFit/>
          </a:bodyPr>
          <a:lstStyle/>
          <a:p>
            <a:pPr algn="ctr">
              <a:lnSpc>
                <a:spcPct val="105000"/>
              </a:lnSpc>
              <a:spcAft>
                <a:spcPts val="0"/>
              </a:spcAft>
            </a:pPr>
            <a:r>
              <a:rPr sz="1100" b="0" i="0">
                <a:solidFill>
                  <a:srgbClr val="0B1F33"/>
                </a:solidFill>
                <a:latin typeface="Segoe UI Semibold"/>
              </a:rPr>
              <a:t>Procurement</a:t>
            </a:r>
          </a:p>
        </p:txBody>
      </p:sp>
      <p:sp>
        <p:nvSpPr>
          <p:cNvPr id="29" name="TextBox 28"/>
          <p:cNvSpPr txBox="1"/>
          <p:nvPr/>
        </p:nvSpPr>
        <p:spPr>
          <a:xfrm>
            <a:off x="2492197" y="2487168"/>
            <a:ext cx="1705813" cy="502920"/>
          </a:xfrm>
          <a:prstGeom prst="rect">
            <a:avLst/>
          </a:prstGeom>
          <a:noFill/>
        </p:spPr>
        <p:txBody>
          <a:bodyPr wrap="square" lIns="0" tIns="0" rIns="0" bIns="0" anchor="t">
            <a:spAutoFit/>
          </a:bodyPr>
          <a:lstStyle/>
          <a:p>
            <a:pPr algn="ctr">
              <a:lnSpc>
                <a:spcPct val="95000"/>
              </a:lnSpc>
              <a:spcAft>
                <a:spcPts val="0"/>
              </a:spcAft>
            </a:pPr>
            <a:r>
              <a:rPr sz="950" b="0" i="0">
                <a:solidFill>
                  <a:srgbClr val="56657A"/>
                </a:solidFill>
                <a:latin typeface="Segoe UI"/>
              </a:rPr>
              <a:t>Equipment dites dan tiba di site</a:t>
            </a:r>
          </a:p>
        </p:txBody>
      </p:sp>
      <p:sp>
        <p:nvSpPr>
          <p:cNvPr id="30" name="!!ph2"/>
          <p:cNvSpPr/>
          <p:nvPr/>
        </p:nvSpPr>
        <p:spPr>
          <a:xfrm>
            <a:off x="4216298" y="1828800"/>
            <a:ext cx="1925269" cy="566928"/>
          </a:xfrm>
          <a:prstGeom prst="chevron">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72330" y="1828800"/>
            <a:ext cx="1513789" cy="566928"/>
          </a:xfrm>
          <a:prstGeom prst="rect">
            <a:avLst/>
          </a:prstGeom>
          <a:noFill/>
        </p:spPr>
        <p:txBody>
          <a:bodyPr wrap="square" lIns="0" tIns="0" rIns="0" bIns="0" anchor="ctr">
            <a:spAutoFit/>
          </a:bodyPr>
          <a:lstStyle/>
          <a:p>
            <a:pPr algn="ctr">
              <a:lnSpc>
                <a:spcPct val="105000"/>
              </a:lnSpc>
              <a:spcAft>
                <a:spcPts val="0"/>
              </a:spcAft>
            </a:pPr>
            <a:r>
              <a:rPr sz="1100" b="0" i="0">
                <a:solidFill>
                  <a:srgbClr val="0B1F33"/>
                </a:solidFill>
                <a:latin typeface="Segoe UI Semibold"/>
              </a:rPr>
              <a:t>Konstruksi</a:t>
            </a:r>
          </a:p>
        </p:txBody>
      </p:sp>
      <p:sp>
        <p:nvSpPr>
          <p:cNvPr id="32" name="TextBox 31"/>
          <p:cNvSpPr txBox="1"/>
          <p:nvPr/>
        </p:nvSpPr>
        <p:spPr>
          <a:xfrm>
            <a:off x="4326026" y="2487168"/>
            <a:ext cx="1705813" cy="502920"/>
          </a:xfrm>
          <a:prstGeom prst="rect">
            <a:avLst/>
          </a:prstGeom>
          <a:noFill/>
        </p:spPr>
        <p:txBody>
          <a:bodyPr wrap="square" lIns="0" tIns="0" rIns="0" bIns="0" anchor="t">
            <a:spAutoFit/>
          </a:bodyPr>
          <a:lstStyle/>
          <a:p>
            <a:pPr algn="ctr">
              <a:lnSpc>
                <a:spcPct val="95000"/>
              </a:lnSpc>
              <a:spcAft>
                <a:spcPts val="0"/>
              </a:spcAft>
            </a:pPr>
            <a:r>
              <a:rPr sz="950" b="0" i="0">
                <a:solidFill>
                  <a:srgbClr val="56657A"/>
                </a:solidFill>
                <a:latin typeface="Segoe UI"/>
              </a:rPr>
              <a:t>System terpasang</a:t>
            </a:r>
          </a:p>
        </p:txBody>
      </p:sp>
      <p:sp>
        <p:nvSpPr>
          <p:cNvPr id="33" name="!!ph3"/>
          <p:cNvSpPr/>
          <p:nvPr/>
        </p:nvSpPr>
        <p:spPr>
          <a:xfrm>
            <a:off x="6050128" y="1828800"/>
            <a:ext cx="1925269" cy="566928"/>
          </a:xfrm>
          <a:prstGeom prst="chevron">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306160" y="1828800"/>
            <a:ext cx="1513789" cy="566928"/>
          </a:xfrm>
          <a:prstGeom prst="rect">
            <a:avLst/>
          </a:prstGeom>
          <a:noFill/>
        </p:spPr>
        <p:txBody>
          <a:bodyPr wrap="square" lIns="0" tIns="0" rIns="0" bIns="0" anchor="ctr">
            <a:spAutoFit/>
          </a:bodyPr>
          <a:lstStyle/>
          <a:p>
            <a:pPr algn="ctr">
              <a:lnSpc>
                <a:spcPct val="105000"/>
              </a:lnSpc>
              <a:spcAft>
                <a:spcPts val="0"/>
              </a:spcAft>
            </a:pPr>
            <a:r>
              <a:rPr sz="1100" b="0" i="0">
                <a:solidFill>
                  <a:srgbClr val="0B1F33"/>
                </a:solidFill>
                <a:latin typeface="Segoe UI Semibold"/>
              </a:rPr>
              <a:t>Inspeksi &amp; testing</a:t>
            </a:r>
          </a:p>
        </p:txBody>
      </p:sp>
      <p:sp>
        <p:nvSpPr>
          <p:cNvPr id="35" name="TextBox 34"/>
          <p:cNvSpPr txBox="1"/>
          <p:nvPr/>
        </p:nvSpPr>
        <p:spPr>
          <a:xfrm>
            <a:off x="6159856" y="2487168"/>
            <a:ext cx="1705813" cy="502920"/>
          </a:xfrm>
          <a:prstGeom prst="rect">
            <a:avLst/>
          </a:prstGeom>
          <a:noFill/>
        </p:spPr>
        <p:txBody>
          <a:bodyPr wrap="square" lIns="0" tIns="0" rIns="0" bIns="0" anchor="t">
            <a:spAutoFit/>
          </a:bodyPr>
          <a:lstStyle/>
          <a:p>
            <a:pPr algn="ctr">
              <a:lnSpc>
                <a:spcPct val="95000"/>
              </a:lnSpc>
              <a:spcAft>
                <a:spcPts val="0"/>
              </a:spcAft>
            </a:pPr>
            <a:r>
              <a:rPr sz="950" b="0" i="0">
                <a:solidFill>
                  <a:srgbClr val="56657A"/>
                </a:solidFill>
                <a:latin typeface="Segoe UI"/>
              </a:rPr>
              <a:t>Aman untuk dinyalakan</a:t>
            </a:r>
          </a:p>
        </p:txBody>
      </p:sp>
      <p:sp>
        <p:nvSpPr>
          <p:cNvPr id="36" name="!!ph4"/>
          <p:cNvSpPr/>
          <p:nvPr/>
        </p:nvSpPr>
        <p:spPr>
          <a:xfrm>
            <a:off x="7883957" y="1828800"/>
            <a:ext cx="1925269" cy="566928"/>
          </a:xfrm>
          <a:prstGeom prst="chevron">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139989" y="1828800"/>
            <a:ext cx="1513789" cy="566928"/>
          </a:xfrm>
          <a:prstGeom prst="rect">
            <a:avLst/>
          </a:prstGeom>
          <a:noFill/>
        </p:spPr>
        <p:txBody>
          <a:bodyPr wrap="square" lIns="0" tIns="0" rIns="0" bIns="0" anchor="ctr">
            <a:spAutoFit/>
          </a:bodyPr>
          <a:lstStyle/>
          <a:p>
            <a:pPr algn="ctr">
              <a:lnSpc>
                <a:spcPct val="105000"/>
              </a:lnSpc>
              <a:spcAft>
                <a:spcPts val="0"/>
              </a:spcAft>
            </a:pPr>
            <a:r>
              <a:rPr sz="1100" b="0" i="0">
                <a:solidFill>
                  <a:srgbClr val="0B1F33"/>
                </a:solidFill>
                <a:latin typeface="Segoe UI Semibold"/>
              </a:rPr>
              <a:t>Commissioning</a:t>
            </a:r>
          </a:p>
        </p:txBody>
      </p:sp>
      <p:sp>
        <p:nvSpPr>
          <p:cNvPr id="38" name="TextBox 37"/>
          <p:cNvSpPr txBox="1"/>
          <p:nvPr/>
        </p:nvSpPr>
        <p:spPr>
          <a:xfrm>
            <a:off x="7993685" y="2487168"/>
            <a:ext cx="1705813" cy="502920"/>
          </a:xfrm>
          <a:prstGeom prst="rect">
            <a:avLst/>
          </a:prstGeom>
          <a:noFill/>
        </p:spPr>
        <p:txBody>
          <a:bodyPr wrap="square" lIns="0" tIns="0" rIns="0" bIns="0" anchor="t">
            <a:spAutoFit/>
          </a:bodyPr>
          <a:lstStyle/>
          <a:p>
            <a:pPr algn="ctr">
              <a:lnSpc>
                <a:spcPct val="95000"/>
              </a:lnSpc>
              <a:spcAft>
                <a:spcPts val="0"/>
              </a:spcAft>
            </a:pPr>
            <a:r>
              <a:rPr sz="950" b="0" i="0">
                <a:solidFill>
                  <a:srgbClr val="56657A"/>
                </a:solidFill>
                <a:latin typeface="Segoe UI"/>
              </a:rPr>
              <a:t>Terbukti berfungsi</a:t>
            </a:r>
          </a:p>
        </p:txBody>
      </p:sp>
      <p:sp>
        <p:nvSpPr>
          <p:cNvPr id="39" name="!!ph5"/>
          <p:cNvSpPr/>
          <p:nvPr/>
        </p:nvSpPr>
        <p:spPr>
          <a:xfrm>
            <a:off x="9717786" y="1828800"/>
            <a:ext cx="1925269" cy="566928"/>
          </a:xfrm>
          <a:prstGeom prst="chevron">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973818" y="1828800"/>
            <a:ext cx="1513789" cy="566928"/>
          </a:xfrm>
          <a:prstGeom prst="rect">
            <a:avLst/>
          </a:prstGeom>
          <a:noFill/>
        </p:spPr>
        <p:txBody>
          <a:bodyPr wrap="square" lIns="0" tIns="0" rIns="0" bIns="0" anchor="ctr">
            <a:spAutoFit/>
          </a:bodyPr>
          <a:lstStyle/>
          <a:p>
            <a:pPr algn="ctr">
              <a:lnSpc>
                <a:spcPct val="105000"/>
              </a:lnSpc>
              <a:spcAft>
                <a:spcPts val="0"/>
              </a:spcAft>
            </a:pPr>
            <a:r>
              <a:rPr sz="1100" b="0" i="0">
                <a:solidFill>
                  <a:srgbClr val="0B1F33"/>
                </a:solidFill>
                <a:latin typeface="Segoe UI Semibold"/>
              </a:rPr>
              <a:t>Handover</a:t>
            </a:r>
          </a:p>
        </p:txBody>
      </p:sp>
      <p:sp>
        <p:nvSpPr>
          <p:cNvPr id="41" name="TextBox 40"/>
          <p:cNvSpPr txBox="1"/>
          <p:nvPr/>
        </p:nvSpPr>
        <p:spPr>
          <a:xfrm>
            <a:off x="9827514" y="2487168"/>
            <a:ext cx="1705813" cy="502920"/>
          </a:xfrm>
          <a:prstGeom prst="rect">
            <a:avLst/>
          </a:prstGeom>
          <a:noFill/>
        </p:spPr>
        <p:txBody>
          <a:bodyPr wrap="square" lIns="0" tIns="0" rIns="0" bIns="0" anchor="t">
            <a:spAutoFit/>
          </a:bodyPr>
          <a:lstStyle/>
          <a:p>
            <a:pPr algn="ctr">
              <a:lnSpc>
                <a:spcPct val="95000"/>
              </a:lnSpc>
              <a:spcAft>
                <a:spcPts val="0"/>
              </a:spcAft>
            </a:pPr>
            <a:r>
              <a:rPr sz="950" b="0" i="0">
                <a:solidFill>
                  <a:srgbClr val="56657A"/>
                </a:solidFill>
                <a:latin typeface="Segoe UI"/>
              </a:rPr>
              <a:t>Siap dijalankan operator</a:t>
            </a:r>
          </a:p>
        </p:txBody>
      </p:sp>
      <p:sp>
        <p:nvSpPr>
          <p:cNvPr id="42" name="Rectangle 41"/>
          <p:cNvSpPr/>
          <p:nvPr/>
        </p:nvSpPr>
        <p:spPr>
          <a:xfrm>
            <a:off x="548640" y="3429000"/>
            <a:ext cx="11094415" cy="68580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548640" y="3429000"/>
            <a:ext cx="54864" cy="685800"/>
          </a:xfrm>
          <a:prstGeom prst="rect">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4" name="Picture 43" descr="EA80-1F5BD8.png"/>
          <p:cNvPicPr>
            <a:picLocks noChangeAspect="1"/>
          </p:cNvPicPr>
          <p:nvPr/>
        </p:nvPicPr>
        <p:blipFill>
          <a:blip r:embed="rId3"/>
          <a:stretch>
            <a:fillRect/>
          </a:stretch>
        </p:blipFill>
        <p:spPr>
          <a:xfrm>
            <a:off x="758952" y="3634740"/>
            <a:ext cx="274320" cy="274320"/>
          </a:xfrm>
          <a:prstGeom prst="rect">
            <a:avLst/>
          </a:prstGeom>
        </p:spPr>
      </p:pic>
      <p:sp>
        <p:nvSpPr>
          <p:cNvPr id="45" name="TextBox 44"/>
          <p:cNvSpPr txBox="1"/>
          <p:nvPr/>
        </p:nvSpPr>
        <p:spPr>
          <a:xfrm>
            <a:off x="1188720" y="3429000"/>
            <a:ext cx="10317175" cy="685800"/>
          </a:xfrm>
          <a:prstGeom prst="rect">
            <a:avLst/>
          </a:prstGeom>
          <a:noFill/>
        </p:spPr>
        <p:txBody>
          <a:bodyPr wrap="square" lIns="0" tIns="0" rIns="0" bIns="0" anchor="ctr">
            <a:spAutoFit/>
          </a:bodyPr>
          <a:lstStyle/>
          <a:p>
            <a:pPr algn="l">
              <a:lnSpc>
                <a:spcPct val="105000"/>
              </a:lnSpc>
              <a:spcAft>
                <a:spcPts val="0"/>
              </a:spcAft>
            </a:pPr>
            <a:r>
              <a:rPr sz="1700" b="0" i="0">
                <a:solidFill>
                  <a:srgbClr val="0B1F33"/>
                </a:solidFill>
                <a:latin typeface="Segoe UI Semibold"/>
              </a:rPr>
              <a:t>Setiap transisi ditentukan oleh bukti, bukan oleh tanggal.</a:t>
            </a:r>
          </a:p>
        </p:txBody>
      </p:sp>
      <p:sp>
        <p:nvSpPr>
          <p:cNvPr id="46" name="TextBox 45"/>
          <p:cNvSpPr txBox="1"/>
          <p:nvPr/>
        </p:nvSpPr>
        <p:spPr>
          <a:xfrm>
            <a:off x="548640" y="6419088"/>
            <a:ext cx="8686800" cy="237744"/>
          </a:xfrm>
          <a:prstGeom prst="rect">
            <a:avLst/>
          </a:prstGeom>
          <a:noFill/>
        </p:spPr>
        <p:txBody>
          <a:bodyPr wrap="none" lIns="0" tIns="0" rIns="0" bIns="0" anchor="t">
            <a:spAutoFit/>
          </a:bodyPr>
          <a:lstStyle/>
          <a:p>
            <a:pPr algn="l">
              <a:lnSpc>
                <a:spcPct val="105000"/>
              </a:lnSpc>
              <a:spcAft>
                <a:spcPts val="0"/>
              </a:spcAft>
            </a:pPr>
            <a:r>
              <a:rPr sz="850" b="0" i="0">
                <a:solidFill>
                  <a:srgbClr val="98A3B3"/>
                </a:solidFill>
                <a:latin typeface="Segoe UI"/>
              </a:rPr>
              <a:t>Sumber: REF-021, REF-025 (vault demo › 06 Referensi)</a:t>
            </a:r>
          </a:p>
        </p:txBody>
      </p:sp>
      <p:sp>
        <p:nvSpPr>
          <p:cNvPr id="47" name="TextBox 46"/>
          <p:cNvSpPr txBox="1"/>
          <p:nvPr/>
        </p:nvSpPr>
        <p:spPr>
          <a:xfrm>
            <a:off x="7071055" y="6419088"/>
            <a:ext cx="3657600" cy="237744"/>
          </a:xfrm>
          <a:prstGeom prst="rect">
            <a:avLst/>
          </a:prstGeom>
          <a:noFill/>
        </p:spPr>
        <p:txBody>
          <a:bodyPr wrap="none" lIns="0" tIns="0" rIns="0" bIns="0" anchor="ctr">
            <a:spAutoFit/>
          </a:bodyPr>
          <a:lstStyle/>
          <a:p>
            <a:pPr algn="r">
              <a:lnSpc>
                <a:spcPct val="105000"/>
              </a:lnSpc>
              <a:spcAft>
                <a:spcPts val="0"/>
              </a:spcAft>
            </a:pPr>
            <a:r>
              <a:rPr sz="800" b="0" i="0" spc="80">
                <a:solidFill>
                  <a:srgbClr val="56657A"/>
                </a:solidFill>
                <a:latin typeface="Segoe UI Semibold"/>
              </a:rPr>
              <a:t>MASRON HUTABALIAN</a:t>
            </a:r>
          </a:p>
        </p:txBody>
      </p:sp>
      <p:sp>
        <p:nvSpPr>
          <p:cNvPr id="48" name="TextBox 47"/>
          <p:cNvSpPr txBox="1"/>
          <p:nvPr/>
        </p:nvSpPr>
        <p:spPr>
          <a:xfrm>
            <a:off x="10911535" y="6419088"/>
            <a:ext cx="731520" cy="237744"/>
          </a:xfrm>
          <a:prstGeom prst="rect">
            <a:avLst/>
          </a:prstGeom>
          <a:noFill/>
        </p:spPr>
        <p:txBody>
          <a:bodyPr wrap="square" lIns="0" tIns="0" rIns="0" bIns="0" anchor="t">
            <a:spAutoFit/>
          </a:bodyPr>
          <a:lstStyle/>
          <a:p>
            <a:pPr algn="r">
              <a:lnSpc>
                <a:spcPct val="105000"/>
              </a:lnSpc>
              <a:spcAft>
                <a:spcPts val="0"/>
              </a:spcAft>
            </a:pPr>
            <a:r>
              <a:rPr sz="900" b="0" i="0">
                <a:solidFill>
                  <a:srgbClr val="98A3B3"/>
                </a:solidFill>
                <a:latin typeface="Segoe UI"/>
              </a:rPr>
              <a:t>11</a:t>
            </a: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82880"/>
            <a:ext cx="95234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DATA CENTER</a:t>
            </a:r>
          </a:p>
        </p:txBody>
      </p:sp>
      <p:sp>
        <p:nvSpPr>
          <p:cNvPr id="3" name="TextBox 2"/>
          <p:cNvSpPr txBox="1"/>
          <p:nvPr/>
        </p:nvSpPr>
        <p:spPr>
          <a:xfrm>
            <a:off x="1409543"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4" name="TextBox 3"/>
          <p:cNvSpPr txBox="1"/>
          <p:nvPr/>
        </p:nvSpPr>
        <p:spPr>
          <a:xfrm>
            <a:off x="1702151" y="182880"/>
            <a:ext cx="78485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INTERFACE</a:t>
            </a:r>
          </a:p>
        </p:txBody>
      </p:sp>
      <p:sp>
        <p:nvSpPr>
          <p:cNvPr id="5" name="TextBox 4"/>
          <p:cNvSpPr txBox="1"/>
          <p:nvPr/>
        </p:nvSpPr>
        <p:spPr>
          <a:xfrm>
            <a:off x="239556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6" name="TextBox 5"/>
          <p:cNvSpPr txBox="1"/>
          <p:nvPr/>
        </p:nvSpPr>
        <p:spPr>
          <a:xfrm>
            <a:off x="2688175" y="182880"/>
            <a:ext cx="724872"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CONTROL</a:t>
            </a:r>
          </a:p>
        </p:txBody>
      </p:sp>
      <p:sp>
        <p:nvSpPr>
          <p:cNvPr id="7" name="TextBox 6"/>
          <p:cNvSpPr txBox="1"/>
          <p:nvPr/>
        </p:nvSpPr>
        <p:spPr>
          <a:xfrm>
            <a:off x="3321608"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8" name="TextBox 7"/>
          <p:cNvSpPr txBox="1"/>
          <p:nvPr/>
        </p:nvSpPr>
        <p:spPr>
          <a:xfrm>
            <a:off x="3614216" y="182880"/>
            <a:ext cx="115377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1F5BD8"/>
                </a:solidFill>
                <a:latin typeface="Segoe UI Semibold"/>
              </a:rPr>
              <a:t>COMMISSIONING</a:t>
            </a:r>
          </a:p>
        </p:txBody>
      </p:sp>
      <p:sp>
        <p:nvSpPr>
          <p:cNvPr id="9" name="Rectangle 8"/>
          <p:cNvSpPr/>
          <p:nvPr/>
        </p:nvSpPr>
        <p:spPr>
          <a:xfrm>
            <a:off x="3614216" y="420624"/>
            <a:ext cx="970893" cy="32004"/>
          </a:xfrm>
          <a:prstGeom prst="rect">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76549"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1" name="TextBox 10"/>
          <p:cNvSpPr txBox="1"/>
          <p:nvPr/>
        </p:nvSpPr>
        <p:spPr>
          <a:xfrm>
            <a:off x="4969157" y="182880"/>
            <a:ext cx="945555"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MONITORING</a:t>
            </a:r>
          </a:p>
        </p:txBody>
      </p:sp>
      <p:sp>
        <p:nvSpPr>
          <p:cNvPr id="12" name="TextBox 11"/>
          <p:cNvSpPr txBox="1"/>
          <p:nvPr/>
        </p:nvSpPr>
        <p:spPr>
          <a:xfrm>
            <a:off x="582327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3" name="TextBox 12"/>
          <p:cNvSpPr txBox="1"/>
          <p:nvPr/>
        </p:nvSpPr>
        <p:spPr>
          <a:xfrm>
            <a:off x="6115879" y="182880"/>
            <a:ext cx="63679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REALITA</a:t>
            </a:r>
          </a:p>
        </p:txBody>
      </p:sp>
      <p:sp>
        <p:nvSpPr>
          <p:cNvPr id="14" name="TextBox 13"/>
          <p:cNvSpPr txBox="1"/>
          <p:nvPr/>
        </p:nvSpPr>
        <p:spPr>
          <a:xfrm>
            <a:off x="6661235"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5" name="TextBox 14"/>
          <p:cNvSpPr txBox="1"/>
          <p:nvPr/>
        </p:nvSpPr>
        <p:spPr>
          <a:xfrm>
            <a:off x="6953843" y="182880"/>
            <a:ext cx="821309"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INFORMASI</a:t>
            </a:r>
          </a:p>
        </p:txBody>
      </p:sp>
      <p:sp>
        <p:nvSpPr>
          <p:cNvPr id="16" name="TextBox 15"/>
          <p:cNvSpPr txBox="1"/>
          <p:nvPr/>
        </p:nvSpPr>
        <p:spPr>
          <a:xfrm>
            <a:off x="7683712"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7" name="TextBox 16"/>
          <p:cNvSpPr txBox="1"/>
          <p:nvPr/>
        </p:nvSpPr>
        <p:spPr>
          <a:xfrm>
            <a:off x="7976320" y="182880"/>
            <a:ext cx="899541"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KNOWLEDGE</a:t>
            </a:r>
          </a:p>
        </p:txBody>
      </p:sp>
      <p:sp>
        <p:nvSpPr>
          <p:cNvPr id="18" name="TextBox 17"/>
          <p:cNvSpPr txBox="1"/>
          <p:nvPr/>
        </p:nvSpPr>
        <p:spPr>
          <a:xfrm>
            <a:off x="878442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9" name="TextBox 18"/>
          <p:cNvSpPr txBox="1"/>
          <p:nvPr/>
        </p:nvSpPr>
        <p:spPr>
          <a:xfrm>
            <a:off x="9077029" y="182880"/>
            <a:ext cx="733298"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OBSIDIAN</a:t>
            </a:r>
          </a:p>
        </p:txBody>
      </p:sp>
      <p:sp>
        <p:nvSpPr>
          <p:cNvPr id="20" name="TextBox 19"/>
          <p:cNvSpPr txBox="1"/>
          <p:nvPr/>
        </p:nvSpPr>
        <p:spPr>
          <a:xfrm>
            <a:off x="971888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21" name="TextBox 20"/>
          <p:cNvSpPr txBox="1"/>
          <p:nvPr/>
        </p:nvSpPr>
        <p:spPr>
          <a:xfrm>
            <a:off x="10011495" y="182880"/>
            <a:ext cx="297434"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AI</a:t>
            </a:r>
          </a:p>
        </p:txBody>
      </p:sp>
      <p:sp>
        <p:nvSpPr>
          <p:cNvPr id="22" name="!!title"/>
          <p:cNvSpPr txBox="1"/>
          <p:nvPr/>
        </p:nvSpPr>
        <p:spPr>
          <a:xfrm>
            <a:off x="548640" y="566928"/>
            <a:ext cx="11094415" cy="841248"/>
          </a:xfrm>
          <a:prstGeom prst="rect">
            <a:avLst/>
          </a:prstGeom>
          <a:noFill/>
        </p:spPr>
        <p:txBody>
          <a:bodyPr wrap="square" lIns="0" tIns="0" rIns="0" bIns="0" anchor="b">
            <a:spAutoFit/>
          </a:bodyPr>
          <a:lstStyle/>
          <a:p>
            <a:pPr algn="l">
              <a:lnSpc>
                <a:spcPct val="95000"/>
              </a:lnSpc>
              <a:spcAft>
                <a:spcPts val="0"/>
              </a:spcAft>
            </a:pPr>
            <a:r>
              <a:rPr sz="2800" b="0" i="0">
                <a:solidFill>
                  <a:srgbClr val="0B1F33"/>
                </a:solidFill>
                <a:latin typeface="Georgia"/>
              </a:rPr>
              <a:t>READY berarti sudah terbukti bekerja, bukan hanya terpasang</a:t>
            </a:r>
          </a:p>
        </p:txBody>
      </p:sp>
      <p:cxnSp>
        <p:nvCxnSpPr>
          <p:cNvPr id="23" name="Connector 22"/>
          <p:cNvCxnSpPr/>
          <p:nvPr/>
        </p:nvCxnSpPr>
        <p:spPr>
          <a:xfrm>
            <a:off x="548640" y="1517904"/>
            <a:ext cx="11094415" cy="0"/>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24" name="!!ph0"/>
          <p:cNvSpPr/>
          <p:nvPr/>
        </p:nvSpPr>
        <p:spPr>
          <a:xfrm>
            <a:off x="548640" y="1828800"/>
            <a:ext cx="1925269" cy="566928"/>
          </a:xfrm>
          <a:prstGeom prst="homePlate">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04672" y="1828800"/>
            <a:ext cx="1513789" cy="566928"/>
          </a:xfrm>
          <a:prstGeom prst="rect">
            <a:avLst/>
          </a:prstGeom>
          <a:noFill/>
        </p:spPr>
        <p:txBody>
          <a:bodyPr wrap="square" lIns="0" tIns="0" rIns="0" bIns="0" anchor="ctr">
            <a:spAutoFit/>
          </a:bodyPr>
          <a:lstStyle/>
          <a:p>
            <a:pPr algn="ctr">
              <a:lnSpc>
                <a:spcPct val="105000"/>
              </a:lnSpc>
              <a:spcAft>
                <a:spcPts val="0"/>
              </a:spcAft>
            </a:pPr>
            <a:r>
              <a:rPr sz="1100" b="0" i="0">
                <a:solidFill>
                  <a:srgbClr val="0B1F33"/>
                </a:solidFill>
                <a:latin typeface="Segoe UI Semibold"/>
              </a:rPr>
              <a:t>Engineering</a:t>
            </a:r>
          </a:p>
        </p:txBody>
      </p:sp>
      <p:sp>
        <p:nvSpPr>
          <p:cNvPr id="26" name="TextBox 25"/>
          <p:cNvSpPr txBox="1"/>
          <p:nvPr/>
        </p:nvSpPr>
        <p:spPr>
          <a:xfrm>
            <a:off x="658368" y="2487168"/>
            <a:ext cx="1705813" cy="502920"/>
          </a:xfrm>
          <a:prstGeom prst="rect">
            <a:avLst/>
          </a:prstGeom>
          <a:noFill/>
        </p:spPr>
        <p:txBody>
          <a:bodyPr wrap="square" lIns="0" tIns="0" rIns="0" bIns="0" anchor="t">
            <a:spAutoFit/>
          </a:bodyPr>
          <a:lstStyle/>
          <a:p>
            <a:pPr algn="ctr">
              <a:lnSpc>
                <a:spcPct val="95000"/>
              </a:lnSpc>
              <a:spcAft>
                <a:spcPts val="0"/>
              </a:spcAft>
            </a:pPr>
            <a:r>
              <a:rPr sz="950" b="0" i="0">
                <a:solidFill>
                  <a:srgbClr val="56657A"/>
                </a:solidFill>
                <a:latin typeface="Segoe UI"/>
              </a:rPr>
              <a:t>Desain dan equipment disetujui</a:t>
            </a:r>
          </a:p>
        </p:txBody>
      </p:sp>
      <p:sp>
        <p:nvSpPr>
          <p:cNvPr id="27" name="!!ph1"/>
          <p:cNvSpPr/>
          <p:nvPr/>
        </p:nvSpPr>
        <p:spPr>
          <a:xfrm>
            <a:off x="2382469" y="1828800"/>
            <a:ext cx="1925269" cy="566928"/>
          </a:xfrm>
          <a:prstGeom prst="chevron">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638501" y="1828800"/>
            <a:ext cx="1513789" cy="566928"/>
          </a:xfrm>
          <a:prstGeom prst="rect">
            <a:avLst/>
          </a:prstGeom>
          <a:noFill/>
        </p:spPr>
        <p:txBody>
          <a:bodyPr wrap="square" lIns="0" tIns="0" rIns="0" bIns="0" anchor="ctr">
            <a:spAutoFit/>
          </a:bodyPr>
          <a:lstStyle/>
          <a:p>
            <a:pPr algn="ctr">
              <a:lnSpc>
                <a:spcPct val="105000"/>
              </a:lnSpc>
              <a:spcAft>
                <a:spcPts val="0"/>
              </a:spcAft>
            </a:pPr>
            <a:r>
              <a:rPr sz="1100" b="0" i="0">
                <a:solidFill>
                  <a:srgbClr val="0B1F33"/>
                </a:solidFill>
                <a:latin typeface="Segoe UI Semibold"/>
              </a:rPr>
              <a:t>Procurement</a:t>
            </a:r>
          </a:p>
        </p:txBody>
      </p:sp>
      <p:sp>
        <p:nvSpPr>
          <p:cNvPr id="29" name="TextBox 28"/>
          <p:cNvSpPr txBox="1"/>
          <p:nvPr/>
        </p:nvSpPr>
        <p:spPr>
          <a:xfrm>
            <a:off x="2492197" y="2487168"/>
            <a:ext cx="1705813" cy="502920"/>
          </a:xfrm>
          <a:prstGeom prst="rect">
            <a:avLst/>
          </a:prstGeom>
          <a:noFill/>
        </p:spPr>
        <p:txBody>
          <a:bodyPr wrap="square" lIns="0" tIns="0" rIns="0" bIns="0" anchor="t">
            <a:spAutoFit/>
          </a:bodyPr>
          <a:lstStyle/>
          <a:p>
            <a:pPr algn="ctr">
              <a:lnSpc>
                <a:spcPct val="95000"/>
              </a:lnSpc>
              <a:spcAft>
                <a:spcPts val="0"/>
              </a:spcAft>
            </a:pPr>
            <a:r>
              <a:rPr sz="950" b="0" i="0">
                <a:solidFill>
                  <a:srgbClr val="56657A"/>
                </a:solidFill>
                <a:latin typeface="Segoe UI"/>
              </a:rPr>
              <a:t>Equipment dites dan tiba di site</a:t>
            </a:r>
          </a:p>
        </p:txBody>
      </p:sp>
      <p:sp>
        <p:nvSpPr>
          <p:cNvPr id="30" name="!!ph2"/>
          <p:cNvSpPr/>
          <p:nvPr/>
        </p:nvSpPr>
        <p:spPr>
          <a:xfrm>
            <a:off x="4216298" y="1828800"/>
            <a:ext cx="1925269" cy="566928"/>
          </a:xfrm>
          <a:prstGeom prst="chevron">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72330" y="1828800"/>
            <a:ext cx="1513789" cy="566928"/>
          </a:xfrm>
          <a:prstGeom prst="rect">
            <a:avLst/>
          </a:prstGeom>
          <a:noFill/>
        </p:spPr>
        <p:txBody>
          <a:bodyPr wrap="square" lIns="0" tIns="0" rIns="0" bIns="0" anchor="ctr">
            <a:spAutoFit/>
          </a:bodyPr>
          <a:lstStyle/>
          <a:p>
            <a:pPr algn="ctr">
              <a:lnSpc>
                <a:spcPct val="105000"/>
              </a:lnSpc>
              <a:spcAft>
                <a:spcPts val="0"/>
              </a:spcAft>
            </a:pPr>
            <a:r>
              <a:rPr sz="1100" b="0" i="0">
                <a:solidFill>
                  <a:srgbClr val="0B1F33"/>
                </a:solidFill>
                <a:latin typeface="Segoe UI Semibold"/>
              </a:rPr>
              <a:t>Konstruksi</a:t>
            </a:r>
          </a:p>
        </p:txBody>
      </p:sp>
      <p:sp>
        <p:nvSpPr>
          <p:cNvPr id="32" name="TextBox 31"/>
          <p:cNvSpPr txBox="1"/>
          <p:nvPr/>
        </p:nvSpPr>
        <p:spPr>
          <a:xfrm>
            <a:off x="4326026" y="2487168"/>
            <a:ext cx="1705813" cy="502920"/>
          </a:xfrm>
          <a:prstGeom prst="rect">
            <a:avLst/>
          </a:prstGeom>
          <a:noFill/>
        </p:spPr>
        <p:txBody>
          <a:bodyPr wrap="square" lIns="0" tIns="0" rIns="0" bIns="0" anchor="t">
            <a:spAutoFit/>
          </a:bodyPr>
          <a:lstStyle/>
          <a:p>
            <a:pPr algn="ctr">
              <a:lnSpc>
                <a:spcPct val="95000"/>
              </a:lnSpc>
              <a:spcAft>
                <a:spcPts val="0"/>
              </a:spcAft>
            </a:pPr>
            <a:r>
              <a:rPr sz="950" b="0" i="0">
                <a:solidFill>
                  <a:srgbClr val="56657A"/>
                </a:solidFill>
                <a:latin typeface="Segoe UI"/>
              </a:rPr>
              <a:t>System terpasang</a:t>
            </a:r>
          </a:p>
        </p:txBody>
      </p:sp>
      <p:sp>
        <p:nvSpPr>
          <p:cNvPr id="33" name="!!ph3"/>
          <p:cNvSpPr/>
          <p:nvPr/>
        </p:nvSpPr>
        <p:spPr>
          <a:xfrm>
            <a:off x="6050128" y="1828800"/>
            <a:ext cx="1925269" cy="566928"/>
          </a:xfrm>
          <a:prstGeom prst="chevron">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306160" y="1828800"/>
            <a:ext cx="1513789" cy="566928"/>
          </a:xfrm>
          <a:prstGeom prst="rect">
            <a:avLst/>
          </a:prstGeom>
          <a:noFill/>
        </p:spPr>
        <p:txBody>
          <a:bodyPr wrap="square" lIns="0" tIns="0" rIns="0" bIns="0" anchor="ctr">
            <a:spAutoFit/>
          </a:bodyPr>
          <a:lstStyle/>
          <a:p>
            <a:pPr algn="ctr">
              <a:lnSpc>
                <a:spcPct val="105000"/>
              </a:lnSpc>
              <a:spcAft>
                <a:spcPts val="0"/>
              </a:spcAft>
            </a:pPr>
            <a:r>
              <a:rPr sz="1100" b="0" i="0">
                <a:solidFill>
                  <a:srgbClr val="0B1F33"/>
                </a:solidFill>
                <a:latin typeface="Segoe UI Semibold"/>
              </a:rPr>
              <a:t>Inspeksi &amp; testing</a:t>
            </a:r>
          </a:p>
        </p:txBody>
      </p:sp>
      <p:sp>
        <p:nvSpPr>
          <p:cNvPr id="35" name="TextBox 34"/>
          <p:cNvSpPr txBox="1"/>
          <p:nvPr/>
        </p:nvSpPr>
        <p:spPr>
          <a:xfrm>
            <a:off x="6159856" y="2487168"/>
            <a:ext cx="1705813" cy="502920"/>
          </a:xfrm>
          <a:prstGeom prst="rect">
            <a:avLst/>
          </a:prstGeom>
          <a:noFill/>
        </p:spPr>
        <p:txBody>
          <a:bodyPr wrap="square" lIns="0" tIns="0" rIns="0" bIns="0" anchor="t">
            <a:spAutoFit/>
          </a:bodyPr>
          <a:lstStyle/>
          <a:p>
            <a:pPr algn="ctr">
              <a:lnSpc>
                <a:spcPct val="95000"/>
              </a:lnSpc>
              <a:spcAft>
                <a:spcPts val="0"/>
              </a:spcAft>
            </a:pPr>
            <a:r>
              <a:rPr sz="950" b="0" i="0">
                <a:solidFill>
                  <a:srgbClr val="56657A"/>
                </a:solidFill>
                <a:latin typeface="Segoe UI"/>
              </a:rPr>
              <a:t>Aman untuk dinyalakan</a:t>
            </a:r>
          </a:p>
        </p:txBody>
      </p:sp>
      <p:sp>
        <p:nvSpPr>
          <p:cNvPr id="36" name="!!ph4"/>
          <p:cNvSpPr/>
          <p:nvPr/>
        </p:nvSpPr>
        <p:spPr>
          <a:xfrm>
            <a:off x="7883957" y="1828800"/>
            <a:ext cx="1925269" cy="566928"/>
          </a:xfrm>
          <a:prstGeom prst="chevron">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139989" y="1828800"/>
            <a:ext cx="1513789" cy="566928"/>
          </a:xfrm>
          <a:prstGeom prst="rect">
            <a:avLst/>
          </a:prstGeom>
          <a:noFill/>
        </p:spPr>
        <p:txBody>
          <a:bodyPr wrap="square" lIns="0" tIns="0" rIns="0" bIns="0" anchor="ctr">
            <a:spAutoFit/>
          </a:bodyPr>
          <a:lstStyle/>
          <a:p>
            <a:pPr algn="ctr">
              <a:lnSpc>
                <a:spcPct val="105000"/>
              </a:lnSpc>
              <a:spcAft>
                <a:spcPts val="0"/>
              </a:spcAft>
            </a:pPr>
            <a:r>
              <a:rPr sz="1100" b="0" i="0">
                <a:solidFill>
                  <a:srgbClr val="FFFFFF"/>
                </a:solidFill>
                <a:latin typeface="Segoe UI Semibold"/>
              </a:rPr>
              <a:t>Commissioning</a:t>
            </a:r>
          </a:p>
        </p:txBody>
      </p:sp>
      <p:sp>
        <p:nvSpPr>
          <p:cNvPr id="38" name="TextBox 37"/>
          <p:cNvSpPr txBox="1"/>
          <p:nvPr/>
        </p:nvSpPr>
        <p:spPr>
          <a:xfrm>
            <a:off x="7993685" y="2487168"/>
            <a:ext cx="1705813" cy="502920"/>
          </a:xfrm>
          <a:prstGeom prst="rect">
            <a:avLst/>
          </a:prstGeom>
          <a:noFill/>
        </p:spPr>
        <p:txBody>
          <a:bodyPr wrap="square" lIns="0" tIns="0" rIns="0" bIns="0" anchor="t">
            <a:spAutoFit/>
          </a:bodyPr>
          <a:lstStyle/>
          <a:p>
            <a:pPr algn="ctr">
              <a:lnSpc>
                <a:spcPct val="95000"/>
              </a:lnSpc>
              <a:spcAft>
                <a:spcPts val="0"/>
              </a:spcAft>
            </a:pPr>
            <a:r>
              <a:rPr sz="950" b="0" i="0">
                <a:solidFill>
                  <a:srgbClr val="56657A"/>
                </a:solidFill>
                <a:latin typeface="Segoe UI"/>
              </a:rPr>
              <a:t>Terbukti berfungsi</a:t>
            </a:r>
          </a:p>
        </p:txBody>
      </p:sp>
      <p:sp>
        <p:nvSpPr>
          <p:cNvPr id="39" name="!!ph5"/>
          <p:cNvSpPr/>
          <p:nvPr/>
        </p:nvSpPr>
        <p:spPr>
          <a:xfrm>
            <a:off x="9717786" y="1828800"/>
            <a:ext cx="1925269" cy="566928"/>
          </a:xfrm>
          <a:prstGeom prst="chevron">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973818" y="1828800"/>
            <a:ext cx="1513789" cy="566928"/>
          </a:xfrm>
          <a:prstGeom prst="rect">
            <a:avLst/>
          </a:prstGeom>
          <a:noFill/>
        </p:spPr>
        <p:txBody>
          <a:bodyPr wrap="square" lIns="0" tIns="0" rIns="0" bIns="0" anchor="ctr">
            <a:spAutoFit/>
          </a:bodyPr>
          <a:lstStyle/>
          <a:p>
            <a:pPr algn="ctr">
              <a:lnSpc>
                <a:spcPct val="105000"/>
              </a:lnSpc>
              <a:spcAft>
                <a:spcPts val="0"/>
              </a:spcAft>
            </a:pPr>
            <a:r>
              <a:rPr sz="1100" b="0" i="0">
                <a:solidFill>
                  <a:srgbClr val="0B1F33"/>
                </a:solidFill>
                <a:latin typeface="Segoe UI Semibold"/>
              </a:rPr>
              <a:t>Handover</a:t>
            </a:r>
          </a:p>
        </p:txBody>
      </p:sp>
      <p:sp>
        <p:nvSpPr>
          <p:cNvPr id="41" name="TextBox 40"/>
          <p:cNvSpPr txBox="1"/>
          <p:nvPr/>
        </p:nvSpPr>
        <p:spPr>
          <a:xfrm>
            <a:off x="9827514" y="2487168"/>
            <a:ext cx="1705813" cy="502920"/>
          </a:xfrm>
          <a:prstGeom prst="rect">
            <a:avLst/>
          </a:prstGeom>
          <a:noFill/>
        </p:spPr>
        <p:txBody>
          <a:bodyPr wrap="square" lIns="0" tIns="0" rIns="0" bIns="0" anchor="t">
            <a:spAutoFit/>
          </a:bodyPr>
          <a:lstStyle/>
          <a:p>
            <a:pPr algn="ctr">
              <a:lnSpc>
                <a:spcPct val="95000"/>
              </a:lnSpc>
              <a:spcAft>
                <a:spcPts val="0"/>
              </a:spcAft>
            </a:pPr>
            <a:r>
              <a:rPr sz="950" b="0" i="0">
                <a:solidFill>
                  <a:srgbClr val="56657A"/>
                </a:solidFill>
                <a:latin typeface="Segoe UI"/>
              </a:rPr>
              <a:t>Siap dijalankan operator</a:t>
            </a:r>
          </a:p>
        </p:txBody>
      </p:sp>
      <p:sp>
        <p:nvSpPr>
          <p:cNvPr id="42" name="!!lv0"/>
          <p:cNvSpPr/>
          <p:nvPr/>
        </p:nvSpPr>
        <p:spPr>
          <a:xfrm>
            <a:off x="548640" y="3246120"/>
            <a:ext cx="2109155" cy="2331720"/>
          </a:xfrm>
          <a:prstGeom prst="roundRect">
            <a:avLst>
              <a:gd name="adj" fmla="val 4335"/>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49808" y="3337560"/>
            <a:ext cx="1097280" cy="566928"/>
          </a:xfrm>
          <a:prstGeom prst="rect">
            <a:avLst/>
          </a:prstGeom>
          <a:noFill/>
        </p:spPr>
        <p:txBody>
          <a:bodyPr wrap="square" lIns="0" tIns="0" rIns="0" bIns="0" anchor="ctr">
            <a:spAutoFit/>
          </a:bodyPr>
          <a:lstStyle/>
          <a:p>
            <a:pPr algn="l">
              <a:lnSpc>
                <a:spcPct val="105000"/>
              </a:lnSpc>
              <a:spcAft>
                <a:spcPts val="0"/>
              </a:spcAft>
            </a:pPr>
            <a:r>
              <a:rPr sz="2800" b="0" i="0">
                <a:solidFill>
                  <a:srgbClr val="1F5BD8"/>
                </a:solidFill>
                <a:latin typeface="Georgia"/>
              </a:rPr>
              <a:t>L1</a:t>
            </a:r>
          </a:p>
        </p:txBody>
      </p:sp>
      <p:sp>
        <p:nvSpPr>
          <p:cNvPr id="44" name="TextBox 43"/>
          <p:cNvSpPr txBox="1"/>
          <p:nvPr/>
        </p:nvSpPr>
        <p:spPr>
          <a:xfrm>
            <a:off x="749808" y="3931920"/>
            <a:ext cx="1743395" cy="566928"/>
          </a:xfrm>
          <a:prstGeom prst="rect">
            <a:avLst/>
          </a:prstGeom>
          <a:noFill/>
        </p:spPr>
        <p:txBody>
          <a:bodyPr wrap="square" lIns="0" tIns="0" rIns="0" bIns="0" anchor="t">
            <a:spAutoFit/>
          </a:bodyPr>
          <a:lstStyle/>
          <a:p>
            <a:pPr algn="l">
              <a:lnSpc>
                <a:spcPct val="95000"/>
              </a:lnSpc>
              <a:spcAft>
                <a:spcPts val="0"/>
              </a:spcAft>
            </a:pPr>
            <a:r>
              <a:rPr sz="1250" b="0" i="0">
                <a:solidFill>
                  <a:srgbClr val="0B1F33"/>
                </a:solidFill>
                <a:latin typeface="Segoe UI Semibold"/>
              </a:rPr>
              <a:t>Factory witness test</a:t>
            </a:r>
          </a:p>
        </p:txBody>
      </p:sp>
      <p:sp>
        <p:nvSpPr>
          <p:cNvPr id="45" name="TextBox 44"/>
          <p:cNvSpPr txBox="1"/>
          <p:nvPr/>
        </p:nvSpPr>
        <p:spPr>
          <a:xfrm>
            <a:off x="749808" y="4507992"/>
            <a:ext cx="1743395" cy="1005840"/>
          </a:xfrm>
          <a:prstGeom prst="rect">
            <a:avLst/>
          </a:prstGeom>
          <a:noFill/>
        </p:spPr>
        <p:txBody>
          <a:bodyPr wrap="square" lIns="0" tIns="0" rIns="0" bIns="0" anchor="t">
            <a:spAutoFit/>
          </a:bodyPr>
          <a:lstStyle/>
          <a:p>
            <a:pPr algn="l">
              <a:lnSpc>
                <a:spcPct val="100000"/>
              </a:lnSpc>
              <a:spcAft>
                <a:spcPts val="0"/>
              </a:spcAft>
            </a:pPr>
            <a:r>
              <a:rPr sz="1050" b="0" i="0">
                <a:solidFill>
                  <a:srgbClr val="56657A"/>
                </a:solidFill>
                <a:latin typeface="Segoe UI"/>
              </a:rPr>
              <a:t>FAT equipment utama di pabrik sebelum dikirim</a:t>
            </a:r>
          </a:p>
        </p:txBody>
      </p:sp>
      <p:sp>
        <p:nvSpPr>
          <p:cNvPr id="46" name="!!lv1"/>
          <p:cNvSpPr/>
          <p:nvPr/>
        </p:nvSpPr>
        <p:spPr>
          <a:xfrm>
            <a:off x="2794955" y="3246120"/>
            <a:ext cx="2109155" cy="2331720"/>
          </a:xfrm>
          <a:prstGeom prst="roundRect">
            <a:avLst>
              <a:gd name="adj" fmla="val 4335"/>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996123" y="3337560"/>
            <a:ext cx="1097280" cy="566928"/>
          </a:xfrm>
          <a:prstGeom prst="rect">
            <a:avLst/>
          </a:prstGeom>
          <a:noFill/>
        </p:spPr>
        <p:txBody>
          <a:bodyPr wrap="square" lIns="0" tIns="0" rIns="0" bIns="0" anchor="ctr">
            <a:spAutoFit/>
          </a:bodyPr>
          <a:lstStyle/>
          <a:p>
            <a:pPr algn="l">
              <a:lnSpc>
                <a:spcPct val="105000"/>
              </a:lnSpc>
              <a:spcAft>
                <a:spcPts val="0"/>
              </a:spcAft>
            </a:pPr>
            <a:r>
              <a:rPr sz="2800" b="0" i="0">
                <a:solidFill>
                  <a:srgbClr val="1F5BD8"/>
                </a:solidFill>
                <a:latin typeface="Georgia"/>
              </a:rPr>
              <a:t>L2</a:t>
            </a:r>
          </a:p>
        </p:txBody>
      </p:sp>
      <p:sp>
        <p:nvSpPr>
          <p:cNvPr id="48" name="TextBox 47"/>
          <p:cNvSpPr txBox="1"/>
          <p:nvPr/>
        </p:nvSpPr>
        <p:spPr>
          <a:xfrm>
            <a:off x="2996123" y="3931920"/>
            <a:ext cx="1743395" cy="566928"/>
          </a:xfrm>
          <a:prstGeom prst="rect">
            <a:avLst/>
          </a:prstGeom>
          <a:noFill/>
        </p:spPr>
        <p:txBody>
          <a:bodyPr wrap="square" lIns="0" tIns="0" rIns="0" bIns="0" anchor="t">
            <a:spAutoFit/>
          </a:bodyPr>
          <a:lstStyle/>
          <a:p>
            <a:pPr algn="l">
              <a:lnSpc>
                <a:spcPct val="95000"/>
              </a:lnSpc>
              <a:spcAft>
                <a:spcPts val="0"/>
              </a:spcAft>
            </a:pPr>
            <a:r>
              <a:rPr sz="1250" b="0" i="0">
                <a:solidFill>
                  <a:srgbClr val="0B1F33"/>
                </a:solidFill>
                <a:latin typeface="Segoe UI Semibold"/>
              </a:rPr>
              <a:t>Verifikasi instalasi</a:t>
            </a:r>
          </a:p>
        </p:txBody>
      </p:sp>
      <p:sp>
        <p:nvSpPr>
          <p:cNvPr id="49" name="TextBox 48"/>
          <p:cNvSpPr txBox="1"/>
          <p:nvPr/>
        </p:nvSpPr>
        <p:spPr>
          <a:xfrm>
            <a:off x="2996123" y="4507992"/>
            <a:ext cx="1743395" cy="1005840"/>
          </a:xfrm>
          <a:prstGeom prst="rect">
            <a:avLst/>
          </a:prstGeom>
          <a:noFill/>
        </p:spPr>
        <p:txBody>
          <a:bodyPr wrap="square" lIns="0" tIns="0" rIns="0" bIns="0" anchor="t">
            <a:spAutoFit/>
          </a:bodyPr>
          <a:lstStyle/>
          <a:p>
            <a:pPr algn="l">
              <a:lnSpc>
                <a:spcPct val="100000"/>
              </a:lnSpc>
              <a:spcAft>
                <a:spcPts val="0"/>
              </a:spcAft>
            </a:pPr>
            <a:r>
              <a:rPr sz="1050" b="0" i="0">
                <a:solidFill>
                  <a:srgbClr val="56657A"/>
                </a:solidFill>
                <a:latin typeface="Segoe UI"/>
              </a:rPr>
              <a:t>Cek instalasi, IR test, pressure test, point-to-point</a:t>
            </a:r>
          </a:p>
        </p:txBody>
      </p:sp>
      <p:sp>
        <p:nvSpPr>
          <p:cNvPr id="50" name="!!lv2"/>
          <p:cNvSpPr/>
          <p:nvPr/>
        </p:nvSpPr>
        <p:spPr>
          <a:xfrm>
            <a:off x="5041270" y="3246120"/>
            <a:ext cx="2109155" cy="2331720"/>
          </a:xfrm>
          <a:prstGeom prst="roundRect">
            <a:avLst>
              <a:gd name="adj" fmla="val 4335"/>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242438" y="3337560"/>
            <a:ext cx="1097280" cy="566928"/>
          </a:xfrm>
          <a:prstGeom prst="rect">
            <a:avLst/>
          </a:prstGeom>
          <a:noFill/>
        </p:spPr>
        <p:txBody>
          <a:bodyPr wrap="square" lIns="0" tIns="0" rIns="0" bIns="0" anchor="ctr">
            <a:spAutoFit/>
          </a:bodyPr>
          <a:lstStyle/>
          <a:p>
            <a:pPr algn="l">
              <a:lnSpc>
                <a:spcPct val="105000"/>
              </a:lnSpc>
              <a:spcAft>
                <a:spcPts val="0"/>
              </a:spcAft>
            </a:pPr>
            <a:r>
              <a:rPr sz="2800" b="0" i="0">
                <a:solidFill>
                  <a:srgbClr val="1F5BD8"/>
                </a:solidFill>
                <a:latin typeface="Georgia"/>
              </a:rPr>
              <a:t>L3</a:t>
            </a:r>
          </a:p>
        </p:txBody>
      </p:sp>
      <p:sp>
        <p:nvSpPr>
          <p:cNvPr id="52" name="TextBox 51"/>
          <p:cNvSpPr txBox="1"/>
          <p:nvPr/>
        </p:nvSpPr>
        <p:spPr>
          <a:xfrm>
            <a:off x="5242438" y="3931920"/>
            <a:ext cx="1743395" cy="566928"/>
          </a:xfrm>
          <a:prstGeom prst="rect">
            <a:avLst/>
          </a:prstGeom>
          <a:noFill/>
        </p:spPr>
        <p:txBody>
          <a:bodyPr wrap="square" lIns="0" tIns="0" rIns="0" bIns="0" anchor="t">
            <a:spAutoFit/>
          </a:bodyPr>
          <a:lstStyle/>
          <a:p>
            <a:pPr algn="l">
              <a:lnSpc>
                <a:spcPct val="95000"/>
              </a:lnSpc>
              <a:spcAft>
                <a:spcPts val="0"/>
              </a:spcAft>
            </a:pPr>
            <a:r>
              <a:rPr sz="1250" b="0" i="0">
                <a:solidFill>
                  <a:srgbClr val="0B1F33"/>
                </a:solidFill>
                <a:latin typeface="Segoe UI Semibold"/>
              </a:rPr>
              <a:t>Start-up</a:t>
            </a:r>
          </a:p>
        </p:txBody>
      </p:sp>
      <p:sp>
        <p:nvSpPr>
          <p:cNvPr id="53" name="TextBox 52"/>
          <p:cNvSpPr txBox="1"/>
          <p:nvPr/>
        </p:nvSpPr>
        <p:spPr>
          <a:xfrm>
            <a:off x="5242438" y="4507992"/>
            <a:ext cx="1743395" cy="1005840"/>
          </a:xfrm>
          <a:prstGeom prst="rect">
            <a:avLst/>
          </a:prstGeom>
          <a:noFill/>
        </p:spPr>
        <p:txBody>
          <a:bodyPr wrap="square" lIns="0" tIns="0" rIns="0" bIns="0" anchor="t">
            <a:spAutoFit/>
          </a:bodyPr>
          <a:lstStyle/>
          <a:p>
            <a:pPr algn="l">
              <a:lnSpc>
                <a:spcPct val="100000"/>
              </a:lnSpc>
              <a:spcAft>
                <a:spcPts val="0"/>
              </a:spcAft>
            </a:pPr>
            <a:r>
              <a:rPr sz="1050" b="0" i="0">
                <a:solidFill>
                  <a:srgbClr val="56657A"/>
                </a:solidFill>
                <a:latin typeface="Segoe UI"/>
              </a:rPr>
              <a:t>Start-up per equipment, energization atau running pertama</a:t>
            </a:r>
          </a:p>
        </p:txBody>
      </p:sp>
      <p:sp>
        <p:nvSpPr>
          <p:cNvPr id="54" name="!!lv3"/>
          <p:cNvSpPr/>
          <p:nvPr/>
        </p:nvSpPr>
        <p:spPr>
          <a:xfrm>
            <a:off x="7287585" y="3246120"/>
            <a:ext cx="2109155" cy="2331720"/>
          </a:xfrm>
          <a:prstGeom prst="roundRect">
            <a:avLst>
              <a:gd name="adj" fmla="val 4335"/>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488753" y="3337560"/>
            <a:ext cx="1097280" cy="566928"/>
          </a:xfrm>
          <a:prstGeom prst="rect">
            <a:avLst/>
          </a:prstGeom>
          <a:noFill/>
        </p:spPr>
        <p:txBody>
          <a:bodyPr wrap="square" lIns="0" tIns="0" rIns="0" bIns="0" anchor="ctr">
            <a:spAutoFit/>
          </a:bodyPr>
          <a:lstStyle/>
          <a:p>
            <a:pPr algn="l">
              <a:lnSpc>
                <a:spcPct val="105000"/>
              </a:lnSpc>
              <a:spcAft>
                <a:spcPts val="0"/>
              </a:spcAft>
            </a:pPr>
            <a:r>
              <a:rPr sz="2800" b="0" i="0">
                <a:solidFill>
                  <a:srgbClr val="1F5BD8"/>
                </a:solidFill>
                <a:latin typeface="Georgia"/>
              </a:rPr>
              <a:t>L4</a:t>
            </a:r>
          </a:p>
        </p:txBody>
      </p:sp>
      <p:sp>
        <p:nvSpPr>
          <p:cNvPr id="56" name="TextBox 55"/>
          <p:cNvSpPr txBox="1"/>
          <p:nvPr/>
        </p:nvSpPr>
        <p:spPr>
          <a:xfrm>
            <a:off x="7488753" y="3931920"/>
            <a:ext cx="1743395" cy="566928"/>
          </a:xfrm>
          <a:prstGeom prst="rect">
            <a:avLst/>
          </a:prstGeom>
          <a:noFill/>
        </p:spPr>
        <p:txBody>
          <a:bodyPr wrap="square" lIns="0" tIns="0" rIns="0" bIns="0" anchor="t">
            <a:spAutoFit/>
          </a:bodyPr>
          <a:lstStyle/>
          <a:p>
            <a:pPr algn="l">
              <a:lnSpc>
                <a:spcPct val="95000"/>
              </a:lnSpc>
              <a:spcAft>
                <a:spcPts val="0"/>
              </a:spcAft>
            </a:pPr>
            <a:r>
              <a:rPr sz="1250" b="0" i="0">
                <a:solidFill>
                  <a:srgbClr val="0B1F33"/>
                </a:solidFill>
                <a:latin typeface="Segoe UI Semibold"/>
              </a:rPr>
              <a:t>System testing</a:t>
            </a:r>
          </a:p>
        </p:txBody>
      </p:sp>
      <p:sp>
        <p:nvSpPr>
          <p:cNvPr id="57" name="TextBox 56"/>
          <p:cNvSpPr txBox="1"/>
          <p:nvPr/>
        </p:nvSpPr>
        <p:spPr>
          <a:xfrm>
            <a:off x="7488753" y="4507992"/>
            <a:ext cx="1743395" cy="1005840"/>
          </a:xfrm>
          <a:prstGeom prst="rect">
            <a:avLst/>
          </a:prstGeom>
          <a:noFill/>
        </p:spPr>
        <p:txBody>
          <a:bodyPr wrap="square" lIns="0" tIns="0" rIns="0" bIns="0" anchor="t">
            <a:spAutoFit/>
          </a:bodyPr>
          <a:lstStyle/>
          <a:p>
            <a:pPr algn="l">
              <a:lnSpc>
                <a:spcPct val="100000"/>
              </a:lnSpc>
              <a:spcAft>
                <a:spcPts val="0"/>
              </a:spcAft>
            </a:pPr>
            <a:r>
              <a:rPr sz="1050" b="0" i="0">
                <a:solidFill>
                  <a:srgbClr val="56657A"/>
                </a:solidFill>
                <a:latin typeface="Segoe UI"/>
              </a:rPr>
              <a:t>Tiap system dites sendiri, misalnya load bank generator dan UPS</a:t>
            </a:r>
          </a:p>
        </p:txBody>
      </p:sp>
      <p:sp>
        <p:nvSpPr>
          <p:cNvPr id="58" name="!!lv4"/>
          <p:cNvSpPr/>
          <p:nvPr/>
        </p:nvSpPr>
        <p:spPr>
          <a:xfrm>
            <a:off x="9533900" y="3246120"/>
            <a:ext cx="2109155" cy="2331720"/>
          </a:xfrm>
          <a:prstGeom prst="roundRect">
            <a:avLst>
              <a:gd name="adj" fmla="val 4335"/>
            </a:avLst>
          </a:prstGeom>
          <a:solidFill>
            <a:srgbClr val="FFFFFF"/>
          </a:solidFill>
          <a:ln w="19050">
            <a:solidFill>
              <a:srgbClr val="1F5BD8"/>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9735068" y="3337560"/>
            <a:ext cx="1097280" cy="566928"/>
          </a:xfrm>
          <a:prstGeom prst="rect">
            <a:avLst/>
          </a:prstGeom>
          <a:noFill/>
        </p:spPr>
        <p:txBody>
          <a:bodyPr wrap="square" lIns="0" tIns="0" rIns="0" bIns="0" anchor="ctr">
            <a:spAutoFit/>
          </a:bodyPr>
          <a:lstStyle/>
          <a:p>
            <a:pPr algn="l">
              <a:lnSpc>
                <a:spcPct val="105000"/>
              </a:lnSpc>
              <a:spcAft>
                <a:spcPts val="0"/>
              </a:spcAft>
            </a:pPr>
            <a:r>
              <a:rPr sz="2800" b="0" i="0">
                <a:solidFill>
                  <a:srgbClr val="1F5BD8"/>
                </a:solidFill>
                <a:latin typeface="Georgia"/>
              </a:rPr>
              <a:t>L5</a:t>
            </a:r>
          </a:p>
        </p:txBody>
      </p:sp>
      <p:sp>
        <p:nvSpPr>
          <p:cNvPr id="60" name="TextBox 59"/>
          <p:cNvSpPr txBox="1"/>
          <p:nvPr/>
        </p:nvSpPr>
        <p:spPr>
          <a:xfrm>
            <a:off x="9735068" y="3931920"/>
            <a:ext cx="1743395" cy="566928"/>
          </a:xfrm>
          <a:prstGeom prst="rect">
            <a:avLst/>
          </a:prstGeom>
          <a:noFill/>
        </p:spPr>
        <p:txBody>
          <a:bodyPr wrap="square" lIns="0" tIns="0" rIns="0" bIns="0" anchor="t">
            <a:spAutoFit/>
          </a:bodyPr>
          <a:lstStyle/>
          <a:p>
            <a:pPr algn="l">
              <a:lnSpc>
                <a:spcPct val="95000"/>
              </a:lnSpc>
              <a:spcAft>
                <a:spcPts val="0"/>
              </a:spcAft>
            </a:pPr>
            <a:r>
              <a:rPr sz="1250" b="0" i="0">
                <a:solidFill>
                  <a:srgbClr val="0B1F33"/>
                </a:solidFill>
                <a:latin typeface="Segoe UI Semibold"/>
              </a:rPr>
              <a:t>Integrated Systems Testing</a:t>
            </a:r>
          </a:p>
        </p:txBody>
      </p:sp>
      <p:sp>
        <p:nvSpPr>
          <p:cNvPr id="61" name="TextBox 60"/>
          <p:cNvSpPr txBox="1"/>
          <p:nvPr/>
        </p:nvSpPr>
        <p:spPr>
          <a:xfrm>
            <a:off x="9735068" y="4507992"/>
            <a:ext cx="1743395" cy="1005840"/>
          </a:xfrm>
          <a:prstGeom prst="rect">
            <a:avLst/>
          </a:prstGeom>
          <a:noFill/>
        </p:spPr>
        <p:txBody>
          <a:bodyPr wrap="square" lIns="0" tIns="0" rIns="0" bIns="0" anchor="t">
            <a:spAutoFit/>
          </a:bodyPr>
          <a:lstStyle/>
          <a:p>
            <a:pPr algn="l">
              <a:lnSpc>
                <a:spcPct val="100000"/>
              </a:lnSpc>
              <a:spcAft>
                <a:spcPts val="0"/>
              </a:spcAft>
            </a:pPr>
            <a:r>
              <a:rPr sz="1050" b="0" i="0">
                <a:solidFill>
                  <a:srgbClr val="56657A"/>
                </a:solidFill>
                <a:latin typeface="Segoe UI"/>
              </a:rPr>
              <a:t>Semua system dites bersama dengan beban dan skenario kegagalan</a:t>
            </a:r>
          </a:p>
        </p:txBody>
      </p:sp>
      <p:sp>
        <p:nvSpPr>
          <p:cNvPr id="62" name="Rounded Rectangle 61"/>
          <p:cNvSpPr/>
          <p:nvPr/>
        </p:nvSpPr>
        <p:spPr>
          <a:xfrm>
            <a:off x="9997115" y="5760720"/>
            <a:ext cx="1627652" cy="347472"/>
          </a:xfrm>
          <a:prstGeom prst="roundRect">
            <a:avLst>
              <a:gd name="adj" fmla="val 50000"/>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3" name="Picture 62" descr="E7C1-FFFFFF.png"/>
          <p:cNvPicPr>
            <a:picLocks noChangeAspect="1"/>
          </p:cNvPicPr>
          <p:nvPr/>
        </p:nvPicPr>
        <p:blipFill>
          <a:blip r:embed="rId3"/>
          <a:stretch>
            <a:fillRect/>
          </a:stretch>
        </p:blipFill>
        <p:spPr>
          <a:xfrm>
            <a:off x="10130161" y="5838901"/>
            <a:ext cx="191110" cy="191110"/>
          </a:xfrm>
          <a:prstGeom prst="rect">
            <a:avLst/>
          </a:prstGeom>
        </p:spPr>
      </p:pic>
      <p:sp>
        <p:nvSpPr>
          <p:cNvPr id="64" name="TextBox 63"/>
          <p:cNvSpPr txBox="1"/>
          <p:nvPr/>
        </p:nvSpPr>
        <p:spPr>
          <a:xfrm>
            <a:off x="10381163" y="5760720"/>
            <a:ext cx="1627652" cy="347472"/>
          </a:xfrm>
          <a:prstGeom prst="rect">
            <a:avLst/>
          </a:prstGeom>
          <a:noFill/>
        </p:spPr>
        <p:txBody>
          <a:bodyPr wrap="none" lIns="0" tIns="0" rIns="0" bIns="0" anchor="ctr">
            <a:spAutoFit/>
          </a:bodyPr>
          <a:lstStyle/>
          <a:p>
            <a:pPr algn="l">
              <a:lnSpc>
                <a:spcPct val="105000"/>
              </a:lnSpc>
              <a:spcAft>
                <a:spcPts val="0"/>
              </a:spcAft>
            </a:pPr>
            <a:r>
              <a:rPr sz="1100" b="0" i="0">
                <a:solidFill>
                  <a:srgbClr val="FFFFFF"/>
                </a:solidFill>
                <a:latin typeface="Segoe UI Semibold"/>
              </a:rPr>
              <a:t>Ready for Service</a:t>
            </a:r>
          </a:p>
        </p:txBody>
      </p:sp>
      <p:sp>
        <p:nvSpPr>
          <p:cNvPr id="65" name="TextBox 64"/>
          <p:cNvSpPr txBox="1"/>
          <p:nvPr/>
        </p:nvSpPr>
        <p:spPr>
          <a:xfrm>
            <a:off x="548640" y="5760720"/>
            <a:ext cx="7772400" cy="347472"/>
          </a:xfrm>
          <a:prstGeom prst="rect">
            <a:avLst/>
          </a:prstGeom>
          <a:noFill/>
        </p:spPr>
        <p:txBody>
          <a:bodyPr wrap="square" lIns="0" tIns="0" rIns="0" bIns="0" anchor="ctr">
            <a:spAutoFit/>
          </a:bodyPr>
          <a:lstStyle/>
          <a:p>
            <a:pPr algn="l">
              <a:lnSpc>
                <a:spcPct val="105000"/>
              </a:lnSpc>
              <a:spcAft>
                <a:spcPts val="0"/>
              </a:spcAft>
            </a:pPr>
            <a:r>
              <a:rPr sz="1050" b="0" i="0">
                <a:solidFill>
                  <a:srgbClr val="56657A"/>
                </a:solidFill>
                <a:latin typeface="Segoe UI"/>
              </a:rPr>
              <a:t>Penamaan L1–L5 berbeda antar organisasi — selalu cek commissioning plan proyek.</a:t>
            </a:r>
          </a:p>
        </p:txBody>
      </p:sp>
      <p:sp>
        <p:nvSpPr>
          <p:cNvPr id="66" name="TextBox 65"/>
          <p:cNvSpPr txBox="1"/>
          <p:nvPr/>
        </p:nvSpPr>
        <p:spPr>
          <a:xfrm>
            <a:off x="548640" y="6419088"/>
            <a:ext cx="8686800" cy="237744"/>
          </a:xfrm>
          <a:prstGeom prst="rect">
            <a:avLst/>
          </a:prstGeom>
          <a:noFill/>
        </p:spPr>
        <p:txBody>
          <a:bodyPr wrap="none" lIns="0" tIns="0" rIns="0" bIns="0" anchor="t">
            <a:spAutoFit/>
          </a:bodyPr>
          <a:lstStyle/>
          <a:p>
            <a:pPr algn="l">
              <a:lnSpc>
                <a:spcPct val="105000"/>
              </a:lnSpc>
              <a:spcAft>
                <a:spcPts val="0"/>
              </a:spcAft>
            </a:pPr>
            <a:r>
              <a:rPr sz="850" b="0" i="0">
                <a:solidFill>
                  <a:srgbClr val="98A3B3"/>
                </a:solidFill>
                <a:latin typeface="Segoe UI"/>
              </a:rPr>
              <a:t>Sumber: REF-021, REF-025 (vault demo › 06 Referensi)</a:t>
            </a:r>
          </a:p>
        </p:txBody>
      </p:sp>
      <p:sp>
        <p:nvSpPr>
          <p:cNvPr id="67" name="TextBox 66"/>
          <p:cNvSpPr txBox="1"/>
          <p:nvPr/>
        </p:nvSpPr>
        <p:spPr>
          <a:xfrm>
            <a:off x="7071055" y="6419088"/>
            <a:ext cx="3657600" cy="237744"/>
          </a:xfrm>
          <a:prstGeom prst="rect">
            <a:avLst/>
          </a:prstGeom>
          <a:noFill/>
        </p:spPr>
        <p:txBody>
          <a:bodyPr wrap="none" lIns="0" tIns="0" rIns="0" bIns="0" anchor="ctr">
            <a:spAutoFit/>
          </a:bodyPr>
          <a:lstStyle/>
          <a:p>
            <a:pPr algn="r">
              <a:lnSpc>
                <a:spcPct val="105000"/>
              </a:lnSpc>
              <a:spcAft>
                <a:spcPts val="0"/>
              </a:spcAft>
            </a:pPr>
            <a:r>
              <a:rPr sz="800" b="0" i="0" spc="80">
                <a:solidFill>
                  <a:srgbClr val="56657A"/>
                </a:solidFill>
                <a:latin typeface="Segoe UI Semibold"/>
              </a:rPr>
              <a:t>MASRON HUTABALIAN</a:t>
            </a:r>
          </a:p>
        </p:txBody>
      </p:sp>
      <p:sp>
        <p:nvSpPr>
          <p:cNvPr id="68" name="TextBox 67"/>
          <p:cNvSpPr txBox="1"/>
          <p:nvPr/>
        </p:nvSpPr>
        <p:spPr>
          <a:xfrm>
            <a:off x="10911535" y="6419088"/>
            <a:ext cx="731520" cy="237744"/>
          </a:xfrm>
          <a:prstGeom prst="rect">
            <a:avLst/>
          </a:prstGeom>
          <a:noFill/>
        </p:spPr>
        <p:txBody>
          <a:bodyPr wrap="square" lIns="0" tIns="0" rIns="0" bIns="0" anchor="t">
            <a:spAutoFit/>
          </a:bodyPr>
          <a:lstStyle/>
          <a:p>
            <a:pPr algn="r">
              <a:lnSpc>
                <a:spcPct val="105000"/>
              </a:lnSpc>
              <a:spcAft>
                <a:spcPts val="0"/>
              </a:spcAft>
            </a:pPr>
            <a:r>
              <a:rPr sz="900" b="0" i="0">
                <a:solidFill>
                  <a:srgbClr val="98A3B3"/>
                </a:solidFill>
                <a:latin typeface="Segoe UI"/>
              </a:rPr>
              <a:t>12</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82880"/>
            <a:ext cx="95234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DATA CENTER</a:t>
            </a:r>
          </a:p>
        </p:txBody>
      </p:sp>
      <p:sp>
        <p:nvSpPr>
          <p:cNvPr id="3" name="TextBox 2"/>
          <p:cNvSpPr txBox="1"/>
          <p:nvPr/>
        </p:nvSpPr>
        <p:spPr>
          <a:xfrm>
            <a:off x="1409543"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4" name="TextBox 3"/>
          <p:cNvSpPr txBox="1"/>
          <p:nvPr/>
        </p:nvSpPr>
        <p:spPr>
          <a:xfrm>
            <a:off x="1702151" y="182880"/>
            <a:ext cx="78485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INTERFACE</a:t>
            </a:r>
          </a:p>
        </p:txBody>
      </p:sp>
      <p:sp>
        <p:nvSpPr>
          <p:cNvPr id="5" name="TextBox 4"/>
          <p:cNvSpPr txBox="1"/>
          <p:nvPr/>
        </p:nvSpPr>
        <p:spPr>
          <a:xfrm>
            <a:off x="239556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6" name="TextBox 5"/>
          <p:cNvSpPr txBox="1"/>
          <p:nvPr/>
        </p:nvSpPr>
        <p:spPr>
          <a:xfrm>
            <a:off x="2688175" y="182880"/>
            <a:ext cx="724872"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CONTROL</a:t>
            </a:r>
          </a:p>
        </p:txBody>
      </p:sp>
      <p:sp>
        <p:nvSpPr>
          <p:cNvPr id="7" name="TextBox 6"/>
          <p:cNvSpPr txBox="1"/>
          <p:nvPr/>
        </p:nvSpPr>
        <p:spPr>
          <a:xfrm>
            <a:off x="3321608"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8" name="TextBox 7"/>
          <p:cNvSpPr txBox="1"/>
          <p:nvPr/>
        </p:nvSpPr>
        <p:spPr>
          <a:xfrm>
            <a:off x="3614216" y="182880"/>
            <a:ext cx="115377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COMMISSIONING</a:t>
            </a:r>
          </a:p>
        </p:txBody>
      </p:sp>
      <p:sp>
        <p:nvSpPr>
          <p:cNvPr id="9" name="TextBox 8"/>
          <p:cNvSpPr txBox="1"/>
          <p:nvPr/>
        </p:nvSpPr>
        <p:spPr>
          <a:xfrm>
            <a:off x="4676549"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0" name="TextBox 9"/>
          <p:cNvSpPr txBox="1"/>
          <p:nvPr/>
        </p:nvSpPr>
        <p:spPr>
          <a:xfrm>
            <a:off x="4969157" y="182880"/>
            <a:ext cx="945555"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1F5BD8"/>
                </a:solidFill>
                <a:latin typeface="Segoe UI Semibold"/>
              </a:rPr>
              <a:t>MONITORING</a:t>
            </a:r>
          </a:p>
        </p:txBody>
      </p:sp>
      <p:sp>
        <p:nvSpPr>
          <p:cNvPr id="11" name="Rectangle 10"/>
          <p:cNvSpPr/>
          <p:nvPr/>
        </p:nvSpPr>
        <p:spPr>
          <a:xfrm>
            <a:off x="4969157" y="420624"/>
            <a:ext cx="762675" cy="32004"/>
          </a:xfrm>
          <a:prstGeom prst="rect">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2327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3" name="TextBox 12"/>
          <p:cNvSpPr txBox="1"/>
          <p:nvPr/>
        </p:nvSpPr>
        <p:spPr>
          <a:xfrm>
            <a:off x="6115879" y="182880"/>
            <a:ext cx="63679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REALITA</a:t>
            </a:r>
          </a:p>
        </p:txBody>
      </p:sp>
      <p:sp>
        <p:nvSpPr>
          <p:cNvPr id="14" name="TextBox 13"/>
          <p:cNvSpPr txBox="1"/>
          <p:nvPr/>
        </p:nvSpPr>
        <p:spPr>
          <a:xfrm>
            <a:off x="6661235"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5" name="TextBox 14"/>
          <p:cNvSpPr txBox="1"/>
          <p:nvPr/>
        </p:nvSpPr>
        <p:spPr>
          <a:xfrm>
            <a:off x="6953843" y="182880"/>
            <a:ext cx="821309"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INFORMASI</a:t>
            </a:r>
          </a:p>
        </p:txBody>
      </p:sp>
      <p:sp>
        <p:nvSpPr>
          <p:cNvPr id="16" name="TextBox 15"/>
          <p:cNvSpPr txBox="1"/>
          <p:nvPr/>
        </p:nvSpPr>
        <p:spPr>
          <a:xfrm>
            <a:off x="7683712"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7" name="TextBox 16"/>
          <p:cNvSpPr txBox="1"/>
          <p:nvPr/>
        </p:nvSpPr>
        <p:spPr>
          <a:xfrm>
            <a:off x="7976320" y="182880"/>
            <a:ext cx="899541"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KNOWLEDGE</a:t>
            </a:r>
          </a:p>
        </p:txBody>
      </p:sp>
      <p:sp>
        <p:nvSpPr>
          <p:cNvPr id="18" name="TextBox 17"/>
          <p:cNvSpPr txBox="1"/>
          <p:nvPr/>
        </p:nvSpPr>
        <p:spPr>
          <a:xfrm>
            <a:off x="878442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9" name="TextBox 18"/>
          <p:cNvSpPr txBox="1"/>
          <p:nvPr/>
        </p:nvSpPr>
        <p:spPr>
          <a:xfrm>
            <a:off x="9077029" y="182880"/>
            <a:ext cx="733298"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OBSIDIAN</a:t>
            </a:r>
          </a:p>
        </p:txBody>
      </p:sp>
      <p:sp>
        <p:nvSpPr>
          <p:cNvPr id="20" name="TextBox 19"/>
          <p:cNvSpPr txBox="1"/>
          <p:nvPr/>
        </p:nvSpPr>
        <p:spPr>
          <a:xfrm>
            <a:off x="971888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21" name="TextBox 20"/>
          <p:cNvSpPr txBox="1"/>
          <p:nvPr/>
        </p:nvSpPr>
        <p:spPr>
          <a:xfrm>
            <a:off x="10011495" y="182880"/>
            <a:ext cx="297434"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AI</a:t>
            </a:r>
          </a:p>
        </p:txBody>
      </p:sp>
      <p:sp>
        <p:nvSpPr>
          <p:cNvPr id="22" name="!!title"/>
          <p:cNvSpPr txBox="1"/>
          <p:nvPr/>
        </p:nvSpPr>
        <p:spPr>
          <a:xfrm>
            <a:off x="548640" y="566928"/>
            <a:ext cx="11094415" cy="841248"/>
          </a:xfrm>
          <a:prstGeom prst="rect">
            <a:avLst/>
          </a:prstGeom>
          <a:noFill/>
        </p:spPr>
        <p:txBody>
          <a:bodyPr wrap="square" lIns="0" tIns="0" rIns="0" bIns="0" anchor="b">
            <a:spAutoFit/>
          </a:bodyPr>
          <a:lstStyle/>
          <a:p>
            <a:pPr algn="l">
              <a:lnSpc>
                <a:spcPct val="95000"/>
              </a:lnSpc>
              <a:spcAft>
                <a:spcPts val="0"/>
              </a:spcAft>
            </a:pPr>
            <a:r>
              <a:rPr sz="2800" b="0" i="0">
                <a:solidFill>
                  <a:srgbClr val="0B1F33"/>
                </a:solidFill>
                <a:latin typeface="Georgia"/>
              </a:rPr>
              <a:t>Monitoring tidak berhenti saat konstruksi selesai</a:t>
            </a:r>
          </a:p>
        </p:txBody>
      </p:sp>
      <p:cxnSp>
        <p:nvCxnSpPr>
          <p:cNvPr id="23" name="Connector 22"/>
          <p:cNvCxnSpPr/>
          <p:nvPr/>
        </p:nvCxnSpPr>
        <p:spPr>
          <a:xfrm>
            <a:off x="548640" y="1517904"/>
            <a:ext cx="11094415" cy="0"/>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48640" y="1828800"/>
            <a:ext cx="3423818" cy="3611880"/>
          </a:xfrm>
          <a:prstGeom prst="roundRect">
            <a:avLst>
              <a:gd name="adj" fmla="val 3204"/>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722376" y="2029968"/>
            <a:ext cx="658368" cy="658368"/>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EC7A-1F5BD8.png"/>
          <p:cNvPicPr>
            <a:picLocks noChangeAspect="1"/>
          </p:cNvPicPr>
          <p:nvPr/>
        </p:nvPicPr>
        <p:blipFill>
          <a:blip r:embed="rId3"/>
          <a:stretch>
            <a:fillRect/>
          </a:stretch>
        </p:blipFill>
        <p:spPr>
          <a:xfrm>
            <a:off x="886968" y="2194560"/>
            <a:ext cx="329184" cy="329184"/>
          </a:xfrm>
          <a:prstGeom prst="rect">
            <a:avLst/>
          </a:prstGeom>
        </p:spPr>
      </p:pic>
      <p:sp>
        <p:nvSpPr>
          <p:cNvPr id="27" name="TextBox 26"/>
          <p:cNvSpPr txBox="1"/>
          <p:nvPr/>
        </p:nvSpPr>
        <p:spPr>
          <a:xfrm>
            <a:off x="1508760" y="2103120"/>
            <a:ext cx="2326538" cy="237744"/>
          </a:xfrm>
          <a:prstGeom prst="rect">
            <a:avLst/>
          </a:prstGeom>
          <a:noFill/>
        </p:spPr>
        <p:txBody>
          <a:bodyPr wrap="none" lIns="0" tIns="0" rIns="0" bIns="0" anchor="ctr">
            <a:spAutoFit/>
          </a:bodyPr>
          <a:lstStyle/>
          <a:p>
            <a:pPr algn="l">
              <a:lnSpc>
                <a:spcPct val="105000"/>
              </a:lnSpc>
              <a:spcAft>
                <a:spcPts val="0"/>
              </a:spcAft>
            </a:pPr>
            <a:r>
              <a:rPr sz="850" b="0" i="0" spc="80">
                <a:solidFill>
                  <a:srgbClr val="1F5BD8"/>
                </a:solidFill>
                <a:latin typeface="Segoe UI Semibold"/>
              </a:rPr>
              <a:t>KONSTRUKSI</a:t>
            </a:r>
          </a:p>
        </p:txBody>
      </p:sp>
      <p:sp>
        <p:nvSpPr>
          <p:cNvPr id="28" name="TextBox 27"/>
          <p:cNvSpPr txBox="1"/>
          <p:nvPr/>
        </p:nvSpPr>
        <p:spPr>
          <a:xfrm>
            <a:off x="1508760" y="2340864"/>
            <a:ext cx="2326538" cy="384048"/>
          </a:xfrm>
          <a:prstGeom prst="rect">
            <a:avLst/>
          </a:prstGeom>
          <a:noFill/>
        </p:spPr>
        <p:txBody>
          <a:bodyPr wrap="square" lIns="0" tIns="0" rIns="0" bIns="0" anchor="ctr">
            <a:spAutoFit/>
          </a:bodyPr>
          <a:lstStyle/>
          <a:p>
            <a:pPr algn="l">
              <a:lnSpc>
                <a:spcPct val="105000"/>
              </a:lnSpc>
              <a:spcAft>
                <a:spcPts val="0"/>
              </a:spcAft>
            </a:pPr>
            <a:r>
              <a:rPr sz="1500" b="0" i="0">
                <a:solidFill>
                  <a:srgbClr val="0B1F33"/>
                </a:solidFill>
                <a:latin typeface="Segoe UI Semibold"/>
              </a:rPr>
              <a:t>Progress &amp; constraint</a:t>
            </a:r>
          </a:p>
        </p:txBody>
      </p:sp>
      <p:pic>
        <p:nvPicPr>
          <p:cNvPr id="29" name="Picture 28" descr="E73E-1F5BD8.png"/>
          <p:cNvPicPr>
            <a:picLocks noChangeAspect="1"/>
          </p:cNvPicPr>
          <p:nvPr/>
        </p:nvPicPr>
        <p:blipFill>
          <a:blip r:embed="rId4"/>
          <a:stretch>
            <a:fillRect/>
          </a:stretch>
        </p:blipFill>
        <p:spPr>
          <a:xfrm>
            <a:off x="841248" y="3108960"/>
            <a:ext cx="182880" cy="182880"/>
          </a:xfrm>
          <a:prstGeom prst="rect">
            <a:avLst/>
          </a:prstGeom>
        </p:spPr>
      </p:pic>
      <p:sp>
        <p:nvSpPr>
          <p:cNvPr id="30" name="TextBox 29"/>
          <p:cNvSpPr txBox="1"/>
          <p:nvPr/>
        </p:nvSpPr>
        <p:spPr>
          <a:xfrm>
            <a:off x="1170432" y="3017520"/>
            <a:ext cx="2600858" cy="365760"/>
          </a:xfrm>
          <a:prstGeom prst="rect">
            <a:avLst/>
          </a:prstGeom>
          <a:noFill/>
        </p:spPr>
        <p:txBody>
          <a:bodyPr wrap="square" lIns="0" tIns="0" rIns="0" bIns="0" anchor="ctr">
            <a:spAutoFit/>
          </a:bodyPr>
          <a:lstStyle/>
          <a:p>
            <a:pPr algn="l">
              <a:lnSpc>
                <a:spcPct val="105000"/>
              </a:lnSpc>
              <a:spcAft>
                <a:spcPts val="0"/>
              </a:spcAft>
            </a:pPr>
            <a:r>
              <a:rPr sz="1250" b="0" i="0">
                <a:solidFill>
                  <a:srgbClr val="0B1F33"/>
                </a:solidFill>
                <a:latin typeface="Segoe UI"/>
              </a:rPr>
              <a:t>Progress update mingguan</a:t>
            </a:r>
          </a:p>
        </p:txBody>
      </p:sp>
      <p:pic>
        <p:nvPicPr>
          <p:cNvPr id="31" name="Picture 30" descr="E73E-1F5BD8.png"/>
          <p:cNvPicPr>
            <a:picLocks noChangeAspect="1"/>
          </p:cNvPicPr>
          <p:nvPr/>
        </p:nvPicPr>
        <p:blipFill>
          <a:blip r:embed="rId4"/>
          <a:stretch>
            <a:fillRect/>
          </a:stretch>
        </p:blipFill>
        <p:spPr>
          <a:xfrm>
            <a:off x="841248" y="3566160"/>
            <a:ext cx="182880" cy="182880"/>
          </a:xfrm>
          <a:prstGeom prst="rect">
            <a:avLst/>
          </a:prstGeom>
        </p:spPr>
      </p:pic>
      <p:sp>
        <p:nvSpPr>
          <p:cNvPr id="32" name="TextBox 31"/>
          <p:cNvSpPr txBox="1"/>
          <p:nvPr/>
        </p:nvSpPr>
        <p:spPr>
          <a:xfrm>
            <a:off x="1170432" y="3474720"/>
            <a:ext cx="2600858" cy="365760"/>
          </a:xfrm>
          <a:prstGeom prst="rect">
            <a:avLst/>
          </a:prstGeom>
          <a:noFill/>
        </p:spPr>
        <p:txBody>
          <a:bodyPr wrap="square" lIns="0" tIns="0" rIns="0" bIns="0" anchor="ctr">
            <a:spAutoFit/>
          </a:bodyPr>
          <a:lstStyle/>
          <a:p>
            <a:pPr algn="l">
              <a:lnSpc>
                <a:spcPct val="105000"/>
              </a:lnSpc>
              <a:spcAft>
                <a:spcPts val="0"/>
              </a:spcAft>
            </a:pPr>
            <a:r>
              <a:rPr sz="1250" b="0" i="0">
                <a:solidFill>
                  <a:srgbClr val="0B1F33"/>
                </a:solidFill>
                <a:latin typeface="Segoe UI"/>
              </a:rPr>
              <a:t>Lookahead 3 minggu</a:t>
            </a:r>
          </a:p>
        </p:txBody>
      </p:sp>
      <p:pic>
        <p:nvPicPr>
          <p:cNvPr id="33" name="Picture 32" descr="E73E-1F5BD8.png"/>
          <p:cNvPicPr>
            <a:picLocks noChangeAspect="1"/>
          </p:cNvPicPr>
          <p:nvPr/>
        </p:nvPicPr>
        <p:blipFill>
          <a:blip r:embed="rId4"/>
          <a:stretch>
            <a:fillRect/>
          </a:stretch>
        </p:blipFill>
        <p:spPr>
          <a:xfrm>
            <a:off x="841248" y="4023360"/>
            <a:ext cx="182880" cy="182880"/>
          </a:xfrm>
          <a:prstGeom prst="rect">
            <a:avLst/>
          </a:prstGeom>
        </p:spPr>
      </p:pic>
      <p:sp>
        <p:nvSpPr>
          <p:cNvPr id="34" name="TextBox 33"/>
          <p:cNvSpPr txBox="1"/>
          <p:nvPr/>
        </p:nvSpPr>
        <p:spPr>
          <a:xfrm>
            <a:off x="1170432" y="3931920"/>
            <a:ext cx="2600858" cy="365760"/>
          </a:xfrm>
          <a:prstGeom prst="rect">
            <a:avLst/>
          </a:prstGeom>
          <a:noFill/>
        </p:spPr>
        <p:txBody>
          <a:bodyPr wrap="square" lIns="0" tIns="0" rIns="0" bIns="0" anchor="ctr">
            <a:spAutoFit/>
          </a:bodyPr>
          <a:lstStyle/>
          <a:p>
            <a:pPr algn="l">
              <a:lnSpc>
                <a:spcPct val="105000"/>
              </a:lnSpc>
              <a:spcAft>
                <a:spcPts val="0"/>
              </a:spcAft>
            </a:pPr>
            <a:r>
              <a:rPr sz="1250" b="0" i="0">
                <a:solidFill>
                  <a:srgbClr val="0B1F33"/>
                </a:solidFill>
                <a:latin typeface="Segoe UI"/>
              </a:rPr>
              <a:t>Constraint register</a:t>
            </a:r>
          </a:p>
        </p:txBody>
      </p:sp>
      <p:pic>
        <p:nvPicPr>
          <p:cNvPr id="35" name="Picture 34" descr="E73E-1F5BD8.png"/>
          <p:cNvPicPr>
            <a:picLocks noChangeAspect="1"/>
          </p:cNvPicPr>
          <p:nvPr/>
        </p:nvPicPr>
        <p:blipFill>
          <a:blip r:embed="rId4"/>
          <a:stretch>
            <a:fillRect/>
          </a:stretch>
        </p:blipFill>
        <p:spPr>
          <a:xfrm>
            <a:off x="841248" y="4480560"/>
            <a:ext cx="182880" cy="182880"/>
          </a:xfrm>
          <a:prstGeom prst="rect">
            <a:avLst/>
          </a:prstGeom>
        </p:spPr>
      </p:pic>
      <p:sp>
        <p:nvSpPr>
          <p:cNvPr id="36" name="TextBox 35"/>
          <p:cNvSpPr txBox="1"/>
          <p:nvPr/>
        </p:nvSpPr>
        <p:spPr>
          <a:xfrm>
            <a:off x="1170432" y="4389120"/>
            <a:ext cx="2600858" cy="365760"/>
          </a:xfrm>
          <a:prstGeom prst="rect">
            <a:avLst/>
          </a:prstGeom>
          <a:noFill/>
        </p:spPr>
        <p:txBody>
          <a:bodyPr wrap="square" lIns="0" tIns="0" rIns="0" bIns="0" anchor="ctr">
            <a:spAutoFit/>
          </a:bodyPr>
          <a:lstStyle/>
          <a:p>
            <a:pPr algn="l">
              <a:lnSpc>
                <a:spcPct val="105000"/>
              </a:lnSpc>
              <a:spcAft>
                <a:spcPts val="0"/>
              </a:spcAft>
            </a:pPr>
            <a:r>
              <a:rPr sz="1250" b="0" i="0">
                <a:solidFill>
                  <a:srgbClr val="0B1F33"/>
                </a:solidFill>
                <a:latin typeface="Segoe UI"/>
              </a:rPr>
              <a:t>Rapat koordinasi</a:t>
            </a:r>
          </a:p>
        </p:txBody>
      </p:sp>
      <p:sp>
        <p:nvSpPr>
          <p:cNvPr id="37" name="Rounded Rectangle 36"/>
          <p:cNvSpPr/>
          <p:nvPr/>
        </p:nvSpPr>
        <p:spPr>
          <a:xfrm>
            <a:off x="822960" y="4910328"/>
            <a:ext cx="1655572" cy="29260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Picture 37" descr="E823-0B1F33.png"/>
          <p:cNvPicPr>
            <a:picLocks noChangeAspect="1"/>
          </p:cNvPicPr>
          <p:nvPr/>
        </p:nvPicPr>
        <p:blipFill>
          <a:blip r:embed="rId5"/>
          <a:stretch>
            <a:fillRect/>
          </a:stretch>
        </p:blipFill>
        <p:spPr>
          <a:xfrm>
            <a:off x="971093" y="4976165"/>
            <a:ext cx="160934" cy="160934"/>
          </a:xfrm>
          <a:prstGeom prst="rect">
            <a:avLst/>
          </a:prstGeom>
        </p:spPr>
      </p:pic>
      <p:sp>
        <p:nvSpPr>
          <p:cNvPr id="39" name="TextBox 38"/>
          <p:cNvSpPr txBox="1"/>
          <p:nvPr/>
        </p:nvSpPr>
        <p:spPr>
          <a:xfrm>
            <a:off x="1207008" y="4910328"/>
            <a:ext cx="1655572" cy="292608"/>
          </a:xfrm>
          <a:prstGeom prst="rect">
            <a:avLst/>
          </a:prstGeom>
          <a:noFill/>
        </p:spPr>
        <p:txBody>
          <a:bodyPr wrap="none" lIns="0" tIns="0" rIns="0" bIns="0" anchor="ctr">
            <a:spAutoFit/>
          </a:bodyPr>
          <a:lstStyle/>
          <a:p>
            <a:pPr algn="l">
              <a:lnSpc>
                <a:spcPct val="105000"/>
              </a:lnSpc>
              <a:spcAft>
                <a:spcPts val="0"/>
              </a:spcAft>
            </a:pPr>
            <a:r>
              <a:rPr sz="1000" b="0" i="0">
                <a:solidFill>
                  <a:srgbClr val="0B1F33"/>
                </a:solidFill>
                <a:latin typeface="Segoe UI Semibold"/>
              </a:rPr>
              <a:t>Harian &amp; mingguan</a:t>
            </a:r>
          </a:p>
        </p:txBody>
      </p:sp>
      <p:cxnSp>
        <p:nvCxnSpPr>
          <p:cNvPr id="40" name="Connector 39"/>
          <p:cNvCxnSpPr/>
          <p:nvPr/>
        </p:nvCxnSpPr>
        <p:spPr>
          <a:xfrm>
            <a:off x="4018178" y="3634740"/>
            <a:ext cx="320040" cy="0"/>
          </a:xfrm>
          <a:prstGeom prst="line">
            <a:avLst/>
          </a:prstGeom>
          <a:ln w="22225">
            <a:solidFill>
              <a:srgbClr val="1F5B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4383938" y="1828800"/>
            <a:ext cx="3423818" cy="3611880"/>
          </a:xfrm>
          <a:prstGeom prst="roundRect">
            <a:avLst>
              <a:gd name="adj" fmla="val 3204"/>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4557674" y="2029968"/>
            <a:ext cx="658368" cy="658368"/>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3" name="Picture 42" descr="EADF-1F5BD8.png"/>
          <p:cNvPicPr>
            <a:picLocks noChangeAspect="1"/>
          </p:cNvPicPr>
          <p:nvPr/>
        </p:nvPicPr>
        <p:blipFill>
          <a:blip r:embed="rId6"/>
          <a:stretch>
            <a:fillRect/>
          </a:stretch>
        </p:blipFill>
        <p:spPr>
          <a:xfrm>
            <a:off x="4722266" y="2194560"/>
            <a:ext cx="329184" cy="329184"/>
          </a:xfrm>
          <a:prstGeom prst="rect">
            <a:avLst/>
          </a:prstGeom>
        </p:spPr>
      </p:pic>
      <p:sp>
        <p:nvSpPr>
          <p:cNvPr id="44" name="TextBox 43"/>
          <p:cNvSpPr txBox="1"/>
          <p:nvPr/>
        </p:nvSpPr>
        <p:spPr>
          <a:xfrm>
            <a:off x="5344058" y="2103120"/>
            <a:ext cx="2326538" cy="237744"/>
          </a:xfrm>
          <a:prstGeom prst="rect">
            <a:avLst/>
          </a:prstGeom>
          <a:noFill/>
        </p:spPr>
        <p:txBody>
          <a:bodyPr wrap="none" lIns="0" tIns="0" rIns="0" bIns="0" anchor="ctr">
            <a:spAutoFit/>
          </a:bodyPr>
          <a:lstStyle/>
          <a:p>
            <a:pPr algn="l">
              <a:lnSpc>
                <a:spcPct val="105000"/>
              </a:lnSpc>
              <a:spcAft>
                <a:spcPts val="0"/>
              </a:spcAft>
            </a:pPr>
            <a:r>
              <a:rPr sz="850" b="0" i="0" spc="80">
                <a:solidFill>
                  <a:srgbClr val="1F5BD8"/>
                </a:solidFill>
                <a:latin typeface="Segoe UI Semibold"/>
              </a:rPr>
              <a:t>TESTING &amp; COMMISSIONING</a:t>
            </a:r>
          </a:p>
        </p:txBody>
      </p:sp>
      <p:sp>
        <p:nvSpPr>
          <p:cNvPr id="45" name="TextBox 44"/>
          <p:cNvSpPr txBox="1"/>
          <p:nvPr/>
        </p:nvSpPr>
        <p:spPr>
          <a:xfrm>
            <a:off x="5344058" y="2340864"/>
            <a:ext cx="2326538" cy="384048"/>
          </a:xfrm>
          <a:prstGeom prst="rect">
            <a:avLst/>
          </a:prstGeom>
          <a:noFill/>
        </p:spPr>
        <p:txBody>
          <a:bodyPr wrap="square" lIns="0" tIns="0" rIns="0" bIns="0" anchor="ctr">
            <a:spAutoFit/>
          </a:bodyPr>
          <a:lstStyle/>
          <a:p>
            <a:pPr algn="l">
              <a:lnSpc>
                <a:spcPct val="105000"/>
              </a:lnSpc>
              <a:spcAft>
                <a:spcPts val="0"/>
              </a:spcAft>
            </a:pPr>
            <a:r>
              <a:rPr sz="1500" b="0" i="0">
                <a:solidFill>
                  <a:srgbClr val="0B1F33"/>
                </a:solidFill>
                <a:latin typeface="Segoe UI Semibold"/>
              </a:rPr>
              <a:t>Status system per level</a:t>
            </a:r>
          </a:p>
        </p:txBody>
      </p:sp>
      <p:pic>
        <p:nvPicPr>
          <p:cNvPr id="46" name="Picture 45" descr="E73E-1F5BD8.png"/>
          <p:cNvPicPr>
            <a:picLocks noChangeAspect="1"/>
          </p:cNvPicPr>
          <p:nvPr/>
        </p:nvPicPr>
        <p:blipFill>
          <a:blip r:embed="rId4"/>
          <a:stretch>
            <a:fillRect/>
          </a:stretch>
        </p:blipFill>
        <p:spPr>
          <a:xfrm>
            <a:off x="4676546" y="3108960"/>
            <a:ext cx="182880" cy="182880"/>
          </a:xfrm>
          <a:prstGeom prst="rect">
            <a:avLst/>
          </a:prstGeom>
        </p:spPr>
      </p:pic>
      <p:sp>
        <p:nvSpPr>
          <p:cNvPr id="47" name="TextBox 46"/>
          <p:cNvSpPr txBox="1"/>
          <p:nvPr/>
        </p:nvSpPr>
        <p:spPr>
          <a:xfrm>
            <a:off x="5005730" y="3017520"/>
            <a:ext cx="2600858" cy="365760"/>
          </a:xfrm>
          <a:prstGeom prst="rect">
            <a:avLst/>
          </a:prstGeom>
          <a:noFill/>
        </p:spPr>
        <p:txBody>
          <a:bodyPr wrap="square" lIns="0" tIns="0" rIns="0" bIns="0" anchor="ctr">
            <a:spAutoFit/>
          </a:bodyPr>
          <a:lstStyle/>
          <a:p>
            <a:pPr algn="l">
              <a:lnSpc>
                <a:spcPct val="105000"/>
              </a:lnSpc>
              <a:spcAft>
                <a:spcPts val="0"/>
              </a:spcAft>
            </a:pPr>
            <a:r>
              <a:rPr sz="1250" b="0" i="0">
                <a:solidFill>
                  <a:srgbClr val="0B1F33"/>
                </a:solidFill>
                <a:latin typeface="Segoe UI"/>
              </a:rPr>
              <a:t>Matriks system × L1–L5</a:t>
            </a:r>
          </a:p>
        </p:txBody>
      </p:sp>
      <p:pic>
        <p:nvPicPr>
          <p:cNvPr id="48" name="Picture 47" descr="E73E-1F5BD8.png"/>
          <p:cNvPicPr>
            <a:picLocks noChangeAspect="1"/>
          </p:cNvPicPr>
          <p:nvPr/>
        </p:nvPicPr>
        <p:blipFill>
          <a:blip r:embed="rId4"/>
          <a:stretch>
            <a:fillRect/>
          </a:stretch>
        </p:blipFill>
        <p:spPr>
          <a:xfrm>
            <a:off x="4676546" y="3566160"/>
            <a:ext cx="182880" cy="182880"/>
          </a:xfrm>
          <a:prstGeom prst="rect">
            <a:avLst/>
          </a:prstGeom>
        </p:spPr>
      </p:pic>
      <p:sp>
        <p:nvSpPr>
          <p:cNvPr id="49" name="TextBox 48"/>
          <p:cNvSpPr txBox="1"/>
          <p:nvPr/>
        </p:nvSpPr>
        <p:spPr>
          <a:xfrm>
            <a:off x="5005730" y="3474720"/>
            <a:ext cx="2600858" cy="365760"/>
          </a:xfrm>
          <a:prstGeom prst="rect">
            <a:avLst/>
          </a:prstGeom>
          <a:noFill/>
        </p:spPr>
        <p:txBody>
          <a:bodyPr wrap="square" lIns="0" tIns="0" rIns="0" bIns="0" anchor="ctr">
            <a:spAutoFit/>
          </a:bodyPr>
          <a:lstStyle/>
          <a:p>
            <a:pPr algn="l">
              <a:lnSpc>
                <a:spcPct val="105000"/>
              </a:lnSpc>
              <a:spcAft>
                <a:spcPts val="0"/>
              </a:spcAft>
            </a:pPr>
            <a:r>
              <a:rPr sz="1250" b="0" i="0">
                <a:solidFill>
                  <a:srgbClr val="0B1F33"/>
                </a:solidFill>
                <a:latin typeface="Segoe UI"/>
              </a:rPr>
              <a:t>Punch list</a:t>
            </a:r>
          </a:p>
        </p:txBody>
      </p:sp>
      <p:pic>
        <p:nvPicPr>
          <p:cNvPr id="50" name="Picture 49" descr="E73E-1F5BD8.png"/>
          <p:cNvPicPr>
            <a:picLocks noChangeAspect="1"/>
          </p:cNvPicPr>
          <p:nvPr/>
        </p:nvPicPr>
        <p:blipFill>
          <a:blip r:embed="rId4"/>
          <a:stretch>
            <a:fillRect/>
          </a:stretch>
        </p:blipFill>
        <p:spPr>
          <a:xfrm>
            <a:off x="4676546" y="4023360"/>
            <a:ext cx="182880" cy="182880"/>
          </a:xfrm>
          <a:prstGeom prst="rect">
            <a:avLst/>
          </a:prstGeom>
        </p:spPr>
      </p:pic>
      <p:sp>
        <p:nvSpPr>
          <p:cNvPr id="51" name="TextBox 50"/>
          <p:cNvSpPr txBox="1"/>
          <p:nvPr/>
        </p:nvSpPr>
        <p:spPr>
          <a:xfrm>
            <a:off x="5005730" y="3931920"/>
            <a:ext cx="2600858" cy="365760"/>
          </a:xfrm>
          <a:prstGeom prst="rect">
            <a:avLst/>
          </a:prstGeom>
          <a:noFill/>
        </p:spPr>
        <p:txBody>
          <a:bodyPr wrap="square" lIns="0" tIns="0" rIns="0" bIns="0" anchor="ctr">
            <a:spAutoFit/>
          </a:bodyPr>
          <a:lstStyle/>
          <a:p>
            <a:pPr algn="l">
              <a:lnSpc>
                <a:spcPct val="105000"/>
              </a:lnSpc>
              <a:spcAft>
                <a:spcPts val="0"/>
              </a:spcAft>
            </a:pPr>
            <a:r>
              <a:rPr sz="1250" b="0" i="0">
                <a:solidFill>
                  <a:srgbClr val="0B1F33"/>
                </a:solidFill>
                <a:latin typeface="Segoe UI"/>
              </a:rPr>
              <a:t>Hasil tes &amp; sertifikat</a:t>
            </a:r>
          </a:p>
        </p:txBody>
      </p:sp>
      <p:pic>
        <p:nvPicPr>
          <p:cNvPr id="52" name="Picture 51" descr="E73E-1F5BD8.png"/>
          <p:cNvPicPr>
            <a:picLocks noChangeAspect="1"/>
          </p:cNvPicPr>
          <p:nvPr/>
        </p:nvPicPr>
        <p:blipFill>
          <a:blip r:embed="rId4"/>
          <a:stretch>
            <a:fillRect/>
          </a:stretch>
        </p:blipFill>
        <p:spPr>
          <a:xfrm>
            <a:off x="4676546" y="4480560"/>
            <a:ext cx="182880" cy="182880"/>
          </a:xfrm>
          <a:prstGeom prst="rect">
            <a:avLst/>
          </a:prstGeom>
        </p:spPr>
      </p:pic>
      <p:sp>
        <p:nvSpPr>
          <p:cNvPr id="53" name="TextBox 52"/>
          <p:cNvSpPr txBox="1"/>
          <p:nvPr/>
        </p:nvSpPr>
        <p:spPr>
          <a:xfrm>
            <a:off x="5005730" y="4389120"/>
            <a:ext cx="2600858" cy="365760"/>
          </a:xfrm>
          <a:prstGeom prst="rect">
            <a:avLst/>
          </a:prstGeom>
          <a:noFill/>
        </p:spPr>
        <p:txBody>
          <a:bodyPr wrap="square" lIns="0" tIns="0" rIns="0" bIns="0" anchor="ctr">
            <a:spAutoFit/>
          </a:bodyPr>
          <a:lstStyle/>
          <a:p>
            <a:pPr algn="l">
              <a:lnSpc>
                <a:spcPct val="105000"/>
              </a:lnSpc>
              <a:spcAft>
                <a:spcPts val="0"/>
              </a:spcAft>
            </a:pPr>
            <a:r>
              <a:rPr sz="1250" b="0" i="0">
                <a:solidFill>
                  <a:srgbClr val="0B1F33"/>
                </a:solidFill>
                <a:latin typeface="Segoe UI"/>
              </a:rPr>
              <a:t>Script IST</a:t>
            </a:r>
          </a:p>
        </p:txBody>
      </p:sp>
      <p:sp>
        <p:nvSpPr>
          <p:cNvPr id="54" name="Rounded Rectangle 53"/>
          <p:cNvSpPr/>
          <p:nvPr/>
        </p:nvSpPr>
        <p:spPr>
          <a:xfrm>
            <a:off x="4658258" y="4910328"/>
            <a:ext cx="1578003" cy="29260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5" name="Picture 54" descr="E823-0B1F33.png"/>
          <p:cNvPicPr>
            <a:picLocks noChangeAspect="1"/>
          </p:cNvPicPr>
          <p:nvPr/>
        </p:nvPicPr>
        <p:blipFill>
          <a:blip r:embed="rId5"/>
          <a:stretch>
            <a:fillRect/>
          </a:stretch>
        </p:blipFill>
        <p:spPr>
          <a:xfrm>
            <a:off x="4806391" y="4976165"/>
            <a:ext cx="160934" cy="160934"/>
          </a:xfrm>
          <a:prstGeom prst="rect">
            <a:avLst/>
          </a:prstGeom>
        </p:spPr>
      </p:pic>
      <p:sp>
        <p:nvSpPr>
          <p:cNvPr id="56" name="TextBox 55"/>
          <p:cNvSpPr txBox="1"/>
          <p:nvPr/>
        </p:nvSpPr>
        <p:spPr>
          <a:xfrm>
            <a:off x="5042306" y="4910328"/>
            <a:ext cx="1578003" cy="292608"/>
          </a:xfrm>
          <a:prstGeom prst="rect">
            <a:avLst/>
          </a:prstGeom>
          <a:noFill/>
        </p:spPr>
        <p:txBody>
          <a:bodyPr wrap="none" lIns="0" tIns="0" rIns="0" bIns="0" anchor="ctr">
            <a:spAutoFit/>
          </a:bodyPr>
          <a:lstStyle/>
          <a:p>
            <a:pPr algn="l">
              <a:lnSpc>
                <a:spcPct val="105000"/>
              </a:lnSpc>
              <a:spcAft>
                <a:spcPts val="0"/>
              </a:spcAft>
            </a:pPr>
            <a:r>
              <a:rPr sz="1000" b="0" i="0">
                <a:solidFill>
                  <a:srgbClr val="0B1F33"/>
                </a:solidFill>
                <a:latin typeface="Segoe UI Semibold"/>
              </a:rPr>
              <a:t>Per system &amp; level</a:t>
            </a:r>
          </a:p>
        </p:txBody>
      </p:sp>
      <p:cxnSp>
        <p:nvCxnSpPr>
          <p:cNvPr id="57" name="Connector 56"/>
          <p:cNvCxnSpPr/>
          <p:nvPr/>
        </p:nvCxnSpPr>
        <p:spPr>
          <a:xfrm>
            <a:off x="7853477" y="3634740"/>
            <a:ext cx="320040" cy="0"/>
          </a:xfrm>
          <a:prstGeom prst="line">
            <a:avLst/>
          </a:prstGeom>
          <a:ln w="22225">
            <a:solidFill>
              <a:srgbClr val="1F5B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8219237" y="1828800"/>
            <a:ext cx="3423818" cy="3611880"/>
          </a:xfrm>
          <a:prstGeom prst="roundRect">
            <a:avLst>
              <a:gd name="adj" fmla="val 3204"/>
            </a:avLst>
          </a:prstGeom>
          <a:solidFill>
            <a:srgbClr val="FFFFFF"/>
          </a:solidFill>
          <a:ln w="19050">
            <a:solidFill>
              <a:srgbClr val="1F5BD8"/>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8392973" y="2029968"/>
            <a:ext cx="658368" cy="658368"/>
          </a:xfrm>
          <a:prstGeom prst="ellipse">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0" name="Picture 59" descr="E95E-FFFFFF.png"/>
          <p:cNvPicPr>
            <a:picLocks noChangeAspect="1"/>
          </p:cNvPicPr>
          <p:nvPr/>
        </p:nvPicPr>
        <p:blipFill>
          <a:blip r:embed="rId7"/>
          <a:stretch>
            <a:fillRect/>
          </a:stretch>
        </p:blipFill>
        <p:spPr>
          <a:xfrm>
            <a:off x="8557565" y="2194560"/>
            <a:ext cx="329184" cy="329184"/>
          </a:xfrm>
          <a:prstGeom prst="rect">
            <a:avLst/>
          </a:prstGeom>
        </p:spPr>
      </p:pic>
      <p:sp>
        <p:nvSpPr>
          <p:cNvPr id="61" name="TextBox 60"/>
          <p:cNvSpPr txBox="1"/>
          <p:nvPr/>
        </p:nvSpPr>
        <p:spPr>
          <a:xfrm>
            <a:off x="9179357" y="2103120"/>
            <a:ext cx="2326538" cy="237744"/>
          </a:xfrm>
          <a:prstGeom prst="rect">
            <a:avLst/>
          </a:prstGeom>
          <a:noFill/>
        </p:spPr>
        <p:txBody>
          <a:bodyPr wrap="none" lIns="0" tIns="0" rIns="0" bIns="0" anchor="ctr">
            <a:spAutoFit/>
          </a:bodyPr>
          <a:lstStyle/>
          <a:p>
            <a:pPr algn="l">
              <a:lnSpc>
                <a:spcPct val="105000"/>
              </a:lnSpc>
              <a:spcAft>
                <a:spcPts val="0"/>
              </a:spcAft>
            </a:pPr>
            <a:r>
              <a:rPr sz="850" b="0" i="0" spc="80">
                <a:solidFill>
                  <a:srgbClr val="1F5BD8"/>
                </a:solidFill>
                <a:latin typeface="Segoe UI Semibold"/>
              </a:rPr>
              <a:t>OPERASI</a:t>
            </a:r>
          </a:p>
        </p:txBody>
      </p:sp>
      <p:sp>
        <p:nvSpPr>
          <p:cNvPr id="62" name="TextBox 61"/>
          <p:cNvSpPr txBox="1"/>
          <p:nvPr/>
        </p:nvSpPr>
        <p:spPr>
          <a:xfrm>
            <a:off x="9179357" y="2340864"/>
            <a:ext cx="2326538" cy="384048"/>
          </a:xfrm>
          <a:prstGeom prst="rect">
            <a:avLst/>
          </a:prstGeom>
          <a:noFill/>
        </p:spPr>
        <p:txBody>
          <a:bodyPr wrap="square" lIns="0" tIns="0" rIns="0" bIns="0" anchor="ctr">
            <a:spAutoFit/>
          </a:bodyPr>
          <a:lstStyle/>
          <a:p>
            <a:pPr algn="l">
              <a:lnSpc>
                <a:spcPct val="105000"/>
              </a:lnSpc>
              <a:spcAft>
                <a:spcPts val="0"/>
              </a:spcAft>
            </a:pPr>
            <a:r>
              <a:rPr sz="1500" b="0" i="0">
                <a:solidFill>
                  <a:srgbClr val="0B1F33"/>
                </a:solidFill>
                <a:latin typeface="Segoe UI Semibold"/>
              </a:rPr>
              <a:t>Kondisi fasilitas</a:t>
            </a:r>
          </a:p>
        </p:txBody>
      </p:sp>
      <p:pic>
        <p:nvPicPr>
          <p:cNvPr id="63" name="Picture 62" descr="E73E-1F5BD8.png"/>
          <p:cNvPicPr>
            <a:picLocks noChangeAspect="1"/>
          </p:cNvPicPr>
          <p:nvPr/>
        </p:nvPicPr>
        <p:blipFill>
          <a:blip r:embed="rId4"/>
          <a:stretch>
            <a:fillRect/>
          </a:stretch>
        </p:blipFill>
        <p:spPr>
          <a:xfrm>
            <a:off x="8511845" y="3108960"/>
            <a:ext cx="182880" cy="182880"/>
          </a:xfrm>
          <a:prstGeom prst="rect">
            <a:avLst/>
          </a:prstGeom>
        </p:spPr>
      </p:pic>
      <p:sp>
        <p:nvSpPr>
          <p:cNvPr id="64" name="TextBox 63"/>
          <p:cNvSpPr txBox="1"/>
          <p:nvPr/>
        </p:nvSpPr>
        <p:spPr>
          <a:xfrm>
            <a:off x="8841029" y="3017520"/>
            <a:ext cx="2600858" cy="365760"/>
          </a:xfrm>
          <a:prstGeom prst="rect">
            <a:avLst/>
          </a:prstGeom>
          <a:noFill/>
        </p:spPr>
        <p:txBody>
          <a:bodyPr wrap="square" lIns="0" tIns="0" rIns="0" bIns="0" anchor="ctr">
            <a:spAutoFit/>
          </a:bodyPr>
          <a:lstStyle/>
          <a:p>
            <a:pPr algn="l">
              <a:lnSpc>
                <a:spcPct val="105000"/>
              </a:lnSpc>
              <a:spcAft>
                <a:spcPts val="0"/>
              </a:spcAft>
            </a:pPr>
            <a:r>
              <a:rPr sz="1250" b="0" i="0">
                <a:solidFill>
                  <a:srgbClr val="0B1F33"/>
                </a:solidFill>
                <a:latin typeface="Segoe UI"/>
              </a:rPr>
              <a:t>BMS: suhu &amp; cooling</a:t>
            </a:r>
          </a:p>
        </p:txBody>
      </p:sp>
      <p:pic>
        <p:nvPicPr>
          <p:cNvPr id="65" name="Picture 64" descr="E73E-1F5BD8.png"/>
          <p:cNvPicPr>
            <a:picLocks noChangeAspect="1"/>
          </p:cNvPicPr>
          <p:nvPr/>
        </p:nvPicPr>
        <p:blipFill>
          <a:blip r:embed="rId4"/>
          <a:stretch>
            <a:fillRect/>
          </a:stretch>
        </p:blipFill>
        <p:spPr>
          <a:xfrm>
            <a:off x="8511845" y="3566160"/>
            <a:ext cx="182880" cy="182880"/>
          </a:xfrm>
          <a:prstGeom prst="rect">
            <a:avLst/>
          </a:prstGeom>
        </p:spPr>
      </p:pic>
      <p:sp>
        <p:nvSpPr>
          <p:cNvPr id="66" name="TextBox 65"/>
          <p:cNvSpPr txBox="1"/>
          <p:nvPr/>
        </p:nvSpPr>
        <p:spPr>
          <a:xfrm>
            <a:off x="8841029" y="3474720"/>
            <a:ext cx="2600858" cy="365760"/>
          </a:xfrm>
          <a:prstGeom prst="rect">
            <a:avLst/>
          </a:prstGeom>
          <a:noFill/>
        </p:spPr>
        <p:txBody>
          <a:bodyPr wrap="square" lIns="0" tIns="0" rIns="0" bIns="0" anchor="ctr">
            <a:spAutoFit/>
          </a:bodyPr>
          <a:lstStyle/>
          <a:p>
            <a:pPr algn="l">
              <a:lnSpc>
                <a:spcPct val="105000"/>
              </a:lnSpc>
              <a:spcAft>
                <a:spcPts val="0"/>
              </a:spcAft>
            </a:pPr>
            <a:r>
              <a:rPr sz="1250" b="0" i="0">
                <a:solidFill>
                  <a:srgbClr val="0B1F33"/>
                </a:solidFill>
                <a:latin typeface="Segoe UI"/>
              </a:rPr>
              <a:t>EPMS: beban listrik</a:t>
            </a:r>
          </a:p>
        </p:txBody>
      </p:sp>
      <p:pic>
        <p:nvPicPr>
          <p:cNvPr id="67" name="Picture 66" descr="E73E-1F5BD8.png"/>
          <p:cNvPicPr>
            <a:picLocks noChangeAspect="1"/>
          </p:cNvPicPr>
          <p:nvPr/>
        </p:nvPicPr>
        <p:blipFill>
          <a:blip r:embed="rId4"/>
          <a:stretch>
            <a:fillRect/>
          </a:stretch>
        </p:blipFill>
        <p:spPr>
          <a:xfrm>
            <a:off x="8511845" y="4023360"/>
            <a:ext cx="182880" cy="182880"/>
          </a:xfrm>
          <a:prstGeom prst="rect">
            <a:avLst/>
          </a:prstGeom>
        </p:spPr>
      </p:pic>
      <p:sp>
        <p:nvSpPr>
          <p:cNvPr id="68" name="TextBox 67"/>
          <p:cNvSpPr txBox="1"/>
          <p:nvPr/>
        </p:nvSpPr>
        <p:spPr>
          <a:xfrm>
            <a:off x="8841029" y="3931920"/>
            <a:ext cx="2600858" cy="365760"/>
          </a:xfrm>
          <a:prstGeom prst="rect">
            <a:avLst/>
          </a:prstGeom>
          <a:noFill/>
        </p:spPr>
        <p:txBody>
          <a:bodyPr wrap="square" lIns="0" tIns="0" rIns="0" bIns="0" anchor="ctr">
            <a:spAutoFit/>
          </a:bodyPr>
          <a:lstStyle/>
          <a:p>
            <a:pPr algn="l">
              <a:lnSpc>
                <a:spcPct val="105000"/>
              </a:lnSpc>
              <a:spcAft>
                <a:spcPts val="0"/>
              </a:spcAft>
            </a:pPr>
            <a:r>
              <a:rPr sz="1250" b="0" i="0">
                <a:solidFill>
                  <a:srgbClr val="0B1F33"/>
                </a:solidFill>
                <a:latin typeface="Segoe UI"/>
              </a:rPr>
              <a:t>DCIM: kapasitas</a:t>
            </a:r>
          </a:p>
        </p:txBody>
      </p:sp>
      <p:pic>
        <p:nvPicPr>
          <p:cNvPr id="69" name="Picture 68" descr="E73E-1F5BD8.png"/>
          <p:cNvPicPr>
            <a:picLocks noChangeAspect="1"/>
          </p:cNvPicPr>
          <p:nvPr/>
        </p:nvPicPr>
        <p:blipFill>
          <a:blip r:embed="rId4"/>
          <a:stretch>
            <a:fillRect/>
          </a:stretch>
        </p:blipFill>
        <p:spPr>
          <a:xfrm>
            <a:off x="8511845" y="4480560"/>
            <a:ext cx="182880" cy="182880"/>
          </a:xfrm>
          <a:prstGeom prst="rect">
            <a:avLst/>
          </a:prstGeom>
        </p:spPr>
      </p:pic>
      <p:sp>
        <p:nvSpPr>
          <p:cNvPr id="70" name="TextBox 69"/>
          <p:cNvSpPr txBox="1"/>
          <p:nvPr/>
        </p:nvSpPr>
        <p:spPr>
          <a:xfrm>
            <a:off x="8841029" y="4389120"/>
            <a:ext cx="2600858" cy="365760"/>
          </a:xfrm>
          <a:prstGeom prst="rect">
            <a:avLst/>
          </a:prstGeom>
          <a:noFill/>
        </p:spPr>
        <p:txBody>
          <a:bodyPr wrap="square" lIns="0" tIns="0" rIns="0" bIns="0" anchor="ctr">
            <a:spAutoFit/>
          </a:bodyPr>
          <a:lstStyle/>
          <a:p>
            <a:pPr algn="l">
              <a:lnSpc>
                <a:spcPct val="105000"/>
              </a:lnSpc>
              <a:spcAft>
                <a:spcPts val="0"/>
              </a:spcAft>
            </a:pPr>
            <a:r>
              <a:rPr sz="1250" b="0" i="0">
                <a:solidFill>
                  <a:srgbClr val="0B1F33"/>
                </a:solidFill>
                <a:latin typeface="Segoe UI"/>
              </a:rPr>
              <a:t>Alarm &amp; event</a:t>
            </a:r>
          </a:p>
        </p:txBody>
      </p:sp>
      <p:sp>
        <p:nvSpPr>
          <p:cNvPr id="71" name="Rounded Rectangle 70"/>
          <p:cNvSpPr/>
          <p:nvPr/>
        </p:nvSpPr>
        <p:spPr>
          <a:xfrm>
            <a:off x="8493557" y="4910328"/>
            <a:ext cx="795782" cy="29260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2" name="Picture 71" descr="E823-0B1F33.png"/>
          <p:cNvPicPr>
            <a:picLocks noChangeAspect="1"/>
          </p:cNvPicPr>
          <p:nvPr/>
        </p:nvPicPr>
        <p:blipFill>
          <a:blip r:embed="rId5"/>
          <a:stretch>
            <a:fillRect/>
          </a:stretch>
        </p:blipFill>
        <p:spPr>
          <a:xfrm>
            <a:off x="8641690" y="4976165"/>
            <a:ext cx="160934" cy="160934"/>
          </a:xfrm>
          <a:prstGeom prst="rect">
            <a:avLst/>
          </a:prstGeom>
        </p:spPr>
      </p:pic>
      <p:sp>
        <p:nvSpPr>
          <p:cNvPr id="73" name="TextBox 72"/>
          <p:cNvSpPr txBox="1"/>
          <p:nvPr/>
        </p:nvSpPr>
        <p:spPr>
          <a:xfrm>
            <a:off x="8877605" y="4910328"/>
            <a:ext cx="795782" cy="292608"/>
          </a:xfrm>
          <a:prstGeom prst="rect">
            <a:avLst/>
          </a:prstGeom>
          <a:noFill/>
        </p:spPr>
        <p:txBody>
          <a:bodyPr wrap="none" lIns="0" tIns="0" rIns="0" bIns="0" anchor="ctr">
            <a:spAutoFit/>
          </a:bodyPr>
          <a:lstStyle/>
          <a:p>
            <a:pPr algn="l">
              <a:lnSpc>
                <a:spcPct val="105000"/>
              </a:lnSpc>
              <a:spcAft>
                <a:spcPts val="0"/>
              </a:spcAft>
            </a:pPr>
            <a:r>
              <a:rPr sz="1000" b="0" i="0">
                <a:solidFill>
                  <a:srgbClr val="0B1F33"/>
                </a:solidFill>
                <a:latin typeface="Segoe UI Semibold"/>
              </a:rPr>
              <a:t>24/7</a:t>
            </a:r>
          </a:p>
        </p:txBody>
      </p:sp>
      <p:sp>
        <p:nvSpPr>
          <p:cNvPr id="74" name="Rectangle 73"/>
          <p:cNvSpPr/>
          <p:nvPr/>
        </p:nvSpPr>
        <p:spPr>
          <a:xfrm>
            <a:off x="1371600" y="5797296"/>
            <a:ext cx="9448495" cy="18288"/>
          </a:xfrm>
          <a:prstGeom prst="rect">
            <a:avLst/>
          </a:prstGeom>
          <a:solidFill>
            <a:srgbClr val="DDE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548640" y="5687568"/>
            <a:ext cx="914400" cy="237744"/>
          </a:xfrm>
          <a:prstGeom prst="rect">
            <a:avLst/>
          </a:prstGeom>
          <a:noFill/>
        </p:spPr>
        <p:txBody>
          <a:bodyPr wrap="none" lIns="0" tIns="0" rIns="0" bIns="0" anchor="ctr">
            <a:spAutoFit/>
          </a:bodyPr>
          <a:lstStyle/>
          <a:p>
            <a:pPr algn="l">
              <a:lnSpc>
                <a:spcPct val="105000"/>
              </a:lnSpc>
              <a:spcAft>
                <a:spcPts val="0"/>
              </a:spcAft>
            </a:pPr>
            <a:r>
              <a:rPr sz="850" b="0" i="0" spc="80">
                <a:solidFill>
                  <a:srgbClr val="98A3B3"/>
                </a:solidFill>
                <a:latin typeface="Segoe UI Semibold"/>
              </a:rPr>
              <a:t>GROUND</a:t>
            </a:r>
          </a:p>
        </p:txBody>
      </p:sp>
      <p:sp>
        <p:nvSpPr>
          <p:cNvPr id="76" name="TextBox 75"/>
          <p:cNvSpPr txBox="1"/>
          <p:nvPr/>
        </p:nvSpPr>
        <p:spPr>
          <a:xfrm>
            <a:off x="10728655" y="5687568"/>
            <a:ext cx="914400" cy="237744"/>
          </a:xfrm>
          <a:prstGeom prst="rect">
            <a:avLst/>
          </a:prstGeom>
          <a:noFill/>
        </p:spPr>
        <p:txBody>
          <a:bodyPr wrap="none" lIns="0" tIns="0" rIns="0" bIns="0" anchor="ctr">
            <a:spAutoFit/>
          </a:bodyPr>
          <a:lstStyle/>
          <a:p>
            <a:pPr algn="r">
              <a:lnSpc>
                <a:spcPct val="105000"/>
              </a:lnSpc>
              <a:spcAft>
                <a:spcPts val="0"/>
              </a:spcAft>
            </a:pPr>
            <a:r>
              <a:rPr sz="850" b="0" i="0" spc="80">
                <a:solidFill>
                  <a:srgbClr val="98A3B3"/>
                </a:solidFill>
                <a:latin typeface="Segoe UI Semibold"/>
              </a:rPr>
              <a:t>CLOUD</a:t>
            </a:r>
          </a:p>
        </p:txBody>
      </p:sp>
      <p:sp>
        <p:nvSpPr>
          <p:cNvPr id="77" name="TextBox 76"/>
          <p:cNvSpPr txBox="1"/>
          <p:nvPr/>
        </p:nvSpPr>
        <p:spPr>
          <a:xfrm>
            <a:off x="7071055" y="6419088"/>
            <a:ext cx="3657600" cy="237744"/>
          </a:xfrm>
          <a:prstGeom prst="rect">
            <a:avLst/>
          </a:prstGeom>
          <a:noFill/>
        </p:spPr>
        <p:txBody>
          <a:bodyPr wrap="none" lIns="0" tIns="0" rIns="0" bIns="0" anchor="ctr">
            <a:spAutoFit/>
          </a:bodyPr>
          <a:lstStyle/>
          <a:p>
            <a:pPr algn="r">
              <a:lnSpc>
                <a:spcPct val="105000"/>
              </a:lnSpc>
              <a:spcAft>
                <a:spcPts val="0"/>
              </a:spcAft>
            </a:pPr>
            <a:r>
              <a:rPr sz="800" b="0" i="0" spc="80">
                <a:solidFill>
                  <a:srgbClr val="56657A"/>
                </a:solidFill>
                <a:latin typeface="Segoe UI Semibold"/>
              </a:rPr>
              <a:t>MASRON HUTABALIAN</a:t>
            </a:r>
          </a:p>
        </p:txBody>
      </p:sp>
      <p:sp>
        <p:nvSpPr>
          <p:cNvPr id="78" name="TextBox 77"/>
          <p:cNvSpPr txBox="1"/>
          <p:nvPr/>
        </p:nvSpPr>
        <p:spPr>
          <a:xfrm>
            <a:off x="10911535" y="6419088"/>
            <a:ext cx="731520" cy="237744"/>
          </a:xfrm>
          <a:prstGeom prst="rect">
            <a:avLst/>
          </a:prstGeom>
          <a:noFill/>
        </p:spPr>
        <p:txBody>
          <a:bodyPr wrap="square" lIns="0" tIns="0" rIns="0" bIns="0" anchor="t">
            <a:spAutoFit/>
          </a:bodyPr>
          <a:lstStyle/>
          <a:p>
            <a:pPr algn="r">
              <a:lnSpc>
                <a:spcPct val="105000"/>
              </a:lnSpc>
              <a:spcAft>
                <a:spcPts val="0"/>
              </a:spcAft>
            </a:pPr>
            <a:r>
              <a:rPr sz="900" b="0" i="0">
                <a:solidFill>
                  <a:srgbClr val="98A3B3"/>
                </a:solidFill>
                <a:latin typeface="Segoe UI"/>
              </a:rPr>
              <a:t>13</a:t>
            </a: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82880"/>
            <a:ext cx="95234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DATA CENTER</a:t>
            </a:r>
          </a:p>
        </p:txBody>
      </p:sp>
      <p:sp>
        <p:nvSpPr>
          <p:cNvPr id="3" name="TextBox 2"/>
          <p:cNvSpPr txBox="1"/>
          <p:nvPr/>
        </p:nvSpPr>
        <p:spPr>
          <a:xfrm>
            <a:off x="1409543"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4" name="TextBox 3"/>
          <p:cNvSpPr txBox="1"/>
          <p:nvPr/>
        </p:nvSpPr>
        <p:spPr>
          <a:xfrm>
            <a:off x="1702151" y="182880"/>
            <a:ext cx="78485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INTERFACE</a:t>
            </a:r>
          </a:p>
        </p:txBody>
      </p:sp>
      <p:sp>
        <p:nvSpPr>
          <p:cNvPr id="5" name="TextBox 4"/>
          <p:cNvSpPr txBox="1"/>
          <p:nvPr/>
        </p:nvSpPr>
        <p:spPr>
          <a:xfrm>
            <a:off x="239556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6" name="TextBox 5"/>
          <p:cNvSpPr txBox="1"/>
          <p:nvPr/>
        </p:nvSpPr>
        <p:spPr>
          <a:xfrm>
            <a:off x="2688175" y="182880"/>
            <a:ext cx="724872"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CONTROL</a:t>
            </a:r>
          </a:p>
        </p:txBody>
      </p:sp>
      <p:sp>
        <p:nvSpPr>
          <p:cNvPr id="7" name="TextBox 6"/>
          <p:cNvSpPr txBox="1"/>
          <p:nvPr/>
        </p:nvSpPr>
        <p:spPr>
          <a:xfrm>
            <a:off x="3321608"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8" name="TextBox 7"/>
          <p:cNvSpPr txBox="1"/>
          <p:nvPr/>
        </p:nvSpPr>
        <p:spPr>
          <a:xfrm>
            <a:off x="3614216" y="182880"/>
            <a:ext cx="115377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COMMISSIONING</a:t>
            </a:r>
          </a:p>
        </p:txBody>
      </p:sp>
      <p:sp>
        <p:nvSpPr>
          <p:cNvPr id="9" name="TextBox 8"/>
          <p:cNvSpPr txBox="1"/>
          <p:nvPr/>
        </p:nvSpPr>
        <p:spPr>
          <a:xfrm>
            <a:off x="4676549"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0" name="TextBox 9"/>
          <p:cNvSpPr txBox="1"/>
          <p:nvPr/>
        </p:nvSpPr>
        <p:spPr>
          <a:xfrm>
            <a:off x="4969157" y="182880"/>
            <a:ext cx="945555"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MONITORING</a:t>
            </a:r>
          </a:p>
        </p:txBody>
      </p:sp>
      <p:sp>
        <p:nvSpPr>
          <p:cNvPr id="11" name="TextBox 10"/>
          <p:cNvSpPr txBox="1"/>
          <p:nvPr/>
        </p:nvSpPr>
        <p:spPr>
          <a:xfrm>
            <a:off x="582327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2" name="TextBox 11"/>
          <p:cNvSpPr txBox="1"/>
          <p:nvPr/>
        </p:nvSpPr>
        <p:spPr>
          <a:xfrm>
            <a:off x="6115879" y="182880"/>
            <a:ext cx="63679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1F5BD8"/>
                </a:solidFill>
                <a:latin typeface="Segoe UI Semibold"/>
              </a:rPr>
              <a:t>REALITA</a:t>
            </a:r>
          </a:p>
        </p:txBody>
      </p:sp>
      <p:sp>
        <p:nvSpPr>
          <p:cNvPr id="13" name="Rectangle 12"/>
          <p:cNvSpPr/>
          <p:nvPr/>
        </p:nvSpPr>
        <p:spPr>
          <a:xfrm>
            <a:off x="6115879" y="420624"/>
            <a:ext cx="453916" cy="32004"/>
          </a:xfrm>
          <a:prstGeom prst="rect">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61235"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5" name="TextBox 14"/>
          <p:cNvSpPr txBox="1"/>
          <p:nvPr/>
        </p:nvSpPr>
        <p:spPr>
          <a:xfrm>
            <a:off x="6953843" y="182880"/>
            <a:ext cx="821309"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INFORMASI</a:t>
            </a:r>
          </a:p>
        </p:txBody>
      </p:sp>
      <p:sp>
        <p:nvSpPr>
          <p:cNvPr id="16" name="TextBox 15"/>
          <p:cNvSpPr txBox="1"/>
          <p:nvPr/>
        </p:nvSpPr>
        <p:spPr>
          <a:xfrm>
            <a:off x="7683712"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7" name="TextBox 16"/>
          <p:cNvSpPr txBox="1"/>
          <p:nvPr/>
        </p:nvSpPr>
        <p:spPr>
          <a:xfrm>
            <a:off x="7976320" y="182880"/>
            <a:ext cx="899541"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KNOWLEDGE</a:t>
            </a:r>
          </a:p>
        </p:txBody>
      </p:sp>
      <p:sp>
        <p:nvSpPr>
          <p:cNvPr id="18" name="TextBox 17"/>
          <p:cNvSpPr txBox="1"/>
          <p:nvPr/>
        </p:nvSpPr>
        <p:spPr>
          <a:xfrm>
            <a:off x="878442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9" name="TextBox 18"/>
          <p:cNvSpPr txBox="1"/>
          <p:nvPr/>
        </p:nvSpPr>
        <p:spPr>
          <a:xfrm>
            <a:off x="9077029" y="182880"/>
            <a:ext cx="733298"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OBSIDIAN</a:t>
            </a:r>
          </a:p>
        </p:txBody>
      </p:sp>
      <p:sp>
        <p:nvSpPr>
          <p:cNvPr id="20" name="TextBox 19"/>
          <p:cNvSpPr txBox="1"/>
          <p:nvPr/>
        </p:nvSpPr>
        <p:spPr>
          <a:xfrm>
            <a:off x="971888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21" name="TextBox 20"/>
          <p:cNvSpPr txBox="1"/>
          <p:nvPr/>
        </p:nvSpPr>
        <p:spPr>
          <a:xfrm>
            <a:off x="10011495" y="182880"/>
            <a:ext cx="297434"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AI</a:t>
            </a:r>
          </a:p>
        </p:txBody>
      </p:sp>
      <p:sp>
        <p:nvSpPr>
          <p:cNvPr id="22" name="!!title"/>
          <p:cNvSpPr txBox="1"/>
          <p:nvPr/>
        </p:nvSpPr>
        <p:spPr>
          <a:xfrm>
            <a:off x="548640" y="566928"/>
            <a:ext cx="11094415" cy="841248"/>
          </a:xfrm>
          <a:prstGeom prst="rect">
            <a:avLst/>
          </a:prstGeom>
          <a:noFill/>
        </p:spPr>
        <p:txBody>
          <a:bodyPr wrap="square" lIns="0" tIns="0" rIns="0" bIns="0" anchor="b">
            <a:spAutoFit/>
          </a:bodyPr>
          <a:lstStyle/>
          <a:p>
            <a:pPr algn="l">
              <a:lnSpc>
                <a:spcPct val="95000"/>
              </a:lnSpc>
              <a:spcAft>
                <a:spcPts val="0"/>
              </a:spcAft>
            </a:pPr>
            <a:r>
              <a:rPr sz="2800" b="0" i="0">
                <a:solidFill>
                  <a:srgbClr val="0B1F33"/>
                </a:solidFill>
                <a:latin typeface="Georgia"/>
              </a:rPr>
              <a:t>Satu activity di schedule: satu bar, dua tanggal</a:t>
            </a:r>
          </a:p>
        </p:txBody>
      </p:sp>
      <p:cxnSp>
        <p:nvCxnSpPr>
          <p:cNvPr id="23" name="Connector 22"/>
          <p:cNvCxnSpPr/>
          <p:nvPr/>
        </p:nvCxnSpPr>
        <p:spPr>
          <a:xfrm>
            <a:off x="548640" y="1517904"/>
            <a:ext cx="11094415" cy="0"/>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48640" y="1828800"/>
            <a:ext cx="914400" cy="237744"/>
          </a:xfrm>
          <a:prstGeom prst="rect">
            <a:avLst/>
          </a:prstGeom>
          <a:noFill/>
        </p:spPr>
        <p:txBody>
          <a:bodyPr wrap="none" lIns="0" tIns="0" rIns="0" bIns="0" anchor="ctr">
            <a:spAutoFit/>
          </a:bodyPr>
          <a:lstStyle/>
          <a:p>
            <a:pPr algn="l">
              <a:lnSpc>
                <a:spcPct val="105000"/>
              </a:lnSpc>
              <a:spcAft>
                <a:spcPts val="0"/>
              </a:spcAft>
            </a:pPr>
            <a:r>
              <a:rPr sz="850" b="0" i="0" spc="80">
                <a:solidFill>
                  <a:srgbClr val="56657A"/>
                </a:solidFill>
                <a:latin typeface="Segoe UI Semibold"/>
              </a:rPr>
              <a:t>ID</a:t>
            </a:r>
          </a:p>
        </p:txBody>
      </p:sp>
      <p:sp>
        <p:nvSpPr>
          <p:cNvPr id="25" name="TextBox 24"/>
          <p:cNvSpPr txBox="1"/>
          <p:nvPr/>
        </p:nvSpPr>
        <p:spPr>
          <a:xfrm>
            <a:off x="1325880" y="1828800"/>
            <a:ext cx="2743200" cy="237744"/>
          </a:xfrm>
          <a:prstGeom prst="rect">
            <a:avLst/>
          </a:prstGeom>
          <a:noFill/>
        </p:spPr>
        <p:txBody>
          <a:bodyPr wrap="none" lIns="0" tIns="0" rIns="0" bIns="0" anchor="ctr">
            <a:spAutoFit/>
          </a:bodyPr>
          <a:lstStyle/>
          <a:p>
            <a:pPr algn="l">
              <a:lnSpc>
                <a:spcPct val="105000"/>
              </a:lnSpc>
              <a:spcAft>
                <a:spcPts val="0"/>
              </a:spcAft>
            </a:pPr>
            <a:r>
              <a:rPr sz="850" b="0" i="0" spc="80">
                <a:solidFill>
                  <a:srgbClr val="56657A"/>
                </a:solidFill>
                <a:latin typeface="Segoe UI Semibold"/>
              </a:rPr>
              <a:t>ACTIVITY</a:t>
            </a:r>
          </a:p>
        </p:txBody>
      </p:sp>
      <p:cxnSp>
        <p:nvCxnSpPr>
          <p:cNvPr id="26" name="Connector 25"/>
          <p:cNvCxnSpPr/>
          <p:nvPr/>
        </p:nvCxnSpPr>
        <p:spPr>
          <a:xfrm>
            <a:off x="4754880" y="2103120"/>
            <a:ext cx="0" cy="1792224"/>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809744" y="1828800"/>
            <a:ext cx="822960" cy="237744"/>
          </a:xfrm>
          <a:prstGeom prst="rect">
            <a:avLst/>
          </a:prstGeom>
          <a:noFill/>
        </p:spPr>
        <p:txBody>
          <a:bodyPr wrap="square" lIns="0" tIns="0" rIns="0" bIns="0" anchor="ctr">
            <a:spAutoFit/>
          </a:bodyPr>
          <a:lstStyle/>
          <a:p>
            <a:pPr algn="l">
              <a:lnSpc>
                <a:spcPct val="105000"/>
              </a:lnSpc>
              <a:spcAft>
                <a:spcPts val="0"/>
              </a:spcAft>
            </a:pPr>
            <a:r>
              <a:rPr sz="850" b="0" i="0">
                <a:solidFill>
                  <a:srgbClr val="98A3B3"/>
                </a:solidFill>
                <a:latin typeface="Segoe UI Semibold"/>
              </a:rPr>
              <a:t>W11</a:t>
            </a:r>
          </a:p>
        </p:txBody>
      </p:sp>
      <p:cxnSp>
        <p:nvCxnSpPr>
          <p:cNvPr id="28" name="Connector 27"/>
          <p:cNvCxnSpPr/>
          <p:nvPr/>
        </p:nvCxnSpPr>
        <p:spPr>
          <a:xfrm>
            <a:off x="5615902" y="2103120"/>
            <a:ext cx="0" cy="1792224"/>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670766" y="1828800"/>
            <a:ext cx="822960" cy="237744"/>
          </a:xfrm>
          <a:prstGeom prst="rect">
            <a:avLst/>
          </a:prstGeom>
          <a:noFill/>
        </p:spPr>
        <p:txBody>
          <a:bodyPr wrap="square" lIns="0" tIns="0" rIns="0" bIns="0" anchor="ctr">
            <a:spAutoFit/>
          </a:bodyPr>
          <a:lstStyle/>
          <a:p>
            <a:pPr algn="l">
              <a:lnSpc>
                <a:spcPct val="105000"/>
              </a:lnSpc>
              <a:spcAft>
                <a:spcPts val="0"/>
              </a:spcAft>
            </a:pPr>
            <a:r>
              <a:rPr sz="850" b="0" i="0">
                <a:solidFill>
                  <a:srgbClr val="98A3B3"/>
                </a:solidFill>
                <a:latin typeface="Segoe UI Semibold"/>
              </a:rPr>
              <a:t>W12</a:t>
            </a:r>
          </a:p>
        </p:txBody>
      </p:sp>
      <p:cxnSp>
        <p:nvCxnSpPr>
          <p:cNvPr id="30" name="Connector 29"/>
          <p:cNvCxnSpPr/>
          <p:nvPr/>
        </p:nvCxnSpPr>
        <p:spPr>
          <a:xfrm>
            <a:off x="6476924" y="2103120"/>
            <a:ext cx="0" cy="1792224"/>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531788" y="1828800"/>
            <a:ext cx="822960" cy="237744"/>
          </a:xfrm>
          <a:prstGeom prst="rect">
            <a:avLst/>
          </a:prstGeom>
          <a:noFill/>
        </p:spPr>
        <p:txBody>
          <a:bodyPr wrap="square" lIns="0" tIns="0" rIns="0" bIns="0" anchor="ctr">
            <a:spAutoFit/>
          </a:bodyPr>
          <a:lstStyle/>
          <a:p>
            <a:pPr algn="l">
              <a:lnSpc>
                <a:spcPct val="105000"/>
              </a:lnSpc>
              <a:spcAft>
                <a:spcPts val="0"/>
              </a:spcAft>
            </a:pPr>
            <a:r>
              <a:rPr sz="850" b="0" i="0">
                <a:solidFill>
                  <a:srgbClr val="98A3B3"/>
                </a:solidFill>
                <a:latin typeface="Segoe UI Semibold"/>
              </a:rPr>
              <a:t>W13</a:t>
            </a:r>
          </a:p>
        </p:txBody>
      </p:sp>
      <p:cxnSp>
        <p:nvCxnSpPr>
          <p:cNvPr id="32" name="Connector 31"/>
          <p:cNvCxnSpPr/>
          <p:nvPr/>
        </p:nvCxnSpPr>
        <p:spPr>
          <a:xfrm>
            <a:off x="7337946" y="2103120"/>
            <a:ext cx="0" cy="1792224"/>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92810" y="1828800"/>
            <a:ext cx="822960" cy="237744"/>
          </a:xfrm>
          <a:prstGeom prst="rect">
            <a:avLst/>
          </a:prstGeom>
          <a:noFill/>
        </p:spPr>
        <p:txBody>
          <a:bodyPr wrap="square" lIns="0" tIns="0" rIns="0" bIns="0" anchor="ctr">
            <a:spAutoFit/>
          </a:bodyPr>
          <a:lstStyle/>
          <a:p>
            <a:pPr algn="l">
              <a:lnSpc>
                <a:spcPct val="105000"/>
              </a:lnSpc>
              <a:spcAft>
                <a:spcPts val="0"/>
              </a:spcAft>
            </a:pPr>
            <a:r>
              <a:rPr sz="850" b="0" i="0">
                <a:solidFill>
                  <a:srgbClr val="98A3B3"/>
                </a:solidFill>
                <a:latin typeface="Segoe UI Semibold"/>
              </a:rPr>
              <a:t>W14</a:t>
            </a:r>
          </a:p>
        </p:txBody>
      </p:sp>
      <p:cxnSp>
        <p:nvCxnSpPr>
          <p:cNvPr id="34" name="Connector 33"/>
          <p:cNvCxnSpPr/>
          <p:nvPr/>
        </p:nvCxnSpPr>
        <p:spPr>
          <a:xfrm>
            <a:off x="8198968" y="2103120"/>
            <a:ext cx="0" cy="1792224"/>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253832" y="1828800"/>
            <a:ext cx="822960" cy="237744"/>
          </a:xfrm>
          <a:prstGeom prst="rect">
            <a:avLst/>
          </a:prstGeom>
          <a:noFill/>
        </p:spPr>
        <p:txBody>
          <a:bodyPr wrap="square" lIns="0" tIns="0" rIns="0" bIns="0" anchor="ctr">
            <a:spAutoFit/>
          </a:bodyPr>
          <a:lstStyle/>
          <a:p>
            <a:pPr algn="l">
              <a:lnSpc>
                <a:spcPct val="105000"/>
              </a:lnSpc>
              <a:spcAft>
                <a:spcPts val="0"/>
              </a:spcAft>
            </a:pPr>
            <a:r>
              <a:rPr sz="850" b="0" i="0">
                <a:solidFill>
                  <a:srgbClr val="98A3B3"/>
                </a:solidFill>
                <a:latin typeface="Segoe UI Semibold"/>
              </a:rPr>
              <a:t>W15</a:t>
            </a:r>
          </a:p>
        </p:txBody>
      </p:sp>
      <p:cxnSp>
        <p:nvCxnSpPr>
          <p:cNvPr id="36" name="Connector 35"/>
          <p:cNvCxnSpPr/>
          <p:nvPr/>
        </p:nvCxnSpPr>
        <p:spPr>
          <a:xfrm>
            <a:off x="9059990" y="2103120"/>
            <a:ext cx="0" cy="1792224"/>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114854" y="1828800"/>
            <a:ext cx="822960" cy="237744"/>
          </a:xfrm>
          <a:prstGeom prst="rect">
            <a:avLst/>
          </a:prstGeom>
          <a:noFill/>
        </p:spPr>
        <p:txBody>
          <a:bodyPr wrap="square" lIns="0" tIns="0" rIns="0" bIns="0" anchor="ctr">
            <a:spAutoFit/>
          </a:bodyPr>
          <a:lstStyle/>
          <a:p>
            <a:pPr algn="l">
              <a:lnSpc>
                <a:spcPct val="105000"/>
              </a:lnSpc>
              <a:spcAft>
                <a:spcPts val="0"/>
              </a:spcAft>
            </a:pPr>
            <a:r>
              <a:rPr sz="850" b="0" i="0">
                <a:solidFill>
                  <a:srgbClr val="98A3B3"/>
                </a:solidFill>
                <a:latin typeface="Segoe UI Semibold"/>
              </a:rPr>
              <a:t>W16</a:t>
            </a:r>
          </a:p>
        </p:txBody>
      </p:sp>
      <p:cxnSp>
        <p:nvCxnSpPr>
          <p:cNvPr id="38" name="Connector 37"/>
          <p:cNvCxnSpPr/>
          <p:nvPr/>
        </p:nvCxnSpPr>
        <p:spPr>
          <a:xfrm>
            <a:off x="9921011" y="2103120"/>
            <a:ext cx="0" cy="1792224"/>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9975875" y="1828800"/>
            <a:ext cx="822960" cy="237744"/>
          </a:xfrm>
          <a:prstGeom prst="rect">
            <a:avLst/>
          </a:prstGeom>
          <a:noFill/>
        </p:spPr>
        <p:txBody>
          <a:bodyPr wrap="square" lIns="0" tIns="0" rIns="0" bIns="0" anchor="ctr">
            <a:spAutoFit/>
          </a:bodyPr>
          <a:lstStyle/>
          <a:p>
            <a:pPr algn="l">
              <a:lnSpc>
                <a:spcPct val="105000"/>
              </a:lnSpc>
              <a:spcAft>
                <a:spcPts val="0"/>
              </a:spcAft>
            </a:pPr>
            <a:r>
              <a:rPr sz="850" b="0" i="0">
                <a:solidFill>
                  <a:srgbClr val="98A3B3"/>
                </a:solidFill>
                <a:latin typeface="Segoe UI Semibold"/>
              </a:rPr>
              <a:t>W17</a:t>
            </a:r>
          </a:p>
        </p:txBody>
      </p:sp>
      <p:cxnSp>
        <p:nvCxnSpPr>
          <p:cNvPr id="40" name="Connector 39"/>
          <p:cNvCxnSpPr/>
          <p:nvPr/>
        </p:nvCxnSpPr>
        <p:spPr>
          <a:xfrm>
            <a:off x="10782033" y="2103120"/>
            <a:ext cx="0" cy="1792224"/>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10836897" y="1828800"/>
            <a:ext cx="822960" cy="237744"/>
          </a:xfrm>
          <a:prstGeom prst="rect">
            <a:avLst/>
          </a:prstGeom>
          <a:noFill/>
        </p:spPr>
        <p:txBody>
          <a:bodyPr wrap="square" lIns="0" tIns="0" rIns="0" bIns="0" anchor="ctr">
            <a:spAutoFit/>
          </a:bodyPr>
          <a:lstStyle/>
          <a:p>
            <a:pPr algn="l">
              <a:lnSpc>
                <a:spcPct val="105000"/>
              </a:lnSpc>
              <a:spcAft>
                <a:spcPts val="0"/>
              </a:spcAft>
            </a:pPr>
            <a:r>
              <a:rPr sz="850" b="0" i="0">
                <a:solidFill>
                  <a:srgbClr val="98A3B3"/>
                </a:solidFill>
                <a:latin typeface="Segoe UI Semibold"/>
              </a:rPr>
              <a:t>W18</a:t>
            </a:r>
          </a:p>
        </p:txBody>
      </p:sp>
      <p:cxnSp>
        <p:nvCxnSpPr>
          <p:cNvPr id="42" name="Connector 41"/>
          <p:cNvCxnSpPr/>
          <p:nvPr/>
        </p:nvCxnSpPr>
        <p:spPr>
          <a:xfrm>
            <a:off x="548640" y="2103120"/>
            <a:ext cx="11094415" cy="0"/>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43" name="!!idA-3020"/>
          <p:cNvSpPr txBox="1"/>
          <p:nvPr/>
        </p:nvSpPr>
        <p:spPr>
          <a:xfrm>
            <a:off x="548640" y="2212848"/>
            <a:ext cx="731520" cy="420624"/>
          </a:xfrm>
          <a:prstGeom prst="rect">
            <a:avLst/>
          </a:prstGeom>
          <a:noFill/>
        </p:spPr>
        <p:txBody>
          <a:bodyPr wrap="square" lIns="0" tIns="0" rIns="0" bIns="0" anchor="ctr">
            <a:spAutoFit/>
          </a:bodyPr>
          <a:lstStyle/>
          <a:p>
            <a:pPr algn="l">
              <a:lnSpc>
                <a:spcPct val="105000"/>
              </a:lnSpc>
              <a:spcAft>
                <a:spcPts val="0"/>
              </a:spcAft>
            </a:pPr>
            <a:r>
              <a:rPr sz="1050" b="0" i="0">
                <a:solidFill>
                  <a:srgbClr val="56657A"/>
                </a:solidFill>
                <a:latin typeface="Consolas"/>
              </a:rPr>
              <a:t>A-3020</a:t>
            </a:r>
          </a:p>
        </p:txBody>
      </p:sp>
      <p:sp>
        <p:nvSpPr>
          <p:cNvPr id="44" name="!!nmA-3020"/>
          <p:cNvSpPr txBox="1"/>
          <p:nvPr/>
        </p:nvSpPr>
        <p:spPr>
          <a:xfrm>
            <a:off x="1325880" y="2212848"/>
            <a:ext cx="3291840" cy="420624"/>
          </a:xfrm>
          <a:prstGeom prst="rect">
            <a:avLst/>
          </a:prstGeom>
          <a:noFill/>
        </p:spPr>
        <p:txBody>
          <a:bodyPr wrap="none" lIns="0" tIns="0" rIns="0" bIns="0" anchor="ctr">
            <a:spAutoFit/>
          </a:bodyPr>
          <a:lstStyle/>
          <a:p>
            <a:pPr algn="l">
              <a:lnSpc>
                <a:spcPct val="105000"/>
              </a:lnSpc>
              <a:spcAft>
                <a:spcPts val="0"/>
              </a:spcAft>
            </a:pPr>
            <a:r>
              <a:rPr sz="1150" b="0" i="0">
                <a:solidFill>
                  <a:srgbClr val="56657A"/>
                </a:solidFill>
                <a:latin typeface="Segoe UI"/>
              </a:rPr>
              <a:t>Cable Containment Installation — Area A</a:t>
            </a:r>
          </a:p>
        </p:txBody>
      </p:sp>
      <p:sp>
        <p:nvSpPr>
          <p:cNvPr id="45" name="!!barA-3020"/>
          <p:cNvSpPr/>
          <p:nvPr/>
        </p:nvSpPr>
        <p:spPr>
          <a:xfrm>
            <a:off x="4754880" y="2331720"/>
            <a:ext cx="615016" cy="182880"/>
          </a:xfrm>
          <a:prstGeom prst="roundRect">
            <a:avLst>
              <a:gd name="adj" fmla="val 50000"/>
            </a:avLst>
          </a:prstGeom>
          <a:solidFill>
            <a:srgbClr val="98A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idA-2030"/>
          <p:cNvSpPr txBox="1"/>
          <p:nvPr/>
        </p:nvSpPr>
        <p:spPr>
          <a:xfrm>
            <a:off x="548640" y="2633472"/>
            <a:ext cx="731520" cy="420624"/>
          </a:xfrm>
          <a:prstGeom prst="rect">
            <a:avLst/>
          </a:prstGeom>
          <a:noFill/>
        </p:spPr>
        <p:txBody>
          <a:bodyPr wrap="square" lIns="0" tIns="0" rIns="0" bIns="0" anchor="ctr">
            <a:spAutoFit/>
          </a:bodyPr>
          <a:lstStyle/>
          <a:p>
            <a:pPr algn="l">
              <a:lnSpc>
                <a:spcPct val="105000"/>
              </a:lnSpc>
              <a:spcAft>
                <a:spcPts val="0"/>
              </a:spcAft>
            </a:pPr>
            <a:r>
              <a:rPr sz="1050" b="0" i="0">
                <a:solidFill>
                  <a:srgbClr val="56657A"/>
                </a:solidFill>
                <a:latin typeface="Consolas"/>
              </a:rPr>
              <a:t>A-2030</a:t>
            </a:r>
          </a:p>
        </p:txBody>
      </p:sp>
      <p:sp>
        <p:nvSpPr>
          <p:cNvPr id="47" name="!!nmA-2030"/>
          <p:cNvSpPr txBox="1"/>
          <p:nvPr/>
        </p:nvSpPr>
        <p:spPr>
          <a:xfrm>
            <a:off x="1325880" y="2633472"/>
            <a:ext cx="3291840" cy="420624"/>
          </a:xfrm>
          <a:prstGeom prst="rect">
            <a:avLst/>
          </a:prstGeom>
          <a:noFill/>
        </p:spPr>
        <p:txBody>
          <a:bodyPr wrap="none" lIns="0" tIns="0" rIns="0" bIns="0" anchor="ctr">
            <a:spAutoFit/>
          </a:bodyPr>
          <a:lstStyle/>
          <a:p>
            <a:pPr algn="l">
              <a:lnSpc>
                <a:spcPct val="105000"/>
              </a:lnSpc>
              <a:spcAft>
                <a:spcPts val="0"/>
              </a:spcAft>
            </a:pPr>
            <a:r>
              <a:rPr sz="1150" b="0" i="0">
                <a:solidFill>
                  <a:srgbClr val="56657A"/>
                </a:solidFill>
                <a:latin typeface="Segoe UI"/>
              </a:rPr>
              <a:t>Delivery &amp; Receiving Inspection — LV Switchb…</a:t>
            </a:r>
          </a:p>
        </p:txBody>
      </p:sp>
      <p:sp>
        <p:nvSpPr>
          <p:cNvPr id="48" name="!!barA-2030"/>
          <p:cNvSpPr/>
          <p:nvPr/>
        </p:nvSpPr>
        <p:spPr>
          <a:xfrm>
            <a:off x="5861908" y="2752344"/>
            <a:ext cx="1353034" cy="182880"/>
          </a:xfrm>
          <a:prstGeom prst="roundRect">
            <a:avLst>
              <a:gd name="adj" fmla="val 50000"/>
            </a:avLst>
          </a:prstGeom>
          <a:solidFill>
            <a:srgbClr val="98A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wbg"/>
          <p:cNvSpPr/>
          <p:nvPr/>
        </p:nvSpPr>
        <p:spPr>
          <a:xfrm>
            <a:off x="457200" y="3072384"/>
            <a:ext cx="11277295" cy="384048"/>
          </a:xfrm>
          <a:prstGeom prst="rect">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idA-3030"/>
          <p:cNvSpPr txBox="1"/>
          <p:nvPr/>
        </p:nvSpPr>
        <p:spPr>
          <a:xfrm>
            <a:off x="548640" y="3054096"/>
            <a:ext cx="731520" cy="420624"/>
          </a:xfrm>
          <a:prstGeom prst="rect">
            <a:avLst/>
          </a:prstGeom>
          <a:noFill/>
        </p:spPr>
        <p:txBody>
          <a:bodyPr wrap="square" lIns="0" tIns="0" rIns="0" bIns="0" anchor="ctr">
            <a:spAutoFit/>
          </a:bodyPr>
          <a:lstStyle/>
          <a:p>
            <a:pPr algn="l">
              <a:lnSpc>
                <a:spcPct val="105000"/>
              </a:lnSpc>
              <a:spcAft>
                <a:spcPts val="0"/>
              </a:spcAft>
            </a:pPr>
            <a:r>
              <a:rPr sz="1050" b="0" i="0">
                <a:solidFill>
                  <a:srgbClr val="0B1F33"/>
                </a:solidFill>
                <a:latin typeface="Consolas"/>
              </a:rPr>
              <a:t>A-3030</a:t>
            </a:r>
          </a:p>
        </p:txBody>
      </p:sp>
      <p:sp>
        <p:nvSpPr>
          <p:cNvPr id="51" name="!!nmA-3030"/>
          <p:cNvSpPr txBox="1"/>
          <p:nvPr/>
        </p:nvSpPr>
        <p:spPr>
          <a:xfrm>
            <a:off x="1325880" y="3054096"/>
            <a:ext cx="3291840" cy="420624"/>
          </a:xfrm>
          <a:prstGeom prst="rect">
            <a:avLst/>
          </a:prstGeom>
          <a:noFill/>
        </p:spPr>
        <p:txBody>
          <a:bodyPr wrap="none" lIns="0" tIns="0" rIns="0" bIns="0" anchor="ctr">
            <a:spAutoFit/>
          </a:bodyPr>
          <a:lstStyle/>
          <a:p>
            <a:pPr algn="l">
              <a:lnSpc>
                <a:spcPct val="105000"/>
              </a:lnSpc>
              <a:spcAft>
                <a:spcPts val="0"/>
              </a:spcAft>
            </a:pPr>
            <a:r>
              <a:rPr sz="1150" b="0" i="0">
                <a:solidFill>
                  <a:srgbClr val="0B1F33"/>
                </a:solidFill>
                <a:latin typeface="Segoe UI Semibold"/>
              </a:rPr>
              <a:t>Electrical Equipment Installation — Area A</a:t>
            </a:r>
          </a:p>
        </p:txBody>
      </p:sp>
      <p:sp>
        <p:nvSpPr>
          <p:cNvPr id="52" name="!!barA-3030"/>
          <p:cNvSpPr/>
          <p:nvPr/>
        </p:nvSpPr>
        <p:spPr>
          <a:xfrm>
            <a:off x="7337946" y="3172968"/>
            <a:ext cx="1599041" cy="182880"/>
          </a:xfrm>
          <a:prstGeom prst="roundRect">
            <a:avLst>
              <a:gd name="adj" fmla="val 50000"/>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idA-3040"/>
          <p:cNvSpPr txBox="1"/>
          <p:nvPr/>
        </p:nvSpPr>
        <p:spPr>
          <a:xfrm>
            <a:off x="548640" y="3474720"/>
            <a:ext cx="731520" cy="420624"/>
          </a:xfrm>
          <a:prstGeom prst="rect">
            <a:avLst/>
          </a:prstGeom>
          <a:noFill/>
        </p:spPr>
        <p:txBody>
          <a:bodyPr wrap="square" lIns="0" tIns="0" rIns="0" bIns="0" anchor="ctr">
            <a:spAutoFit/>
          </a:bodyPr>
          <a:lstStyle/>
          <a:p>
            <a:pPr algn="l">
              <a:lnSpc>
                <a:spcPct val="105000"/>
              </a:lnSpc>
              <a:spcAft>
                <a:spcPts val="0"/>
              </a:spcAft>
            </a:pPr>
            <a:r>
              <a:rPr sz="1050" b="0" i="0">
                <a:solidFill>
                  <a:srgbClr val="56657A"/>
                </a:solidFill>
                <a:latin typeface="Consolas"/>
              </a:rPr>
              <a:t>A-3040</a:t>
            </a:r>
          </a:p>
        </p:txBody>
      </p:sp>
      <p:sp>
        <p:nvSpPr>
          <p:cNvPr id="54" name="!!nmA-3040"/>
          <p:cNvSpPr txBox="1"/>
          <p:nvPr/>
        </p:nvSpPr>
        <p:spPr>
          <a:xfrm>
            <a:off x="1325880" y="3474720"/>
            <a:ext cx="3291840" cy="420624"/>
          </a:xfrm>
          <a:prstGeom prst="rect">
            <a:avLst/>
          </a:prstGeom>
          <a:noFill/>
        </p:spPr>
        <p:txBody>
          <a:bodyPr wrap="none" lIns="0" tIns="0" rIns="0" bIns="0" anchor="ctr">
            <a:spAutoFit/>
          </a:bodyPr>
          <a:lstStyle/>
          <a:p>
            <a:pPr algn="l">
              <a:lnSpc>
                <a:spcPct val="105000"/>
              </a:lnSpc>
              <a:spcAft>
                <a:spcPts val="0"/>
              </a:spcAft>
            </a:pPr>
            <a:r>
              <a:rPr sz="1150" b="0" i="0">
                <a:solidFill>
                  <a:srgbClr val="56657A"/>
                </a:solidFill>
                <a:latin typeface="Segoe UI"/>
              </a:rPr>
              <a:t>Busway &amp; LV Cable Pulling — Area A to Data H…</a:t>
            </a:r>
          </a:p>
        </p:txBody>
      </p:sp>
      <p:sp>
        <p:nvSpPr>
          <p:cNvPr id="55" name="!!barA-3040"/>
          <p:cNvSpPr/>
          <p:nvPr/>
        </p:nvSpPr>
        <p:spPr>
          <a:xfrm>
            <a:off x="8198968" y="3593592"/>
            <a:ext cx="2460063" cy="182880"/>
          </a:xfrm>
          <a:prstGeom prst="roundRect">
            <a:avLst>
              <a:gd name="adj" fmla="val 50000"/>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6" name="Connector 55"/>
          <p:cNvCxnSpPr/>
          <p:nvPr/>
        </p:nvCxnSpPr>
        <p:spPr>
          <a:xfrm>
            <a:off x="7337946" y="2103120"/>
            <a:ext cx="0" cy="1837944"/>
          </a:xfrm>
          <a:prstGeom prst="line">
            <a:avLst/>
          </a:prstGeom>
          <a:ln w="19050">
            <a:solidFill>
              <a:srgbClr val="D8403F"/>
            </a:solidFill>
            <a:prstDash val="dash"/>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6423546" y="3968496"/>
            <a:ext cx="1828800" cy="237744"/>
          </a:xfrm>
          <a:prstGeom prst="rect">
            <a:avLst/>
          </a:prstGeom>
          <a:noFill/>
        </p:spPr>
        <p:txBody>
          <a:bodyPr wrap="none" lIns="0" tIns="0" rIns="0" bIns="0" anchor="ctr">
            <a:spAutoFit/>
          </a:bodyPr>
          <a:lstStyle/>
          <a:p>
            <a:pPr algn="ctr">
              <a:lnSpc>
                <a:spcPct val="105000"/>
              </a:lnSpc>
              <a:spcAft>
                <a:spcPts val="0"/>
              </a:spcAft>
            </a:pPr>
            <a:r>
              <a:rPr sz="850" b="0" i="0" spc="80">
                <a:solidFill>
                  <a:srgbClr val="D8403F"/>
                </a:solidFill>
                <a:latin typeface="Segoe UI Semibold"/>
              </a:rPr>
              <a:t>DATA DATE</a:t>
            </a:r>
          </a:p>
        </p:txBody>
      </p:sp>
      <p:sp>
        <p:nvSpPr>
          <p:cNvPr id="58" name="Oval 57"/>
          <p:cNvSpPr/>
          <p:nvPr/>
        </p:nvSpPr>
        <p:spPr>
          <a:xfrm>
            <a:off x="548640" y="4572000"/>
            <a:ext cx="548640" cy="548640"/>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9" name="Picture 58" descr="E9CE-1F5BD8.png"/>
          <p:cNvPicPr>
            <a:picLocks noChangeAspect="1"/>
          </p:cNvPicPr>
          <p:nvPr/>
        </p:nvPicPr>
        <p:blipFill>
          <a:blip r:embed="rId3"/>
          <a:stretch>
            <a:fillRect/>
          </a:stretch>
        </p:blipFill>
        <p:spPr>
          <a:xfrm>
            <a:off x="685800" y="4709160"/>
            <a:ext cx="274320" cy="274320"/>
          </a:xfrm>
          <a:prstGeom prst="rect">
            <a:avLst/>
          </a:prstGeom>
        </p:spPr>
      </p:pic>
      <p:sp>
        <p:nvSpPr>
          <p:cNvPr id="60" name="TextBox 59"/>
          <p:cNvSpPr txBox="1"/>
          <p:nvPr/>
        </p:nvSpPr>
        <p:spPr>
          <a:xfrm>
            <a:off x="1280160" y="4480560"/>
            <a:ext cx="10058400" cy="731520"/>
          </a:xfrm>
          <a:prstGeom prst="rect">
            <a:avLst/>
          </a:prstGeom>
          <a:noFill/>
        </p:spPr>
        <p:txBody>
          <a:bodyPr wrap="square" lIns="0" tIns="0" rIns="0" bIns="0" anchor="ctr">
            <a:spAutoFit/>
          </a:bodyPr>
          <a:lstStyle/>
          <a:p>
            <a:pPr algn="l">
              <a:lnSpc>
                <a:spcPct val="105000"/>
              </a:lnSpc>
              <a:spcAft>
                <a:spcPts val="0"/>
              </a:spcAft>
            </a:pPr>
            <a:r>
              <a:rPr sz="2400" b="0" i="1">
                <a:solidFill>
                  <a:srgbClr val="0B1F33"/>
                </a:solidFill>
                <a:latin typeface="Georgia"/>
              </a:rPr>
              <a:t>Tanggal start sudah tiba. Apakah pekerjaan bisa dimulai?</a:t>
            </a:r>
          </a:p>
        </p:txBody>
      </p:sp>
      <p:sp>
        <p:nvSpPr>
          <p:cNvPr id="61" name="TextBox 60"/>
          <p:cNvSpPr txBox="1"/>
          <p:nvPr/>
        </p:nvSpPr>
        <p:spPr>
          <a:xfrm>
            <a:off x="548640" y="6419088"/>
            <a:ext cx="8686800" cy="237744"/>
          </a:xfrm>
          <a:prstGeom prst="rect">
            <a:avLst/>
          </a:prstGeom>
          <a:noFill/>
        </p:spPr>
        <p:txBody>
          <a:bodyPr wrap="none" lIns="0" tIns="0" rIns="0" bIns="0" anchor="t">
            <a:spAutoFit/>
          </a:bodyPr>
          <a:lstStyle/>
          <a:p>
            <a:pPr algn="l">
              <a:lnSpc>
                <a:spcPct val="105000"/>
              </a:lnSpc>
              <a:spcAft>
                <a:spcPts val="0"/>
              </a:spcAft>
            </a:pPr>
            <a:r>
              <a:rPr sz="850" b="0" i="0">
                <a:solidFill>
                  <a:srgbClr val="98A3B3"/>
                </a:solidFill>
                <a:latin typeface="Segoe UI"/>
              </a:rPr>
              <a:t>Data simulasi — Project Alpha adalah proyek fiktif.   ·   Sumber: REF-009 (vault demo › 06 Referensi)</a:t>
            </a:r>
          </a:p>
        </p:txBody>
      </p:sp>
      <p:sp>
        <p:nvSpPr>
          <p:cNvPr id="62" name="TextBox 61"/>
          <p:cNvSpPr txBox="1"/>
          <p:nvPr/>
        </p:nvSpPr>
        <p:spPr>
          <a:xfrm>
            <a:off x="7071055" y="6419088"/>
            <a:ext cx="3657600" cy="237744"/>
          </a:xfrm>
          <a:prstGeom prst="rect">
            <a:avLst/>
          </a:prstGeom>
          <a:noFill/>
        </p:spPr>
        <p:txBody>
          <a:bodyPr wrap="none" lIns="0" tIns="0" rIns="0" bIns="0" anchor="ctr">
            <a:spAutoFit/>
          </a:bodyPr>
          <a:lstStyle/>
          <a:p>
            <a:pPr algn="r">
              <a:lnSpc>
                <a:spcPct val="105000"/>
              </a:lnSpc>
              <a:spcAft>
                <a:spcPts val="0"/>
              </a:spcAft>
            </a:pPr>
            <a:r>
              <a:rPr sz="800" b="0" i="0" spc="80">
                <a:solidFill>
                  <a:srgbClr val="56657A"/>
                </a:solidFill>
                <a:latin typeface="Segoe UI Semibold"/>
              </a:rPr>
              <a:t>MASRON HUTABALIAN</a:t>
            </a:r>
          </a:p>
        </p:txBody>
      </p:sp>
      <p:sp>
        <p:nvSpPr>
          <p:cNvPr id="63" name="TextBox 62"/>
          <p:cNvSpPr txBox="1"/>
          <p:nvPr/>
        </p:nvSpPr>
        <p:spPr>
          <a:xfrm>
            <a:off x="10911535" y="6419088"/>
            <a:ext cx="731520" cy="237744"/>
          </a:xfrm>
          <a:prstGeom prst="rect">
            <a:avLst/>
          </a:prstGeom>
          <a:noFill/>
        </p:spPr>
        <p:txBody>
          <a:bodyPr wrap="square" lIns="0" tIns="0" rIns="0" bIns="0" anchor="t">
            <a:spAutoFit/>
          </a:bodyPr>
          <a:lstStyle/>
          <a:p>
            <a:pPr algn="r">
              <a:lnSpc>
                <a:spcPct val="105000"/>
              </a:lnSpc>
              <a:spcAft>
                <a:spcPts val="0"/>
              </a:spcAft>
            </a:pPr>
            <a:r>
              <a:rPr sz="900" b="0" i="0">
                <a:solidFill>
                  <a:srgbClr val="98A3B3"/>
                </a:solidFill>
                <a:latin typeface="Segoe UI"/>
              </a:rPr>
              <a:t>14</a:t>
            </a: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82880"/>
            <a:ext cx="95234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DATA CENTER</a:t>
            </a:r>
          </a:p>
        </p:txBody>
      </p:sp>
      <p:sp>
        <p:nvSpPr>
          <p:cNvPr id="3" name="TextBox 2"/>
          <p:cNvSpPr txBox="1"/>
          <p:nvPr/>
        </p:nvSpPr>
        <p:spPr>
          <a:xfrm>
            <a:off x="1409543"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4" name="TextBox 3"/>
          <p:cNvSpPr txBox="1"/>
          <p:nvPr/>
        </p:nvSpPr>
        <p:spPr>
          <a:xfrm>
            <a:off x="1702151" y="182880"/>
            <a:ext cx="78485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INTERFACE</a:t>
            </a:r>
          </a:p>
        </p:txBody>
      </p:sp>
      <p:sp>
        <p:nvSpPr>
          <p:cNvPr id="5" name="TextBox 4"/>
          <p:cNvSpPr txBox="1"/>
          <p:nvPr/>
        </p:nvSpPr>
        <p:spPr>
          <a:xfrm>
            <a:off x="239556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6" name="TextBox 5"/>
          <p:cNvSpPr txBox="1"/>
          <p:nvPr/>
        </p:nvSpPr>
        <p:spPr>
          <a:xfrm>
            <a:off x="2688175" y="182880"/>
            <a:ext cx="724872"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CONTROL</a:t>
            </a:r>
          </a:p>
        </p:txBody>
      </p:sp>
      <p:sp>
        <p:nvSpPr>
          <p:cNvPr id="7" name="TextBox 6"/>
          <p:cNvSpPr txBox="1"/>
          <p:nvPr/>
        </p:nvSpPr>
        <p:spPr>
          <a:xfrm>
            <a:off x="3321608"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8" name="TextBox 7"/>
          <p:cNvSpPr txBox="1"/>
          <p:nvPr/>
        </p:nvSpPr>
        <p:spPr>
          <a:xfrm>
            <a:off x="3614216" y="182880"/>
            <a:ext cx="115377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COMMISSIONING</a:t>
            </a:r>
          </a:p>
        </p:txBody>
      </p:sp>
      <p:sp>
        <p:nvSpPr>
          <p:cNvPr id="9" name="TextBox 8"/>
          <p:cNvSpPr txBox="1"/>
          <p:nvPr/>
        </p:nvSpPr>
        <p:spPr>
          <a:xfrm>
            <a:off x="4676549"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0" name="TextBox 9"/>
          <p:cNvSpPr txBox="1"/>
          <p:nvPr/>
        </p:nvSpPr>
        <p:spPr>
          <a:xfrm>
            <a:off x="4969157" y="182880"/>
            <a:ext cx="945555"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MONITORING</a:t>
            </a:r>
          </a:p>
        </p:txBody>
      </p:sp>
      <p:sp>
        <p:nvSpPr>
          <p:cNvPr id="11" name="TextBox 10"/>
          <p:cNvSpPr txBox="1"/>
          <p:nvPr/>
        </p:nvSpPr>
        <p:spPr>
          <a:xfrm>
            <a:off x="582327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2" name="TextBox 11"/>
          <p:cNvSpPr txBox="1"/>
          <p:nvPr/>
        </p:nvSpPr>
        <p:spPr>
          <a:xfrm>
            <a:off x="6115879" y="182880"/>
            <a:ext cx="63679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1F5BD8"/>
                </a:solidFill>
                <a:latin typeface="Segoe UI Semibold"/>
              </a:rPr>
              <a:t>REALITA</a:t>
            </a:r>
          </a:p>
        </p:txBody>
      </p:sp>
      <p:sp>
        <p:nvSpPr>
          <p:cNvPr id="13" name="Rectangle 12"/>
          <p:cNvSpPr/>
          <p:nvPr/>
        </p:nvSpPr>
        <p:spPr>
          <a:xfrm>
            <a:off x="6115879" y="420624"/>
            <a:ext cx="453916" cy="32004"/>
          </a:xfrm>
          <a:prstGeom prst="rect">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61235"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5" name="TextBox 14"/>
          <p:cNvSpPr txBox="1"/>
          <p:nvPr/>
        </p:nvSpPr>
        <p:spPr>
          <a:xfrm>
            <a:off x="6953843" y="182880"/>
            <a:ext cx="821309"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INFORMASI</a:t>
            </a:r>
          </a:p>
        </p:txBody>
      </p:sp>
      <p:sp>
        <p:nvSpPr>
          <p:cNvPr id="16" name="TextBox 15"/>
          <p:cNvSpPr txBox="1"/>
          <p:nvPr/>
        </p:nvSpPr>
        <p:spPr>
          <a:xfrm>
            <a:off x="7683712"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7" name="TextBox 16"/>
          <p:cNvSpPr txBox="1"/>
          <p:nvPr/>
        </p:nvSpPr>
        <p:spPr>
          <a:xfrm>
            <a:off x="7976320" y="182880"/>
            <a:ext cx="899541"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KNOWLEDGE</a:t>
            </a:r>
          </a:p>
        </p:txBody>
      </p:sp>
      <p:sp>
        <p:nvSpPr>
          <p:cNvPr id="18" name="TextBox 17"/>
          <p:cNvSpPr txBox="1"/>
          <p:nvPr/>
        </p:nvSpPr>
        <p:spPr>
          <a:xfrm>
            <a:off x="878442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9" name="TextBox 18"/>
          <p:cNvSpPr txBox="1"/>
          <p:nvPr/>
        </p:nvSpPr>
        <p:spPr>
          <a:xfrm>
            <a:off x="9077029" y="182880"/>
            <a:ext cx="733298"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OBSIDIAN</a:t>
            </a:r>
          </a:p>
        </p:txBody>
      </p:sp>
      <p:sp>
        <p:nvSpPr>
          <p:cNvPr id="20" name="TextBox 19"/>
          <p:cNvSpPr txBox="1"/>
          <p:nvPr/>
        </p:nvSpPr>
        <p:spPr>
          <a:xfrm>
            <a:off x="971888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21" name="TextBox 20"/>
          <p:cNvSpPr txBox="1"/>
          <p:nvPr/>
        </p:nvSpPr>
        <p:spPr>
          <a:xfrm>
            <a:off x="10011495" y="182880"/>
            <a:ext cx="297434"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AI</a:t>
            </a:r>
          </a:p>
        </p:txBody>
      </p:sp>
      <p:sp>
        <p:nvSpPr>
          <p:cNvPr id="22" name="!!title"/>
          <p:cNvSpPr txBox="1"/>
          <p:nvPr/>
        </p:nvSpPr>
        <p:spPr>
          <a:xfrm>
            <a:off x="548640" y="566928"/>
            <a:ext cx="11094415" cy="841248"/>
          </a:xfrm>
          <a:prstGeom prst="rect">
            <a:avLst/>
          </a:prstGeom>
          <a:noFill/>
        </p:spPr>
        <p:txBody>
          <a:bodyPr wrap="square" lIns="0" tIns="0" rIns="0" bIns="0" anchor="b">
            <a:spAutoFit/>
          </a:bodyPr>
          <a:lstStyle/>
          <a:p>
            <a:pPr algn="l">
              <a:lnSpc>
                <a:spcPct val="95000"/>
              </a:lnSpc>
              <a:spcAft>
                <a:spcPts val="0"/>
              </a:spcAft>
            </a:pPr>
            <a:r>
              <a:rPr sz="2800" b="0" i="0">
                <a:solidFill>
                  <a:srgbClr val="0B1F33"/>
                </a:solidFill>
                <a:latin typeface="Georgia"/>
              </a:rPr>
              <a:t>Di balik satu bar, banyak hal yang harus siap</a:t>
            </a:r>
          </a:p>
        </p:txBody>
      </p:sp>
      <p:cxnSp>
        <p:nvCxnSpPr>
          <p:cNvPr id="23" name="Connector 22"/>
          <p:cNvCxnSpPr/>
          <p:nvPr/>
        </p:nvCxnSpPr>
        <p:spPr>
          <a:xfrm>
            <a:off x="548640" y="1517904"/>
            <a:ext cx="11094415" cy="0"/>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48640" y="1828800"/>
            <a:ext cx="914400" cy="237744"/>
          </a:xfrm>
          <a:prstGeom prst="rect">
            <a:avLst/>
          </a:prstGeom>
          <a:noFill/>
        </p:spPr>
        <p:txBody>
          <a:bodyPr wrap="none" lIns="0" tIns="0" rIns="0" bIns="0" anchor="ctr">
            <a:spAutoFit/>
          </a:bodyPr>
          <a:lstStyle/>
          <a:p>
            <a:pPr algn="l">
              <a:lnSpc>
                <a:spcPct val="105000"/>
              </a:lnSpc>
              <a:spcAft>
                <a:spcPts val="0"/>
              </a:spcAft>
            </a:pPr>
            <a:r>
              <a:rPr sz="850" b="0" i="0" spc="80">
                <a:solidFill>
                  <a:srgbClr val="56657A"/>
                </a:solidFill>
                <a:latin typeface="Segoe UI Semibold"/>
              </a:rPr>
              <a:t>ID</a:t>
            </a:r>
          </a:p>
        </p:txBody>
      </p:sp>
      <p:sp>
        <p:nvSpPr>
          <p:cNvPr id="25" name="TextBox 24"/>
          <p:cNvSpPr txBox="1"/>
          <p:nvPr/>
        </p:nvSpPr>
        <p:spPr>
          <a:xfrm>
            <a:off x="1325880" y="1828800"/>
            <a:ext cx="2743200" cy="237744"/>
          </a:xfrm>
          <a:prstGeom prst="rect">
            <a:avLst/>
          </a:prstGeom>
          <a:noFill/>
        </p:spPr>
        <p:txBody>
          <a:bodyPr wrap="none" lIns="0" tIns="0" rIns="0" bIns="0" anchor="ctr">
            <a:spAutoFit/>
          </a:bodyPr>
          <a:lstStyle/>
          <a:p>
            <a:pPr algn="l">
              <a:lnSpc>
                <a:spcPct val="105000"/>
              </a:lnSpc>
              <a:spcAft>
                <a:spcPts val="0"/>
              </a:spcAft>
            </a:pPr>
            <a:r>
              <a:rPr sz="850" b="0" i="0" spc="80">
                <a:solidFill>
                  <a:srgbClr val="56657A"/>
                </a:solidFill>
                <a:latin typeface="Segoe UI Semibold"/>
              </a:rPr>
              <a:t>ACTIVITY</a:t>
            </a:r>
          </a:p>
        </p:txBody>
      </p:sp>
      <p:cxnSp>
        <p:nvCxnSpPr>
          <p:cNvPr id="26" name="Connector 25"/>
          <p:cNvCxnSpPr/>
          <p:nvPr/>
        </p:nvCxnSpPr>
        <p:spPr>
          <a:xfrm>
            <a:off x="4754880" y="2103120"/>
            <a:ext cx="0" cy="530352"/>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809744" y="1828800"/>
            <a:ext cx="822960" cy="237744"/>
          </a:xfrm>
          <a:prstGeom prst="rect">
            <a:avLst/>
          </a:prstGeom>
          <a:noFill/>
        </p:spPr>
        <p:txBody>
          <a:bodyPr wrap="square" lIns="0" tIns="0" rIns="0" bIns="0" anchor="ctr">
            <a:spAutoFit/>
          </a:bodyPr>
          <a:lstStyle/>
          <a:p>
            <a:pPr algn="l">
              <a:lnSpc>
                <a:spcPct val="105000"/>
              </a:lnSpc>
              <a:spcAft>
                <a:spcPts val="0"/>
              </a:spcAft>
            </a:pPr>
            <a:r>
              <a:rPr sz="850" b="0" i="0">
                <a:solidFill>
                  <a:srgbClr val="98A3B3"/>
                </a:solidFill>
                <a:latin typeface="Segoe UI Semibold"/>
              </a:rPr>
              <a:t>W11</a:t>
            </a:r>
          </a:p>
        </p:txBody>
      </p:sp>
      <p:cxnSp>
        <p:nvCxnSpPr>
          <p:cNvPr id="28" name="Connector 27"/>
          <p:cNvCxnSpPr/>
          <p:nvPr/>
        </p:nvCxnSpPr>
        <p:spPr>
          <a:xfrm>
            <a:off x="5615902" y="2103120"/>
            <a:ext cx="0" cy="530352"/>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670766" y="1828800"/>
            <a:ext cx="822960" cy="237744"/>
          </a:xfrm>
          <a:prstGeom prst="rect">
            <a:avLst/>
          </a:prstGeom>
          <a:noFill/>
        </p:spPr>
        <p:txBody>
          <a:bodyPr wrap="square" lIns="0" tIns="0" rIns="0" bIns="0" anchor="ctr">
            <a:spAutoFit/>
          </a:bodyPr>
          <a:lstStyle/>
          <a:p>
            <a:pPr algn="l">
              <a:lnSpc>
                <a:spcPct val="105000"/>
              </a:lnSpc>
              <a:spcAft>
                <a:spcPts val="0"/>
              </a:spcAft>
            </a:pPr>
            <a:r>
              <a:rPr sz="850" b="0" i="0">
                <a:solidFill>
                  <a:srgbClr val="98A3B3"/>
                </a:solidFill>
                <a:latin typeface="Segoe UI Semibold"/>
              </a:rPr>
              <a:t>W12</a:t>
            </a:r>
          </a:p>
        </p:txBody>
      </p:sp>
      <p:cxnSp>
        <p:nvCxnSpPr>
          <p:cNvPr id="30" name="Connector 29"/>
          <p:cNvCxnSpPr/>
          <p:nvPr/>
        </p:nvCxnSpPr>
        <p:spPr>
          <a:xfrm>
            <a:off x="6476924" y="2103120"/>
            <a:ext cx="0" cy="530352"/>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531788" y="1828800"/>
            <a:ext cx="822960" cy="237744"/>
          </a:xfrm>
          <a:prstGeom prst="rect">
            <a:avLst/>
          </a:prstGeom>
          <a:noFill/>
        </p:spPr>
        <p:txBody>
          <a:bodyPr wrap="square" lIns="0" tIns="0" rIns="0" bIns="0" anchor="ctr">
            <a:spAutoFit/>
          </a:bodyPr>
          <a:lstStyle/>
          <a:p>
            <a:pPr algn="l">
              <a:lnSpc>
                <a:spcPct val="105000"/>
              </a:lnSpc>
              <a:spcAft>
                <a:spcPts val="0"/>
              </a:spcAft>
            </a:pPr>
            <a:r>
              <a:rPr sz="850" b="0" i="0">
                <a:solidFill>
                  <a:srgbClr val="98A3B3"/>
                </a:solidFill>
                <a:latin typeface="Segoe UI Semibold"/>
              </a:rPr>
              <a:t>W13</a:t>
            </a:r>
          </a:p>
        </p:txBody>
      </p:sp>
      <p:cxnSp>
        <p:nvCxnSpPr>
          <p:cNvPr id="32" name="Connector 31"/>
          <p:cNvCxnSpPr/>
          <p:nvPr/>
        </p:nvCxnSpPr>
        <p:spPr>
          <a:xfrm>
            <a:off x="7337946" y="2103120"/>
            <a:ext cx="0" cy="530352"/>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92810" y="1828800"/>
            <a:ext cx="822960" cy="237744"/>
          </a:xfrm>
          <a:prstGeom prst="rect">
            <a:avLst/>
          </a:prstGeom>
          <a:noFill/>
        </p:spPr>
        <p:txBody>
          <a:bodyPr wrap="square" lIns="0" tIns="0" rIns="0" bIns="0" anchor="ctr">
            <a:spAutoFit/>
          </a:bodyPr>
          <a:lstStyle/>
          <a:p>
            <a:pPr algn="l">
              <a:lnSpc>
                <a:spcPct val="105000"/>
              </a:lnSpc>
              <a:spcAft>
                <a:spcPts val="0"/>
              </a:spcAft>
            </a:pPr>
            <a:r>
              <a:rPr sz="850" b="0" i="0">
                <a:solidFill>
                  <a:srgbClr val="98A3B3"/>
                </a:solidFill>
                <a:latin typeface="Segoe UI Semibold"/>
              </a:rPr>
              <a:t>W14</a:t>
            </a:r>
          </a:p>
        </p:txBody>
      </p:sp>
      <p:cxnSp>
        <p:nvCxnSpPr>
          <p:cNvPr id="34" name="Connector 33"/>
          <p:cNvCxnSpPr/>
          <p:nvPr/>
        </p:nvCxnSpPr>
        <p:spPr>
          <a:xfrm>
            <a:off x="8198968" y="2103120"/>
            <a:ext cx="0" cy="530352"/>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253832" y="1828800"/>
            <a:ext cx="822960" cy="237744"/>
          </a:xfrm>
          <a:prstGeom prst="rect">
            <a:avLst/>
          </a:prstGeom>
          <a:noFill/>
        </p:spPr>
        <p:txBody>
          <a:bodyPr wrap="square" lIns="0" tIns="0" rIns="0" bIns="0" anchor="ctr">
            <a:spAutoFit/>
          </a:bodyPr>
          <a:lstStyle/>
          <a:p>
            <a:pPr algn="l">
              <a:lnSpc>
                <a:spcPct val="105000"/>
              </a:lnSpc>
              <a:spcAft>
                <a:spcPts val="0"/>
              </a:spcAft>
            </a:pPr>
            <a:r>
              <a:rPr sz="850" b="0" i="0">
                <a:solidFill>
                  <a:srgbClr val="98A3B3"/>
                </a:solidFill>
                <a:latin typeface="Segoe UI Semibold"/>
              </a:rPr>
              <a:t>W15</a:t>
            </a:r>
          </a:p>
        </p:txBody>
      </p:sp>
      <p:cxnSp>
        <p:nvCxnSpPr>
          <p:cNvPr id="36" name="Connector 35"/>
          <p:cNvCxnSpPr/>
          <p:nvPr/>
        </p:nvCxnSpPr>
        <p:spPr>
          <a:xfrm>
            <a:off x="9059990" y="2103120"/>
            <a:ext cx="0" cy="530352"/>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114854" y="1828800"/>
            <a:ext cx="822960" cy="237744"/>
          </a:xfrm>
          <a:prstGeom prst="rect">
            <a:avLst/>
          </a:prstGeom>
          <a:noFill/>
        </p:spPr>
        <p:txBody>
          <a:bodyPr wrap="square" lIns="0" tIns="0" rIns="0" bIns="0" anchor="ctr">
            <a:spAutoFit/>
          </a:bodyPr>
          <a:lstStyle/>
          <a:p>
            <a:pPr algn="l">
              <a:lnSpc>
                <a:spcPct val="105000"/>
              </a:lnSpc>
              <a:spcAft>
                <a:spcPts val="0"/>
              </a:spcAft>
            </a:pPr>
            <a:r>
              <a:rPr sz="850" b="0" i="0">
                <a:solidFill>
                  <a:srgbClr val="98A3B3"/>
                </a:solidFill>
                <a:latin typeface="Segoe UI Semibold"/>
              </a:rPr>
              <a:t>W16</a:t>
            </a:r>
          </a:p>
        </p:txBody>
      </p:sp>
      <p:cxnSp>
        <p:nvCxnSpPr>
          <p:cNvPr id="38" name="Connector 37"/>
          <p:cNvCxnSpPr/>
          <p:nvPr/>
        </p:nvCxnSpPr>
        <p:spPr>
          <a:xfrm>
            <a:off x="9921011" y="2103120"/>
            <a:ext cx="0" cy="530352"/>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9975875" y="1828800"/>
            <a:ext cx="822960" cy="237744"/>
          </a:xfrm>
          <a:prstGeom prst="rect">
            <a:avLst/>
          </a:prstGeom>
          <a:noFill/>
        </p:spPr>
        <p:txBody>
          <a:bodyPr wrap="square" lIns="0" tIns="0" rIns="0" bIns="0" anchor="ctr">
            <a:spAutoFit/>
          </a:bodyPr>
          <a:lstStyle/>
          <a:p>
            <a:pPr algn="l">
              <a:lnSpc>
                <a:spcPct val="105000"/>
              </a:lnSpc>
              <a:spcAft>
                <a:spcPts val="0"/>
              </a:spcAft>
            </a:pPr>
            <a:r>
              <a:rPr sz="850" b="0" i="0">
                <a:solidFill>
                  <a:srgbClr val="98A3B3"/>
                </a:solidFill>
                <a:latin typeface="Segoe UI Semibold"/>
              </a:rPr>
              <a:t>W17</a:t>
            </a:r>
          </a:p>
        </p:txBody>
      </p:sp>
      <p:cxnSp>
        <p:nvCxnSpPr>
          <p:cNvPr id="40" name="Connector 39"/>
          <p:cNvCxnSpPr/>
          <p:nvPr/>
        </p:nvCxnSpPr>
        <p:spPr>
          <a:xfrm>
            <a:off x="10782033" y="2103120"/>
            <a:ext cx="0" cy="530352"/>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10836897" y="1828800"/>
            <a:ext cx="822960" cy="237744"/>
          </a:xfrm>
          <a:prstGeom prst="rect">
            <a:avLst/>
          </a:prstGeom>
          <a:noFill/>
        </p:spPr>
        <p:txBody>
          <a:bodyPr wrap="square" lIns="0" tIns="0" rIns="0" bIns="0" anchor="ctr">
            <a:spAutoFit/>
          </a:bodyPr>
          <a:lstStyle/>
          <a:p>
            <a:pPr algn="l">
              <a:lnSpc>
                <a:spcPct val="105000"/>
              </a:lnSpc>
              <a:spcAft>
                <a:spcPts val="0"/>
              </a:spcAft>
            </a:pPr>
            <a:r>
              <a:rPr sz="850" b="0" i="0">
                <a:solidFill>
                  <a:srgbClr val="98A3B3"/>
                </a:solidFill>
                <a:latin typeface="Segoe UI Semibold"/>
              </a:rPr>
              <a:t>W18</a:t>
            </a:r>
          </a:p>
        </p:txBody>
      </p:sp>
      <p:cxnSp>
        <p:nvCxnSpPr>
          <p:cNvPr id="42" name="Connector 41"/>
          <p:cNvCxnSpPr/>
          <p:nvPr/>
        </p:nvCxnSpPr>
        <p:spPr>
          <a:xfrm>
            <a:off x="548640" y="2103120"/>
            <a:ext cx="11094415" cy="0"/>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43" name="!!rowbg"/>
          <p:cNvSpPr/>
          <p:nvPr/>
        </p:nvSpPr>
        <p:spPr>
          <a:xfrm>
            <a:off x="457200" y="2231136"/>
            <a:ext cx="11277295" cy="384048"/>
          </a:xfrm>
          <a:prstGeom prst="rect">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idA-3030"/>
          <p:cNvSpPr txBox="1"/>
          <p:nvPr/>
        </p:nvSpPr>
        <p:spPr>
          <a:xfrm>
            <a:off x="548640" y="2212848"/>
            <a:ext cx="731520" cy="420624"/>
          </a:xfrm>
          <a:prstGeom prst="rect">
            <a:avLst/>
          </a:prstGeom>
          <a:noFill/>
        </p:spPr>
        <p:txBody>
          <a:bodyPr wrap="square" lIns="0" tIns="0" rIns="0" bIns="0" anchor="ctr">
            <a:spAutoFit/>
          </a:bodyPr>
          <a:lstStyle/>
          <a:p>
            <a:pPr algn="l">
              <a:lnSpc>
                <a:spcPct val="105000"/>
              </a:lnSpc>
              <a:spcAft>
                <a:spcPts val="0"/>
              </a:spcAft>
            </a:pPr>
            <a:r>
              <a:rPr sz="1050" b="0" i="0">
                <a:solidFill>
                  <a:srgbClr val="0B1F33"/>
                </a:solidFill>
                <a:latin typeface="Consolas"/>
              </a:rPr>
              <a:t>A-3030</a:t>
            </a:r>
          </a:p>
        </p:txBody>
      </p:sp>
      <p:sp>
        <p:nvSpPr>
          <p:cNvPr id="45" name="!!nmA-3030"/>
          <p:cNvSpPr txBox="1"/>
          <p:nvPr/>
        </p:nvSpPr>
        <p:spPr>
          <a:xfrm>
            <a:off x="1325880" y="2212848"/>
            <a:ext cx="3291840" cy="420624"/>
          </a:xfrm>
          <a:prstGeom prst="rect">
            <a:avLst/>
          </a:prstGeom>
          <a:noFill/>
        </p:spPr>
        <p:txBody>
          <a:bodyPr wrap="none" lIns="0" tIns="0" rIns="0" bIns="0" anchor="ctr">
            <a:spAutoFit/>
          </a:bodyPr>
          <a:lstStyle/>
          <a:p>
            <a:pPr algn="l">
              <a:lnSpc>
                <a:spcPct val="105000"/>
              </a:lnSpc>
              <a:spcAft>
                <a:spcPts val="0"/>
              </a:spcAft>
            </a:pPr>
            <a:r>
              <a:rPr sz="1150" b="0" i="0">
                <a:solidFill>
                  <a:srgbClr val="0B1F33"/>
                </a:solidFill>
                <a:latin typeface="Segoe UI Semibold"/>
              </a:rPr>
              <a:t>Electrical Equipment Installation — Area A</a:t>
            </a:r>
          </a:p>
        </p:txBody>
      </p:sp>
      <p:sp>
        <p:nvSpPr>
          <p:cNvPr id="46" name="!!barA-3030"/>
          <p:cNvSpPr/>
          <p:nvPr/>
        </p:nvSpPr>
        <p:spPr>
          <a:xfrm>
            <a:off x="7337946" y="2331720"/>
            <a:ext cx="1599041" cy="182880"/>
          </a:xfrm>
          <a:prstGeom prst="roundRect">
            <a:avLst>
              <a:gd name="adj" fmla="val 50000"/>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48640" y="2761488"/>
            <a:ext cx="4572000" cy="237744"/>
          </a:xfrm>
          <a:prstGeom prst="rect">
            <a:avLst/>
          </a:prstGeom>
          <a:noFill/>
        </p:spPr>
        <p:txBody>
          <a:bodyPr wrap="none" lIns="0" tIns="0" rIns="0" bIns="0" anchor="ctr">
            <a:spAutoFit/>
          </a:bodyPr>
          <a:lstStyle/>
          <a:p>
            <a:pPr algn="l">
              <a:lnSpc>
                <a:spcPct val="105000"/>
              </a:lnSpc>
              <a:spcAft>
                <a:spcPts val="0"/>
              </a:spcAft>
            </a:pPr>
            <a:r>
              <a:rPr sz="950" b="0" i="0" spc="80">
                <a:solidFill>
                  <a:srgbClr val="1F5BD8"/>
                </a:solidFill>
                <a:latin typeface="Segoe UI Semibold"/>
              </a:rPr>
              <a:t>HARUS SIAP SEBELUM MULAI</a:t>
            </a:r>
          </a:p>
        </p:txBody>
      </p:sp>
      <p:sp>
        <p:nvSpPr>
          <p:cNvPr id="48" name="!!up0"/>
          <p:cNvSpPr/>
          <p:nvPr/>
        </p:nvSpPr>
        <p:spPr>
          <a:xfrm>
            <a:off x="548640" y="3429000"/>
            <a:ext cx="1316736" cy="1371600"/>
          </a:xfrm>
          <a:prstGeom prst="roundRect">
            <a:avLst>
              <a:gd name="adj" fmla="val 5555"/>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667512" y="3575304"/>
            <a:ext cx="457200" cy="457200"/>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0" name="Picture 49" descr="E8B9-1F5BD8.png"/>
          <p:cNvPicPr>
            <a:picLocks noChangeAspect="1"/>
          </p:cNvPicPr>
          <p:nvPr/>
        </p:nvPicPr>
        <p:blipFill>
          <a:blip r:embed="rId3"/>
          <a:stretch>
            <a:fillRect/>
          </a:stretch>
        </p:blipFill>
        <p:spPr>
          <a:xfrm>
            <a:off x="781812" y="3689604"/>
            <a:ext cx="228600" cy="228600"/>
          </a:xfrm>
          <a:prstGeom prst="rect">
            <a:avLst/>
          </a:prstGeom>
        </p:spPr>
      </p:pic>
      <p:sp>
        <p:nvSpPr>
          <p:cNvPr id="51" name="TextBox 50"/>
          <p:cNvSpPr txBox="1"/>
          <p:nvPr/>
        </p:nvSpPr>
        <p:spPr>
          <a:xfrm>
            <a:off x="694944" y="4096512"/>
            <a:ext cx="1097280" cy="457200"/>
          </a:xfrm>
          <a:prstGeom prst="rect">
            <a:avLst/>
          </a:prstGeom>
          <a:noFill/>
        </p:spPr>
        <p:txBody>
          <a:bodyPr wrap="square" lIns="0" tIns="0" rIns="0" bIns="0" anchor="t">
            <a:spAutoFit/>
          </a:bodyPr>
          <a:lstStyle/>
          <a:p>
            <a:pPr algn="l">
              <a:lnSpc>
                <a:spcPct val="95000"/>
              </a:lnSpc>
              <a:spcAft>
                <a:spcPts val="0"/>
              </a:spcAft>
            </a:pPr>
            <a:r>
              <a:rPr sz="1150" b="0" i="0">
                <a:solidFill>
                  <a:srgbClr val="0B1F33"/>
                </a:solidFill>
                <a:latin typeface="Segoe UI Semibold"/>
              </a:rPr>
              <a:t>Drawing approved</a:t>
            </a:r>
          </a:p>
        </p:txBody>
      </p:sp>
      <p:sp>
        <p:nvSpPr>
          <p:cNvPr id="52" name="TextBox 51"/>
          <p:cNvSpPr txBox="1"/>
          <p:nvPr/>
        </p:nvSpPr>
        <p:spPr>
          <a:xfrm>
            <a:off x="694944" y="4526280"/>
            <a:ext cx="1097280" cy="237744"/>
          </a:xfrm>
          <a:prstGeom prst="rect">
            <a:avLst/>
          </a:prstGeom>
          <a:noFill/>
        </p:spPr>
        <p:txBody>
          <a:bodyPr wrap="none" lIns="0" tIns="0" rIns="0" bIns="0" anchor="ctr">
            <a:spAutoFit/>
          </a:bodyPr>
          <a:lstStyle/>
          <a:p>
            <a:pPr algn="l">
              <a:lnSpc>
                <a:spcPct val="105000"/>
              </a:lnSpc>
              <a:spcAft>
                <a:spcPts val="0"/>
              </a:spcAft>
            </a:pPr>
            <a:r>
              <a:rPr sz="750" b="0" i="0" spc="80">
                <a:solidFill>
                  <a:srgbClr val="56657A"/>
                </a:solidFill>
                <a:latin typeface="Segoe UI Semibold"/>
              </a:rPr>
              <a:t>ENGINEERING</a:t>
            </a:r>
          </a:p>
        </p:txBody>
      </p:sp>
      <p:cxnSp>
        <p:nvCxnSpPr>
          <p:cNvPr id="53" name="Connector 52"/>
          <p:cNvCxnSpPr/>
          <p:nvPr/>
        </p:nvCxnSpPr>
        <p:spPr>
          <a:xfrm>
            <a:off x="1207008" y="3127248"/>
            <a:ext cx="0" cy="301752"/>
          </a:xfrm>
          <a:prstGeom prst="line">
            <a:avLst/>
          </a:prstGeom>
          <a:ln w="15875">
            <a:solidFill>
              <a:srgbClr val="1F5BD8"/>
            </a:solidFill>
          </a:ln>
        </p:spPr>
        <p:style>
          <a:lnRef idx="2">
            <a:schemeClr val="accent1"/>
          </a:lnRef>
          <a:fillRef idx="0">
            <a:schemeClr val="accent1"/>
          </a:fillRef>
          <a:effectRef idx="1">
            <a:schemeClr val="accent1"/>
          </a:effectRef>
          <a:fontRef idx="minor">
            <a:schemeClr val="tx1"/>
          </a:fontRef>
        </p:style>
      </p:cxnSp>
      <p:sp>
        <p:nvSpPr>
          <p:cNvPr id="54" name="!!up1"/>
          <p:cNvSpPr/>
          <p:nvPr/>
        </p:nvSpPr>
        <p:spPr>
          <a:xfrm>
            <a:off x="1975104" y="3429000"/>
            <a:ext cx="1316736" cy="1371600"/>
          </a:xfrm>
          <a:prstGeom prst="roundRect">
            <a:avLst>
              <a:gd name="adj" fmla="val 5555"/>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2093976" y="3575304"/>
            <a:ext cx="457200" cy="457200"/>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6" name="Picture 55" descr="E7B8-1F5BD8.png"/>
          <p:cNvPicPr>
            <a:picLocks noChangeAspect="1"/>
          </p:cNvPicPr>
          <p:nvPr/>
        </p:nvPicPr>
        <p:blipFill>
          <a:blip r:embed="rId4"/>
          <a:stretch>
            <a:fillRect/>
          </a:stretch>
        </p:blipFill>
        <p:spPr>
          <a:xfrm>
            <a:off x="2208276" y="3689604"/>
            <a:ext cx="228600" cy="228600"/>
          </a:xfrm>
          <a:prstGeom prst="rect">
            <a:avLst/>
          </a:prstGeom>
        </p:spPr>
      </p:pic>
      <p:sp>
        <p:nvSpPr>
          <p:cNvPr id="57" name="TextBox 56"/>
          <p:cNvSpPr txBox="1"/>
          <p:nvPr/>
        </p:nvSpPr>
        <p:spPr>
          <a:xfrm>
            <a:off x="2121408" y="4096512"/>
            <a:ext cx="1097280" cy="457200"/>
          </a:xfrm>
          <a:prstGeom prst="rect">
            <a:avLst/>
          </a:prstGeom>
          <a:noFill/>
        </p:spPr>
        <p:txBody>
          <a:bodyPr wrap="square" lIns="0" tIns="0" rIns="0" bIns="0" anchor="t">
            <a:spAutoFit/>
          </a:bodyPr>
          <a:lstStyle/>
          <a:p>
            <a:pPr algn="l">
              <a:lnSpc>
                <a:spcPct val="95000"/>
              </a:lnSpc>
              <a:spcAft>
                <a:spcPts val="0"/>
              </a:spcAft>
            </a:pPr>
            <a:r>
              <a:rPr sz="1150" b="0" i="0">
                <a:solidFill>
                  <a:srgbClr val="0B1F33"/>
                </a:solidFill>
                <a:latin typeface="Segoe UI Semibold"/>
              </a:rPr>
              <a:t>Material sudah di site</a:t>
            </a:r>
          </a:p>
        </p:txBody>
      </p:sp>
      <p:sp>
        <p:nvSpPr>
          <p:cNvPr id="58" name="TextBox 57"/>
          <p:cNvSpPr txBox="1"/>
          <p:nvPr/>
        </p:nvSpPr>
        <p:spPr>
          <a:xfrm>
            <a:off x="2121408" y="4526280"/>
            <a:ext cx="1097280" cy="237744"/>
          </a:xfrm>
          <a:prstGeom prst="rect">
            <a:avLst/>
          </a:prstGeom>
          <a:noFill/>
        </p:spPr>
        <p:txBody>
          <a:bodyPr wrap="none" lIns="0" tIns="0" rIns="0" bIns="0" anchor="ctr">
            <a:spAutoFit/>
          </a:bodyPr>
          <a:lstStyle/>
          <a:p>
            <a:pPr algn="l">
              <a:lnSpc>
                <a:spcPct val="105000"/>
              </a:lnSpc>
              <a:spcAft>
                <a:spcPts val="0"/>
              </a:spcAft>
            </a:pPr>
            <a:r>
              <a:rPr sz="750" b="0" i="0" spc="80">
                <a:solidFill>
                  <a:srgbClr val="56657A"/>
                </a:solidFill>
                <a:latin typeface="Segoe UI Semibold"/>
              </a:rPr>
              <a:t>PROCUREMENT</a:t>
            </a:r>
          </a:p>
        </p:txBody>
      </p:sp>
      <p:cxnSp>
        <p:nvCxnSpPr>
          <p:cNvPr id="59" name="Connector 58"/>
          <p:cNvCxnSpPr/>
          <p:nvPr/>
        </p:nvCxnSpPr>
        <p:spPr>
          <a:xfrm>
            <a:off x="2633472" y="3127248"/>
            <a:ext cx="0" cy="301752"/>
          </a:xfrm>
          <a:prstGeom prst="line">
            <a:avLst/>
          </a:prstGeom>
          <a:ln w="15875">
            <a:solidFill>
              <a:srgbClr val="1F5BD8"/>
            </a:solidFill>
          </a:ln>
        </p:spPr>
        <p:style>
          <a:lnRef idx="2">
            <a:schemeClr val="accent1"/>
          </a:lnRef>
          <a:fillRef idx="0">
            <a:schemeClr val="accent1"/>
          </a:fillRef>
          <a:effectRef idx="1">
            <a:schemeClr val="accent1"/>
          </a:effectRef>
          <a:fontRef idx="minor">
            <a:schemeClr val="tx1"/>
          </a:fontRef>
        </p:style>
      </p:cxnSp>
      <p:sp>
        <p:nvSpPr>
          <p:cNvPr id="60" name="!!up2"/>
          <p:cNvSpPr/>
          <p:nvPr/>
        </p:nvSpPr>
        <p:spPr>
          <a:xfrm>
            <a:off x="3401568" y="3429000"/>
            <a:ext cx="1316736" cy="1371600"/>
          </a:xfrm>
          <a:prstGeom prst="roundRect">
            <a:avLst>
              <a:gd name="adj" fmla="val 5555"/>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3520440" y="3575304"/>
            <a:ext cx="457200" cy="457200"/>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2" name="Picture 61" descr="E8D7-1F5BD8.png"/>
          <p:cNvPicPr>
            <a:picLocks noChangeAspect="1"/>
          </p:cNvPicPr>
          <p:nvPr/>
        </p:nvPicPr>
        <p:blipFill>
          <a:blip r:embed="rId5"/>
          <a:stretch>
            <a:fillRect/>
          </a:stretch>
        </p:blipFill>
        <p:spPr>
          <a:xfrm>
            <a:off x="3634740" y="3689604"/>
            <a:ext cx="228600" cy="228600"/>
          </a:xfrm>
          <a:prstGeom prst="rect">
            <a:avLst/>
          </a:prstGeom>
        </p:spPr>
      </p:pic>
      <p:sp>
        <p:nvSpPr>
          <p:cNvPr id="63" name="TextBox 62"/>
          <p:cNvSpPr txBox="1"/>
          <p:nvPr/>
        </p:nvSpPr>
        <p:spPr>
          <a:xfrm>
            <a:off x="3547872" y="4096512"/>
            <a:ext cx="1097280" cy="457200"/>
          </a:xfrm>
          <a:prstGeom prst="rect">
            <a:avLst/>
          </a:prstGeom>
          <a:noFill/>
        </p:spPr>
        <p:txBody>
          <a:bodyPr wrap="square" lIns="0" tIns="0" rIns="0" bIns="0" anchor="t">
            <a:spAutoFit/>
          </a:bodyPr>
          <a:lstStyle/>
          <a:p>
            <a:pPr algn="l">
              <a:lnSpc>
                <a:spcPct val="95000"/>
              </a:lnSpc>
              <a:spcAft>
                <a:spcPts val="0"/>
              </a:spcAft>
            </a:pPr>
            <a:r>
              <a:rPr sz="1150" b="0" i="0">
                <a:solidFill>
                  <a:srgbClr val="0B1F33"/>
                </a:solidFill>
                <a:latin typeface="Segoe UI Semibold"/>
              </a:rPr>
              <a:t>Access sudah clear</a:t>
            </a:r>
          </a:p>
        </p:txBody>
      </p:sp>
      <p:sp>
        <p:nvSpPr>
          <p:cNvPr id="64" name="TextBox 63"/>
          <p:cNvSpPr txBox="1"/>
          <p:nvPr/>
        </p:nvSpPr>
        <p:spPr>
          <a:xfrm>
            <a:off x="3547872" y="4526280"/>
            <a:ext cx="1097280" cy="237744"/>
          </a:xfrm>
          <a:prstGeom prst="rect">
            <a:avLst/>
          </a:prstGeom>
          <a:noFill/>
        </p:spPr>
        <p:txBody>
          <a:bodyPr wrap="none" lIns="0" tIns="0" rIns="0" bIns="0" anchor="ctr">
            <a:spAutoFit/>
          </a:bodyPr>
          <a:lstStyle/>
          <a:p>
            <a:pPr algn="l">
              <a:lnSpc>
                <a:spcPct val="105000"/>
              </a:lnSpc>
              <a:spcAft>
                <a:spcPts val="0"/>
              </a:spcAft>
            </a:pPr>
            <a:r>
              <a:rPr sz="750" b="0" i="0" spc="80">
                <a:solidFill>
                  <a:srgbClr val="56657A"/>
                </a:solidFill>
                <a:latin typeface="Segoe UI Semibold"/>
              </a:rPr>
              <a:t>TRADE LAIN</a:t>
            </a:r>
          </a:p>
        </p:txBody>
      </p:sp>
      <p:cxnSp>
        <p:nvCxnSpPr>
          <p:cNvPr id="65" name="Connector 64"/>
          <p:cNvCxnSpPr/>
          <p:nvPr/>
        </p:nvCxnSpPr>
        <p:spPr>
          <a:xfrm>
            <a:off x="4059936" y="3127248"/>
            <a:ext cx="0" cy="301752"/>
          </a:xfrm>
          <a:prstGeom prst="line">
            <a:avLst/>
          </a:prstGeom>
          <a:ln w="15875">
            <a:solidFill>
              <a:srgbClr val="1F5BD8"/>
            </a:solidFill>
          </a:ln>
        </p:spPr>
        <p:style>
          <a:lnRef idx="2">
            <a:schemeClr val="accent1"/>
          </a:lnRef>
          <a:fillRef idx="0">
            <a:schemeClr val="accent1"/>
          </a:fillRef>
          <a:effectRef idx="1">
            <a:schemeClr val="accent1"/>
          </a:effectRef>
          <a:fontRef idx="minor">
            <a:schemeClr val="tx1"/>
          </a:fontRef>
        </p:style>
      </p:cxnSp>
      <p:sp>
        <p:nvSpPr>
          <p:cNvPr id="66" name="!!up3"/>
          <p:cNvSpPr/>
          <p:nvPr/>
        </p:nvSpPr>
        <p:spPr>
          <a:xfrm>
            <a:off x="4828032" y="3429000"/>
            <a:ext cx="1316736" cy="1371600"/>
          </a:xfrm>
          <a:prstGeom prst="roundRect">
            <a:avLst>
              <a:gd name="adj" fmla="val 5555"/>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4946904" y="3575304"/>
            <a:ext cx="457200" cy="457200"/>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8" name="Picture 67" descr="E71B-1F5BD8.png"/>
          <p:cNvPicPr>
            <a:picLocks noChangeAspect="1"/>
          </p:cNvPicPr>
          <p:nvPr/>
        </p:nvPicPr>
        <p:blipFill>
          <a:blip r:embed="rId6"/>
          <a:stretch>
            <a:fillRect/>
          </a:stretch>
        </p:blipFill>
        <p:spPr>
          <a:xfrm>
            <a:off x="5061204" y="3689604"/>
            <a:ext cx="228600" cy="228600"/>
          </a:xfrm>
          <a:prstGeom prst="rect">
            <a:avLst/>
          </a:prstGeom>
        </p:spPr>
      </p:pic>
      <p:sp>
        <p:nvSpPr>
          <p:cNvPr id="69" name="TextBox 68"/>
          <p:cNvSpPr txBox="1"/>
          <p:nvPr/>
        </p:nvSpPr>
        <p:spPr>
          <a:xfrm>
            <a:off x="4974336" y="4096512"/>
            <a:ext cx="1097280" cy="457200"/>
          </a:xfrm>
          <a:prstGeom prst="rect">
            <a:avLst/>
          </a:prstGeom>
          <a:noFill/>
        </p:spPr>
        <p:txBody>
          <a:bodyPr wrap="square" lIns="0" tIns="0" rIns="0" bIns="0" anchor="t">
            <a:spAutoFit/>
          </a:bodyPr>
          <a:lstStyle/>
          <a:p>
            <a:pPr algn="l">
              <a:lnSpc>
                <a:spcPct val="95000"/>
              </a:lnSpc>
              <a:spcAft>
                <a:spcPts val="0"/>
              </a:spcAft>
            </a:pPr>
            <a:r>
              <a:rPr sz="1150" b="0" i="0">
                <a:solidFill>
                  <a:srgbClr val="0B1F33"/>
                </a:solidFill>
                <a:latin typeface="Segoe UI Semibold"/>
              </a:rPr>
              <a:t>Predecessor selesai</a:t>
            </a:r>
          </a:p>
        </p:txBody>
      </p:sp>
      <p:sp>
        <p:nvSpPr>
          <p:cNvPr id="70" name="TextBox 69"/>
          <p:cNvSpPr txBox="1"/>
          <p:nvPr/>
        </p:nvSpPr>
        <p:spPr>
          <a:xfrm>
            <a:off x="4974336" y="4526280"/>
            <a:ext cx="1097280" cy="237744"/>
          </a:xfrm>
          <a:prstGeom prst="rect">
            <a:avLst/>
          </a:prstGeom>
          <a:noFill/>
        </p:spPr>
        <p:txBody>
          <a:bodyPr wrap="none" lIns="0" tIns="0" rIns="0" bIns="0" anchor="ctr">
            <a:spAutoFit/>
          </a:bodyPr>
          <a:lstStyle/>
          <a:p>
            <a:pPr algn="l">
              <a:lnSpc>
                <a:spcPct val="105000"/>
              </a:lnSpc>
              <a:spcAft>
                <a:spcPts val="0"/>
              </a:spcAft>
            </a:pPr>
            <a:r>
              <a:rPr sz="750" b="0" i="0" spc="80">
                <a:solidFill>
                  <a:srgbClr val="56657A"/>
                </a:solidFill>
                <a:latin typeface="Segoe UI Semibold"/>
              </a:rPr>
              <a:t>PEKERJAAN AWAL</a:t>
            </a:r>
          </a:p>
        </p:txBody>
      </p:sp>
      <p:cxnSp>
        <p:nvCxnSpPr>
          <p:cNvPr id="71" name="Connector 70"/>
          <p:cNvCxnSpPr/>
          <p:nvPr/>
        </p:nvCxnSpPr>
        <p:spPr>
          <a:xfrm>
            <a:off x="5486400" y="3127248"/>
            <a:ext cx="0" cy="301752"/>
          </a:xfrm>
          <a:prstGeom prst="line">
            <a:avLst/>
          </a:prstGeom>
          <a:ln w="15875">
            <a:solidFill>
              <a:srgbClr val="1F5BD8"/>
            </a:solidFill>
          </a:ln>
        </p:spPr>
        <p:style>
          <a:lnRef idx="2">
            <a:schemeClr val="accent1"/>
          </a:lnRef>
          <a:fillRef idx="0">
            <a:schemeClr val="accent1"/>
          </a:fillRef>
          <a:effectRef idx="1">
            <a:schemeClr val="accent1"/>
          </a:effectRef>
          <a:fontRef idx="minor">
            <a:schemeClr val="tx1"/>
          </a:fontRef>
        </p:style>
      </p:cxnSp>
      <p:sp>
        <p:nvSpPr>
          <p:cNvPr id="72" name="!!up4"/>
          <p:cNvSpPr/>
          <p:nvPr/>
        </p:nvSpPr>
        <p:spPr>
          <a:xfrm>
            <a:off x="6254496" y="3429000"/>
            <a:ext cx="1316736" cy="1371600"/>
          </a:xfrm>
          <a:prstGeom prst="roundRect">
            <a:avLst>
              <a:gd name="adj" fmla="val 5555"/>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6373368" y="3575304"/>
            <a:ext cx="457200" cy="457200"/>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4" name="Picture 73" descr="E716-1F5BD8.png"/>
          <p:cNvPicPr>
            <a:picLocks noChangeAspect="1"/>
          </p:cNvPicPr>
          <p:nvPr/>
        </p:nvPicPr>
        <p:blipFill>
          <a:blip r:embed="rId7"/>
          <a:stretch>
            <a:fillRect/>
          </a:stretch>
        </p:blipFill>
        <p:spPr>
          <a:xfrm>
            <a:off x="6487668" y="3689604"/>
            <a:ext cx="228600" cy="228600"/>
          </a:xfrm>
          <a:prstGeom prst="rect">
            <a:avLst/>
          </a:prstGeom>
        </p:spPr>
      </p:pic>
      <p:sp>
        <p:nvSpPr>
          <p:cNvPr id="75" name="TextBox 74"/>
          <p:cNvSpPr txBox="1"/>
          <p:nvPr/>
        </p:nvSpPr>
        <p:spPr>
          <a:xfrm>
            <a:off x="6400800" y="4096512"/>
            <a:ext cx="1097280" cy="457200"/>
          </a:xfrm>
          <a:prstGeom prst="rect">
            <a:avLst/>
          </a:prstGeom>
          <a:noFill/>
        </p:spPr>
        <p:txBody>
          <a:bodyPr wrap="square" lIns="0" tIns="0" rIns="0" bIns="0" anchor="t">
            <a:spAutoFit/>
          </a:bodyPr>
          <a:lstStyle/>
          <a:p>
            <a:pPr algn="l">
              <a:lnSpc>
                <a:spcPct val="95000"/>
              </a:lnSpc>
              <a:spcAft>
                <a:spcPts val="0"/>
              </a:spcAft>
            </a:pPr>
            <a:r>
              <a:rPr sz="1150" b="0" i="0">
                <a:solidFill>
                  <a:srgbClr val="0B1F33"/>
                </a:solidFill>
                <a:latin typeface="Segoe UI Semibold"/>
              </a:rPr>
              <a:t>Manpower terkonfirmasi</a:t>
            </a:r>
          </a:p>
        </p:txBody>
      </p:sp>
      <p:sp>
        <p:nvSpPr>
          <p:cNvPr id="76" name="TextBox 75"/>
          <p:cNvSpPr txBox="1"/>
          <p:nvPr/>
        </p:nvSpPr>
        <p:spPr>
          <a:xfrm>
            <a:off x="6400800" y="4526280"/>
            <a:ext cx="1097280" cy="237744"/>
          </a:xfrm>
          <a:prstGeom prst="rect">
            <a:avLst/>
          </a:prstGeom>
          <a:noFill/>
        </p:spPr>
        <p:txBody>
          <a:bodyPr wrap="none" lIns="0" tIns="0" rIns="0" bIns="0" anchor="ctr">
            <a:spAutoFit/>
          </a:bodyPr>
          <a:lstStyle/>
          <a:p>
            <a:pPr algn="l">
              <a:lnSpc>
                <a:spcPct val="105000"/>
              </a:lnSpc>
              <a:spcAft>
                <a:spcPts val="0"/>
              </a:spcAft>
            </a:pPr>
            <a:r>
              <a:rPr sz="750" b="0" i="0" spc="80">
                <a:solidFill>
                  <a:srgbClr val="56657A"/>
                </a:solidFill>
                <a:latin typeface="Segoe UI Semibold"/>
              </a:rPr>
              <a:t>RESOURCE</a:t>
            </a:r>
          </a:p>
        </p:txBody>
      </p:sp>
      <p:cxnSp>
        <p:nvCxnSpPr>
          <p:cNvPr id="77" name="Connector 76"/>
          <p:cNvCxnSpPr/>
          <p:nvPr/>
        </p:nvCxnSpPr>
        <p:spPr>
          <a:xfrm>
            <a:off x="6912864" y="3127248"/>
            <a:ext cx="0" cy="301752"/>
          </a:xfrm>
          <a:prstGeom prst="line">
            <a:avLst/>
          </a:prstGeom>
          <a:ln w="15875">
            <a:solidFill>
              <a:srgbClr val="1F5BD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207008" y="3127248"/>
            <a:ext cx="6222378" cy="0"/>
          </a:xfrm>
          <a:prstGeom prst="line">
            <a:avLst/>
          </a:prstGeom>
          <a:ln w="15875">
            <a:solidFill>
              <a:srgbClr val="1F5BD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7429386" y="2532888"/>
            <a:ext cx="0" cy="594360"/>
          </a:xfrm>
          <a:prstGeom prst="line">
            <a:avLst/>
          </a:prstGeom>
          <a:ln w="15875">
            <a:solidFill>
              <a:srgbClr val="1F5B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548640" y="6419088"/>
            <a:ext cx="8686800" cy="237744"/>
          </a:xfrm>
          <a:prstGeom prst="rect">
            <a:avLst/>
          </a:prstGeom>
          <a:noFill/>
        </p:spPr>
        <p:txBody>
          <a:bodyPr wrap="none" lIns="0" tIns="0" rIns="0" bIns="0" anchor="t">
            <a:spAutoFit/>
          </a:bodyPr>
          <a:lstStyle/>
          <a:p>
            <a:pPr algn="l">
              <a:lnSpc>
                <a:spcPct val="105000"/>
              </a:lnSpc>
              <a:spcAft>
                <a:spcPts val="0"/>
              </a:spcAft>
            </a:pPr>
            <a:r>
              <a:rPr sz="850" b="0" i="0">
                <a:solidFill>
                  <a:srgbClr val="98A3B3"/>
                </a:solidFill>
                <a:latin typeface="Segoe UI"/>
              </a:rPr>
              <a:t>Data simulasi — Project Alpha adalah proyek fiktif.   ·   Sumber: REF-009 (vault demo › 06 Referensi)</a:t>
            </a:r>
          </a:p>
        </p:txBody>
      </p:sp>
      <p:sp>
        <p:nvSpPr>
          <p:cNvPr id="81" name="TextBox 80"/>
          <p:cNvSpPr txBox="1"/>
          <p:nvPr/>
        </p:nvSpPr>
        <p:spPr>
          <a:xfrm>
            <a:off x="7071055" y="6419088"/>
            <a:ext cx="3657600" cy="237744"/>
          </a:xfrm>
          <a:prstGeom prst="rect">
            <a:avLst/>
          </a:prstGeom>
          <a:noFill/>
        </p:spPr>
        <p:txBody>
          <a:bodyPr wrap="none" lIns="0" tIns="0" rIns="0" bIns="0" anchor="ctr">
            <a:spAutoFit/>
          </a:bodyPr>
          <a:lstStyle/>
          <a:p>
            <a:pPr algn="r">
              <a:lnSpc>
                <a:spcPct val="105000"/>
              </a:lnSpc>
              <a:spcAft>
                <a:spcPts val="0"/>
              </a:spcAft>
            </a:pPr>
            <a:r>
              <a:rPr sz="800" b="0" i="0" spc="80">
                <a:solidFill>
                  <a:srgbClr val="56657A"/>
                </a:solidFill>
                <a:latin typeface="Segoe UI Semibold"/>
              </a:rPr>
              <a:t>MASRON HUTABALIAN</a:t>
            </a:r>
          </a:p>
        </p:txBody>
      </p:sp>
      <p:sp>
        <p:nvSpPr>
          <p:cNvPr id="82" name="TextBox 81"/>
          <p:cNvSpPr txBox="1"/>
          <p:nvPr/>
        </p:nvSpPr>
        <p:spPr>
          <a:xfrm>
            <a:off x="10911535" y="6419088"/>
            <a:ext cx="731520" cy="237744"/>
          </a:xfrm>
          <a:prstGeom prst="rect">
            <a:avLst/>
          </a:prstGeom>
          <a:noFill/>
        </p:spPr>
        <p:txBody>
          <a:bodyPr wrap="square" lIns="0" tIns="0" rIns="0" bIns="0" anchor="t">
            <a:spAutoFit/>
          </a:bodyPr>
          <a:lstStyle/>
          <a:p>
            <a:pPr algn="r">
              <a:lnSpc>
                <a:spcPct val="105000"/>
              </a:lnSpc>
              <a:spcAft>
                <a:spcPts val="0"/>
              </a:spcAft>
            </a:pPr>
            <a:r>
              <a:rPr sz="900" b="0" i="0">
                <a:solidFill>
                  <a:srgbClr val="98A3B3"/>
                </a:solidFill>
                <a:latin typeface="Segoe UI"/>
              </a:rPr>
              <a:t>15</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82880"/>
            <a:ext cx="95234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DATA CENTER</a:t>
            </a:r>
          </a:p>
        </p:txBody>
      </p:sp>
      <p:sp>
        <p:nvSpPr>
          <p:cNvPr id="3" name="TextBox 2"/>
          <p:cNvSpPr txBox="1"/>
          <p:nvPr/>
        </p:nvSpPr>
        <p:spPr>
          <a:xfrm>
            <a:off x="1409543"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4" name="TextBox 3"/>
          <p:cNvSpPr txBox="1"/>
          <p:nvPr/>
        </p:nvSpPr>
        <p:spPr>
          <a:xfrm>
            <a:off x="1702151" y="182880"/>
            <a:ext cx="78485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INTERFACE</a:t>
            </a:r>
          </a:p>
        </p:txBody>
      </p:sp>
      <p:sp>
        <p:nvSpPr>
          <p:cNvPr id="5" name="TextBox 4"/>
          <p:cNvSpPr txBox="1"/>
          <p:nvPr/>
        </p:nvSpPr>
        <p:spPr>
          <a:xfrm>
            <a:off x="239556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6" name="TextBox 5"/>
          <p:cNvSpPr txBox="1"/>
          <p:nvPr/>
        </p:nvSpPr>
        <p:spPr>
          <a:xfrm>
            <a:off x="2688175" y="182880"/>
            <a:ext cx="724872"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CONTROL</a:t>
            </a:r>
          </a:p>
        </p:txBody>
      </p:sp>
      <p:sp>
        <p:nvSpPr>
          <p:cNvPr id="7" name="TextBox 6"/>
          <p:cNvSpPr txBox="1"/>
          <p:nvPr/>
        </p:nvSpPr>
        <p:spPr>
          <a:xfrm>
            <a:off x="3321608"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8" name="TextBox 7"/>
          <p:cNvSpPr txBox="1"/>
          <p:nvPr/>
        </p:nvSpPr>
        <p:spPr>
          <a:xfrm>
            <a:off x="3614216" y="182880"/>
            <a:ext cx="115377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COMMISSIONING</a:t>
            </a:r>
          </a:p>
        </p:txBody>
      </p:sp>
      <p:sp>
        <p:nvSpPr>
          <p:cNvPr id="9" name="TextBox 8"/>
          <p:cNvSpPr txBox="1"/>
          <p:nvPr/>
        </p:nvSpPr>
        <p:spPr>
          <a:xfrm>
            <a:off x="4676549"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0" name="TextBox 9"/>
          <p:cNvSpPr txBox="1"/>
          <p:nvPr/>
        </p:nvSpPr>
        <p:spPr>
          <a:xfrm>
            <a:off x="4969157" y="182880"/>
            <a:ext cx="945555"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MONITORING</a:t>
            </a:r>
          </a:p>
        </p:txBody>
      </p:sp>
      <p:sp>
        <p:nvSpPr>
          <p:cNvPr id="11" name="TextBox 10"/>
          <p:cNvSpPr txBox="1"/>
          <p:nvPr/>
        </p:nvSpPr>
        <p:spPr>
          <a:xfrm>
            <a:off x="582327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2" name="TextBox 11"/>
          <p:cNvSpPr txBox="1"/>
          <p:nvPr/>
        </p:nvSpPr>
        <p:spPr>
          <a:xfrm>
            <a:off x="6115879" y="182880"/>
            <a:ext cx="63679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1F5BD8"/>
                </a:solidFill>
                <a:latin typeface="Segoe UI Semibold"/>
              </a:rPr>
              <a:t>REALITA</a:t>
            </a:r>
          </a:p>
        </p:txBody>
      </p:sp>
      <p:sp>
        <p:nvSpPr>
          <p:cNvPr id="13" name="Rectangle 12"/>
          <p:cNvSpPr/>
          <p:nvPr/>
        </p:nvSpPr>
        <p:spPr>
          <a:xfrm>
            <a:off x="6115879" y="420624"/>
            <a:ext cx="453916" cy="32004"/>
          </a:xfrm>
          <a:prstGeom prst="rect">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61235"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5" name="TextBox 14"/>
          <p:cNvSpPr txBox="1"/>
          <p:nvPr/>
        </p:nvSpPr>
        <p:spPr>
          <a:xfrm>
            <a:off x="6953843" y="182880"/>
            <a:ext cx="821309"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INFORMASI</a:t>
            </a:r>
          </a:p>
        </p:txBody>
      </p:sp>
      <p:sp>
        <p:nvSpPr>
          <p:cNvPr id="16" name="TextBox 15"/>
          <p:cNvSpPr txBox="1"/>
          <p:nvPr/>
        </p:nvSpPr>
        <p:spPr>
          <a:xfrm>
            <a:off x="7683712"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7" name="TextBox 16"/>
          <p:cNvSpPr txBox="1"/>
          <p:nvPr/>
        </p:nvSpPr>
        <p:spPr>
          <a:xfrm>
            <a:off x="7976320" y="182880"/>
            <a:ext cx="899541"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KNOWLEDGE</a:t>
            </a:r>
          </a:p>
        </p:txBody>
      </p:sp>
      <p:sp>
        <p:nvSpPr>
          <p:cNvPr id="18" name="TextBox 17"/>
          <p:cNvSpPr txBox="1"/>
          <p:nvPr/>
        </p:nvSpPr>
        <p:spPr>
          <a:xfrm>
            <a:off x="878442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9" name="TextBox 18"/>
          <p:cNvSpPr txBox="1"/>
          <p:nvPr/>
        </p:nvSpPr>
        <p:spPr>
          <a:xfrm>
            <a:off x="9077029" y="182880"/>
            <a:ext cx="733298"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OBSIDIAN</a:t>
            </a:r>
          </a:p>
        </p:txBody>
      </p:sp>
      <p:sp>
        <p:nvSpPr>
          <p:cNvPr id="20" name="TextBox 19"/>
          <p:cNvSpPr txBox="1"/>
          <p:nvPr/>
        </p:nvSpPr>
        <p:spPr>
          <a:xfrm>
            <a:off x="971888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21" name="TextBox 20"/>
          <p:cNvSpPr txBox="1"/>
          <p:nvPr/>
        </p:nvSpPr>
        <p:spPr>
          <a:xfrm>
            <a:off x="10011495" y="182880"/>
            <a:ext cx="297434"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AI</a:t>
            </a:r>
          </a:p>
        </p:txBody>
      </p:sp>
      <p:sp>
        <p:nvSpPr>
          <p:cNvPr id="22" name="!!title"/>
          <p:cNvSpPr txBox="1"/>
          <p:nvPr/>
        </p:nvSpPr>
        <p:spPr>
          <a:xfrm>
            <a:off x="548640" y="566928"/>
            <a:ext cx="11094415" cy="841248"/>
          </a:xfrm>
          <a:prstGeom prst="rect">
            <a:avLst/>
          </a:prstGeom>
          <a:noFill/>
        </p:spPr>
        <p:txBody>
          <a:bodyPr wrap="square" lIns="0" tIns="0" rIns="0" bIns="0" anchor="b">
            <a:spAutoFit/>
          </a:bodyPr>
          <a:lstStyle/>
          <a:p>
            <a:pPr algn="l">
              <a:lnSpc>
                <a:spcPct val="95000"/>
              </a:lnSpc>
              <a:spcAft>
                <a:spcPts val="0"/>
              </a:spcAft>
            </a:pPr>
            <a:r>
              <a:rPr sz="2800" b="0" i="0">
                <a:solidFill>
                  <a:srgbClr val="0B1F33"/>
                </a:solidFill>
                <a:latin typeface="Georgia"/>
              </a:rPr>
              <a:t>Satu activity, banyak realita</a:t>
            </a:r>
          </a:p>
        </p:txBody>
      </p:sp>
      <p:cxnSp>
        <p:nvCxnSpPr>
          <p:cNvPr id="23" name="Connector 22"/>
          <p:cNvCxnSpPr/>
          <p:nvPr/>
        </p:nvCxnSpPr>
        <p:spPr>
          <a:xfrm>
            <a:off x="548640" y="1517904"/>
            <a:ext cx="11094415" cy="0"/>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48640" y="1828800"/>
            <a:ext cx="914400" cy="237744"/>
          </a:xfrm>
          <a:prstGeom prst="rect">
            <a:avLst/>
          </a:prstGeom>
          <a:noFill/>
        </p:spPr>
        <p:txBody>
          <a:bodyPr wrap="none" lIns="0" tIns="0" rIns="0" bIns="0" anchor="ctr">
            <a:spAutoFit/>
          </a:bodyPr>
          <a:lstStyle/>
          <a:p>
            <a:pPr algn="l">
              <a:lnSpc>
                <a:spcPct val="105000"/>
              </a:lnSpc>
              <a:spcAft>
                <a:spcPts val="0"/>
              </a:spcAft>
            </a:pPr>
            <a:r>
              <a:rPr sz="850" b="0" i="0" spc="80">
                <a:solidFill>
                  <a:srgbClr val="56657A"/>
                </a:solidFill>
                <a:latin typeface="Segoe UI Semibold"/>
              </a:rPr>
              <a:t>ID</a:t>
            </a:r>
          </a:p>
        </p:txBody>
      </p:sp>
      <p:sp>
        <p:nvSpPr>
          <p:cNvPr id="25" name="TextBox 24"/>
          <p:cNvSpPr txBox="1"/>
          <p:nvPr/>
        </p:nvSpPr>
        <p:spPr>
          <a:xfrm>
            <a:off x="1325880" y="1828800"/>
            <a:ext cx="2743200" cy="237744"/>
          </a:xfrm>
          <a:prstGeom prst="rect">
            <a:avLst/>
          </a:prstGeom>
          <a:noFill/>
        </p:spPr>
        <p:txBody>
          <a:bodyPr wrap="none" lIns="0" tIns="0" rIns="0" bIns="0" anchor="ctr">
            <a:spAutoFit/>
          </a:bodyPr>
          <a:lstStyle/>
          <a:p>
            <a:pPr algn="l">
              <a:lnSpc>
                <a:spcPct val="105000"/>
              </a:lnSpc>
              <a:spcAft>
                <a:spcPts val="0"/>
              </a:spcAft>
            </a:pPr>
            <a:r>
              <a:rPr sz="850" b="0" i="0" spc="80">
                <a:solidFill>
                  <a:srgbClr val="56657A"/>
                </a:solidFill>
                <a:latin typeface="Segoe UI Semibold"/>
              </a:rPr>
              <a:t>ACTIVITY</a:t>
            </a:r>
          </a:p>
        </p:txBody>
      </p:sp>
      <p:cxnSp>
        <p:nvCxnSpPr>
          <p:cNvPr id="26" name="Connector 25"/>
          <p:cNvCxnSpPr/>
          <p:nvPr/>
        </p:nvCxnSpPr>
        <p:spPr>
          <a:xfrm>
            <a:off x="4754880" y="2103120"/>
            <a:ext cx="0" cy="530352"/>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809744" y="1828800"/>
            <a:ext cx="822960" cy="237744"/>
          </a:xfrm>
          <a:prstGeom prst="rect">
            <a:avLst/>
          </a:prstGeom>
          <a:noFill/>
        </p:spPr>
        <p:txBody>
          <a:bodyPr wrap="square" lIns="0" tIns="0" rIns="0" bIns="0" anchor="ctr">
            <a:spAutoFit/>
          </a:bodyPr>
          <a:lstStyle/>
          <a:p>
            <a:pPr algn="l">
              <a:lnSpc>
                <a:spcPct val="105000"/>
              </a:lnSpc>
              <a:spcAft>
                <a:spcPts val="0"/>
              </a:spcAft>
            </a:pPr>
            <a:r>
              <a:rPr sz="850" b="0" i="0">
                <a:solidFill>
                  <a:srgbClr val="98A3B3"/>
                </a:solidFill>
                <a:latin typeface="Segoe UI Semibold"/>
              </a:rPr>
              <a:t>W11</a:t>
            </a:r>
          </a:p>
        </p:txBody>
      </p:sp>
      <p:cxnSp>
        <p:nvCxnSpPr>
          <p:cNvPr id="28" name="Connector 27"/>
          <p:cNvCxnSpPr/>
          <p:nvPr/>
        </p:nvCxnSpPr>
        <p:spPr>
          <a:xfrm>
            <a:off x="5615902" y="2103120"/>
            <a:ext cx="0" cy="530352"/>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670766" y="1828800"/>
            <a:ext cx="822960" cy="237744"/>
          </a:xfrm>
          <a:prstGeom prst="rect">
            <a:avLst/>
          </a:prstGeom>
          <a:noFill/>
        </p:spPr>
        <p:txBody>
          <a:bodyPr wrap="square" lIns="0" tIns="0" rIns="0" bIns="0" anchor="ctr">
            <a:spAutoFit/>
          </a:bodyPr>
          <a:lstStyle/>
          <a:p>
            <a:pPr algn="l">
              <a:lnSpc>
                <a:spcPct val="105000"/>
              </a:lnSpc>
              <a:spcAft>
                <a:spcPts val="0"/>
              </a:spcAft>
            </a:pPr>
            <a:r>
              <a:rPr sz="850" b="0" i="0">
                <a:solidFill>
                  <a:srgbClr val="98A3B3"/>
                </a:solidFill>
                <a:latin typeface="Segoe UI Semibold"/>
              </a:rPr>
              <a:t>W12</a:t>
            </a:r>
          </a:p>
        </p:txBody>
      </p:sp>
      <p:cxnSp>
        <p:nvCxnSpPr>
          <p:cNvPr id="30" name="Connector 29"/>
          <p:cNvCxnSpPr/>
          <p:nvPr/>
        </p:nvCxnSpPr>
        <p:spPr>
          <a:xfrm>
            <a:off x="6476924" y="2103120"/>
            <a:ext cx="0" cy="530352"/>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531788" y="1828800"/>
            <a:ext cx="822960" cy="237744"/>
          </a:xfrm>
          <a:prstGeom prst="rect">
            <a:avLst/>
          </a:prstGeom>
          <a:noFill/>
        </p:spPr>
        <p:txBody>
          <a:bodyPr wrap="square" lIns="0" tIns="0" rIns="0" bIns="0" anchor="ctr">
            <a:spAutoFit/>
          </a:bodyPr>
          <a:lstStyle/>
          <a:p>
            <a:pPr algn="l">
              <a:lnSpc>
                <a:spcPct val="105000"/>
              </a:lnSpc>
              <a:spcAft>
                <a:spcPts val="0"/>
              </a:spcAft>
            </a:pPr>
            <a:r>
              <a:rPr sz="850" b="0" i="0">
                <a:solidFill>
                  <a:srgbClr val="98A3B3"/>
                </a:solidFill>
                <a:latin typeface="Segoe UI Semibold"/>
              </a:rPr>
              <a:t>W13</a:t>
            </a:r>
          </a:p>
        </p:txBody>
      </p:sp>
      <p:cxnSp>
        <p:nvCxnSpPr>
          <p:cNvPr id="32" name="Connector 31"/>
          <p:cNvCxnSpPr/>
          <p:nvPr/>
        </p:nvCxnSpPr>
        <p:spPr>
          <a:xfrm>
            <a:off x="7337946" y="2103120"/>
            <a:ext cx="0" cy="530352"/>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92810" y="1828800"/>
            <a:ext cx="822960" cy="237744"/>
          </a:xfrm>
          <a:prstGeom prst="rect">
            <a:avLst/>
          </a:prstGeom>
          <a:noFill/>
        </p:spPr>
        <p:txBody>
          <a:bodyPr wrap="square" lIns="0" tIns="0" rIns="0" bIns="0" anchor="ctr">
            <a:spAutoFit/>
          </a:bodyPr>
          <a:lstStyle/>
          <a:p>
            <a:pPr algn="l">
              <a:lnSpc>
                <a:spcPct val="105000"/>
              </a:lnSpc>
              <a:spcAft>
                <a:spcPts val="0"/>
              </a:spcAft>
            </a:pPr>
            <a:r>
              <a:rPr sz="850" b="0" i="0">
                <a:solidFill>
                  <a:srgbClr val="98A3B3"/>
                </a:solidFill>
                <a:latin typeface="Segoe UI Semibold"/>
              </a:rPr>
              <a:t>W14</a:t>
            </a:r>
          </a:p>
        </p:txBody>
      </p:sp>
      <p:cxnSp>
        <p:nvCxnSpPr>
          <p:cNvPr id="34" name="Connector 33"/>
          <p:cNvCxnSpPr/>
          <p:nvPr/>
        </p:nvCxnSpPr>
        <p:spPr>
          <a:xfrm>
            <a:off x="8198968" y="2103120"/>
            <a:ext cx="0" cy="530352"/>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253832" y="1828800"/>
            <a:ext cx="822960" cy="237744"/>
          </a:xfrm>
          <a:prstGeom prst="rect">
            <a:avLst/>
          </a:prstGeom>
          <a:noFill/>
        </p:spPr>
        <p:txBody>
          <a:bodyPr wrap="square" lIns="0" tIns="0" rIns="0" bIns="0" anchor="ctr">
            <a:spAutoFit/>
          </a:bodyPr>
          <a:lstStyle/>
          <a:p>
            <a:pPr algn="l">
              <a:lnSpc>
                <a:spcPct val="105000"/>
              </a:lnSpc>
              <a:spcAft>
                <a:spcPts val="0"/>
              </a:spcAft>
            </a:pPr>
            <a:r>
              <a:rPr sz="850" b="0" i="0">
                <a:solidFill>
                  <a:srgbClr val="98A3B3"/>
                </a:solidFill>
                <a:latin typeface="Segoe UI Semibold"/>
              </a:rPr>
              <a:t>W15</a:t>
            </a:r>
          </a:p>
        </p:txBody>
      </p:sp>
      <p:cxnSp>
        <p:nvCxnSpPr>
          <p:cNvPr id="36" name="Connector 35"/>
          <p:cNvCxnSpPr/>
          <p:nvPr/>
        </p:nvCxnSpPr>
        <p:spPr>
          <a:xfrm>
            <a:off x="9059990" y="2103120"/>
            <a:ext cx="0" cy="530352"/>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114854" y="1828800"/>
            <a:ext cx="822960" cy="237744"/>
          </a:xfrm>
          <a:prstGeom prst="rect">
            <a:avLst/>
          </a:prstGeom>
          <a:noFill/>
        </p:spPr>
        <p:txBody>
          <a:bodyPr wrap="square" lIns="0" tIns="0" rIns="0" bIns="0" anchor="ctr">
            <a:spAutoFit/>
          </a:bodyPr>
          <a:lstStyle/>
          <a:p>
            <a:pPr algn="l">
              <a:lnSpc>
                <a:spcPct val="105000"/>
              </a:lnSpc>
              <a:spcAft>
                <a:spcPts val="0"/>
              </a:spcAft>
            </a:pPr>
            <a:r>
              <a:rPr sz="850" b="0" i="0">
                <a:solidFill>
                  <a:srgbClr val="98A3B3"/>
                </a:solidFill>
                <a:latin typeface="Segoe UI Semibold"/>
              </a:rPr>
              <a:t>W16</a:t>
            </a:r>
          </a:p>
        </p:txBody>
      </p:sp>
      <p:cxnSp>
        <p:nvCxnSpPr>
          <p:cNvPr id="38" name="Connector 37"/>
          <p:cNvCxnSpPr/>
          <p:nvPr/>
        </p:nvCxnSpPr>
        <p:spPr>
          <a:xfrm>
            <a:off x="9921011" y="2103120"/>
            <a:ext cx="0" cy="530352"/>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9975875" y="1828800"/>
            <a:ext cx="822960" cy="237744"/>
          </a:xfrm>
          <a:prstGeom prst="rect">
            <a:avLst/>
          </a:prstGeom>
          <a:noFill/>
        </p:spPr>
        <p:txBody>
          <a:bodyPr wrap="square" lIns="0" tIns="0" rIns="0" bIns="0" anchor="ctr">
            <a:spAutoFit/>
          </a:bodyPr>
          <a:lstStyle/>
          <a:p>
            <a:pPr algn="l">
              <a:lnSpc>
                <a:spcPct val="105000"/>
              </a:lnSpc>
              <a:spcAft>
                <a:spcPts val="0"/>
              </a:spcAft>
            </a:pPr>
            <a:r>
              <a:rPr sz="850" b="0" i="0">
                <a:solidFill>
                  <a:srgbClr val="98A3B3"/>
                </a:solidFill>
                <a:latin typeface="Segoe UI Semibold"/>
              </a:rPr>
              <a:t>W17</a:t>
            </a:r>
          </a:p>
        </p:txBody>
      </p:sp>
      <p:cxnSp>
        <p:nvCxnSpPr>
          <p:cNvPr id="40" name="Connector 39"/>
          <p:cNvCxnSpPr/>
          <p:nvPr/>
        </p:nvCxnSpPr>
        <p:spPr>
          <a:xfrm>
            <a:off x="10782033" y="2103120"/>
            <a:ext cx="0" cy="530352"/>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10836897" y="1828800"/>
            <a:ext cx="822960" cy="237744"/>
          </a:xfrm>
          <a:prstGeom prst="rect">
            <a:avLst/>
          </a:prstGeom>
          <a:noFill/>
        </p:spPr>
        <p:txBody>
          <a:bodyPr wrap="square" lIns="0" tIns="0" rIns="0" bIns="0" anchor="ctr">
            <a:spAutoFit/>
          </a:bodyPr>
          <a:lstStyle/>
          <a:p>
            <a:pPr algn="l">
              <a:lnSpc>
                <a:spcPct val="105000"/>
              </a:lnSpc>
              <a:spcAft>
                <a:spcPts val="0"/>
              </a:spcAft>
            </a:pPr>
            <a:r>
              <a:rPr sz="850" b="0" i="0">
                <a:solidFill>
                  <a:srgbClr val="98A3B3"/>
                </a:solidFill>
                <a:latin typeface="Segoe UI Semibold"/>
              </a:rPr>
              <a:t>W18</a:t>
            </a:r>
          </a:p>
        </p:txBody>
      </p:sp>
      <p:cxnSp>
        <p:nvCxnSpPr>
          <p:cNvPr id="42" name="Connector 41"/>
          <p:cNvCxnSpPr/>
          <p:nvPr/>
        </p:nvCxnSpPr>
        <p:spPr>
          <a:xfrm>
            <a:off x="548640" y="2103120"/>
            <a:ext cx="11094415" cy="0"/>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43" name="!!rowbg"/>
          <p:cNvSpPr/>
          <p:nvPr/>
        </p:nvSpPr>
        <p:spPr>
          <a:xfrm>
            <a:off x="457200" y="2231136"/>
            <a:ext cx="11277295" cy="384048"/>
          </a:xfrm>
          <a:prstGeom prst="rect">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idA-3030"/>
          <p:cNvSpPr txBox="1"/>
          <p:nvPr/>
        </p:nvSpPr>
        <p:spPr>
          <a:xfrm>
            <a:off x="548640" y="2212848"/>
            <a:ext cx="731520" cy="420624"/>
          </a:xfrm>
          <a:prstGeom prst="rect">
            <a:avLst/>
          </a:prstGeom>
          <a:noFill/>
        </p:spPr>
        <p:txBody>
          <a:bodyPr wrap="square" lIns="0" tIns="0" rIns="0" bIns="0" anchor="ctr">
            <a:spAutoFit/>
          </a:bodyPr>
          <a:lstStyle/>
          <a:p>
            <a:pPr algn="l">
              <a:lnSpc>
                <a:spcPct val="105000"/>
              </a:lnSpc>
              <a:spcAft>
                <a:spcPts val="0"/>
              </a:spcAft>
            </a:pPr>
            <a:r>
              <a:rPr sz="1050" b="0" i="0">
                <a:solidFill>
                  <a:srgbClr val="0B1F33"/>
                </a:solidFill>
                <a:latin typeface="Consolas"/>
              </a:rPr>
              <a:t>A-3030</a:t>
            </a:r>
          </a:p>
        </p:txBody>
      </p:sp>
      <p:sp>
        <p:nvSpPr>
          <p:cNvPr id="45" name="!!nmA-3030"/>
          <p:cNvSpPr txBox="1"/>
          <p:nvPr/>
        </p:nvSpPr>
        <p:spPr>
          <a:xfrm>
            <a:off x="1325880" y="2212848"/>
            <a:ext cx="3291840" cy="420624"/>
          </a:xfrm>
          <a:prstGeom prst="rect">
            <a:avLst/>
          </a:prstGeom>
          <a:noFill/>
        </p:spPr>
        <p:txBody>
          <a:bodyPr wrap="none" lIns="0" tIns="0" rIns="0" bIns="0" anchor="ctr">
            <a:spAutoFit/>
          </a:bodyPr>
          <a:lstStyle/>
          <a:p>
            <a:pPr algn="l">
              <a:lnSpc>
                <a:spcPct val="105000"/>
              </a:lnSpc>
              <a:spcAft>
                <a:spcPts val="0"/>
              </a:spcAft>
            </a:pPr>
            <a:r>
              <a:rPr sz="1150" b="0" i="0">
                <a:solidFill>
                  <a:srgbClr val="0B1F33"/>
                </a:solidFill>
                <a:latin typeface="Segoe UI Semibold"/>
              </a:rPr>
              <a:t>Electrical Equipment Installation — Area A</a:t>
            </a:r>
          </a:p>
        </p:txBody>
      </p:sp>
      <p:sp>
        <p:nvSpPr>
          <p:cNvPr id="46" name="!!barA-3030"/>
          <p:cNvSpPr/>
          <p:nvPr/>
        </p:nvSpPr>
        <p:spPr>
          <a:xfrm>
            <a:off x="7337946" y="2331720"/>
            <a:ext cx="1599041" cy="182880"/>
          </a:xfrm>
          <a:prstGeom prst="roundRect">
            <a:avLst>
              <a:gd name="adj" fmla="val 50000"/>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48640" y="2761488"/>
            <a:ext cx="4572000" cy="237744"/>
          </a:xfrm>
          <a:prstGeom prst="rect">
            <a:avLst/>
          </a:prstGeom>
          <a:noFill/>
        </p:spPr>
        <p:txBody>
          <a:bodyPr wrap="none" lIns="0" tIns="0" rIns="0" bIns="0" anchor="ctr">
            <a:spAutoFit/>
          </a:bodyPr>
          <a:lstStyle/>
          <a:p>
            <a:pPr algn="l">
              <a:lnSpc>
                <a:spcPct val="105000"/>
              </a:lnSpc>
              <a:spcAft>
                <a:spcPts val="0"/>
              </a:spcAft>
            </a:pPr>
            <a:r>
              <a:rPr sz="950" b="0" i="0" spc="80">
                <a:solidFill>
                  <a:srgbClr val="1F5BD8"/>
                </a:solidFill>
                <a:latin typeface="Segoe UI Semibold"/>
              </a:rPr>
              <a:t>HARUS SIAP SEBELUM MULAI</a:t>
            </a:r>
          </a:p>
        </p:txBody>
      </p:sp>
      <p:sp>
        <p:nvSpPr>
          <p:cNvPr id="48" name="!!up0"/>
          <p:cNvSpPr/>
          <p:nvPr/>
        </p:nvSpPr>
        <p:spPr>
          <a:xfrm>
            <a:off x="548640" y="3429000"/>
            <a:ext cx="1316736" cy="1371600"/>
          </a:xfrm>
          <a:prstGeom prst="roundRect">
            <a:avLst>
              <a:gd name="adj" fmla="val 5555"/>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667512" y="3575304"/>
            <a:ext cx="457200" cy="457200"/>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0" name="Picture 49" descr="E8B9-1F5BD8.png"/>
          <p:cNvPicPr>
            <a:picLocks noChangeAspect="1"/>
          </p:cNvPicPr>
          <p:nvPr/>
        </p:nvPicPr>
        <p:blipFill>
          <a:blip r:embed="rId3"/>
          <a:stretch>
            <a:fillRect/>
          </a:stretch>
        </p:blipFill>
        <p:spPr>
          <a:xfrm>
            <a:off x="781812" y="3689604"/>
            <a:ext cx="228600" cy="228600"/>
          </a:xfrm>
          <a:prstGeom prst="rect">
            <a:avLst/>
          </a:prstGeom>
        </p:spPr>
      </p:pic>
      <p:sp>
        <p:nvSpPr>
          <p:cNvPr id="51" name="TextBox 50"/>
          <p:cNvSpPr txBox="1"/>
          <p:nvPr/>
        </p:nvSpPr>
        <p:spPr>
          <a:xfrm>
            <a:off x="694944" y="4096512"/>
            <a:ext cx="1097280" cy="457200"/>
          </a:xfrm>
          <a:prstGeom prst="rect">
            <a:avLst/>
          </a:prstGeom>
          <a:noFill/>
        </p:spPr>
        <p:txBody>
          <a:bodyPr wrap="square" lIns="0" tIns="0" rIns="0" bIns="0" anchor="t">
            <a:spAutoFit/>
          </a:bodyPr>
          <a:lstStyle/>
          <a:p>
            <a:pPr algn="l">
              <a:lnSpc>
                <a:spcPct val="95000"/>
              </a:lnSpc>
              <a:spcAft>
                <a:spcPts val="0"/>
              </a:spcAft>
            </a:pPr>
            <a:r>
              <a:rPr sz="1150" b="0" i="0">
                <a:solidFill>
                  <a:srgbClr val="0B1F33"/>
                </a:solidFill>
                <a:latin typeface="Segoe UI Semibold"/>
              </a:rPr>
              <a:t>Drawing approved</a:t>
            </a:r>
          </a:p>
        </p:txBody>
      </p:sp>
      <p:sp>
        <p:nvSpPr>
          <p:cNvPr id="52" name="TextBox 51"/>
          <p:cNvSpPr txBox="1"/>
          <p:nvPr/>
        </p:nvSpPr>
        <p:spPr>
          <a:xfrm>
            <a:off x="694944" y="4526280"/>
            <a:ext cx="1097280" cy="237744"/>
          </a:xfrm>
          <a:prstGeom prst="rect">
            <a:avLst/>
          </a:prstGeom>
          <a:noFill/>
        </p:spPr>
        <p:txBody>
          <a:bodyPr wrap="none" lIns="0" tIns="0" rIns="0" bIns="0" anchor="ctr">
            <a:spAutoFit/>
          </a:bodyPr>
          <a:lstStyle/>
          <a:p>
            <a:pPr algn="l">
              <a:lnSpc>
                <a:spcPct val="105000"/>
              </a:lnSpc>
              <a:spcAft>
                <a:spcPts val="0"/>
              </a:spcAft>
            </a:pPr>
            <a:r>
              <a:rPr sz="750" b="0" i="0" spc="80">
                <a:solidFill>
                  <a:srgbClr val="56657A"/>
                </a:solidFill>
                <a:latin typeface="Segoe UI Semibold"/>
              </a:rPr>
              <a:t>ENGINEERING</a:t>
            </a:r>
          </a:p>
        </p:txBody>
      </p:sp>
      <p:cxnSp>
        <p:nvCxnSpPr>
          <p:cNvPr id="53" name="Connector 52"/>
          <p:cNvCxnSpPr/>
          <p:nvPr/>
        </p:nvCxnSpPr>
        <p:spPr>
          <a:xfrm>
            <a:off x="1207008" y="3127248"/>
            <a:ext cx="0" cy="301752"/>
          </a:xfrm>
          <a:prstGeom prst="line">
            <a:avLst/>
          </a:prstGeom>
          <a:ln w="15875">
            <a:solidFill>
              <a:srgbClr val="1F5BD8"/>
            </a:solidFill>
          </a:ln>
        </p:spPr>
        <p:style>
          <a:lnRef idx="2">
            <a:schemeClr val="accent1"/>
          </a:lnRef>
          <a:fillRef idx="0">
            <a:schemeClr val="accent1"/>
          </a:fillRef>
          <a:effectRef idx="1">
            <a:schemeClr val="accent1"/>
          </a:effectRef>
          <a:fontRef idx="minor">
            <a:schemeClr val="tx1"/>
          </a:fontRef>
        </p:style>
      </p:cxnSp>
      <p:sp>
        <p:nvSpPr>
          <p:cNvPr id="54" name="!!up1"/>
          <p:cNvSpPr/>
          <p:nvPr/>
        </p:nvSpPr>
        <p:spPr>
          <a:xfrm>
            <a:off x="1975104" y="3429000"/>
            <a:ext cx="1316736" cy="1371600"/>
          </a:xfrm>
          <a:prstGeom prst="roundRect">
            <a:avLst>
              <a:gd name="adj" fmla="val 5555"/>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2093976" y="3575304"/>
            <a:ext cx="457200" cy="457200"/>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6" name="Picture 55" descr="E7B8-1F5BD8.png"/>
          <p:cNvPicPr>
            <a:picLocks noChangeAspect="1"/>
          </p:cNvPicPr>
          <p:nvPr/>
        </p:nvPicPr>
        <p:blipFill>
          <a:blip r:embed="rId4"/>
          <a:stretch>
            <a:fillRect/>
          </a:stretch>
        </p:blipFill>
        <p:spPr>
          <a:xfrm>
            <a:off x="2208276" y="3689604"/>
            <a:ext cx="228600" cy="228600"/>
          </a:xfrm>
          <a:prstGeom prst="rect">
            <a:avLst/>
          </a:prstGeom>
        </p:spPr>
      </p:pic>
      <p:sp>
        <p:nvSpPr>
          <p:cNvPr id="57" name="TextBox 56"/>
          <p:cNvSpPr txBox="1"/>
          <p:nvPr/>
        </p:nvSpPr>
        <p:spPr>
          <a:xfrm>
            <a:off x="2121408" y="4096512"/>
            <a:ext cx="1097280" cy="457200"/>
          </a:xfrm>
          <a:prstGeom prst="rect">
            <a:avLst/>
          </a:prstGeom>
          <a:noFill/>
        </p:spPr>
        <p:txBody>
          <a:bodyPr wrap="square" lIns="0" tIns="0" rIns="0" bIns="0" anchor="t">
            <a:spAutoFit/>
          </a:bodyPr>
          <a:lstStyle/>
          <a:p>
            <a:pPr algn="l">
              <a:lnSpc>
                <a:spcPct val="95000"/>
              </a:lnSpc>
              <a:spcAft>
                <a:spcPts val="0"/>
              </a:spcAft>
            </a:pPr>
            <a:r>
              <a:rPr sz="1150" b="0" i="0">
                <a:solidFill>
                  <a:srgbClr val="0B1F33"/>
                </a:solidFill>
                <a:latin typeface="Segoe UI Semibold"/>
              </a:rPr>
              <a:t>Material sudah di site</a:t>
            </a:r>
          </a:p>
        </p:txBody>
      </p:sp>
      <p:sp>
        <p:nvSpPr>
          <p:cNvPr id="58" name="TextBox 57"/>
          <p:cNvSpPr txBox="1"/>
          <p:nvPr/>
        </p:nvSpPr>
        <p:spPr>
          <a:xfrm>
            <a:off x="2121408" y="4526280"/>
            <a:ext cx="1097280" cy="237744"/>
          </a:xfrm>
          <a:prstGeom prst="rect">
            <a:avLst/>
          </a:prstGeom>
          <a:noFill/>
        </p:spPr>
        <p:txBody>
          <a:bodyPr wrap="none" lIns="0" tIns="0" rIns="0" bIns="0" anchor="ctr">
            <a:spAutoFit/>
          </a:bodyPr>
          <a:lstStyle/>
          <a:p>
            <a:pPr algn="l">
              <a:lnSpc>
                <a:spcPct val="105000"/>
              </a:lnSpc>
              <a:spcAft>
                <a:spcPts val="0"/>
              </a:spcAft>
            </a:pPr>
            <a:r>
              <a:rPr sz="750" b="0" i="0" spc="80">
                <a:solidFill>
                  <a:srgbClr val="56657A"/>
                </a:solidFill>
                <a:latin typeface="Segoe UI Semibold"/>
              </a:rPr>
              <a:t>PROCUREMENT</a:t>
            </a:r>
          </a:p>
        </p:txBody>
      </p:sp>
      <p:cxnSp>
        <p:nvCxnSpPr>
          <p:cNvPr id="59" name="Connector 58"/>
          <p:cNvCxnSpPr/>
          <p:nvPr/>
        </p:nvCxnSpPr>
        <p:spPr>
          <a:xfrm>
            <a:off x="2633472" y="3127248"/>
            <a:ext cx="0" cy="301752"/>
          </a:xfrm>
          <a:prstGeom prst="line">
            <a:avLst/>
          </a:prstGeom>
          <a:ln w="15875">
            <a:solidFill>
              <a:srgbClr val="1F5BD8"/>
            </a:solidFill>
          </a:ln>
        </p:spPr>
        <p:style>
          <a:lnRef idx="2">
            <a:schemeClr val="accent1"/>
          </a:lnRef>
          <a:fillRef idx="0">
            <a:schemeClr val="accent1"/>
          </a:fillRef>
          <a:effectRef idx="1">
            <a:schemeClr val="accent1"/>
          </a:effectRef>
          <a:fontRef idx="minor">
            <a:schemeClr val="tx1"/>
          </a:fontRef>
        </p:style>
      </p:cxnSp>
      <p:sp>
        <p:nvSpPr>
          <p:cNvPr id="60" name="!!up2"/>
          <p:cNvSpPr/>
          <p:nvPr/>
        </p:nvSpPr>
        <p:spPr>
          <a:xfrm>
            <a:off x="3401568" y="3429000"/>
            <a:ext cx="1316736" cy="1371600"/>
          </a:xfrm>
          <a:prstGeom prst="roundRect">
            <a:avLst>
              <a:gd name="adj" fmla="val 5555"/>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3520440" y="3575304"/>
            <a:ext cx="457200" cy="457200"/>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2" name="Picture 61" descr="E8D7-1F5BD8.png"/>
          <p:cNvPicPr>
            <a:picLocks noChangeAspect="1"/>
          </p:cNvPicPr>
          <p:nvPr/>
        </p:nvPicPr>
        <p:blipFill>
          <a:blip r:embed="rId5"/>
          <a:stretch>
            <a:fillRect/>
          </a:stretch>
        </p:blipFill>
        <p:spPr>
          <a:xfrm>
            <a:off x="3634740" y="3689604"/>
            <a:ext cx="228600" cy="228600"/>
          </a:xfrm>
          <a:prstGeom prst="rect">
            <a:avLst/>
          </a:prstGeom>
        </p:spPr>
      </p:pic>
      <p:sp>
        <p:nvSpPr>
          <p:cNvPr id="63" name="TextBox 62"/>
          <p:cNvSpPr txBox="1"/>
          <p:nvPr/>
        </p:nvSpPr>
        <p:spPr>
          <a:xfrm>
            <a:off x="3547872" y="4096512"/>
            <a:ext cx="1097280" cy="457200"/>
          </a:xfrm>
          <a:prstGeom prst="rect">
            <a:avLst/>
          </a:prstGeom>
          <a:noFill/>
        </p:spPr>
        <p:txBody>
          <a:bodyPr wrap="square" lIns="0" tIns="0" rIns="0" bIns="0" anchor="t">
            <a:spAutoFit/>
          </a:bodyPr>
          <a:lstStyle/>
          <a:p>
            <a:pPr algn="l">
              <a:lnSpc>
                <a:spcPct val="95000"/>
              </a:lnSpc>
              <a:spcAft>
                <a:spcPts val="0"/>
              </a:spcAft>
            </a:pPr>
            <a:r>
              <a:rPr sz="1150" b="0" i="0">
                <a:solidFill>
                  <a:srgbClr val="0B1F33"/>
                </a:solidFill>
                <a:latin typeface="Segoe UI Semibold"/>
              </a:rPr>
              <a:t>Access sudah clear</a:t>
            </a:r>
          </a:p>
        </p:txBody>
      </p:sp>
      <p:sp>
        <p:nvSpPr>
          <p:cNvPr id="64" name="TextBox 63"/>
          <p:cNvSpPr txBox="1"/>
          <p:nvPr/>
        </p:nvSpPr>
        <p:spPr>
          <a:xfrm>
            <a:off x="3547872" y="4526280"/>
            <a:ext cx="1097280" cy="237744"/>
          </a:xfrm>
          <a:prstGeom prst="rect">
            <a:avLst/>
          </a:prstGeom>
          <a:noFill/>
        </p:spPr>
        <p:txBody>
          <a:bodyPr wrap="none" lIns="0" tIns="0" rIns="0" bIns="0" anchor="ctr">
            <a:spAutoFit/>
          </a:bodyPr>
          <a:lstStyle/>
          <a:p>
            <a:pPr algn="l">
              <a:lnSpc>
                <a:spcPct val="105000"/>
              </a:lnSpc>
              <a:spcAft>
                <a:spcPts val="0"/>
              </a:spcAft>
            </a:pPr>
            <a:r>
              <a:rPr sz="750" b="0" i="0" spc="80">
                <a:solidFill>
                  <a:srgbClr val="56657A"/>
                </a:solidFill>
                <a:latin typeface="Segoe UI Semibold"/>
              </a:rPr>
              <a:t>TRADE LAIN</a:t>
            </a:r>
          </a:p>
        </p:txBody>
      </p:sp>
      <p:cxnSp>
        <p:nvCxnSpPr>
          <p:cNvPr id="65" name="Connector 64"/>
          <p:cNvCxnSpPr/>
          <p:nvPr/>
        </p:nvCxnSpPr>
        <p:spPr>
          <a:xfrm>
            <a:off x="4059936" y="3127248"/>
            <a:ext cx="0" cy="301752"/>
          </a:xfrm>
          <a:prstGeom prst="line">
            <a:avLst/>
          </a:prstGeom>
          <a:ln w="15875">
            <a:solidFill>
              <a:srgbClr val="1F5BD8"/>
            </a:solidFill>
          </a:ln>
        </p:spPr>
        <p:style>
          <a:lnRef idx="2">
            <a:schemeClr val="accent1"/>
          </a:lnRef>
          <a:fillRef idx="0">
            <a:schemeClr val="accent1"/>
          </a:fillRef>
          <a:effectRef idx="1">
            <a:schemeClr val="accent1"/>
          </a:effectRef>
          <a:fontRef idx="minor">
            <a:schemeClr val="tx1"/>
          </a:fontRef>
        </p:style>
      </p:cxnSp>
      <p:sp>
        <p:nvSpPr>
          <p:cNvPr id="66" name="!!up3"/>
          <p:cNvSpPr/>
          <p:nvPr/>
        </p:nvSpPr>
        <p:spPr>
          <a:xfrm>
            <a:off x="4828032" y="3429000"/>
            <a:ext cx="1316736" cy="1371600"/>
          </a:xfrm>
          <a:prstGeom prst="roundRect">
            <a:avLst>
              <a:gd name="adj" fmla="val 5555"/>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4946904" y="3575304"/>
            <a:ext cx="457200" cy="457200"/>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8" name="Picture 67" descr="E71B-1F5BD8.png"/>
          <p:cNvPicPr>
            <a:picLocks noChangeAspect="1"/>
          </p:cNvPicPr>
          <p:nvPr/>
        </p:nvPicPr>
        <p:blipFill>
          <a:blip r:embed="rId6"/>
          <a:stretch>
            <a:fillRect/>
          </a:stretch>
        </p:blipFill>
        <p:spPr>
          <a:xfrm>
            <a:off x="5061204" y="3689604"/>
            <a:ext cx="228600" cy="228600"/>
          </a:xfrm>
          <a:prstGeom prst="rect">
            <a:avLst/>
          </a:prstGeom>
        </p:spPr>
      </p:pic>
      <p:sp>
        <p:nvSpPr>
          <p:cNvPr id="69" name="TextBox 68"/>
          <p:cNvSpPr txBox="1"/>
          <p:nvPr/>
        </p:nvSpPr>
        <p:spPr>
          <a:xfrm>
            <a:off x="4974336" y="4096512"/>
            <a:ext cx="1097280" cy="457200"/>
          </a:xfrm>
          <a:prstGeom prst="rect">
            <a:avLst/>
          </a:prstGeom>
          <a:noFill/>
        </p:spPr>
        <p:txBody>
          <a:bodyPr wrap="square" lIns="0" tIns="0" rIns="0" bIns="0" anchor="t">
            <a:spAutoFit/>
          </a:bodyPr>
          <a:lstStyle/>
          <a:p>
            <a:pPr algn="l">
              <a:lnSpc>
                <a:spcPct val="95000"/>
              </a:lnSpc>
              <a:spcAft>
                <a:spcPts val="0"/>
              </a:spcAft>
            </a:pPr>
            <a:r>
              <a:rPr sz="1150" b="0" i="0">
                <a:solidFill>
                  <a:srgbClr val="0B1F33"/>
                </a:solidFill>
                <a:latin typeface="Segoe UI Semibold"/>
              </a:rPr>
              <a:t>Predecessor selesai</a:t>
            </a:r>
          </a:p>
        </p:txBody>
      </p:sp>
      <p:sp>
        <p:nvSpPr>
          <p:cNvPr id="70" name="TextBox 69"/>
          <p:cNvSpPr txBox="1"/>
          <p:nvPr/>
        </p:nvSpPr>
        <p:spPr>
          <a:xfrm>
            <a:off x="4974336" y="4526280"/>
            <a:ext cx="1097280" cy="237744"/>
          </a:xfrm>
          <a:prstGeom prst="rect">
            <a:avLst/>
          </a:prstGeom>
          <a:noFill/>
        </p:spPr>
        <p:txBody>
          <a:bodyPr wrap="none" lIns="0" tIns="0" rIns="0" bIns="0" anchor="ctr">
            <a:spAutoFit/>
          </a:bodyPr>
          <a:lstStyle/>
          <a:p>
            <a:pPr algn="l">
              <a:lnSpc>
                <a:spcPct val="105000"/>
              </a:lnSpc>
              <a:spcAft>
                <a:spcPts val="0"/>
              </a:spcAft>
            </a:pPr>
            <a:r>
              <a:rPr sz="750" b="0" i="0" spc="80">
                <a:solidFill>
                  <a:srgbClr val="56657A"/>
                </a:solidFill>
                <a:latin typeface="Segoe UI Semibold"/>
              </a:rPr>
              <a:t>PEKERJAAN AWAL</a:t>
            </a:r>
          </a:p>
        </p:txBody>
      </p:sp>
      <p:cxnSp>
        <p:nvCxnSpPr>
          <p:cNvPr id="71" name="Connector 70"/>
          <p:cNvCxnSpPr/>
          <p:nvPr/>
        </p:nvCxnSpPr>
        <p:spPr>
          <a:xfrm>
            <a:off x="5486400" y="3127248"/>
            <a:ext cx="0" cy="301752"/>
          </a:xfrm>
          <a:prstGeom prst="line">
            <a:avLst/>
          </a:prstGeom>
          <a:ln w="15875">
            <a:solidFill>
              <a:srgbClr val="1F5BD8"/>
            </a:solidFill>
          </a:ln>
        </p:spPr>
        <p:style>
          <a:lnRef idx="2">
            <a:schemeClr val="accent1"/>
          </a:lnRef>
          <a:fillRef idx="0">
            <a:schemeClr val="accent1"/>
          </a:fillRef>
          <a:effectRef idx="1">
            <a:schemeClr val="accent1"/>
          </a:effectRef>
          <a:fontRef idx="minor">
            <a:schemeClr val="tx1"/>
          </a:fontRef>
        </p:style>
      </p:cxnSp>
      <p:sp>
        <p:nvSpPr>
          <p:cNvPr id="72" name="!!up4"/>
          <p:cNvSpPr/>
          <p:nvPr/>
        </p:nvSpPr>
        <p:spPr>
          <a:xfrm>
            <a:off x="6254496" y="3429000"/>
            <a:ext cx="1316736" cy="1371600"/>
          </a:xfrm>
          <a:prstGeom prst="roundRect">
            <a:avLst>
              <a:gd name="adj" fmla="val 5555"/>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6373368" y="3575304"/>
            <a:ext cx="457200" cy="457200"/>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4" name="Picture 73" descr="E716-1F5BD8.png"/>
          <p:cNvPicPr>
            <a:picLocks noChangeAspect="1"/>
          </p:cNvPicPr>
          <p:nvPr/>
        </p:nvPicPr>
        <p:blipFill>
          <a:blip r:embed="rId7"/>
          <a:stretch>
            <a:fillRect/>
          </a:stretch>
        </p:blipFill>
        <p:spPr>
          <a:xfrm>
            <a:off x="6487668" y="3689604"/>
            <a:ext cx="228600" cy="228600"/>
          </a:xfrm>
          <a:prstGeom prst="rect">
            <a:avLst/>
          </a:prstGeom>
        </p:spPr>
      </p:pic>
      <p:sp>
        <p:nvSpPr>
          <p:cNvPr id="75" name="TextBox 74"/>
          <p:cNvSpPr txBox="1"/>
          <p:nvPr/>
        </p:nvSpPr>
        <p:spPr>
          <a:xfrm>
            <a:off x="6400800" y="4096512"/>
            <a:ext cx="1097280" cy="457200"/>
          </a:xfrm>
          <a:prstGeom prst="rect">
            <a:avLst/>
          </a:prstGeom>
          <a:noFill/>
        </p:spPr>
        <p:txBody>
          <a:bodyPr wrap="square" lIns="0" tIns="0" rIns="0" bIns="0" anchor="t">
            <a:spAutoFit/>
          </a:bodyPr>
          <a:lstStyle/>
          <a:p>
            <a:pPr algn="l">
              <a:lnSpc>
                <a:spcPct val="95000"/>
              </a:lnSpc>
              <a:spcAft>
                <a:spcPts val="0"/>
              </a:spcAft>
            </a:pPr>
            <a:r>
              <a:rPr sz="1150" b="0" i="0">
                <a:solidFill>
                  <a:srgbClr val="0B1F33"/>
                </a:solidFill>
                <a:latin typeface="Segoe UI Semibold"/>
              </a:rPr>
              <a:t>Manpower terkonfirmasi</a:t>
            </a:r>
          </a:p>
        </p:txBody>
      </p:sp>
      <p:sp>
        <p:nvSpPr>
          <p:cNvPr id="76" name="TextBox 75"/>
          <p:cNvSpPr txBox="1"/>
          <p:nvPr/>
        </p:nvSpPr>
        <p:spPr>
          <a:xfrm>
            <a:off x="6400800" y="4526280"/>
            <a:ext cx="1097280" cy="237744"/>
          </a:xfrm>
          <a:prstGeom prst="rect">
            <a:avLst/>
          </a:prstGeom>
          <a:noFill/>
        </p:spPr>
        <p:txBody>
          <a:bodyPr wrap="none" lIns="0" tIns="0" rIns="0" bIns="0" anchor="ctr">
            <a:spAutoFit/>
          </a:bodyPr>
          <a:lstStyle/>
          <a:p>
            <a:pPr algn="l">
              <a:lnSpc>
                <a:spcPct val="105000"/>
              </a:lnSpc>
              <a:spcAft>
                <a:spcPts val="0"/>
              </a:spcAft>
            </a:pPr>
            <a:r>
              <a:rPr sz="750" b="0" i="0" spc="80">
                <a:solidFill>
                  <a:srgbClr val="56657A"/>
                </a:solidFill>
                <a:latin typeface="Segoe UI Semibold"/>
              </a:rPr>
              <a:t>RESOURCE</a:t>
            </a:r>
          </a:p>
        </p:txBody>
      </p:sp>
      <p:cxnSp>
        <p:nvCxnSpPr>
          <p:cNvPr id="77" name="Connector 76"/>
          <p:cNvCxnSpPr/>
          <p:nvPr/>
        </p:nvCxnSpPr>
        <p:spPr>
          <a:xfrm>
            <a:off x="6912864" y="3127248"/>
            <a:ext cx="0" cy="301752"/>
          </a:xfrm>
          <a:prstGeom prst="line">
            <a:avLst/>
          </a:prstGeom>
          <a:ln w="15875">
            <a:solidFill>
              <a:srgbClr val="1F5BD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207008" y="3127248"/>
            <a:ext cx="6222378" cy="0"/>
          </a:xfrm>
          <a:prstGeom prst="line">
            <a:avLst/>
          </a:prstGeom>
          <a:ln w="15875">
            <a:solidFill>
              <a:srgbClr val="1F5BD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7429386" y="2532888"/>
            <a:ext cx="0" cy="594360"/>
          </a:xfrm>
          <a:prstGeom prst="line">
            <a:avLst/>
          </a:prstGeom>
          <a:ln w="15875">
            <a:solidFill>
              <a:srgbClr val="1F5B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8001000" y="2761488"/>
            <a:ext cx="3657600" cy="237744"/>
          </a:xfrm>
          <a:prstGeom prst="rect">
            <a:avLst/>
          </a:prstGeom>
          <a:noFill/>
        </p:spPr>
        <p:txBody>
          <a:bodyPr wrap="none" lIns="0" tIns="0" rIns="0" bIns="0" anchor="ctr">
            <a:spAutoFit/>
          </a:bodyPr>
          <a:lstStyle/>
          <a:p>
            <a:pPr algn="l">
              <a:lnSpc>
                <a:spcPct val="105000"/>
              </a:lnSpc>
              <a:spcAft>
                <a:spcPts val="0"/>
              </a:spcAft>
            </a:pPr>
            <a:r>
              <a:rPr sz="950" b="0" i="0" spc="80">
                <a:solidFill>
                  <a:srgbClr val="1F5BD8"/>
                </a:solidFill>
                <a:latin typeface="Segoe UI Semibold"/>
              </a:rPr>
              <a:t>LALU HARUS MENYUSUL</a:t>
            </a:r>
          </a:p>
        </p:txBody>
      </p:sp>
      <p:sp>
        <p:nvSpPr>
          <p:cNvPr id="81" name="!!down0"/>
          <p:cNvSpPr/>
          <p:nvPr/>
        </p:nvSpPr>
        <p:spPr>
          <a:xfrm>
            <a:off x="8001000" y="3429000"/>
            <a:ext cx="1737360" cy="1371600"/>
          </a:xfrm>
          <a:prstGeom prst="roundRect">
            <a:avLst>
              <a:gd name="adj" fmla="val 5333"/>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p:cNvSpPr/>
          <p:nvPr/>
        </p:nvSpPr>
        <p:spPr>
          <a:xfrm>
            <a:off x="8119872" y="3593592"/>
            <a:ext cx="493776" cy="493776"/>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3" name="Picture 82" descr="EADF-1F5BD8.png"/>
          <p:cNvPicPr>
            <a:picLocks noChangeAspect="1"/>
          </p:cNvPicPr>
          <p:nvPr/>
        </p:nvPicPr>
        <p:blipFill>
          <a:blip r:embed="rId8"/>
          <a:stretch>
            <a:fillRect/>
          </a:stretch>
        </p:blipFill>
        <p:spPr>
          <a:xfrm>
            <a:off x="8243316" y="3717036"/>
            <a:ext cx="246888" cy="246888"/>
          </a:xfrm>
          <a:prstGeom prst="rect">
            <a:avLst/>
          </a:prstGeom>
        </p:spPr>
      </p:pic>
      <p:sp>
        <p:nvSpPr>
          <p:cNvPr id="84" name="TextBox 83"/>
          <p:cNvSpPr txBox="1"/>
          <p:nvPr/>
        </p:nvSpPr>
        <p:spPr>
          <a:xfrm>
            <a:off x="8165592" y="4206240"/>
            <a:ext cx="1463040" cy="457200"/>
          </a:xfrm>
          <a:prstGeom prst="rect">
            <a:avLst/>
          </a:prstGeom>
          <a:noFill/>
        </p:spPr>
        <p:txBody>
          <a:bodyPr wrap="square" lIns="0" tIns="0" rIns="0" bIns="0" anchor="t">
            <a:spAutoFit/>
          </a:bodyPr>
          <a:lstStyle/>
          <a:p>
            <a:pPr algn="l">
              <a:lnSpc>
                <a:spcPct val="105000"/>
              </a:lnSpc>
              <a:spcAft>
                <a:spcPts val="0"/>
              </a:spcAft>
            </a:pPr>
            <a:r>
              <a:rPr sz="1400" b="0" i="0">
                <a:solidFill>
                  <a:srgbClr val="0B1F33"/>
                </a:solidFill>
                <a:latin typeface="Segoe UI Semibold"/>
              </a:rPr>
              <a:t>Inspection</a:t>
            </a:r>
          </a:p>
        </p:txBody>
      </p:sp>
      <p:cxnSp>
        <p:nvCxnSpPr>
          <p:cNvPr id="85" name="Connector 84"/>
          <p:cNvCxnSpPr/>
          <p:nvPr/>
        </p:nvCxnSpPr>
        <p:spPr>
          <a:xfrm>
            <a:off x="8869680" y="3127248"/>
            <a:ext cx="0" cy="301752"/>
          </a:xfrm>
          <a:prstGeom prst="line">
            <a:avLst/>
          </a:prstGeom>
          <a:ln w="15875">
            <a:solidFill>
              <a:srgbClr val="1F5B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86" name="!!down1"/>
          <p:cNvSpPr/>
          <p:nvPr/>
        </p:nvSpPr>
        <p:spPr>
          <a:xfrm>
            <a:off x="9884664" y="3429000"/>
            <a:ext cx="1737360" cy="1371600"/>
          </a:xfrm>
          <a:prstGeom prst="roundRect">
            <a:avLst>
              <a:gd name="adj" fmla="val 5333"/>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val 86"/>
          <p:cNvSpPr/>
          <p:nvPr/>
        </p:nvSpPr>
        <p:spPr>
          <a:xfrm>
            <a:off x="10003536" y="3593592"/>
            <a:ext cx="493776" cy="493776"/>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8" name="Picture 87" descr="EADF-1F5BD8.png"/>
          <p:cNvPicPr>
            <a:picLocks noChangeAspect="1"/>
          </p:cNvPicPr>
          <p:nvPr/>
        </p:nvPicPr>
        <p:blipFill>
          <a:blip r:embed="rId8"/>
          <a:stretch>
            <a:fillRect/>
          </a:stretch>
        </p:blipFill>
        <p:spPr>
          <a:xfrm>
            <a:off x="10126980" y="3717036"/>
            <a:ext cx="246888" cy="246888"/>
          </a:xfrm>
          <a:prstGeom prst="rect">
            <a:avLst/>
          </a:prstGeom>
        </p:spPr>
      </p:pic>
      <p:sp>
        <p:nvSpPr>
          <p:cNvPr id="89" name="TextBox 88"/>
          <p:cNvSpPr txBox="1"/>
          <p:nvPr/>
        </p:nvSpPr>
        <p:spPr>
          <a:xfrm>
            <a:off x="10049256" y="4206240"/>
            <a:ext cx="1463040" cy="457200"/>
          </a:xfrm>
          <a:prstGeom prst="rect">
            <a:avLst/>
          </a:prstGeom>
          <a:noFill/>
        </p:spPr>
        <p:txBody>
          <a:bodyPr wrap="square" lIns="0" tIns="0" rIns="0" bIns="0" anchor="t">
            <a:spAutoFit/>
          </a:bodyPr>
          <a:lstStyle/>
          <a:p>
            <a:pPr algn="l">
              <a:lnSpc>
                <a:spcPct val="105000"/>
              </a:lnSpc>
              <a:spcAft>
                <a:spcPts val="0"/>
              </a:spcAft>
            </a:pPr>
            <a:r>
              <a:rPr sz="1400" b="0" i="0">
                <a:solidFill>
                  <a:srgbClr val="0B1F33"/>
                </a:solidFill>
                <a:latin typeface="Segoe UI Semibold"/>
              </a:rPr>
              <a:t>Testing</a:t>
            </a:r>
          </a:p>
        </p:txBody>
      </p:sp>
      <p:cxnSp>
        <p:nvCxnSpPr>
          <p:cNvPr id="90" name="Connector 89"/>
          <p:cNvCxnSpPr/>
          <p:nvPr/>
        </p:nvCxnSpPr>
        <p:spPr>
          <a:xfrm>
            <a:off x="10753344" y="3127248"/>
            <a:ext cx="0" cy="301752"/>
          </a:xfrm>
          <a:prstGeom prst="line">
            <a:avLst/>
          </a:prstGeom>
          <a:ln w="15875">
            <a:solidFill>
              <a:srgbClr val="1F5B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8845546" y="2532888"/>
            <a:ext cx="0" cy="594360"/>
          </a:xfrm>
          <a:prstGeom prst="line">
            <a:avLst/>
          </a:prstGeom>
          <a:ln w="15875">
            <a:solidFill>
              <a:srgbClr val="1F5BD8"/>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8845546" y="3127248"/>
            <a:ext cx="1907798" cy="0"/>
          </a:xfrm>
          <a:prstGeom prst="line">
            <a:avLst/>
          </a:prstGeom>
          <a:ln w="15875">
            <a:solidFill>
              <a:srgbClr val="1F5BD8"/>
            </a:solidFill>
          </a:ln>
        </p:spPr>
        <p:style>
          <a:lnRef idx="2">
            <a:schemeClr val="accent1"/>
          </a:lnRef>
          <a:fillRef idx="0">
            <a:schemeClr val="accent1"/>
          </a:fillRef>
          <a:effectRef idx="1">
            <a:schemeClr val="accent1"/>
          </a:effectRef>
          <a:fontRef idx="minor">
            <a:schemeClr val="tx1"/>
          </a:fontRef>
        </p:style>
      </p:cxnSp>
      <p:sp>
        <p:nvSpPr>
          <p:cNvPr id="93" name="Rectangle 92"/>
          <p:cNvSpPr/>
          <p:nvPr/>
        </p:nvSpPr>
        <p:spPr>
          <a:xfrm>
            <a:off x="548640" y="5166360"/>
            <a:ext cx="11094415" cy="68580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ectangle 93"/>
          <p:cNvSpPr/>
          <p:nvPr/>
        </p:nvSpPr>
        <p:spPr>
          <a:xfrm>
            <a:off x="548640" y="5166360"/>
            <a:ext cx="54864" cy="685800"/>
          </a:xfrm>
          <a:prstGeom prst="rect">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5" name="Picture 94" descr="EA80-1F5BD8.png"/>
          <p:cNvPicPr>
            <a:picLocks noChangeAspect="1"/>
          </p:cNvPicPr>
          <p:nvPr/>
        </p:nvPicPr>
        <p:blipFill>
          <a:blip r:embed="rId9"/>
          <a:stretch>
            <a:fillRect/>
          </a:stretch>
        </p:blipFill>
        <p:spPr>
          <a:xfrm>
            <a:off x="758952" y="5372100"/>
            <a:ext cx="274320" cy="274320"/>
          </a:xfrm>
          <a:prstGeom prst="rect">
            <a:avLst/>
          </a:prstGeom>
        </p:spPr>
      </p:pic>
      <p:sp>
        <p:nvSpPr>
          <p:cNvPr id="96" name="TextBox 95"/>
          <p:cNvSpPr txBox="1"/>
          <p:nvPr/>
        </p:nvSpPr>
        <p:spPr>
          <a:xfrm>
            <a:off x="1188720" y="5166360"/>
            <a:ext cx="10317175" cy="685800"/>
          </a:xfrm>
          <a:prstGeom prst="rect">
            <a:avLst/>
          </a:prstGeom>
          <a:noFill/>
        </p:spPr>
        <p:txBody>
          <a:bodyPr wrap="square" lIns="0" tIns="0" rIns="0" bIns="0" anchor="ctr">
            <a:spAutoFit/>
          </a:bodyPr>
          <a:lstStyle/>
          <a:p>
            <a:pPr algn="l">
              <a:lnSpc>
                <a:spcPct val="105000"/>
              </a:lnSpc>
              <a:spcAft>
                <a:spcPts val="0"/>
              </a:spcAft>
            </a:pPr>
            <a:r>
              <a:rPr sz="1600" b="0" i="0">
                <a:solidFill>
                  <a:srgbClr val="0B1F33"/>
                </a:solidFill>
                <a:latin typeface="Segoe UI Semibold"/>
              </a:rPr>
              <a:t>Schedule menunjukkan kapan. Project control bertanya apakah pekerjaan itu benar-benar bisa terjadi.</a:t>
            </a:r>
          </a:p>
        </p:txBody>
      </p:sp>
      <p:sp>
        <p:nvSpPr>
          <p:cNvPr id="97" name="TextBox 96"/>
          <p:cNvSpPr txBox="1"/>
          <p:nvPr/>
        </p:nvSpPr>
        <p:spPr>
          <a:xfrm>
            <a:off x="548640" y="6419088"/>
            <a:ext cx="8686800" cy="237744"/>
          </a:xfrm>
          <a:prstGeom prst="rect">
            <a:avLst/>
          </a:prstGeom>
          <a:noFill/>
        </p:spPr>
        <p:txBody>
          <a:bodyPr wrap="none" lIns="0" tIns="0" rIns="0" bIns="0" anchor="t">
            <a:spAutoFit/>
          </a:bodyPr>
          <a:lstStyle/>
          <a:p>
            <a:pPr algn="l">
              <a:lnSpc>
                <a:spcPct val="105000"/>
              </a:lnSpc>
              <a:spcAft>
                <a:spcPts val="0"/>
              </a:spcAft>
            </a:pPr>
            <a:r>
              <a:rPr sz="850" b="0" i="0">
                <a:solidFill>
                  <a:srgbClr val="98A3B3"/>
                </a:solidFill>
                <a:latin typeface="Segoe UI"/>
              </a:rPr>
              <a:t>Data simulasi — Project Alpha adalah proyek fiktif.   ·   Sumber: REF-009 (vault demo › 06 Referensi)</a:t>
            </a:r>
          </a:p>
        </p:txBody>
      </p:sp>
      <p:sp>
        <p:nvSpPr>
          <p:cNvPr id="98" name="TextBox 97"/>
          <p:cNvSpPr txBox="1"/>
          <p:nvPr/>
        </p:nvSpPr>
        <p:spPr>
          <a:xfrm>
            <a:off x="7071055" y="6419088"/>
            <a:ext cx="3657600" cy="237744"/>
          </a:xfrm>
          <a:prstGeom prst="rect">
            <a:avLst/>
          </a:prstGeom>
          <a:noFill/>
        </p:spPr>
        <p:txBody>
          <a:bodyPr wrap="none" lIns="0" tIns="0" rIns="0" bIns="0" anchor="ctr">
            <a:spAutoFit/>
          </a:bodyPr>
          <a:lstStyle/>
          <a:p>
            <a:pPr algn="r">
              <a:lnSpc>
                <a:spcPct val="105000"/>
              </a:lnSpc>
              <a:spcAft>
                <a:spcPts val="0"/>
              </a:spcAft>
            </a:pPr>
            <a:r>
              <a:rPr sz="800" b="0" i="0" spc="80">
                <a:solidFill>
                  <a:srgbClr val="56657A"/>
                </a:solidFill>
                <a:latin typeface="Segoe UI Semibold"/>
              </a:rPr>
              <a:t>MASRON HUTABALIAN</a:t>
            </a:r>
          </a:p>
        </p:txBody>
      </p:sp>
      <p:sp>
        <p:nvSpPr>
          <p:cNvPr id="99" name="TextBox 98"/>
          <p:cNvSpPr txBox="1"/>
          <p:nvPr/>
        </p:nvSpPr>
        <p:spPr>
          <a:xfrm>
            <a:off x="10911535" y="6419088"/>
            <a:ext cx="731520" cy="237744"/>
          </a:xfrm>
          <a:prstGeom prst="rect">
            <a:avLst/>
          </a:prstGeom>
          <a:noFill/>
        </p:spPr>
        <p:txBody>
          <a:bodyPr wrap="square" lIns="0" tIns="0" rIns="0" bIns="0" anchor="t">
            <a:spAutoFit/>
          </a:bodyPr>
          <a:lstStyle/>
          <a:p>
            <a:pPr algn="r">
              <a:lnSpc>
                <a:spcPct val="105000"/>
              </a:lnSpc>
              <a:spcAft>
                <a:spcPts val="0"/>
              </a:spcAft>
            </a:pPr>
            <a:r>
              <a:rPr sz="900" b="0" i="0">
                <a:solidFill>
                  <a:srgbClr val="98A3B3"/>
                </a:solidFill>
                <a:latin typeface="Segoe UI"/>
              </a:rPr>
              <a:t>16</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82880"/>
            <a:ext cx="95234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DATA CENTER</a:t>
            </a:r>
          </a:p>
        </p:txBody>
      </p:sp>
      <p:sp>
        <p:nvSpPr>
          <p:cNvPr id="3" name="TextBox 2"/>
          <p:cNvSpPr txBox="1"/>
          <p:nvPr/>
        </p:nvSpPr>
        <p:spPr>
          <a:xfrm>
            <a:off x="1409543"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4" name="TextBox 3"/>
          <p:cNvSpPr txBox="1"/>
          <p:nvPr/>
        </p:nvSpPr>
        <p:spPr>
          <a:xfrm>
            <a:off x="1702151" y="182880"/>
            <a:ext cx="78485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INTERFACE</a:t>
            </a:r>
          </a:p>
        </p:txBody>
      </p:sp>
      <p:sp>
        <p:nvSpPr>
          <p:cNvPr id="5" name="TextBox 4"/>
          <p:cNvSpPr txBox="1"/>
          <p:nvPr/>
        </p:nvSpPr>
        <p:spPr>
          <a:xfrm>
            <a:off x="239556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6" name="TextBox 5"/>
          <p:cNvSpPr txBox="1"/>
          <p:nvPr/>
        </p:nvSpPr>
        <p:spPr>
          <a:xfrm>
            <a:off x="2688175" y="182880"/>
            <a:ext cx="724872"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CONTROL</a:t>
            </a:r>
          </a:p>
        </p:txBody>
      </p:sp>
      <p:sp>
        <p:nvSpPr>
          <p:cNvPr id="7" name="TextBox 6"/>
          <p:cNvSpPr txBox="1"/>
          <p:nvPr/>
        </p:nvSpPr>
        <p:spPr>
          <a:xfrm>
            <a:off x="3321608"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8" name="TextBox 7"/>
          <p:cNvSpPr txBox="1"/>
          <p:nvPr/>
        </p:nvSpPr>
        <p:spPr>
          <a:xfrm>
            <a:off x="3614216" y="182880"/>
            <a:ext cx="115377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COMMISSIONING</a:t>
            </a:r>
          </a:p>
        </p:txBody>
      </p:sp>
      <p:sp>
        <p:nvSpPr>
          <p:cNvPr id="9" name="TextBox 8"/>
          <p:cNvSpPr txBox="1"/>
          <p:nvPr/>
        </p:nvSpPr>
        <p:spPr>
          <a:xfrm>
            <a:off x="4676549"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0" name="TextBox 9"/>
          <p:cNvSpPr txBox="1"/>
          <p:nvPr/>
        </p:nvSpPr>
        <p:spPr>
          <a:xfrm>
            <a:off x="4969157" y="182880"/>
            <a:ext cx="945555"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MONITORING</a:t>
            </a:r>
          </a:p>
        </p:txBody>
      </p:sp>
      <p:sp>
        <p:nvSpPr>
          <p:cNvPr id="11" name="TextBox 10"/>
          <p:cNvSpPr txBox="1"/>
          <p:nvPr/>
        </p:nvSpPr>
        <p:spPr>
          <a:xfrm>
            <a:off x="582327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2" name="TextBox 11"/>
          <p:cNvSpPr txBox="1"/>
          <p:nvPr/>
        </p:nvSpPr>
        <p:spPr>
          <a:xfrm>
            <a:off x="6115879" y="182880"/>
            <a:ext cx="63679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1F5BD8"/>
                </a:solidFill>
                <a:latin typeface="Segoe UI Semibold"/>
              </a:rPr>
              <a:t>REALITA</a:t>
            </a:r>
          </a:p>
        </p:txBody>
      </p:sp>
      <p:sp>
        <p:nvSpPr>
          <p:cNvPr id="13" name="Rectangle 12"/>
          <p:cNvSpPr/>
          <p:nvPr/>
        </p:nvSpPr>
        <p:spPr>
          <a:xfrm>
            <a:off x="6115879" y="420624"/>
            <a:ext cx="453916" cy="32004"/>
          </a:xfrm>
          <a:prstGeom prst="rect">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61235"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5" name="TextBox 14"/>
          <p:cNvSpPr txBox="1"/>
          <p:nvPr/>
        </p:nvSpPr>
        <p:spPr>
          <a:xfrm>
            <a:off x="6953843" y="182880"/>
            <a:ext cx="821309"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INFORMASI</a:t>
            </a:r>
          </a:p>
        </p:txBody>
      </p:sp>
      <p:sp>
        <p:nvSpPr>
          <p:cNvPr id="16" name="TextBox 15"/>
          <p:cNvSpPr txBox="1"/>
          <p:nvPr/>
        </p:nvSpPr>
        <p:spPr>
          <a:xfrm>
            <a:off x="7683712"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7" name="TextBox 16"/>
          <p:cNvSpPr txBox="1"/>
          <p:nvPr/>
        </p:nvSpPr>
        <p:spPr>
          <a:xfrm>
            <a:off x="7976320" y="182880"/>
            <a:ext cx="899541"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KNOWLEDGE</a:t>
            </a:r>
          </a:p>
        </p:txBody>
      </p:sp>
      <p:sp>
        <p:nvSpPr>
          <p:cNvPr id="18" name="TextBox 17"/>
          <p:cNvSpPr txBox="1"/>
          <p:nvPr/>
        </p:nvSpPr>
        <p:spPr>
          <a:xfrm>
            <a:off x="878442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9" name="TextBox 18"/>
          <p:cNvSpPr txBox="1"/>
          <p:nvPr/>
        </p:nvSpPr>
        <p:spPr>
          <a:xfrm>
            <a:off x="9077029" y="182880"/>
            <a:ext cx="733298"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OBSIDIAN</a:t>
            </a:r>
          </a:p>
        </p:txBody>
      </p:sp>
      <p:sp>
        <p:nvSpPr>
          <p:cNvPr id="20" name="TextBox 19"/>
          <p:cNvSpPr txBox="1"/>
          <p:nvPr/>
        </p:nvSpPr>
        <p:spPr>
          <a:xfrm>
            <a:off x="971888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21" name="TextBox 20"/>
          <p:cNvSpPr txBox="1"/>
          <p:nvPr/>
        </p:nvSpPr>
        <p:spPr>
          <a:xfrm>
            <a:off x="10011495" y="182880"/>
            <a:ext cx="297434"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AI</a:t>
            </a:r>
          </a:p>
        </p:txBody>
      </p:sp>
      <p:sp>
        <p:nvSpPr>
          <p:cNvPr id="22" name="!!title"/>
          <p:cNvSpPr txBox="1"/>
          <p:nvPr/>
        </p:nvSpPr>
        <p:spPr>
          <a:xfrm>
            <a:off x="548640" y="566928"/>
            <a:ext cx="11094415" cy="841248"/>
          </a:xfrm>
          <a:prstGeom prst="rect">
            <a:avLst/>
          </a:prstGeom>
          <a:noFill/>
        </p:spPr>
        <p:txBody>
          <a:bodyPr wrap="square" lIns="0" tIns="0" rIns="0" bIns="0" anchor="b">
            <a:spAutoFit/>
          </a:bodyPr>
          <a:lstStyle/>
          <a:p>
            <a:pPr algn="l">
              <a:lnSpc>
                <a:spcPct val="95000"/>
              </a:lnSpc>
              <a:spcAft>
                <a:spcPts val="0"/>
              </a:spcAft>
            </a:pPr>
            <a:r>
              <a:rPr sz="2800" b="0" i="0">
                <a:solidFill>
                  <a:srgbClr val="0B1F33"/>
                </a:solidFill>
                <a:latin typeface="Georgia"/>
              </a:rPr>
              <a:t>One condition that isn't ready can stop the whole activity</a:t>
            </a:r>
          </a:p>
        </p:txBody>
      </p:sp>
      <p:cxnSp>
        <p:nvCxnSpPr>
          <p:cNvPr id="23" name="Connector 22"/>
          <p:cNvCxnSpPr/>
          <p:nvPr/>
        </p:nvCxnSpPr>
        <p:spPr>
          <a:xfrm>
            <a:off x="548640" y="1517904"/>
            <a:ext cx="11094415" cy="0"/>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115568" y="1874520"/>
            <a:ext cx="1828800" cy="237744"/>
          </a:xfrm>
          <a:prstGeom prst="rect">
            <a:avLst/>
          </a:prstGeom>
          <a:noFill/>
        </p:spPr>
        <p:txBody>
          <a:bodyPr wrap="none" lIns="0" tIns="0" rIns="0" bIns="0" anchor="ctr">
            <a:spAutoFit/>
          </a:bodyPr>
          <a:lstStyle/>
          <a:p>
            <a:pPr algn="l">
              <a:lnSpc>
                <a:spcPct val="105000"/>
              </a:lnSpc>
              <a:spcAft>
                <a:spcPts val="0"/>
              </a:spcAft>
            </a:pPr>
            <a:r>
              <a:rPr sz="850" b="0" i="0" spc="80">
                <a:solidFill>
                  <a:srgbClr val="56657A"/>
                </a:solidFill>
                <a:latin typeface="Segoe UI Semibold"/>
              </a:rPr>
              <a:t>KONDISI</a:t>
            </a:r>
          </a:p>
        </p:txBody>
      </p:sp>
      <p:sp>
        <p:nvSpPr>
          <p:cNvPr id="25" name="TextBox 24"/>
          <p:cNvSpPr txBox="1"/>
          <p:nvPr/>
        </p:nvSpPr>
        <p:spPr>
          <a:xfrm>
            <a:off x="4069080" y="1874520"/>
            <a:ext cx="1828800" cy="237744"/>
          </a:xfrm>
          <a:prstGeom prst="rect">
            <a:avLst/>
          </a:prstGeom>
          <a:noFill/>
        </p:spPr>
        <p:txBody>
          <a:bodyPr wrap="none" lIns="0" tIns="0" rIns="0" bIns="0" anchor="ctr">
            <a:spAutoFit/>
          </a:bodyPr>
          <a:lstStyle/>
          <a:p>
            <a:pPr algn="l">
              <a:lnSpc>
                <a:spcPct val="105000"/>
              </a:lnSpc>
              <a:spcAft>
                <a:spcPts val="0"/>
              </a:spcAft>
            </a:pPr>
            <a:r>
              <a:rPr sz="850" b="0" i="0" spc="80">
                <a:solidFill>
                  <a:srgbClr val="56657A"/>
                </a:solidFill>
                <a:latin typeface="Segoe UI Semibold"/>
              </a:rPr>
              <a:t>PIC</a:t>
            </a:r>
          </a:p>
        </p:txBody>
      </p:sp>
      <p:sp>
        <p:nvSpPr>
          <p:cNvPr id="26" name="TextBox 25"/>
          <p:cNvSpPr txBox="1"/>
          <p:nvPr/>
        </p:nvSpPr>
        <p:spPr>
          <a:xfrm>
            <a:off x="5760720" y="1874520"/>
            <a:ext cx="1828800" cy="237744"/>
          </a:xfrm>
          <a:prstGeom prst="rect">
            <a:avLst/>
          </a:prstGeom>
          <a:noFill/>
        </p:spPr>
        <p:txBody>
          <a:bodyPr wrap="none" lIns="0" tIns="0" rIns="0" bIns="0" anchor="ctr">
            <a:spAutoFit/>
          </a:bodyPr>
          <a:lstStyle/>
          <a:p>
            <a:pPr algn="l">
              <a:lnSpc>
                <a:spcPct val="105000"/>
              </a:lnSpc>
              <a:spcAft>
                <a:spcPts val="0"/>
              </a:spcAft>
            </a:pPr>
            <a:r>
              <a:rPr sz="850" b="0" i="0" spc="80">
                <a:solidFill>
                  <a:srgbClr val="56657A"/>
                </a:solidFill>
                <a:latin typeface="Segoe UI Semibold"/>
              </a:rPr>
              <a:t>STATUS</a:t>
            </a:r>
          </a:p>
        </p:txBody>
      </p:sp>
      <p:cxnSp>
        <p:nvCxnSpPr>
          <p:cNvPr id="27" name="Connector 26"/>
          <p:cNvCxnSpPr/>
          <p:nvPr/>
        </p:nvCxnSpPr>
        <p:spPr>
          <a:xfrm>
            <a:off x="548640" y="2103120"/>
            <a:ext cx="6400800" cy="0"/>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28" name="!!rc0d"/>
          <p:cNvSpPr/>
          <p:nvPr/>
        </p:nvSpPr>
        <p:spPr>
          <a:xfrm>
            <a:off x="576072" y="2267712"/>
            <a:ext cx="420624" cy="420624"/>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rc0i" descr="E8B9-1F5BD8.png"/>
          <p:cNvPicPr>
            <a:picLocks noChangeAspect="1"/>
          </p:cNvPicPr>
          <p:nvPr/>
        </p:nvPicPr>
        <p:blipFill>
          <a:blip r:embed="rId3"/>
          <a:stretch>
            <a:fillRect/>
          </a:stretch>
        </p:blipFill>
        <p:spPr>
          <a:xfrm>
            <a:off x="681228" y="2372868"/>
            <a:ext cx="210312" cy="210312"/>
          </a:xfrm>
          <a:prstGeom prst="rect">
            <a:avLst/>
          </a:prstGeom>
        </p:spPr>
      </p:pic>
      <p:sp>
        <p:nvSpPr>
          <p:cNvPr id="30" name="TextBox 29"/>
          <p:cNvSpPr txBox="1"/>
          <p:nvPr/>
        </p:nvSpPr>
        <p:spPr>
          <a:xfrm>
            <a:off x="1115568" y="2221992"/>
            <a:ext cx="3291840" cy="292608"/>
          </a:xfrm>
          <a:prstGeom prst="rect">
            <a:avLst/>
          </a:prstGeom>
          <a:noFill/>
        </p:spPr>
        <p:txBody>
          <a:bodyPr wrap="square" lIns="0" tIns="0" rIns="0" bIns="0" anchor="ctr">
            <a:spAutoFit/>
          </a:bodyPr>
          <a:lstStyle/>
          <a:p>
            <a:pPr algn="l">
              <a:lnSpc>
                <a:spcPct val="105000"/>
              </a:lnSpc>
              <a:spcAft>
                <a:spcPts val="0"/>
              </a:spcAft>
            </a:pPr>
            <a:r>
              <a:rPr sz="1350" b="0" i="0">
                <a:solidFill>
                  <a:srgbClr val="0B1F33"/>
                </a:solidFill>
                <a:latin typeface="Segoe UI Semibold"/>
              </a:rPr>
              <a:t>Drawing</a:t>
            </a:r>
          </a:p>
        </p:txBody>
      </p:sp>
      <p:sp>
        <p:nvSpPr>
          <p:cNvPr id="31" name="TextBox 30"/>
          <p:cNvSpPr txBox="1"/>
          <p:nvPr/>
        </p:nvSpPr>
        <p:spPr>
          <a:xfrm>
            <a:off x="1115568" y="2496312"/>
            <a:ext cx="2926080" cy="237744"/>
          </a:xfrm>
          <a:prstGeom prst="rect">
            <a:avLst/>
          </a:prstGeom>
          <a:noFill/>
        </p:spPr>
        <p:txBody>
          <a:bodyPr wrap="none" lIns="0" tIns="0" rIns="0" bIns="0" anchor="ctr">
            <a:spAutoFit/>
          </a:bodyPr>
          <a:lstStyle/>
          <a:p>
            <a:pPr algn="l">
              <a:lnSpc>
                <a:spcPct val="105000"/>
              </a:lnSpc>
              <a:spcAft>
                <a:spcPts val="0"/>
              </a:spcAft>
            </a:pPr>
            <a:r>
              <a:rPr sz="900" b="0" i="0">
                <a:solidFill>
                  <a:srgbClr val="56657A"/>
                </a:solidFill>
                <a:latin typeface="Segoe UI"/>
              </a:rPr>
              <a:t>C-004 · Shop drawing LV switchboard dan UPS sudah a…</a:t>
            </a:r>
          </a:p>
        </p:txBody>
      </p:sp>
      <p:sp>
        <p:nvSpPr>
          <p:cNvPr id="32" name="TextBox 31"/>
          <p:cNvSpPr txBox="1"/>
          <p:nvPr/>
        </p:nvSpPr>
        <p:spPr>
          <a:xfrm>
            <a:off x="4069080" y="2176272"/>
            <a:ext cx="1600200" cy="603504"/>
          </a:xfrm>
          <a:prstGeom prst="rect">
            <a:avLst/>
          </a:prstGeom>
          <a:noFill/>
        </p:spPr>
        <p:txBody>
          <a:bodyPr wrap="square" lIns="0" tIns="0" rIns="0" bIns="0" anchor="ctr">
            <a:spAutoFit/>
          </a:bodyPr>
          <a:lstStyle/>
          <a:p>
            <a:pPr algn="l">
              <a:lnSpc>
                <a:spcPct val="95000"/>
              </a:lnSpc>
              <a:spcAft>
                <a:spcPts val="0"/>
              </a:spcAft>
            </a:pPr>
            <a:r>
              <a:rPr sz="950" b="0" i="0">
                <a:solidFill>
                  <a:srgbClr val="56657A"/>
                </a:solidFill>
                <a:latin typeface="Segoe UI"/>
              </a:rPr>
              <a:t>Design Consultant</a:t>
            </a:r>
          </a:p>
        </p:txBody>
      </p:sp>
      <p:sp>
        <p:nvSpPr>
          <p:cNvPr id="33" name="!!st0"/>
          <p:cNvSpPr/>
          <p:nvPr/>
        </p:nvSpPr>
        <p:spPr>
          <a:xfrm>
            <a:off x="5760720" y="2340864"/>
            <a:ext cx="901132" cy="274320"/>
          </a:xfrm>
          <a:prstGeom prst="roundRect">
            <a:avLst>
              <a:gd name="adj" fmla="val 5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Picture 33" descr="E73E-1F5BD8.png"/>
          <p:cNvPicPr>
            <a:picLocks noChangeAspect="1"/>
          </p:cNvPicPr>
          <p:nvPr/>
        </p:nvPicPr>
        <p:blipFill>
          <a:blip r:embed="rId4"/>
          <a:stretch>
            <a:fillRect/>
          </a:stretch>
        </p:blipFill>
        <p:spPr>
          <a:xfrm>
            <a:off x="5913882" y="2402586"/>
            <a:ext cx="150876" cy="150876"/>
          </a:xfrm>
          <a:prstGeom prst="rect">
            <a:avLst/>
          </a:prstGeom>
        </p:spPr>
      </p:pic>
      <p:sp>
        <p:nvSpPr>
          <p:cNvPr id="35" name="TextBox 34"/>
          <p:cNvSpPr txBox="1"/>
          <p:nvPr/>
        </p:nvSpPr>
        <p:spPr>
          <a:xfrm>
            <a:off x="6144768" y="2340864"/>
            <a:ext cx="901132" cy="274320"/>
          </a:xfrm>
          <a:prstGeom prst="rect">
            <a:avLst/>
          </a:prstGeom>
          <a:noFill/>
        </p:spPr>
        <p:txBody>
          <a:bodyPr wrap="none" lIns="0" tIns="0" rIns="0" bIns="0" anchor="ctr">
            <a:spAutoFit/>
          </a:bodyPr>
          <a:lstStyle/>
          <a:p>
            <a:pPr algn="l">
              <a:lnSpc>
                <a:spcPct val="105000"/>
              </a:lnSpc>
              <a:spcAft>
                <a:spcPts val="0"/>
              </a:spcAft>
            </a:pPr>
            <a:r>
              <a:rPr sz="1050" b="0" i="0">
                <a:solidFill>
                  <a:srgbClr val="1F5BD8"/>
                </a:solidFill>
                <a:latin typeface="Segoe UI Semibold"/>
              </a:rPr>
              <a:t>Ready</a:t>
            </a:r>
          </a:p>
        </p:txBody>
      </p:sp>
      <p:cxnSp>
        <p:nvCxnSpPr>
          <p:cNvPr id="36" name="Connector 35"/>
          <p:cNvCxnSpPr/>
          <p:nvPr/>
        </p:nvCxnSpPr>
        <p:spPr>
          <a:xfrm>
            <a:off x="548640" y="2807208"/>
            <a:ext cx="6400800" cy="0"/>
          </a:xfrm>
          <a:prstGeom prst="line">
            <a:avLst/>
          </a:prstGeom>
          <a:ln w="6350">
            <a:solidFill>
              <a:srgbClr val="DDE2E9"/>
            </a:solidFill>
          </a:ln>
        </p:spPr>
        <p:style>
          <a:lnRef idx="2">
            <a:schemeClr val="accent1"/>
          </a:lnRef>
          <a:fillRef idx="0">
            <a:schemeClr val="accent1"/>
          </a:fillRef>
          <a:effectRef idx="1">
            <a:schemeClr val="accent1"/>
          </a:effectRef>
          <a:fontRef idx="minor">
            <a:schemeClr val="tx1"/>
          </a:fontRef>
        </p:style>
      </p:cxnSp>
      <p:sp>
        <p:nvSpPr>
          <p:cNvPr id="37" name="!!rc1d"/>
          <p:cNvSpPr/>
          <p:nvPr/>
        </p:nvSpPr>
        <p:spPr>
          <a:xfrm>
            <a:off x="576072" y="2926080"/>
            <a:ext cx="420624" cy="420624"/>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rc1i" descr="E7B8-1F5BD8.png"/>
          <p:cNvPicPr>
            <a:picLocks noChangeAspect="1"/>
          </p:cNvPicPr>
          <p:nvPr/>
        </p:nvPicPr>
        <p:blipFill>
          <a:blip r:embed="rId5"/>
          <a:stretch>
            <a:fillRect/>
          </a:stretch>
        </p:blipFill>
        <p:spPr>
          <a:xfrm>
            <a:off x="681228" y="3031236"/>
            <a:ext cx="210312" cy="210312"/>
          </a:xfrm>
          <a:prstGeom prst="rect">
            <a:avLst/>
          </a:prstGeom>
        </p:spPr>
      </p:pic>
      <p:sp>
        <p:nvSpPr>
          <p:cNvPr id="39" name="TextBox 38"/>
          <p:cNvSpPr txBox="1"/>
          <p:nvPr/>
        </p:nvSpPr>
        <p:spPr>
          <a:xfrm>
            <a:off x="1115568" y="2880360"/>
            <a:ext cx="3291840" cy="292608"/>
          </a:xfrm>
          <a:prstGeom prst="rect">
            <a:avLst/>
          </a:prstGeom>
          <a:noFill/>
        </p:spPr>
        <p:txBody>
          <a:bodyPr wrap="square" lIns="0" tIns="0" rIns="0" bIns="0" anchor="ctr">
            <a:spAutoFit/>
          </a:bodyPr>
          <a:lstStyle/>
          <a:p>
            <a:pPr algn="l">
              <a:lnSpc>
                <a:spcPct val="105000"/>
              </a:lnSpc>
              <a:spcAft>
                <a:spcPts val="0"/>
              </a:spcAft>
            </a:pPr>
            <a:r>
              <a:rPr sz="1350" b="0" i="0">
                <a:solidFill>
                  <a:srgbClr val="0B1F33"/>
                </a:solidFill>
                <a:latin typeface="Segoe UI Semibold"/>
              </a:rPr>
              <a:t>Material</a:t>
            </a:r>
          </a:p>
        </p:txBody>
      </p:sp>
      <p:sp>
        <p:nvSpPr>
          <p:cNvPr id="40" name="TextBox 39"/>
          <p:cNvSpPr txBox="1"/>
          <p:nvPr/>
        </p:nvSpPr>
        <p:spPr>
          <a:xfrm>
            <a:off x="1115568" y="3154680"/>
            <a:ext cx="2926080" cy="237744"/>
          </a:xfrm>
          <a:prstGeom prst="rect">
            <a:avLst/>
          </a:prstGeom>
          <a:noFill/>
        </p:spPr>
        <p:txBody>
          <a:bodyPr wrap="none" lIns="0" tIns="0" rIns="0" bIns="0" anchor="ctr">
            <a:spAutoFit/>
          </a:bodyPr>
          <a:lstStyle/>
          <a:p>
            <a:pPr algn="l">
              <a:lnSpc>
                <a:spcPct val="105000"/>
              </a:lnSpc>
              <a:spcAft>
                <a:spcPts val="0"/>
              </a:spcAft>
            </a:pPr>
            <a:r>
              <a:rPr sz="900" b="0" i="0">
                <a:solidFill>
                  <a:srgbClr val="56657A"/>
                </a:solidFill>
                <a:latin typeface="Segoe UI"/>
              </a:rPr>
              <a:t>C-005 · LV switchboard dan UPS sudah delivery dan lol…</a:t>
            </a:r>
          </a:p>
        </p:txBody>
      </p:sp>
      <p:sp>
        <p:nvSpPr>
          <p:cNvPr id="41" name="TextBox 40"/>
          <p:cNvSpPr txBox="1"/>
          <p:nvPr/>
        </p:nvSpPr>
        <p:spPr>
          <a:xfrm>
            <a:off x="4069080" y="2834640"/>
            <a:ext cx="1600200" cy="603504"/>
          </a:xfrm>
          <a:prstGeom prst="rect">
            <a:avLst/>
          </a:prstGeom>
          <a:noFill/>
        </p:spPr>
        <p:txBody>
          <a:bodyPr wrap="square" lIns="0" tIns="0" rIns="0" bIns="0" anchor="ctr">
            <a:spAutoFit/>
          </a:bodyPr>
          <a:lstStyle/>
          <a:p>
            <a:pPr algn="l">
              <a:lnSpc>
                <a:spcPct val="95000"/>
              </a:lnSpc>
              <a:spcAft>
                <a:spcPts val="0"/>
              </a:spcAft>
            </a:pPr>
            <a:r>
              <a:rPr sz="950" b="0" i="0">
                <a:solidFill>
                  <a:srgbClr val="56657A"/>
                </a:solidFill>
                <a:latin typeface="Segoe UI"/>
              </a:rPr>
              <a:t>Procurement Lead</a:t>
            </a:r>
          </a:p>
        </p:txBody>
      </p:sp>
      <p:sp>
        <p:nvSpPr>
          <p:cNvPr id="42" name="!!st1"/>
          <p:cNvSpPr/>
          <p:nvPr/>
        </p:nvSpPr>
        <p:spPr>
          <a:xfrm>
            <a:off x="5760720" y="2999232"/>
            <a:ext cx="901132" cy="274320"/>
          </a:xfrm>
          <a:prstGeom prst="roundRect">
            <a:avLst>
              <a:gd name="adj" fmla="val 5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3" name="Picture 42" descr="E73E-1F5BD8.png"/>
          <p:cNvPicPr>
            <a:picLocks noChangeAspect="1"/>
          </p:cNvPicPr>
          <p:nvPr/>
        </p:nvPicPr>
        <p:blipFill>
          <a:blip r:embed="rId4"/>
          <a:stretch>
            <a:fillRect/>
          </a:stretch>
        </p:blipFill>
        <p:spPr>
          <a:xfrm>
            <a:off x="5913882" y="3060954"/>
            <a:ext cx="150876" cy="150876"/>
          </a:xfrm>
          <a:prstGeom prst="rect">
            <a:avLst/>
          </a:prstGeom>
        </p:spPr>
      </p:pic>
      <p:sp>
        <p:nvSpPr>
          <p:cNvPr id="44" name="TextBox 43"/>
          <p:cNvSpPr txBox="1"/>
          <p:nvPr/>
        </p:nvSpPr>
        <p:spPr>
          <a:xfrm>
            <a:off x="6144768" y="2999232"/>
            <a:ext cx="901132" cy="274320"/>
          </a:xfrm>
          <a:prstGeom prst="rect">
            <a:avLst/>
          </a:prstGeom>
          <a:noFill/>
        </p:spPr>
        <p:txBody>
          <a:bodyPr wrap="none" lIns="0" tIns="0" rIns="0" bIns="0" anchor="ctr">
            <a:spAutoFit/>
          </a:bodyPr>
          <a:lstStyle/>
          <a:p>
            <a:pPr algn="l">
              <a:lnSpc>
                <a:spcPct val="105000"/>
              </a:lnSpc>
              <a:spcAft>
                <a:spcPts val="0"/>
              </a:spcAft>
            </a:pPr>
            <a:r>
              <a:rPr sz="1050" b="0" i="0">
                <a:solidFill>
                  <a:srgbClr val="1F5BD8"/>
                </a:solidFill>
                <a:latin typeface="Segoe UI Semibold"/>
              </a:rPr>
              <a:t>Ready</a:t>
            </a:r>
          </a:p>
        </p:txBody>
      </p:sp>
      <p:cxnSp>
        <p:nvCxnSpPr>
          <p:cNvPr id="45" name="Connector 44"/>
          <p:cNvCxnSpPr/>
          <p:nvPr/>
        </p:nvCxnSpPr>
        <p:spPr>
          <a:xfrm>
            <a:off x="548640" y="3465576"/>
            <a:ext cx="6400800" cy="0"/>
          </a:xfrm>
          <a:prstGeom prst="line">
            <a:avLst/>
          </a:prstGeom>
          <a:ln w="6350">
            <a:solidFill>
              <a:srgbClr val="DDE2E9"/>
            </a:solidFill>
          </a:ln>
        </p:spPr>
        <p:style>
          <a:lnRef idx="2">
            <a:schemeClr val="accent1"/>
          </a:lnRef>
          <a:fillRef idx="0">
            <a:schemeClr val="accent1"/>
          </a:fillRef>
          <a:effectRef idx="1">
            <a:schemeClr val="accent1"/>
          </a:effectRef>
          <a:fontRef idx="minor">
            <a:schemeClr val="tx1"/>
          </a:fontRef>
        </p:style>
      </p:cxnSp>
      <p:sp>
        <p:nvSpPr>
          <p:cNvPr id="46" name="!!rc2d"/>
          <p:cNvSpPr/>
          <p:nvPr/>
        </p:nvSpPr>
        <p:spPr>
          <a:xfrm>
            <a:off x="576072" y="3584448"/>
            <a:ext cx="420624" cy="420624"/>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7" name="!!rc2i" descr="E716-1F5BD8.png"/>
          <p:cNvPicPr>
            <a:picLocks noChangeAspect="1"/>
          </p:cNvPicPr>
          <p:nvPr/>
        </p:nvPicPr>
        <p:blipFill>
          <a:blip r:embed="rId6"/>
          <a:stretch>
            <a:fillRect/>
          </a:stretch>
        </p:blipFill>
        <p:spPr>
          <a:xfrm>
            <a:off x="681228" y="3689604"/>
            <a:ext cx="210312" cy="210312"/>
          </a:xfrm>
          <a:prstGeom prst="rect">
            <a:avLst/>
          </a:prstGeom>
        </p:spPr>
      </p:pic>
      <p:sp>
        <p:nvSpPr>
          <p:cNvPr id="48" name="TextBox 47"/>
          <p:cNvSpPr txBox="1"/>
          <p:nvPr/>
        </p:nvSpPr>
        <p:spPr>
          <a:xfrm>
            <a:off x="1115568" y="3538728"/>
            <a:ext cx="3291840" cy="292608"/>
          </a:xfrm>
          <a:prstGeom prst="rect">
            <a:avLst/>
          </a:prstGeom>
          <a:noFill/>
        </p:spPr>
        <p:txBody>
          <a:bodyPr wrap="square" lIns="0" tIns="0" rIns="0" bIns="0" anchor="ctr">
            <a:spAutoFit/>
          </a:bodyPr>
          <a:lstStyle/>
          <a:p>
            <a:pPr algn="l">
              <a:lnSpc>
                <a:spcPct val="105000"/>
              </a:lnSpc>
              <a:spcAft>
                <a:spcPts val="0"/>
              </a:spcAft>
            </a:pPr>
            <a:r>
              <a:rPr sz="1350" b="0" i="0">
                <a:solidFill>
                  <a:srgbClr val="0B1F33"/>
                </a:solidFill>
                <a:latin typeface="Segoe UI Semibold"/>
              </a:rPr>
              <a:t>Manpower</a:t>
            </a:r>
          </a:p>
        </p:txBody>
      </p:sp>
      <p:sp>
        <p:nvSpPr>
          <p:cNvPr id="49" name="TextBox 48"/>
          <p:cNvSpPr txBox="1"/>
          <p:nvPr/>
        </p:nvSpPr>
        <p:spPr>
          <a:xfrm>
            <a:off x="1115568" y="3813048"/>
            <a:ext cx="2926080" cy="237744"/>
          </a:xfrm>
          <a:prstGeom prst="rect">
            <a:avLst/>
          </a:prstGeom>
          <a:noFill/>
        </p:spPr>
        <p:txBody>
          <a:bodyPr wrap="none" lIns="0" tIns="0" rIns="0" bIns="0" anchor="ctr">
            <a:spAutoFit/>
          </a:bodyPr>
          <a:lstStyle/>
          <a:p>
            <a:pPr algn="l">
              <a:lnSpc>
                <a:spcPct val="105000"/>
              </a:lnSpc>
              <a:spcAft>
                <a:spcPts val="0"/>
              </a:spcAft>
            </a:pPr>
            <a:r>
              <a:rPr sz="900" b="0" i="0">
                <a:solidFill>
                  <a:srgbClr val="56657A"/>
                </a:solidFill>
                <a:latin typeface="Segoe UI"/>
              </a:rPr>
              <a:t>C-006 · Crew instalasi elektrikal dan crew rigging sudah…</a:t>
            </a:r>
          </a:p>
        </p:txBody>
      </p:sp>
      <p:sp>
        <p:nvSpPr>
          <p:cNvPr id="50" name="TextBox 49"/>
          <p:cNvSpPr txBox="1"/>
          <p:nvPr/>
        </p:nvSpPr>
        <p:spPr>
          <a:xfrm>
            <a:off x="4069080" y="3493008"/>
            <a:ext cx="1600200" cy="603504"/>
          </a:xfrm>
          <a:prstGeom prst="rect">
            <a:avLst/>
          </a:prstGeom>
          <a:noFill/>
        </p:spPr>
        <p:txBody>
          <a:bodyPr wrap="square" lIns="0" tIns="0" rIns="0" bIns="0" anchor="ctr">
            <a:spAutoFit/>
          </a:bodyPr>
          <a:lstStyle/>
          <a:p>
            <a:pPr algn="l">
              <a:lnSpc>
                <a:spcPct val="95000"/>
              </a:lnSpc>
              <a:spcAft>
                <a:spcPts val="0"/>
              </a:spcAft>
            </a:pPr>
            <a:r>
              <a:rPr sz="950" b="0" i="0">
                <a:solidFill>
                  <a:srgbClr val="56657A"/>
                </a:solidFill>
                <a:latin typeface="Segoe UI"/>
              </a:rPr>
              <a:t>Electrical Subcontractor</a:t>
            </a:r>
          </a:p>
        </p:txBody>
      </p:sp>
      <p:sp>
        <p:nvSpPr>
          <p:cNvPr id="51" name="!!st2"/>
          <p:cNvSpPr/>
          <p:nvPr/>
        </p:nvSpPr>
        <p:spPr>
          <a:xfrm>
            <a:off x="5760720" y="3657600"/>
            <a:ext cx="901132" cy="274320"/>
          </a:xfrm>
          <a:prstGeom prst="roundRect">
            <a:avLst>
              <a:gd name="adj" fmla="val 5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2" name="Picture 51" descr="E73E-1F5BD8.png"/>
          <p:cNvPicPr>
            <a:picLocks noChangeAspect="1"/>
          </p:cNvPicPr>
          <p:nvPr/>
        </p:nvPicPr>
        <p:blipFill>
          <a:blip r:embed="rId4"/>
          <a:stretch>
            <a:fillRect/>
          </a:stretch>
        </p:blipFill>
        <p:spPr>
          <a:xfrm>
            <a:off x="5913882" y="3719322"/>
            <a:ext cx="150876" cy="150876"/>
          </a:xfrm>
          <a:prstGeom prst="rect">
            <a:avLst/>
          </a:prstGeom>
        </p:spPr>
      </p:pic>
      <p:sp>
        <p:nvSpPr>
          <p:cNvPr id="53" name="TextBox 52"/>
          <p:cNvSpPr txBox="1"/>
          <p:nvPr/>
        </p:nvSpPr>
        <p:spPr>
          <a:xfrm>
            <a:off x="6144768" y="3657600"/>
            <a:ext cx="901132" cy="274320"/>
          </a:xfrm>
          <a:prstGeom prst="rect">
            <a:avLst/>
          </a:prstGeom>
          <a:noFill/>
        </p:spPr>
        <p:txBody>
          <a:bodyPr wrap="none" lIns="0" tIns="0" rIns="0" bIns="0" anchor="ctr">
            <a:spAutoFit/>
          </a:bodyPr>
          <a:lstStyle/>
          <a:p>
            <a:pPr algn="l">
              <a:lnSpc>
                <a:spcPct val="105000"/>
              </a:lnSpc>
              <a:spcAft>
                <a:spcPts val="0"/>
              </a:spcAft>
            </a:pPr>
            <a:r>
              <a:rPr sz="1050" b="0" i="0">
                <a:solidFill>
                  <a:srgbClr val="1F5BD8"/>
                </a:solidFill>
                <a:latin typeface="Segoe UI Semibold"/>
              </a:rPr>
              <a:t>Ready</a:t>
            </a:r>
          </a:p>
        </p:txBody>
      </p:sp>
      <p:cxnSp>
        <p:nvCxnSpPr>
          <p:cNvPr id="54" name="Connector 53"/>
          <p:cNvCxnSpPr/>
          <p:nvPr/>
        </p:nvCxnSpPr>
        <p:spPr>
          <a:xfrm>
            <a:off x="548640" y="4123944"/>
            <a:ext cx="6400800" cy="0"/>
          </a:xfrm>
          <a:prstGeom prst="line">
            <a:avLst/>
          </a:prstGeom>
          <a:ln w="6350">
            <a:solidFill>
              <a:srgbClr val="DDE2E9"/>
            </a:solidFill>
          </a:ln>
        </p:spPr>
        <p:style>
          <a:lnRef idx="2">
            <a:schemeClr val="accent1"/>
          </a:lnRef>
          <a:fillRef idx="0">
            <a:schemeClr val="accent1"/>
          </a:fillRef>
          <a:effectRef idx="1">
            <a:schemeClr val="accent1"/>
          </a:effectRef>
          <a:fontRef idx="minor">
            <a:schemeClr val="tx1"/>
          </a:fontRef>
        </p:style>
      </p:cxnSp>
      <p:sp>
        <p:nvSpPr>
          <p:cNvPr id="55" name="!!rc3d"/>
          <p:cNvSpPr/>
          <p:nvPr/>
        </p:nvSpPr>
        <p:spPr>
          <a:xfrm>
            <a:off x="576072" y="4242816"/>
            <a:ext cx="420624" cy="420624"/>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6" name="!!rc3i" descr="E71B-1F5BD8.png"/>
          <p:cNvPicPr>
            <a:picLocks noChangeAspect="1"/>
          </p:cNvPicPr>
          <p:nvPr/>
        </p:nvPicPr>
        <p:blipFill>
          <a:blip r:embed="rId7"/>
          <a:stretch>
            <a:fillRect/>
          </a:stretch>
        </p:blipFill>
        <p:spPr>
          <a:xfrm>
            <a:off x="681228" y="4347972"/>
            <a:ext cx="210312" cy="210312"/>
          </a:xfrm>
          <a:prstGeom prst="rect">
            <a:avLst/>
          </a:prstGeom>
        </p:spPr>
      </p:pic>
      <p:sp>
        <p:nvSpPr>
          <p:cNvPr id="57" name="TextBox 56"/>
          <p:cNvSpPr txBox="1"/>
          <p:nvPr/>
        </p:nvSpPr>
        <p:spPr>
          <a:xfrm>
            <a:off x="1115568" y="4197096"/>
            <a:ext cx="3291840" cy="292608"/>
          </a:xfrm>
          <a:prstGeom prst="rect">
            <a:avLst/>
          </a:prstGeom>
          <a:noFill/>
        </p:spPr>
        <p:txBody>
          <a:bodyPr wrap="square" lIns="0" tIns="0" rIns="0" bIns="0" anchor="ctr">
            <a:spAutoFit/>
          </a:bodyPr>
          <a:lstStyle/>
          <a:p>
            <a:pPr algn="l">
              <a:lnSpc>
                <a:spcPct val="105000"/>
              </a:lnSpc>
              <a:spcAft>
                <a:spcPts val="0"/>
              </a:spcAft>
            </a:pPr>
            <a:r>
              <a:rPr sz="1350" b="0" i="0">
                <a:solidFill>
                  <a:srgbClr val="0B1F33"/>
                </a:solidFill>
                <a:latin typeface="Segoe UI Semibold"/>
              </a:rPr>
              <a:t>Predecessor</a:t>
            </a:r>
          </a:p>
        </p:txBody>
      </p:sp>
      <p:sp>
        <p:nvSpPr>
          <p:cNvPr id="58" name="TextBox 57"/>
          <p:cNvSpPr txBox="1"/>
          <p:nvPr/>
        </p:nvSpPr>
        <p:spPr>
          <a:xfrm>
            <a:off x="1115568" y="4471416"/>
            <a:ext cx="2926080" cy="237744"/>
          </a:xfrm>
          <a:prstGeom prst="rect">
            <a:avLst/>
          </a:prstGeom>
          <a:noFill/>
        </p:spPr>
        <p:txBody>
          <a:bodyPr wrap="none" lIns="0" tIns="0" rIns="0" bIns="0" anchor="ctr">
            <a:spAutoFit/>
          </a:bodyPr>
          <a:lstStyle/>
          <a:p>
            <a:pPr algn="l">
              <a:lnSpc>
                <a:spcPct val="105000"/>
              </a:lnSpc>
              <a:spcAft>
                <a:spcPts val="0"/>
              </a:spcAft>
            </a:pPr>
            <a:r>
              <a:rPr sz="900" b="0" i="0">
                <a:solidFill>
                  <a:srgbClr val="56657A"/>
                </a:solidFill>
                <a:latin typeface="Segoe UI"/>
              </a:rPr>
              <a:t>C-007 · Finishing ruangan (A-3010) dan cable containm…</a:t>
            </a:r>
          </a:p>
        </p:txBody>
      </p:sp>
      <p:sp>
        <p:nvSpPr>
          <p:cNvPr id="59" name="TextBox 58"/>
          <p:cNvSpPr txBox="1"/>
          <p:nvPr/>
        </p:nvSpPr>
        <p:spPr>
          <a:xfrm>
            <a:off x="4069080" y="4151376"/>
            <a:ext cx="1600200" cy="603504"/>
          </a:xfrm>
          <a:prstGeom prst="rect">
            <a:avLst/>
          </a:prstGeom>
          <a:noFill/>
        </p:spPr>
        <p:txBody>
          <a:bodyPr wrap="square" lIns="0" tIns="0" rIns="0" bIns="0" anchor="ctr">
            <a:spAutoFit/>
          </a:bodyPr>
          <a:lstStyle/>
          <a:p>
            <a:pPr algn="l">
              <a:lnSpc>
                <a:spcPct val="95000"/>
              </a:lnSpc>
              <a:spcAft>
                <a:spcPts val="0"/>
              </a:spcAft>
            </a:pPr>
            <a:r>
              <a:rPr sz="950" b="0" i="0">
                <a:solidFill>
                  <a:srgbClr val="56657A"/>
                </a:solidFill>
                <a:latin typeface="Segoe UI"/>
              </a:rPr>
              <a:t>Main Contractor Site Manager</a:t>
            </a:r>
          </a:p>
        </p:txBody>
      </p:sp>
      <p:sp>
        <p:nvSpPr>
          <p:cNvPr id="60" name="!!st3"/>
          <p:cNvSpPr/>
          <p:nvPr/>
        </p:nvSpPr>
        <p:spPr>
          <a:xfrm>
            <a:off x="5760720" y="4315968"/>
            <a:ext cx="901132" cy="274320"/>
          </a:xfrm>
          <a:prstGeom prst="roundRect">
            <a:avLst>
              <a:gd name="adj" fmla="val 5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1" name="Picture 60" descr="E73E-1F5BD8.png"/>
          <p:cNvPicPr>
            <a:picLocks noChangeAspect="1"/>
          </p:cNvPicPr>
          <p:nvPr/>
        </p:nvPicPr>
        <p:blipFill>
          <a:blip r:embed="rId4"/>
          <a:stretch>
            <a:fillRect/>
          </a:stretch>
        </p:blipFill>
        <p:spPr>
          <a:xfrm>
            <a:off x="5913882" y="4377690"/>
            <a:ext cx="150876" cy="150876"/>
          </a:xfrm>
          <a:prstGeom prst="rect">
            <a:avLst/>
          </a:prstGeom>
        </p:spPr>
      </p:pic>
      <p:sp>
        <p:nvSpPr>
          <p:cNvPr id="62" name="TextBox 61"/>
          <p:cNvSpPr txBox="1"/>
          <p:nvPr/>
        </p:nvSpPr>
        <p:spPr>
          <a:xfrm>
            <a:off x="6144768" y="4315968"/>
            <a:ext cx="901132" cy="274320"/>
          </a:xfrm>
          <a:prstGeom prst="rect">
            <a:avLst/>
          </a:prstGeom>
          <a:noFill/>
        </p:spPr>
        <p:txBody>
          <a:bodyPr wrap="none" lIns="0" tIns="0" rIns="0" bIns="0" anchor="ctr">
            <a:spAutoFit/>
          </a:bodyPr>
          <a:lstStyle/>
          <a:p>
            <a:pPr algn="l">
              <a:lnSpc>
                <a:spcPct val="105000"/>
              </a:lnSpc>
              <a:spcAft>
                <a:spcPts val="0"/>
              </a:spcAft>
            </a:pPr>
            <a:r>
              <a:rPr sz="1050" b="0" i="0">
                <a:solidFill>
                  <a:srgbClr val="1F5BD8"/>
                </a:solidFill>
                <a:latin typeface="Segoe UI Semibold"/>
              </a:rPr>
              <a:t>Ready</a:t>
            </a:r>
          </a:p>
        </p:txBody>
      </p:sp>
      <p:cxnSp>
        <p:nvCxnSpPr>
          <p:cNvPr id="63" name="Connector 62"/>
          <p:cNvCxnSpPr/>
          <p:nvPr/>
        </p:nvCxnSpPr>
        <p:spPr>
          <a:xfrm>
            <a:off x="548640" y="4782312"/>
            <a:ext cx="6400800" cy="0"/>
          </a:xfrm>
          <a:prstGeom prst="line">
            <a:avLst/>
          </a:prstGeom>
          <a:ln w="6350">
            <a:solidFill>
              <a:srgbClr val="DDE2E9"/>
            </a:solidFill>
          </a:ln>
        </p:spPr>
        <p:style>
          <a:lnRef idx="2">
            <a:schemeClr val="accent1"/>
          </a:lnRef>
          <a:fillRef idx="0">
            <a:schemeClr val="accent1"/>
          </a:fillRef>
          <a:effectRef idx="1">
            <a:schemeClr val="accent1"/>
          </a:effectRef>
          <a:fontRef idx="minor">
            <a:schemeClr val="tx1"/>
          </a:fontRef>
        </p:style>
      </p:cxnSp>
      <p:sp>
        <p:nvSpPr>
          <p:cNvPr id="64" name="!!blockrow"/>
          <p:cNvSpPr/>
          <p:nvPr/>
        </p:nvSpPr>
        <p:spPr>
          <a:xfrm>
            <a:off x="475488" y="4809744"/>
            <a:ext cx="6473952" cy="603504"/>
          </a:xfrm>
          <a:prstGeom prst="rect">
            <a:avLst/>
          </a:prstGeom>
          <a:solidFill>
            <a:srgbClr val="FBE8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c4d"/>
          <p:cNvSpPr/>
          <p:nvPr/>
        </p:nvSpPr>
        <p:spPr>
          <a:xfrm>
            <a:off x="576072" y="4901184"/>
            <a:ext cx="420624" cy="420624"/>
          </a:xfrm>
          <a:prstGeom prst="ellipse">
            <a:avLst/>
          </a:prstGeom>
          <a:solidFill>
            <a:srgbClr val="D84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6" name="!!rc4i" descr="E8D7-FFFFFF.png"/>
          <p:cNvPicPr>
            <a:picLocks noChangeAspect="1"/>
          </p:cNvPicPr>
          <p:nvPr/>
        </p:nvPicPr>
        <p:blipFill>
          <a:blip r:embed="rId8"/>
          <a:stretch>
            <a:fillRect/>
          </a:stretch>
        </p:blipFill>
        <p:spPr>
          <a:xfrm>
            <a:off x="681228" y="5006340"/>
            <a:ext cx="210312" cy="210312"/>
          </a:xfrm>
          <a:prstGeom prst="rect">
            <a:avLst/>
          </a:prstGeom>
        </p:spPr>
      </p:pic>
      <p:sp>
        <p:nvSpPr>
          <p:cNvPr id="67" name="TextBox 66"/>
          <p:cNvSpPr txBox="1"/>
          <p:nvPr/>
        </p:nvSpPr>
        <p:spPr>
          <a:xfrm>
            <a:off x="1115568" y="4855464"/>
            <a:ext cx="3291840" cy="292608"/>
          </a:xfrm>
          <a:prstGeom prst="rect">
            <a:avLst/>
          </a:prstGeom>
          <a:noFill/>
        </p:spPr>
        <p:txBody>
          <a:bodyPr wrap="square" lIns="0" tIns="0" rIns="0" bIns="0" anchor="ctr">
            <a:spAutoFit/>
          </a:bodyPr>
          <a:lstStyle/>
          <a:p>
            <a:pPr algn="l">
              <a:lnSpc>
                <a:spcPct val="105000"/>
              </a:lnSpc>
              <a:spcAft>
                <a:spcPts val="0"/>
              </a:spcAft>
            </a:pPr>
            <a:r>
              <a:rPr sz="1350" b="0" i="0">
                <a:solidFill>
                  <a:srgbClr val="0B1F33"/>
                </a:solidFill>
                <a:latin typeface="Segoe UI Semibold"/>
              </a:rPr>
              <a:t>Access</a:t>
            </a:r>
          </a:p>
        </p:txBody>
      </p:sp>
      <p:sp>
        <p:nvSpPr>
          <p:cNvPr id="68" name="TextBox 67"/>
          <p:cNvSpPr txBox="1"/>
          <p:nvPr/>
        </p:nvSpPr>
        <p:spPr>
          <a:xfrm>
            <a:off x="1115568" y="5129784"/>
            <a:ext cx="2926080" cy="237744"/>
          </a:xfrm>
          <a:prstGeom prst="rect">
            <a:avLst/>
          </a:prstGeom>
          <a:noFill/>
        </p:spPr>
        <p:txBody>
          <a:bodyPr wrap="none" lIns="0" tIns="0" rIns="0" bIns="0" anchor="ctr">
            <a:spAutoFit/>
          </a:bodyPr>
          <a:lstStyle/>
          <a:p>
            <a:pPr algn="l">
              <a:lnSpc>
                <a:spcPct val="105000"/>
              </a:lnSpc>
              <a:spcAft>
                <a:spcPts val="0"/>
              </a:spcAft>
            </a:pPr>
            <a:r>
              <a:rPr sz="900" b="0" i="0">
                <a:solidFill>
                  <a:srgbClr val="56657A"/>
                </a:solidFill>
                <a:latin typeface="Segoe UI"/>
              </a:rPr>
              <a:t>C-003 · Rigging route ke Area A terhalang scaffold faca…</a:t>
            </a:r>
          </a:p>
        </p:txBody>
      </p:sp>
      <p:sp>
        <p:nvSpPr>
          <p:cNvPr id="69" name="TextBox 68"/>
          <p:cNvSpPr txBox="1"/>
          <p:nvPr/>
        </p:nvSpPr>
        <p:spPr>
          <a:xfrm>
            <a:off x="4069080" y="4809744"/>
            <a:ext cx="1600200" cy="603504"/>
          </a:xfrm>
          <a:prstGeom prst="rect">
            <a:avLst/>
          </a:prstGeom>
          <a:noFill/>
        </p:spPr>
        <p:txBody>
          <a:bodyPr wrap="square" lIns="0" tIns="0" rIns="0" bIns="0" anchor="ctr">
            <a:spAutoFit/>
          </a:bodyPr>
          <a:lstStyle/>
          <a:p>
            <a:pPr algn="l">
              <a:lnSpc>
                <a:spcPct val="95000"/>
              </a:lnSpc>
              <a:spcAft>
                <a:spcPts val="0"/>
              </a:spcAft>
            </a:pPr>
            <a:r>
              <a:rPr sz="950" b="0" i="0">
                <a:solidFill>
                  <a:srgbClr val="56657A"/>
                </a:solidFill>
                <a:latin typeface="Segoe UI"/>
              </a:rPr>
              <a:t>Main Contractor Site Manager</a:t>
            </a:r>
          </a:p>
        </p:txBody>
      </p:sp>
      <p:sp>
        <p:nvSpPr>
          <p:cNvPr id="70" name="!!st4"/>
          <p:cNvSpPr/>
          <p:nvPr/>
        </p:nvSpPr>
        <p:spPr>
          <a:xfrm>
            <a:off x="5760720" y="4974336"/>
            <a:ext cx="1048238" cy="274320"/>
          </a:xfrm>
          <a:prstGeom prst="roundRect">
            <a:avLst>
              <a:gd name="adj" fmla="val 50000"/>
            </a:avLst>
          </a:prstGeom>
          <a:solidFill>
            <a:srgbClr val="D84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5907024" y="4974336"/>
            <a:ext cx="1048238" cy="274320"/>
          </a:xfrm>
          <a:prstGeom prst="rect">
            <a:avLst/>
          </a:prstGeom>
          <a:noFill/>
        </p:spPr>
        <p:txBody>
          <a:bodyPr wrap="none" lIns="0" tIns="0" rIns="0" bIns="0" anchor="ctr">
            <a:spAutoFit/>
          </a:bodyPr>
          <a:lstStyle/>
          <a:p>
            <a:pPr algn="l">
              <a:lnSpc>
                <a:spcPct val="105000"/>
              </a:lnSpc>
              <a:spcAft>
                <a:spcPts val="0"/>
              </a:spcAft>
            </a:pPr>
            <a:r>
              <a:rPr sz="1050" b="0" i="0">
                <a:solidFill>
                  <a:srgbClr val="FFFFFF"/>
                </a:solidFill>
                <a:latin typeface="Segoe UI Semibold"/>
              </a:rPr>
              <a:t>Belum ready</a:t>
            </a:r>
          </a:p>
        </p:txBody>
      </p:sp>
      <p:cxnSp>
        <p:nvCxnSpPr>
          <p:cNvPr id="72" name="Connector 71"/>
          <p:cNvCxnSpPr/>
          <p:nvPr/>
        </p:nvCxnSpPr>
        <p:spPr>
          <a:xfrm>
            <a:off x="548640" y="5440680"/>
            <a:ext cx="6400800" cy="0"/>
          </a:xfrm>
          <a:prstGeom prst="line">
            <a:avLst/>
          </a:prstGeom>
          <a:ln w="6350">
            <a:solidFill>
              <a:srgbClr val="DDE2E9"/>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7452360" y="1874520"/>
            <a:ext cx="4190695" cy="237744"/>
          </a:xfrm>
          <a:prstGeom prst="rect">
            <a:avLst/>
          </a:prstGeom>
          <a:noFill/>
        </p:spPr>
        <p:txBody>
          <a:bodyPr wrap="none" lIns="0" tIns="0" rIns="0" bIns="0" anchor="ctr">
            <a:spAutoFit/>
          </a:bodyPr>
          <a:lstStyle/>
          <a:p>
            <a:pPr algn="l">
              <a:lnSpc>
                <a:spcPct val="105000"/>
              </a:lnSpc>
              <a:spcAft>
                <a:spcPts val="0"/>
              </a:spcAft>
            </a:pPr>
            <a:r>
              <a:rPr sz="850" b="0" i="0" spc="80">
                <a:solidFill>
                  <a:srgbClr val="56657A"/>
                </a:solidFill>
                <a:latin typeface="Segoe UI Semibold"/>
              </a:rPr>
              <a:t>KALAU HANYA DIHITUNG</a:t>
            </a:r>
          </a:p>
        </p:txBody>
      </p:sp>
      <p:sp>
        <p:nvSpPr>
          <p:cNvPr id="74" name="!!pct"/>
          <p:cNvSpPr txBox="1"/>
          <p:nvPr/>
        </p:nvSpPr>
        <p:spPr>
          <a:xfrm>
            <a:off x="7452360" y="2103120"/>
            <a:ext cx="1645920" cy="685800"/>
          </a:xfrm>
          <a:prstGeom prst="rect">
            <a:avLst/>
          </a:prstGeom>
          <a:noFill/>
        </p:spPr>
        <p:txBody>
          <a:bodyPr wrap="square" lIns="0" tIns="0" rIns="0" bIns="0" anchor="ctr">
            <a:spAutoFit/>
          </a:bodyPr>
          <a:lstStyle/>
          <a:p>
            <a:pPr algn="l">
              <a:lnSpc>
                <a:spcPct val="105000"/>
              </a:lnSpc>
              <a:spcAft>
                <a:spcPts val="0"/>
              </a:spcAft>
            </a:pPr>
            <a:r>
              <a:rPr sz="3600" b="0" i="0">
                <a:solidFill>
                  <a:srgbClr val="98A3B3"/>
                </a:solidFill>
                <a:latin typeface="Georgia"/>
              </a:rPr>
              <a:t>80%</a:t>
            </a:r>
          </a:p>
        </p:txBody>
      </p:sp>
      <p:sp>
        <p:nvSpPr>
          <p:cNvPr id="75" name="TextBox 74"/>
          <p:cNvSpPr txBox="1"/>
          <p:nvPr/>
        </p:nvSpPr>
        <p:spPr>
          <a:xfrm>
            <a:off x="9052560" y="2103120"/>
            <a:ext cx="2590495" cy="685800"/>
          </a:xfrm>
          <a:prstGeom prst="rect">
            <a:avLst/>
          </a:prstGeom>
          <a:noFill/>
        </p:spPr>
        <p:txBody>
          <a:bodyPr wrap="square" lIns="0" tIns="0" rIns="0" bIns="0" anchor="ctr">
            <a:spAutoFit/>
          </a:bodyPr>
          <a:lstStyle/>
          <a:p>
            <a:pPr algn="l">
              <a:lnSpc>
                <a:spcPct val="105000"/>
              </a:lnSpc>
              <a:spcAft>
                <a:spcPts val="0"/>
              </a:spcAft>
            </a:pPr>
            <a:r>
              <a:rPr sz="1200" b="0" i="0">
                <a:solidFill>
                  <a:srgbClr val="56657A"/>
                </a:solidFill>
                <a:latin typeface="Segoe UI"/>
              </a:rPr>
              <a:t>4 dari 5 kondisi ready</a:t>
            </a:r>
          </a:p>
        </p:txBody>
      </p:sp>
      <p:sp>
        <p:nvSpPr>
          <p:cNvPr id="76" name="Rectangle 75"/>
          <p:cNvSpPr/>
          <p:nvPr/>
        </p:nvSpPr>
        <p:spPr>
          <a:xfrm>
            <a:off x="7452360" y="2852928"/>
            <a:ext cx="4190695" cy="128016"/>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pctbar"/>
          <p:cNvSpPr/>
          <p:nvPr/>
        </p:nvSpPr>
        <p:spPr>
          <a:xfrm>
            <a:off x="7452360" y="2852928"/>
            <a:ext cx="3352556" cy="128016"/>
          </a:xfrm>
          <a:prstGeom prst="rect">
            <a:avLst/>
          </a:prstGeom>
          <a:solidFill>
            <a:srgbClr val="98A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7452360" y="3291840"/>
            <a:ext cx="4190695" cy="237744"/>
          </a:xfrm>
          <a:prstGeom prst="rect">
            <a:avLst/>
          </a:prstGeom>
          <a:noFill/>
        </p:spPr>
        <p:txBody>
          <a:bodyPr wrap="none" lIns="0" tIns="0" rIns="0" bIns="0" anchor="ctr">
            <a:spAutoFit/>
          </a:bodyPr>
          <a:lstStyle/>
          <a:p>
            <a:pPr algn="l">
              <a:lnSpc>
                <a:spcPct val="105000"/>
              </a:lnSpc>
              <a:spcAft>
                <a:spcPts val="0"/>
              </a:spcAft>
            </a:pPr>
            <a:r>
              <a:rPr sz="850" b="0" i="0" spc="80">
                <a:solidFill>
                  <a:srgbClr val="56657A"/>
                </a:solidFill>
                <a:latin typeface="Segoe UI Semibold"/>
              </a:rPr>
              <a:t>CARA PLANNER MELIHAT — SEMUA KONDISI HARUS TERPENUHI</a:t>
            </a:r>
          </a:p>
        </p:txBody>
      </p:sp>
      <p:cxnSp>
        <p:nvCxnSpPr>
          <p:cNvPr id="79" name="Connector 78"/>
          <p:cNvCxnSpPr/>
          <p:nvPr/>
        </p:nvCxnSpPr>
        <p:spPr>
          <a:xfrm>
            <a:off x="7452360" y="4023360"/>
            <a:ext cx="185898" cy="0"/>
          </a:xfrm>
          <a:prstGeom prst="line">
            <a:avLst/>
          </a:prstGeom>
          <a:ln w="22225">
            <a:solidFill>
              <a:srgbClr val="0B1F33"/>
            </a:solidFill>
          </a:ln>
        </p:spPr>
        <p:style>
          <a:lnRef idx="2">
            <a:schemeClr val="accent1"/>
          </a:lnRef>
          <a:fillRef idx="0">
            <a:schemeClr val="accent1"/>
          </a:fillRef>
          <a:effectRef idx="1">
            <a:schemeClr val="accent1"/>
          </a:effectRef>
          <a:fontRef idx="minor">
            <a:schemeClr val="tx1"/>
          </a:fontRef>
        </p:style>
      </p:cxnSp>
      <p:sp>
        <p:nvSpPr>
          <p:cNvPr id="80" name="Oval 79"/>
          <p:cNvSpPr/>
          <p:nvPr/>
        </p:nvSpPr>
        <p:spPr>
          <a:xfrm>
            <a:off x="7601682" y="3986784"/>
            <a:ext cx="73152" cy="73152"/>
          </a:xfrm>
          <a:prstGeom prst="ellipse">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7912578" y="3986784"/>
            <a:ext cx="73152" cy="73152"/>
          </a:xfrm>
          <a:prstGeom prst="ellipse">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2" name="Connector 81"/>
          <p:cNvCxnSpPr/>
          <p:nvPr/>
        </p:nvCxnSpPr>
        <p:spPr>
          <a:xfrm>
            <a:off x="7638258" y="4023360"/>
            <a:ext cx="310896" cy="0"/>
          </a:xfrm>
          <a:prstGeom prst="line">
            <a:avLst/>
          </a:prstGeom>
          <a:ln w="28575">
            <a:solidFill>
              <a:srgbClr val="0B1F33"/>
            </a:solidFill>
          </a:ln>
        </p:spPr>
        <p:style>
          <a:lnRef idx="2">
            <a:schemeClr val="accent1"/>
          </a:lnRef>
          <a:fillRef idx="0">
            <a:schemeClr val="accent1"/>
          </a:fillRef>
          <a:effectRef idx="1">
            <a:schemeClr val="accent1"/>
          </a:effectRef>
          <a:fontRef idx="minor">
            <a:schemeClr val="tx1"/>
          </a:fontRef>
        </p:style>
      </p:cxnSp>
      <p:pic>
        <p:nvPicPr>
          <p:cNvPr id="83" name="Picture 82" descr="E8B9-56657A.png"/>
          <p:cNvPicPr>
            <a:picLocks noChangeAspect="1"/>
          </p:cNvPicPr>
          <p:nvPr/>
        </p:nvPicPr>
        <p:blipFill>
          <a:blip r:embed="rId9"/>
          <a:stretch>
            <a:fillRect/>
          </a:stretch>
        </p:blipFill>
        <p:spPr>
          <a:xfrm>
            <a:off x="7674834" y="4251960"/>
            <a:ext cx="237744" cy="237744"/>
          </a:xfrm>
          <a:prstGeom prst="rect">
            <a:avLst/>
          </a:prstGeom>
        </p:spPr>
      </p:pic>
      <p:sp>
        <p:nvSpPr>
          <p:cNvPr id="84" name="TextBox 83"/>
          <p:cNvSpPr txBox="1"/>
          <p:nvPr/>
        </p:nvSpPr>
        <p:spPr>
          <a:xfrm>
            <a:off x="7452360" y="4526280"/>
            <a:ext cx="682691" cy="219456"/>
          </a:xfrm>
          <a:prstGeom prst="rect">
            <a:avLst/>
          </a:prstGeom>
          <a:noFill/>
        </p:spPr>
        <p:txBody>
          <a:bodyPr wrap="none" lIns="0" tIns="0" rIns="0" bIns="0" anchor="t">
            <a:spAutoFit/>
          </a:bodyPr>
          <a:lstStyle/>
          <a:p>
            <a:pPr algn="ctr">
              <a:lnSpc>
                <a:spcPct val="105000"/>
              </a:lnSpc>
              <a:spcAft>
                <a:spcPts val="0"/>
              </a:spcAft>
            </a:pPr>
            <a:r>
              <a:rPr sz="800" b="0" i="0">
                <a:solidFill>
                  <a:srgbClr val="56657A"/>
                </a:solidFill>
                <a:latin typeface="Segoe UI"/>
              </a:rPr>
              <a:t>Drawing</a:t>
            </a:r>
          </a:p>
        </p:txBody>
      </p:sp>
      <p:cxnSp>
        <p:nvCxnSpPr>
          <p:cNvPr id="85" name="Connector 84"/>
          <p:cNvCxnSpPr/>
          <p:nvPr/>
        </p:nvCxnSpPr>
        <p:spPr>
          <a:xfrm>
            <a:off x="7949154" y="4023360"/>
            <a:ext cx="371795" cy="0"/>
          </a:xfrm>
          <a:prstGeom prst="line">
            <a:avLst/>
          </a:prstGeom>
          <a:ln w="22225">
            <a:solidFill>
              <a:srgbClr val="0B1F33"/>
            </a:solidFill>
          </a:ln>
        </p:spPr>
        <p:style>
          <a:lnRef idx="2">
            <a:schemeClr val="accent1"/>
          </a:lnRef>
          <a:fillRef idx="0">
            <a:schemeClr val="accent1"/>
          </a:fillRef>
          <a:effectRef idx="1">
            <a:schemeClr val="accent1"/>
          </a:effectRef>
          <a:fontRef idx="minor">
            <a:schemeClr val="tx1"/>
          </a:fontRef>
        </p:style>
      </p:cxnSp>
      <p:sp>
        <p:nvSpPr>
          <p:cNvPr id="86" name="Oval 85"/>
          <p:cNvSpPr/>
          <p:nvPr/>
        </p:nvSpPr>
        <p:spPr>
          <a:xfrm>
            <a:off x="8284373" y="3986784"/>
            <a:ext cx="73152" cy="73152"/>
          </a:xfrm>
          <a:prstGeom prst="ellipse">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val 86"/>
          <p:cNvSpPr/>
          <p:nvPr/>
        </p:nvSpPr>
        <p:spPr>
          <a:xfrm>
            <a:off x="8595269" y="3986784"/>
            <a:ext cx="73152" cy="73152"/>
          </a:xfrm>
          <a:prstGeom prst="ellipse">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8" name="Connector 87"/>
          <p:cNvCxnSpPr/>
          <p:nvPr/>
        </p:nvCxnSpPr>
        <p:spPr>
          <a:xfrm>
            <a:off x="8320949" y="4023360"/>
            <a:ext cx="310896" cy="0"/>
          </a:xfrm>
          <a:prstGeom prst="line">
            <a:avLst/>
          </a:prstGeom>
          <a:ln w="28575">
            <a:solidFill>
              <a:srgbClr val="0B1F33"/>
            </a:solidFill>
          </a:ln>
        </p:spPr>
        <p:style>
          <a:lnRef idx="2">
            <a:schemeClr val="accent1"/>
          </a:lnRef>
          <a:fillRef idx="0">
            <a:schemeClr val="accent1"/>
          </a:fillRef>
          <a:effectRef idx="1">
            <a:schemeClr val="accent1"/>
          </a:effectRef>
          <a:fontRef idx="minor">
            <a:schemeClr val="tx1"/>
          </a:fontRef>
        </p:style>
      </p:cxnSp>
      <p:pic>
        <p:nvPicPr>
          <p:cNvPr id="89" name="Picture 88" descr="E7B8-56657A.png"/>
          <p:cNvPicPr>
            <a:picLocks noChangeAspect="1"/>
          </p:cNvPicPr>
          <p:nvPr/>
        </p:nvPicPr>
        <p:blipFill>
          <a:blip r:embed="rId10"/>
          <a:stretch>
            <a:fillRect/>
          </a:stretch>
        </p:blipFill>
        <p:spPr>
          <a:xfrm>
            <a:off x="8357525" y="4251960"/>
            <a:ext cx="237744" cy="237744"/>
          </a:xfrm>
          <a:prstGeom prst="rect">
            <a:avLst/>
          </a:prstGeom>
        </p:spPr>
      </p:pic>
      <p:sp>
        <p:nvSpPr>
          <p:cNvPr id="90" name="TextBox 89"/>
          <p:cNvSpPr txBox="1"/>
          <p:nvPr/>
        </p:nvSpPr>
        <p:spPr>
          <a:xfrm>
            <a:off x="8135051" y="4526280"/>
            <a:ext cx="682691" cy="219456"/>
          </a:xfrm>
          <a:prstGeom prst="rect">
            <a:avLst/>
          </a:prstGeom>
          <a:noFill/>
        </p:spPr>
        <p:txBody>
          <a:bodyPr wrap="none" lIns="0" tIns="0" rIns="0" bIns="0" anchor="t">
            <a:spAutoFit/>
          </a:bodyPr>
          <a:lstStyle/>
          <a:p>
            <a:pPr algn="ctr">
              <a:lnSpc>
                <a:spcPct val="105000"/>
              </a:lnSpc>
              <a:spcAft>
                <a:spcPts val="0"/>
              </a:spcAft>
            </a:pPr>
            <a:r>
              <a:rPr sz="800" b="0" i="0">
                <a:solidFill>
                  <a:srgbClr val="56657A"/>
                </a:solidFill>
                <a:latin typeface="Segoe UI"/>
              </a:rPr>
              <a:t>Material</a:t>
            </a:r>
          </a:p>
        </p:txBody>
      </p:sp>
      <p:cxnSp>
        <p:nvCxnSpPr>
          <p:cNvPr id="91" name="Connector 90"/>
          <p:cNvCxnSpPr/>
          <p:nvPr/>
        </p:nvCxnSpPr>
        <p:spPr>
          <a:xfrm>
            <a:off x="8631845" y="4023360"/>
            <a:ext cx="371795" cy="0"/>
          </a:xfrm>
          <a:prstGeom prst="line">
            <a:avLst/>
          </a:prstGeom>
          <a:ln w="22225">
            <a:solidFill>
              <a:srgbClr val="0B1F33"/>
            </a:solidFill>
          </a:ln>
        </p:spPr>
        <p:style>
          <a:lnRef idx="2">
            <a:schemeClr val="accent1"/>
          </a:lnRef>
          <a:fillRef idx="0">
            <a:schemeClr val="accent1"/>
          </a:fillRef>
          <a:effectRef idx="1">
            <a:schemeClr val="accent1"/>
          </a:effectRef>
          <a:fontRef idx="minor">
            <a:schemeClr val="tx1"/>
          </a:fontRef>
        </p:style>
      </p:cxnSp>
      <p:sp>
        <p:nvSpPr>
          <p:cNvPr id="92" name="Oval 91"/>
          <p:cNvSpPr/>
          <p:nvPr/>
        </p:nvSpPr>
        <p:spPr>
          <a:xfrm>
            <a:off x="8967064" y="3986784"/>
            <a:ext cx="73152" cy="73152"/>
          </a:xfrm>
          <a:prstGeom prst="ellipse">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val 92"/>
          <p:cNvSpPr/>
          <p:nvPr/>
        </p:nvSpPr>
        <p:spPr>
          <a:xfrm>
            <a:off x="9277960" y="3986784"/>
            <a:ext cx="73152" cy="73152"/>
          </a:xfrm>
          <a:prstGeom prst="ellipse">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4" name="Connector 93"/>
          <p:cNvCxnSpPr/>
          <p:nvPr/>
        </p:nvCxnSpPr>
        <p:spPr>
          <a:xfrm>
            <a:off x="9003640" y="4023360"/>
            <a:ext cx="310896" cy="0"/>
          </a:xfrm>
          <a:prstGeom prst="line">
            <a:avLst/>
          </a:prstGeom>
          <a:ln w="28575">
            <a:solidFill>
              <a:srgbClr val="0B1F33"/>
            </a:solidFill>
          </a:ln>
        </p:spPr>
        <p:style>
          <a:lnRef idx="2">
            <a:schemeClr val="accent1"/>
          </a:lnRef>
          <a:fillRef idx="0">
            <a:schemeClr val="accent1"/>
          </a:fillRef>
          <a:effectRef idx="1">
            <a:schemeClr val="accent1"/>
          </a:effectRef>
          <a:fontRef idx="minor">
            <a:schemeClr val="tx1"/>
          </a:fontRef>
        </p:style>
      </p:cxnSp>
      <p:pic>
        <p:nvPicPr>
          <p:cNvPr id="95" name="Picture 94" descr="E716-56657A.png"/>
          <p:cNvPicPr>
            <a:picLocks noChangeAspect="1"/>
          </p:cNvPicPr>
          <p:nvPr/>
        </p:nvPicPr>
        <p:blipFill>
          <a:blip r:embed="rId11"/>
          <a:stretch>
            <a:fillRect/>
          </a:stretch>
        </p:blipFill>
        <p:spPr>
          <a:xfrm>
            <a:off x="9040216" y="4251960"/>
            <a:ext cx="237744" cy="237744"/>
          </a:xfrm>
          <a:prstGeom prst="rect">
            <a:avLst/>
          </a:prstGeom>
        </p:spPr>
      </p:pic>
      <p:sp>
        <p:nvSpPr>
          <p:cNvPr id="96" name="TextBox 95"/>
          <p:cNvSpPr txBox="1"/>
          <p:nvPr/>
        </p:nvSpPr>
        <p:spPr>
          <a:xfrm>
            <a:off x="8817742" y="4526280"/>
            <a:ext cx="682691" cy="219456"/>
          </a:xfrm>
          <a:prstGeom prst="rect">
            <a:avLst/>
          </a:prstGeom>
          <a:noFill/>
        </p:spPr>
        <p:txBody>
          <a:bodyPr wrap="none" lIns="0" tIns="0" rIns="0" bIns="0" anchor="t">
            <a:spAutoFit/>
          </a:bodyPr>
          <a:lstStyle/>
          <a:p>
            <a:pPr algn="ctr">
              <a:lnSpc>
                <a:spcPct val="105000"/>
              </a:lnSpc>
              <a:spcAft>
                <a:spcPts val="0"/>
              </a:spcAft>
            </a:pPr>
            <a:r>
              <a:rPr sz="800" b="0" i="0">
                <a:solidFill>
                  <a:srgbClr val="56657A"/>
                </a:solidFill>
                <a:latin typeface="Segoe UI"/>
              </a:rPr>
              <a:t>Manpower</a:t>
            </a:r>
          </a:p>
        </p:txBody>
      </p:sp>
      <p:cxnSp>
        <p:nvCxnSpPr>
          <p:cNvPr id="97" name="Connector 96"/>
          <p:cNvCxnSpPr/>
          <p:nvPr/>
        </p:nvCxnSpPr>
        <p:spPr>
          <a:xfrm>
            <a:off x="9314536" y="4023360"/>
            <a:ext cx="371795" cy="0"/>
          </a:xfrm>
          <a:prstGeom prst="line">
            <a:avLst/>
          </a:prstGeom>
          <a:ln w="22225">
            <a:solidFill>
              <a:srgbClr val="0B1F33"/>
            </a:solidFill>
          </a:ln>
        </p:spPr>
        <p:style>
          <a:lnRef idx="2">
            <a:schemeClr val="accent1"/>
          </a:lnRef>
          <a:fillRef idx="0">
            <a:schemeClr val="accent1"/>
          </a:fillRef>
          <a:effectRef idx="1">
            <a:schemeClr val="accent1"/>
          </a:effectRef>
          <a:fontRef idx="minor">
            <a:schemeClr val="tx1"/>
          </a:fontRef>
        </p:style>
      </p:cxnSp>
      <p:sp>
        <p:nvSpPr>
          <p:cNvPr id="98" name="Oval 97"/>
          <p:cNvSpPr/>
          <p:nvPr/>
        </p:nvSpPr>
        <p:spPr>
          <a:xfrm>
            <a:off x="9649755" y="3986784"/>
            <a:ext cx="73152" cy="73152"/>
          </a:xfrm>
          <a:prstGeom prst="ellipse">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val 98"/>
          <p:cNvSpPr/>
          <p:nvPr/>
        </p:nvSpPr>
        <p:spPr>
          <a:xfrm>
            <a:off x="9960651" y="3986784"/>
            <a:ext cx="73152" cy="73152"/>
          </a:xfrm>
          <a:prstGeom prst="ellipse">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0" name="Connector 99"/>
          <p:cNvCxnSpPr/>
          <p:nvPr/>
        </p:nvCxnSpPr>
        <p:spPr>
          <a:xfrm>
            <a:off x="9686331" y="4023360"/>
            <a:ext cx="310896" cy="0"/>
          </a:xfrm>
          <a:prstGeom prst="line">
            <a:avLst/>
          </a:prstGeom>
          <a:ln w="28575">
            <a:solidFill>
              <a:srgbClr val="0B1F33"/>
            </a:solidFill>
          </a:ln>
        </p:spPr>
        <p:style>
          <a:lnRef idx="2">
            <a:schemeClr val="accent1"/>
          </a:lnRef>
          <a:fillRef idx="0">
            <a:schemeClr val="accent1"/>
          </a:fillRef>
          <a:effectRef idx="1">
            <a:schemeClr val="accent1"/>
          </a:effectRef>
          <a:fontRef idx="minor">
            <a:schemeClr val="tx1"/>
          </a:fontRef>
        </p:style>
      </p:cxnSp>
      <p:pic>
        <p:nvPicPr>
          <p:cNvPr id="101" name="Picture 100" descr="E71B-56657A.png"/>
          <p:cNvPicPr>
            <a:picLocks noChangeAspect="1"/>
          </p:cNvPicPr>
          <p:nvPr/>
        </p:nvPicPr>
        <p:blipFill>
          <a:blip r:embed="rId12"/>
          <a:stretch>
            <a:fillRect/>
          </a:stretch>
        </p:blipFill>
        <p:spPr>
          <a:xfrm>
            <a:off x="9722907" y="4251960"/>
            <a:ext cx="237744" cy="237744"/>
          </a:xfrm>
          <a:prstGeom prst="rect">
            <a:avLst/>
          </a:prstGeom>
        </p:spPr>
      </p:pic>
      <p:sp>
        <p:nvSpPr>
          <p:cNvPr id="102" name="TextBox 101"/>
          <p:cNvSpPr txBox="1"/>
          <p:nvPr/>
        </p:nvSpPr>
        <p:spPr>
          <a:xfrm>
            <a:off x="9500433" y="4526280"/>
            <a:ext cx="682691" cy="219456"/>
          </a:xfrm>
          <a:prstGeom prst="rect">
            <a:avLst/>
          </a:prstGeom>
          <a:noFill/>
        </p:spPr>
        <p:txBody>
          <a:bodyPr wrap="none" lIns="0" tIns="0" rIns="0" bIns="0" anchor="t">
            <a:spAutoFit/>
          </a:bodyPr>
          <a:lstStyle/>
          <a:p>
            <a:pPr algn="ctr">
              <a:lnSpc>
                <a:spcPct val="105000"/>
              </a:lnSpc>
              <a:spcAft>
                <a:spcPts val="0"/>
              </a:spcAft>
            </a:pPr>
            <a:r>
              <a:rPr sz="800" b="0" i="0">
                <a:solidFill>
                  <a:srgbClr val="56657A"/>
                </a:solidFill>
                <a:latin typeface="Segoe UI"/>
              </a:rPr>
              <a:t>Predecessor</a:t>
            </a:r>
          </a:p>
        </p:txBody>
      </p:sp>
      <p:cxnSp>
        <p:nvCxnSpPr>
          <p:cNvPr id="103" name="Connector 102"/>
          <p:cNvCxnSpPr/>
          <p:nvPr/>
        </p:nvCxnSpPr>
        <p:spPr>
          <a:xfrm>
            <a:off x="9997227" y="4023360"/>
            <a:ext cx="371795" cy="0"/>
          </a:xfrm>
          <a:prstGeom prst="line">
            <a:avLst/>
          </a:prstGeom>
          <a:ln w="22225">
            <a:solidFill>
              <a:srgbClr val="0B1F33"/>
            </a:solidFill>
          </a:ln>
        </p:spPr>
        <p:style>
          <a:lnRef idx="2">
            <a:schemeClr val="accent1"/>
          </a:lnRef>
          <a:fillRef idx="0">
            <a:schemeClr val="accent1"/>
          </a:fillRef>
          <a:effectRef idx="1">
            <a:schemeClr val="accent1"/>
          </a:effectRef>
          <a:fontRef idx="minor">
            <a:schemeClr val="tx1"/>
          </a:fontRef>
        </p:style>
      </p:cxnSp>
      <p:sp>
        <p:nvSpPr>
          <p:cNvPr id="104" name="Oval 103"/>
          <p:cNvSpPr/>
          <p:nvPr/>
        </p:nvSpPr>
        <p:spPr>
          <a:xfrm>
            <a:off x="10332446" y="3986784"/>
            <a:ext cx="73152" cy="73152"/>
          </a:xfrm>
          <a:prstGeom prst="ellipse">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val 104"/>
          <p:cNvSpPr/>
          <p:nvPr/>
        </p:nvSpPr>
        <p:spPr>
          <a:xfrm>
            <a:off x="10643342" y="3986784"/>
            <a:ext cx="73152" cy="73152"/>
          </a:xfrm>
          <a:prstGeom prst="ellipse">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6" name="!!openswitch"/>
          <p:cNvCxnSpPr/>
          <p:nvPr/>
        </p:nvCxnSpPr>
        <p:spPr>
          <a:xfrm flipV="1">
            <a:off x="10369022" y="3840480"/>
            <a:ext cx="265176" cy="182880"/>
          </a:xfrm>
          <a:prstGeom prst="line">
            <a:avLst/>
          </a:prstGeom>
          <a:ln w="28575">
            <a:solidFill>
              <a:srgbClr val="D8403F"/>
            </a:solidFill>
          </a:ln>
        </p:spPr>
        <p:style>
          <a:lnRef idx="2">
            <a:schemeClr val="accent1"/>
          </a:lnRef>
          <a:fillRef idx="0">
            <a:schemeClr val="accent1"/>
          </a:fillRef>
          <a:effectRef idx="1">
            <a:schemeClr val="accent1"/>
          </a:effectRef>
          <a:fontRef idx="minor">
            <a:schemeClr val="tx1"/>
          </a:fontRef>
        </p:style>
      </p:cxnSp>
      <p:pic>
        <p:nvPicPr>
          <p:cNvPr id="107" name="Picture 106" descr="E8D7-D8403F.png"/>
          <p:cNvPicPr>
            <a:picLocks noChangeAspect="1"/>
          </p:cNvPicPr>
          <p:nvPr/>
        </p:nvPicPr>
        <p:blipFill>
          <a:blip r:embed="rId13"/>
          <a:stretch>
            <a:fillRect/>
          </a:stretch>
        </p:blipFill>
        <p:spPr>
          <a:xfrm>
            <a:off x="10405598" y="4251960"/>
            <a:ext cx="237744" cy="237744"/>
          </a:xfrm>
          <a:prstGeom prst="rect">
            <a:avLst/>
          </a:prstGeom>
        </p:spPr>
      </p:pic>
      <p:sp>
        <p:nvSpPr>
          <p:cNvPr id="108" name="TextBox 107"/>
          <p:cNvSpPr txBox="1"/>
          <p:nvPr/>
        </p:nvSpPr>
        <p:spPr>
          <a:xfrm>
            <a:off x="10183124" y="4526280"/>
            <a:ext cx="682691" cy="219456"/>
          </a:xfrm>
          <a:prstGeom prst="rect">
            <a:avLst/>
          </a:prstGeom>
          <a:noFill/>
        </p:spPr>
        <p:txBody>
          <a:bodyPr wrap="none" lIns="0" tIns="0" rIns="0" bIns="0" anchor="t">
            <a:spAutoFit/>
          </a:bodyPr>
          <a:lstStyle/>
          <a:p>
            <a:pPr algn="ctr">
              <a:lnSpc>
                <a:spcPct val="105000"/>
              </a:lnSpc>
              <a:spcAft>
                <a:spcPts val="0"/>
              </a:spcAft>
            </a:pPr>
            <a:r>
              <a:rPr sz="800" b="0" i="0">
                <a:solidFill>
                  <a:srgbClr val="D8403F"/>
                </a:solidFill>
                <a:latin typeface="Segoe UI"/>
              </a:rPr>
              <a:t>Access</a:t>
            </a:r>
          </a:p>
        </p:txBody>
      </p:sp>
      <p:cxnSp>
        <p:nvCxnSpPr>
          <p:cNvPr id="109" name="Connector 108"/>
          <p:cNvCxnSpPr/>
          <p:nvPr/>
        </p:nvCxnSpPr>
        <p:spPr>
          <a:xfrm>
            <a:off x="10679918" y="4023360"/>
            <a:ext cx="359633" cy="0"/>
          </a:xfrm>
          <a:prstGeom prst="line">
            <a:avLst/>
          </a:prstGeom>
          <a:ln w="22225">
            <a:solidFill>
              <a:srgbClr val="0B1F33"/>
            </a:solidFill>
          </a:ln>
        </p:spPr>
        <p:style>
          <a:lnRef idx="2">
            <a:schemeClr val="accent1"/>
          </a:lnRef>
          <a:fillRef idx="0">
            <a:schemeClr val="accent1"/>
          </a:fillRef>
          <a:effectRef idx="1">
            <a:schemeClr val="accent1"/>
          </a:effectRef>
          <a:fontRef idx="minor">
            <a:schemeClr val="tx1"/>
          </a:fontRef>
        </p:style>
      </p:cxnSp>
      <p:sp>
        <p:nvSpPr>
          <p:cNvPr id="110" name="!!lamp"/>
          <p:cNvSpPr/>
          <p:nvPr/>
        </p:nvSpPr>
        <p:spPr>
          <a:xfrm>
            <a:off x="11039551" y="3721608"/>
            <a:ext cx="603504" cy="603504"/>
          </a:xfrm>
          <a:prstGeom prst="ellipse">
            <a:avLst/>
          </a:prstGeom>
          <a:solidFill>
            <a:srgbClr val="FBE8E7"/>
          </a:solidFill>
          <a:ln w="25400">
            <a:solidFill>
              <a:srgbClr val="D840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1" name="!!lampi" descr="E945-D8403F.png"/>
          <p:cNvPicPr>
            <a:picLocks noChangeAspect="1"/>
          </p:cNvPicPr>
          <p:nvPr/>
        </p:nvPicPr>
        <p:blipFill>
          <a:blip r:embed="rId14"/>
          <a:stretch>
            <a:fillRect/>
          </a:stretch>
        </p:blipFill>
        <p:spPr>
          <a:xfrm>
            <a:off x="11194999" y="3877056"/>
            <a:ext cx="292608" cy="292608"/>
          </a:xfrm>
          <a:prstGeom prst="rect">
            <a:avLst/>
          </a:prstGeom>
        </p:spPr>
      </p:pic>
      <p:sp>
        <p:nvSpPr>
          <p:cNvPr id="112" name="TextBox 111"/>
          <p:cNvSpPr txBox="1"/>
          <p:nvPr/>
        </p:nvSpPr>
        <p:spPr>
          <a:xfrm>
            <a:off x="10609783" y="4389120"/>
            <a:ext cx="1463040" cy="237744"/>
          </a:xfrm>
          <a:prstGeom prst="rect">
            <a:avLst/>
          </a:prstGeom>
          <a:noFill/>
        </p:spPr>
        <p:txBody>
          <a:bodyPr wrap="none" lIns="0" tIns="0" rIns="0" bIns="0" anchor="t">
            <a:spAutoFit/>
          </a:bodyPr>
          <a:lstStyle/>
          <a:p>
            <a:pPr algn="ctr">
              <a:lnSpc>
                <a:spcPct val="105000"/>
              </a:lnSpc>
              <a:spcAft>
                <a:spcPts val="0"/>
              </a:spcAft>
            </a:pPr>
            <a:r>
              <a:rPr sz="850" b="0" i="0">
                <a:solidFill>
                  <a:srgbClr val="0B1F33"/>
                </a:solidFill>
                <a:latin typeface="Segoe UI Semibold"/>
              </a:rPr>
              <a:t>Installation</a:t>
            </a:r>
          </a:p>
        </p:txBody>
      </p:sp>
      <p:sp>
        <p:nvSpPr>
          <p:cNvPr id="113" name="TextBox 112"/>
          <p:cNvSpPr txBox="1"/>
          <p:nvPr/>
        </p:nvSpPr>
        <p:spPr>
          <a:xfrm>
            <a:off x="7452360" y="4800600"/>
            <a:ext cx="2103120" cy="548640"/>
          </a:xfrm>
          <a:prstGeom prst="rect">
            <a:avLst/>
          </a:prstGeom>
          <a:noFill/>
        </p:spPr>
        <p:txBody>
          <a:bodyPr wrap="square" lIns="0" tIns="0" rIns="0" bIns="0" anchor="ctr">
            <a:spAutoFit/>
          </a:bodyPr>
          <a:lstStyle/>
          <a:p>
            <a:pPr algn="l">
              <a:lnSpc>
                <a:spcPct val="105000"/>
              </a:lnSpc>
              <a:spcAft>
                <a:spcPts val="0"/>
              </a:spcAft>
            </a:pPr>
            <a:r>
              <a:rPr sz="2600" b="0" i="0">
                <a:solidFill>
                  <a:srgbClr val="D8403F"/>
                </a:solidFill>
                <a:latin typeface="Georgia"/>
              </a:rPr>
              <a:t>Belum ready</a:t>
            </a:r>
          </a:p>
        </p:txBody>
      </p:sp>
      <p:sp>
        <p:nvSpPr>
          <p:cNvPr id="114" name="TextBox 113"/>
          <p:cNvSpPr txBox="1"/>
          <p:nvPr/>
        </p:nvSpPr>
        <p:spPr>
          <a:xfrm>
            <a:off x="9555480" y="4800600"/>
            <a:ext cx="2087575" cy="548640"/>
          </a:xfrm>
          <a:prstGeom prst="rect">
            <a:avLst/>
          </a:prstGeom>
          <a:noFill/>
        </p:spPr>
        <p:txBody>
          <a:bodyPr wrap="square" lIns="0" tIns="0" rIns="0" bIns="0" anchor="ctr">
            <a:spAutoFit/>
          </a:bodyPr>
          <a:lstStyle/>
          <a:p>
            <a:pPr algn="l">
              <a:lnSpc>
                <a:spcPct val="105000"/>
              </a:lnSpc>
              <a:spcAft>
                <a:spcPts val="0"/>
              </a:spcAft>
            </a:pPr>
            <a:r>
              <a:rPr sz="1250" b="0" i="0">
                <a:solidFill>
                  <a:srgbClr val="56657A"/>
                </a:solidFill>
                <a:latin typeface="Segoe UI"/>
              </a:rPr>
              <a:t>Access menjadi blocker</a:t>
            </a:r>
          </a:p>
        </p:txBody>
      </p:sp>
      <p:sp>
        <p:nvSpPr>
          <p:cNvPr id="115" name="Rectangle 114"/>
          <p:cNvSpPr/>
          <p:nvPr/>
        </p:nvSpPr>
        <p:spPr>
          <a:xfrm>
            <a:off x="548640" y="5623560"/>
            <a:ext cx="11094415" cy="54864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Rectangle 115"/>
          <p:cNvSpPr/>
          <p:nvPr/>
        </p:nvSpPr>
        <p:spPr>
          <a:xfrm>
            <a:off x="548640" y="5623560"/>
            <a:ext cx="54864" cy="548640"/>
          </a:xfrm>
          <a:prstGeom prst="rect">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7" name="Picture 116" descr="EA80-1F5BD8.png"/>
          <p:cNvPicPr>
            <a:picLocks noChangeAspect="1"/>
          </p:cNvPicPr>
          <p:nvPr/>
        </p:nvPicPr>
        <p:blipFill>
          <a:blip r:embed="rId15"/>
          <a:stretch>
            <a:fillRect/>
          </a:stretch>
        </p:blipFill>
        <p:spPr>
          <a:xfrm>
            <a:off x="758952" y="5760720"/>
            <a:ext cx="274320" cy="274320"/>
          </a:xfrm>
          <a:prstGeom prst="rect">
            <a:avLst/>
          </a:prstGeom>
        </p:spPr>
      </p:pic>
      <p:sp>
        <p:nvSpPr>
          <p:cNvPr id="118" name="TextBox 117"/>
          <p:cNvSpPr txBox="1"/>
          <p:nvPr/>
        </p:nvSpPr>
        <p:spPr>
          <a:xfrm>
            <a:off x="1188720" y="5623560"/>
            <a:ext cx="10317175" cy="548640"/>
          </a:xfrm>
          <a:prstGeom prst="rect">
            <a:avLst/>
          </a:prstGeom>
          <a:noFill/>
        </p:spPr>
        <p:txBody>
          <a:bodyPr wrap="square" lIns="0" tIns="0" rIns="0" bIns="0" anchor="ctr">
            <a:spAutoFit/>
          </a:bodyPr>
          <a:lstStyle/>
          <a:p>
            <a:pPr algn="l">
              <a:lnSpc>
                <a:spcPct val="105000"/>
              </a:lnSpc>
              <a:spcAft>
                <a:spcPts val="0"/>
              </a:spcAft>
            </a:pPr>
            <a:r>
              <a:rPr sz="1500" b="0" i="0">
                <a:solidFill>
                  <a:srgbClr val="0B1F33"/>
                </a:solidFill>
                <a:latin typeface="Segoe UI Semibold"/>
              </a:rPr>
              <a:t>Readiness itu logika AND, bukan rata-rata: 4 dari 5 ready tetap bisa berarti belum ready.</a:t>
            </a:r>
          </a:p>
        </p:txBody>
      </p:sp>
      <p:sp>
        <p:nvSpPr>
          <p:cNvPr id="119" name="TextBox 118"/>
          <p:cNvSpPr txBox="1"/>
          <p:nvPr/>
        </p:nvSpPr>
        <p:spPr>
          <a:xfrm>
            <a:off x="548640" y="6419088"/>
            <a:ext cx="8686800" cy="237744"/>
          </a:xfrm>
          <a:prstGeom prst="rect">
            <a:avLst/>
          </a:prstGeom>
          <a:noFill/>
        </p:spPr>
        <p:txBody>
          <a:bodyPr wrap="none" lIns="0" tIns="0" rIns="0" bIns="0" anchor="t">
            <a:spAutoFit/>
          </a:bodyPr>
          <a:lstStyle/>
          <a:p>
            <a:pPr algn="l">
              <a:lnSpc>
                <a:spcPct val="105000"/>
              </a:lnSpc>
              <a:spcAft>
                <a:spcPts val="0"/>
              </a:spcAft>
            </a:pPr>
            <a:r>
              <a:rPr sz="850" b="0" i="0">
                <a:solidFill>
                  <a:srgbClr val="98A3B3"/>
                </a:solidFill>
                <a:latin typeface="Segoe UI"/>
              </a:rPr>
              <a:t>Data simulasi — Project Alpha adalah proyek fiktif.   ·   Sumber: REF-009, REF-010 (vault demo › 06 Referensi)</a:t>
            </a:r>
          </a:p>
        </p:txBody>
      </p:sp>
      <p:sp>
        <p:nvSpPr>
          <p:cNvPr id="120" name="TextBox 119"/>
          <p:cNvSpPr txBox="1"/>
          <p:nvPr/>
        </p:nvSpPr>
        <p:spPr>
          <a:xfrm>
            <a:off x="7071055" y="6419088"/>
            <a:ext cx="3657600" cy="237744"/>
          </a:xfrm>
          <a:prstGeom prst="rect">
            <a:avLst/>
          </a:prstGeom>
          <a:noFill/>
        </p:spPr>
        <p:txBody>
          <a:bodyPr wrap="none" lIns="0" tIns="0" rIns="0" bIns="0" anchor="ctr">
            <a:spAutoFit/>
          </a:bodyPr>
          <a:lstStyle/>
          <a:p>
            <a:pPr algn="r">
              <a:lnSpc>
                <a:spcPct val="105000"/>
              </a:lnSpc>
              <a:spcAft>
                <a:spcPts val="0"/>
              </a:spcAft>
            </a:pPr>
            <a:r>
              <a:rPr sz="800" b="0" i="0" spc="80">
                <a:solidFill>
                  <a:srgbClr val="56657A"/>
                </a:solidFill>
                <a:latin typeface="Segoe UI Semibold"/>
              </a:rPr>
              <a:t>ABDUL KAUSAR</a:t>
            </a:r>
          </a:p>
        </p:txBody>
      </p:sp>
      <p:sp>
        <p:nvSpPr>
          <p:cNvPr id="121" name="TextBox 120"/>
          <p:cNvSpPr txBox="1"/>
          <p:nvPr/>
        </p:nvSpPr>
        <p:spPr>
          <a:xfrm>
            <a:off x="10911535" y="6419088"/>
            <a:ext cx="731520" cy="237744"/>
          </a:xfrm>
          <a:prstGeom prst="rect">
            <a:avLst/>
          </a:prstGeom>
          <a:noFill/>
        </p:spPr>
        <p:txBody>
          <a:bodyPr wrap="square" lIns="0" tIns="0" rIns="0" bIns="0" anchor="t">
            <a:spAutoFit/>
          </a:bodyPr>
          <a:lstStyle/>
          <a:p>
            <a:pPr algn="r">
              <a:lnSpc>
                <a:spcPct val="105000"/>
              </a:lnSpc>
              <a:spcAft>
                <a:spcPts val="0"/>
              </a:spcAft>
            </a:pPr>
            <a:r>
              <a:rPr sz="900" b="0" i="0">
                <a:solidFill>
                  <a:srgbClr val="98A3B3"/>
                </a:solidFill>
                <a:latin typeface="Segoe UI"/>
              </a:rPr>
              <a:t>17</a:t>
            </a:r>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tatement"/>
          <p:cNvSpPr txBox="1"/>
          <p:nvPr/>
        </p:nvSpPr>
        <p:spPr>
          <a:xfrm>
            <a:off x="548640" y="1325880"/>
            <a:ext cx="5760720" cy="1371600"/>
          </a:xfrm>
          <a:prstGeom prst="rect">
            <a:avLst/>
          </a:prstGeom>
          <a:noFill/>
        </p:spPr>
        <p:txBody>
          <a:bodyPr wrap="square" lIns="0" tIns="0" rIns="0" bIns="0" anchor="t">
            <a:spAutoFit/>
          </a:bodyPr>
          <a:lstStyle/>
          <a:p>
            <a:pPr algn="l">
              <a:lnSpc>
                <a:spcPct val="105000"/>
              </a:lnSpc>
              <a:spcAft>
                <a:spcPts val="0"/>
              </a:spcAft>
            </a:pPr>
            <a:r>
              <a:rPr sz="4000" b="0" i="0">
                <a:solidFill>
                  <a:srgbClr val="0B1F33"/>
                </a:solidFill>
                <a:latin typeface="Georgia"/>
              </a:rPr>
              <a:t>Control butuh informasi.</a:t>
            </a:r>
          </a:p>
        </p:txBody>
      </p:sp>
      <p:sp>
        <p:nvSpPr>
          <p:cNvPr id="3" name="!!support"/>
          <p:cNvSpPr txBox="1"/>
          <p:nvPr/>
        </p:nvSpPr>
        <p:spPr>
          <a:xfrm>
            <a:off x="548640" y="2697480"/>
            <a:ext cx="5486400" cy="2011680"/>
          </a:xfrm>
          <a:prstGeom prst="rect">
            <a:avLst/>
          </a:prstGeom>
          <a:noFill/>
        </p:spPr>
        <p:txBody>
          <a:bodyPr wrap="square" lIns="0" tIns="0" rIns="0" bIns="0" anchor="t">
            <a:spAutoFit/>
          </a:bodyPr>
          <a:lstStyle/>
          <a:p>
            <a:pPr algn="l">
              <a:lnSpc>
                <a:spcPct val="110000"/>
              </a:lnSpc>
              <a:spcAft>
                <a:spcPts val="0"/>
              </a:spcAft>
            </a:pPr>
            <a:r>
              <a:rPr sz="1800" b="0" i="0">
                <a:solidFill>
                  <a:srgbClr val="56657A"/>
                </a:solidFill>
                <a:latin typeface="Segoe UI"/>
              </a:rPr>
              <a:t>Control, management dan monitoring semuanya bergantung pada informasi — dan pada pengalaman yang bisa ditemukan lagi saat dibutuhkan.</a:t>
            </a:r>
          </a:p>
        </p:txBody>
      </p:sp>
      <p:sp>
        <p:nvSpPr>
          <p:cNvPr id="5" name="!!tool0"/>
          <p:cNvSpPr/>
          <p:nvPr/>
        </p:nvSpPr>
        <p:spPr>
          <a:xfrm>
            <a:off x="6720840" y="1737360"/>
            <a:ext cx="2377440" cy="914400"/>
          </a:xfrm>
          <a:prstGeom prst="roundRect">
            <a:avLst>
              <a:gd name="adj" fmla="val 8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894576" y="1956816"/>
            <a:ext cx="475488" cy="475488"/>
          </a:xfrm>
          <a:prstGeom prst="ellipse">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C4A-56657A.png"/>
          <p:cNvPicPr>
            <a:picLocks noChangeAspect="1"/>
          </p:cNvPicPr>
          <p:nvPr/>
        </p:nvPicPr>
        <p:blipFill>
          <a:blip r:embed="rId3"/>
          <a:stretch>
            <a:fillRect/>
          </a:stretch>
        </p:blipFill>
        <p:spPr>
          <a:xfrm>
            <a:off x="7013448" y="2075688"/>
            <a:ext cx="237744" cy="237744"/>
          </a:xfrm>
          <a:prstGeom prst="rect">
            <a:avLst/>
          </a:prstGeom>
        </p:spPr>
      </p:pic>
      <p:sp>
        <p:nvSpPr>
          <p:cNvPr id="8" name="TextBox 7"/>
          <p:cNvSpPr txBox="1"/>
          <p:nvPr/>
        </p:nvSpPr>
        <p:spPr>
          <a:xfrm>
            <a:off x="7498080" y="1737360"/>
            <a:ext cx="1508760" cy="914400"/>
          </a:xfrm>
          <a:prstGeom prst="rect">
            <a:avLst/>
          </a:prstGeom>
          <a:noFill/>
        </p:spPr>
        <p:txBody>
          <a:bodyPr wrap="square" lIns="0" tIns="0" rIns="0" bIns="0" anchor="ctr">
            <a:spAutoFit/>
          </a:bodyPr>
          <a:lstStyle/>
          <a:p>
            <a:pPr algn="l">
              <a:lnSpc>
                <a:spcPct val="105000"/>
              </a:lnSpc>
              <a:spcAft>
                <a:spcPts val="0"/>
              </a:spcAft>
            </a:pPr>
            <a:r>
              <a:rPr sz="1400" b="0" i="0">
                <a:solidFill>
                  <a:srgbClr val="56657A"/>
                </a:solidFill>
                <a:latin typeface="Segoe UI Semibold"/>
              </a:rPr>
              <a:t>Control</a:t>
            </a:r>
          </a:p>
        </p:txBody>
      </p:sp>
      <p:sp>
        <p:nvSpPr>
          <p:cNvPr id="9" name="!!tool1"/>
          <p:cNvSpPr/>
          <p:nvPr/>
        </p:nvSpPr>
        <p:spPr>
          <a:xfrm>
            <a:off x="9262872" y="1737360"/>
            <a:ext cx="2377440" cy="914400"/>
          </a:xfrm>
          <a:prstGeom prst="roundRect">
            <a:avLst>
              <a:gd name="adj" fmla="val 8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9436608" y="1956816"/>
            <a:ext cx="475488" cy="475488"/>
          </a:xfrm>
          <a:prstGeom prst="ellipse">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E716-56657A.png"/>
          <p:cNvPicPr>
            <a:picLocks noChangeAspect="1"/>
          </p:cNvPicPr>
          <p:nvPr/>
        </p:nvPicPr>
        <p:blipFill>
          <a:blip r:embed="rId4"/>
          <a:stretch>
            <a:fillRect/>
          </a:stretch>
        </p:blipFill>
        <p:spPr>
          <a:xfrm>
            <a:off x="9555480" y="2075688"/>
            <a:ext cx="237744" cy="237744"/>
          </a:xfrm>
          <a:prstGeom prst="rect">
            <a:avLst/>
          </a:prstGeom>
        </p:spPr>
      </p:pic>
      <p:sp>
        <p:nvSpPr>
          <p:cNvPr id="12" name="TextBox 11"/>
          <p:cNvSpPr txBox="1"/>
          <p:nvPr/>
        </p:nvSpPr>
        <p:spPr>
          <a:xfrm>
            <a:off x="10040112" y="1737360"/>
            <a:ext cx="1508760" cy="914400"/>
          </a:xfrm>
          <a:prstGeom prst="rect">
            <a:avLst/>
          </a:prstGeom>
          <a:noFill/>
        </p:spPr>
        <p:txBody>
          <a:bodyPr wrap="square" lIns="0" tIns="0" rIns="0" bIns="0" anchor="ctr">
            <a:spAutoFit/>
          </a:bodyPr>
          <a:lstStyle/>
          <a:p>
            <a:pPr algn="l">
              <a:lnSpc>
                <a:spcPct val="105000"/>
              </a:lnSpc>
              <a:spcAft>
                <a:spcPts val="0"/>
              </a:spcAft>
            </a:pPr>
            <a:r>
              <a:rPr sz="1400" b="0" i="0">
                <a:solidFill>
                  <a:srgbClr val="56657A"/>
                </a:solidFill>
                <a:latin typeface="Segoe UI Semibold"/>
              </a:rPr>
              <a:t>Management</a:t>
            </a:r>
          </a:p>
        </p:txBody>
      </p:sp>
      <p:sp>
        <p:nvSpPr>
          <p:cNvPr id="13" name="!!tool2"/>
          <p:cNvSpPr/>
          <p:nvPr/>
        </p:nvSpPr>
        <p:spPr>
          <a:xfrm>
            <a:off x="6720840" y="2816352"/>
            <a:ext cx="2377440" cy="914400"/>
          </a:xfrm>
          <a:prstGeom prst="roundRect">
            <a:avLst>
              <a:gd name="adj" fmla="val 8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894576" y="3035808"/>
            <a:ext cx="475488" cy="475488"/>
          </a:xfrm>
          <a:prstGeom prst="ellipse">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E9D9-56657A.png"/>
          <p:cNvPicPr>
            <a:picLocks noChangeAspect="1"/>
          </p:cNvPicPr>
          <p:nvPr/>
        </p:nvPicPr>
        <p:blipFill>
          <a:blip r:embed="rId5"/>
          <a:stretch>
            <a:fillRect/>
          </a:stretch>
        </p:blipFill>
        <p:spPr>
          <a:xfrm>
            <a:off x="7013448" y="3154680"/>
            <a:ext cx="237744" cy="237744"/>
          </a:xfrm>
          <a:prstGeom prst="rect">
            <a:avLst/>
          </a:prstGeom>
        </p:spPr>
      </p:pic>
      <p:sp>
        <p:nvSpPr>
          <p:cNvPr id="16" name="TextBox 15"/>
          <p:cNvSpPr txBox="1"/>
          <p:nvPr/>
        </p:nvSpPr>
        <p:spPr>
          <a:xfrm>
            <a:off x="7498080" y="2816352"/>
            <a:ext cx="1508760" cy="914400"/>
          </a:xfrm>
          <a:prstGeom prst="rect">
            <a:avLst/>
          </a:prstGeom>
          <a:noFill/>
        </p:spPr>
        <p:txBody>
          <a:bodyPr wrap="square" lIns="0" tIns="0" rIns="0" bIns="0" anchor="ctr">
            <a:spAutoFit/>
          </a:bodyPr>
          <a:lstStyle/>
          <a:p>
            <a:pPr algn="l">
              <a:lnSpc>
                <a:spcPct val="105000"/>
              </a:lnSpc>
              <a:spcAft>
                <a:spcPts val="0"/>
              </a:spcAft>
            </a:pPr>
            <a:r>
              <a:rPr sz="1400" b="0" i="0">
                <a:solidFill>
                  <a:srgbClr val="56657A"/>
                </a:solidFill>
                <a:latin typeface="Segoe UI Semibold"/>
              </a:rPr>
              <a:t>Monitoring</a:t>
            </a:r>
          </a:p>
        </p:txBody>
      </p:sp>
      <p:sp>
        <p:nvSpPr>
          <p:cNvPr id="17" name="!!tool3"/>
          <p:cNvSpPr/>
          <p:nvPr/>
        </p:nvSpPr>
        <p:spPr>
          <a:xfrm>
            <a:off x="9262872" y="2816352"/>
            <a:ext cx="2377440" cy="914400"/>
          </a:xfrm>
          <a:prstGeom prst="roundRect">
            <a:avLst>
              <a:gd name="adj" fmla="val 8000"/>
            </a:avLst>
          </a:prstGeom>
          <a:solidFill>
            <a:srgbClr val="FFFFFF"/>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436608" y="3035808"/>
            <a:ext cx="475488" cy="475488"/>
          </a:xfrm>
          <a:prstGeom prst="ellipse">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EBD2-56657A.png"/>
          <p:cNvPicPr>
            <a:picLocks noChangeAspect="1"/>
          </p:cNvPicPr>
          <p:nvPr/>
        </p:nvPicPr>
        <p:blipFill>
          <a:blip r:embed="rId6"/>
          <a:stretch>
            <a:fillRect/>
          </a:stretch>
        </p:blipFill>
        <p:spPr>
          <a:xfrm>
            <a:off x="9555480" y="3154680"/>
            <a:ext cx="237744" cy="237744"/>
          </a:xfrm>
          <a:prstGeom prst="rect">
            <a:avLst/>
          </a:prstGeom>
        </p:spPr>
      </p:pic>
      <p:sp>
        <p:nvSpPr>
          <p:cNvPr id="20" name="TextBox 19"/>
          <p:cNvSpPr txBox="1"/>
          <p:nvPr/>
        </p:nvSpPr>
        <p:spPr>
          <a:xfrm>
            <a:off x="10040112" y="2816352"/>
            <a:ext cx="1508760" cy="914400"/>
          </a:xfrm>
          <a:prstGeom prst="rect">
            <a:avLst/>
          </a:prstGeom>
          <a:noFill/>
        </p:spPr>
        <p:txBody>
          <a:bodyPr wrap="square" lIns="0" tIns="0" rIns="0" bIns="0" anchor="ctr">
            <a:spAutoFit/>
          </a:bodyPr>
          <a:lstStyle/>
          <a:p>
            <a:pPr algn="l">
              <a:lnSpc>
                <a:spcPct val="105000"/>
              </a:lnSpc>
              <a:spcAft>
                <a:spcPts val="0"/>
              </a:spcAft>
            </a:pPr>
            <a:r>
              <a:rPr sz="1400" b="0" i="0">
                <a:solidFill>
                  <a:srgbClr val="56657A"/>
                </a:solidFill>
                <a:latin typeface="Segoe UI Semibold"/>
              </a:rPr>
              <a:t>Ground to Cloud</a:t>
            </a:r>
          </a:p>
        </p:txBody>
      </p:sp>
      <p:cxnSp>
        <p:nvCxnSpPr>
          <p:cNvPr id="21" name="Connector 20"/>
          <p:cNvCxnSpPr/>
          <p:nvPr/>
        </p:nvCxnSpPr>
        <p:spPr>
          <a:xfrm>
            <a:off x="6720840" y="3986784"/>
            <a:ext cx="4919472" cy="0"/>
          </a:xfrm>
          <a:prstGeom prst="line">
            <a:avLst/>
          </a:prstGeom>
          <a:ln w="19050">
            <a:solidFill>
              <a:srgbClr val="1F5BD8"/>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6729984" y="4197096"/>
            <a:ext cx="457200" cy="457200"/>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E721-1F5BD8.png"/>
          <p:cNvPicPr>
            <a:picLocks noChangeAspect="1"/>
          </p:cNvPicPr>
          <p:nvPr/>
        </p:nvPicPr>
        <p:blipFill>
          <a:blip r:embed="rId7"/>
          <a:stretch>
            <a:fillRect/>
          </a:stretch>
        </p:blipFill>
        <p:spPr>
          <a:xfrm>
            <a:off x="6844284" y="4311396"/>
            <a:ext cx="228600" cy="228600"/>
          </a:xfrm>
          <a:prstGeom prst="rect">
            <a:avLst/>
          </a:prstGeom>
        </p:spPr>
      </p:pic>
      <p:sp>
        <p:nvSpPr>
          <p:cNvPr id="24" name="TextBox 23"/>
          <p:cNvSpPr txBox="1"/>
          <p:nvPr/>
        </p:nvSpPr>
        <p:spPr>
          <a:xfrm>
            <a:off x="7315200" y="4320539"/>
            <a:ext cx="4297680" cy="210314"/>
          </a:xfrm>
          <a:prstGeom prst="rect">
            <a:avLst/>
          </a:prstGeom>
          <a:noFill/>
        </p:spPr>
        <p:txBody>
          <a:bodyPr wrap="square" lIns="0" tIns="0" rIns="0" bIns="0" anchor="ctr">
            <a:spAutoFit/>
          </a:bodyPr>
          <a:lstStyle/>
          <a:p>
            <a:pPr algn="l">
              <a:lnSpc>
                <a:spcPct val="105000"/>
              </a:lnSpc>
              <a:spcAft>
                <a:spcPts val="0"/>
              </a:spcAft>
            </a:pPr>
            <a:r>
              <a:rPr lang="en-US" sz="1400" b="0" i="0" dirty="0" err="1">
                <a:solidFill>
                  <a:srgbClr val="1F5BD8"/>
                </a:solidFill>
                <a:latin typeface="Segoe UI Semibold"/>
              </a:rPr>
              <a:t>I</a:t>
            </a:r>
            <a:r>
              <a:rPr sz="1400" b="0" i="0" dirty="0" err="1">
                <a:solidFill>
                  <a:srgbClr val="1F5BD8"/>
                </a:solidFill>
                <a:latin typeface="Segoe UI Semibold"/>
              </a:rPr>
              <a:t>nformasi</a:t>
            </a:r>
            <a:r>
              <a:rPr sz="1400" b="0" i="0" dirty="0">
                <a:solidFill>
                  <a:srgbClr val="1F5BD8"/>
                </a:solidFill>
                <a:latin typeface="Segoe UI Semibold"/>
              </a:rPr>
              <a:t> &amp; knowledge di </a:t>
            </a:r>
            <a:r>
              <a:rPr sz="1400" b="0" i="0" dirty="0" err="1">
                <a:solidFill>
                  <a:srgbClr val="1F5BD8"/>
                </a:solidFill>
                <a:latin typeface="Segoe UI Semibold"/>
              </a:rPr>
              <a:t>baliknya</a:t>
            </a:r>
            <a:endParaRPr sz="1400" b="0" i="0" dirty="0">
              <a:solidFill>
                <a:srgbClr val="1F5BD8"/>
              </a:solidFill>
              <a:latin typeface="Segoe UI Semibold"/>
            </a:endParaRPr>
          </a:p>
        </p:txBody>
      </p:sp>
      <p:sp>
        <p:nvSpPr>
          <p:cNvPr id="25" name="TextBox 24"/>
          <p:cNvSpPr txBox="1"/>
          <p:nvPr/>
        </p:nvSpPr>
        <p:spPr>
          <a:xfrm>
            <a:off x="7071055" y="6419088"/>
            <a:ext cx="3657600" cy="237744"/>
          </a:xfrm>
          <a:prstGeom prst="rect">
            <a:avLst/>
          </a:prstGeom>
          <a:noFill/>
        </p:spPr>
        <p:txBody>
          <a:bodyPr wrap="none" lIns="0" tIns="0" rIns="0" bIns="0" anchor="ctr">
            <a:spAutoFit/>
          </a:bodyPr>
          <a:lstStyle/>
          <a:p>
            <a:pPr algn="r">
              <a:lnSpc>
                <a:spcPct val="105000"/>
              </a:lnSpc>
              <a:spcAft>
                <a:spcPts val="0"/>
              </a:spcAft>
            </a:pPr>
            <a:r>
              <a:rPr sz="800" b="0" i="0" spc="80">
                <a:solidFill>
                  <a:srgbClr val="56657A"/>
                </a:solidFill>
                <a:latin typeface="Segoe UI Semibold"/>
              </a:rPr>
              <a:t>ABDUL KAUSAR</a:t>
            </a:r>
          </a:p>
        </p:txBody>
      </p:sp>
      <p:sp>
        <p:nvSpPr>
          <p:cNvPr id="26" name="TextBox 25"/>
          <p:cNvSpPr txBox="1"/>
          <p:nvPr/>
        </p:nvSpPr>
        <p:spPr>
          <a:xfrm>
            <a:off x="10911535" y="6419088"/>
            <a:ext cx="731520" cy="237744"/>
          </a:xfrm>
          <a:prstGeom prst="rect">
            <a:avLst/>
          </a:prstGeom>
          <a:noFill/>
        </p:spPr>
        <p:txBody>
          <a:bodyPr wrap="square" lIns="0" tIns="0" rIns="0" bIns="0" anchor="t">
            <a:spAutoFit/>
          </a:bodyPr>
          <a:lstStyle/>
          <a:p>
            <a:pPr algn="r">
              <a:lnSpc>
                <a:spcPct val="105000"/>
              </a:lnSpc>
              <a:spcAft>
                <a:spcPts val="0"/>
              </a:spcAft>
            </a:pPr>
            <a:r>
              <a:rPr sz="900" b="0" i="0">
                <a:solidFill>
                  <a:srgbClr val="98A3B3"/>
                </a:solidFill>
                <a:latin typeface="Segoe UI"/>
              </a:rPr>
              <a:t>18</a:t>
            </a:r>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82880"/>
            <a:ext cx="95234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DATA CENTER</a:t>
            </a:r>
          </a:p>
        </p:txBody>
      </p:sp>
      <p:sp>
        <p:nvSpPr>
          <p:cNvPr id="3" name="TextBox 2"/>
          <p:cNvSpPr txBox="1"/>
          <p:nvPr/>
        </p:nvSpPr>
        <p:spPr>
          <a:xfrm>
            <a:off x="1409543"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4" name="TextBox 3"/>
          <p:cNvSpPr txBox="1"/>
          <p:nvPr/>
        </p:nvSpPr>
        <p:spPr>
          <a:xfrm>
            <a:off x="1702151" y="182880"/>
            <a:ext cx="78485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INTERFACE</a:t>
            </a:r>
          </a:p>
        </p:txBody>
      </p:sp>
      <p:sp>
        <p:nvSpPr>
          <p:cNvPr id="5" name="TextBox 4"/>
          <p:cNvSpPr txBox="1"/>
          <p:nvPr/>
        </p:nvSpPr>
        <p:spPr>
          <a:xfrm>
            <a:off x="239556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6" name="TextBox 5"/>
          <p:cNvSpPr txBox="1"/>
          <p:nvPr/>
        </p:nvSpPr>
        <p:spPr>
          <a:xfrm>
            <a:off x="2688175" y="182880"/>
            <a:ext cx="724872"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CONTROL</a:t>
            </a:r>
          </a:p>
        </p:txBody>
      </p:sp>
      <p:sp>
        <p:nvSpPr>
          <p:cNvPr id="7" name="TextBox 6"/>
          <p:cNvSpPr txBox="1"/>
          <p:nvPr/>
        </p:nvSpPr>
        <p:spPr>
          <a:xfrm>
            <a:off x="3321608"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8" name="TextBox 7"/>
          <p:cNvSpPr txBox="1"/>
          <p:nvPr/>
        </p:nvSpPr>
        <p:spPr>
          <a:xfrm>
            <a:off x="3614216" y="182880"/>
            <a:ext cx="115377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COMMISSIONING</a:t>
            </a:r>
          </a:p>
        </p:txBody>
      </p:sp>
      <p:sp>
        <p:nvSpPr>
          <p:cNvPr id="9" name="TextBox 8"/>
          <p:cNvSpPr txBox="1"/>
          <p:nvPr/>
        </p:nvSpPr>
        <p:spPr>
          <a:xfrm>
            <a:off x="4676549"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0" name="TextBox 9"/>
          <p:cNvSpPr txBox="1"/>
          <p:nvPr/>
        </p:nvSpPr>
        <p:spPr>
          <a:xfrm>
            <a:off x="4969157" y="182880"/>
            <a:ext cx="945555"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MONITORING</a:t>
            </a:r>
          </a:p>
        </p:txBody>
      </p:sp>
      <p:sp>
        <p:nvSpPr>
          <p:cNvPr id="11" name="TextBox 10"/>
          <p:cNvSpPr txBox="1"/>
          <p:nvPr/>
        </p:nvSpPr>
        <p:spPr>
          <a:xfrm>
            <a:off x="582327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2" name="TextBox 11"/>
          <p:cNvSpPr txBox="1"/>
          <p:nvPr/>
        </p:nvSpPr>
        <p:spPr>
          <a:xfrm>
            <a:off x="6115879" y="182880"/>
            <a:ext cx="63679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REALITA</a:t>
            </a:r>
          </a:p>
        </p:txBody>
      </p:sp>
      <p:sp>
        <p:nvSpPr>
          <p:cNvPr id="13" name="TextBox 12"/>
          <p:cNvSpPr txBox="1"/>
          <p:nvPr/>
        </p:nvSpPr>
        <p:spPr>
          <a:xfrm>
            <a:off x="6661235"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4" name="TextBox 13"/>
          <p:cNvSpPr txBox="1"/>
          <p:nvPr/>
        </p:nvSpPr>
        <p:spPr>
          <a:xfrm>
            <a:off x="6953843" y="182880"/>
            <a:ext cx="821309"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1F5BD8"/>
                </a:solidFill>
                <a:latin typeface="Segoe UI Semibold"/>
              </a:rPr>
              <a:t>INFORMASI</a:t>
            </a:r>
          </a:p>
        </p:txBody>
      </p:sp>
      <p:sp>
        <p:nvSpPr>
          <p:cNvPr id="15" name="Rectangle 14"/>
          <p:cNvSpPr/>
          <p:nvPr/>
        </p:nvSpPr>
        <p:spPr>
          <a:xfrm>
            <a:off x="6953843" y="420624"/>
            <a:ext cx="638429" cy="32004"/>
          </a:xfrm>
          <a:prstGeom prst="rect">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683712"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7" name="TextBox 16"/>
          <p:cNvSpPr txBox="1"/>
          <p:nvPr/>
        </p:nvSpPr>
        <p:spPr>
          <a:xfrm>
            <a:off x="7976320" y="182880"/>
            <a:ext cx="899541"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KNOWLEDGE</a:t>
            </a:r>
          </a:p>
        </p:txBody>
      </p:sp>
      <p:sp>
        <p:nvSpPr>
          <p:cNvPr id="18" name="TextBox 17"/>
          <p:cNvSpPr txBox="1"/>
          <p:nvPr/>
        </p:nvSpPr>
        <p:spPr>
          <a:xfrm>
            <a:off x="878442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9" name="TextBox 18"/>
          <p:cNvSpPr txBox="1"/>
          <p:nvPr/>
        </p:nvSpPr>
        <p:spPr>
          <a:xfrm>
            <a:off x="9077029" y="182880"/>
            <a:ext cx="733298"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OBSIDIAN</a:t>
            </a:r>
          </a:p>
        </p:txBody>
      </p:sp>
      <p:sp>
        <p:nvSpPr>
          <p:cNvPr id="20" name="TextBox 19"/>
          <p:cNvSpPr txBox="1"/>
          <p:nvPr/>
        </p:nvSpPr>
        <p:spPr>
          <a:xfrm>
            <a:off x="971888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21" name="TextBox 20"/>
          <p:cNvSpPr txBox="1"/>
          <p:nvPr/>
        </p:nvSpPr>
        <p:spPr>
          <a:xfrm>
            <a:off x="10011495" y="182880"/>
            <a:ext cx="297434"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AI</a:t>
            </a:r>
          </a:p>
        </p:txBody>
      </p:sp>
      <p:sp>
        <p:nvSpPr>
          <p:cNvPr id="22" name="!!title"/>
          <p:cNvSpPr txBox="1"/>
          <p:nvPr/>
        </p:nvSpPr>
        <p:spPr>
          <a:xfrm>
            <a:off x="548640" y="566928"/>
            <a:ext cx="11094415" cy="841248"/>
          </a:xfrm>
          <a:prstGeom prst="rect">
            <a:avLst/>
          </a:prstGeom>
          <a:noFill/>
        </p:spPr>
        <p:txBody>
          <a:bodyPr wrap="square" lIns="0" tIns="0" rIns="0" bIns="0" anchor="b">
            <a:spAutoFit/>
          </a:bodyPr>
          <a:lstStyle/>
          <a:p>
            <a:pPr algn="l">
              <a:lnSpc>
                <a:spcPct val="95000"/>
              </a:lnSpc>
              <a:spcAft>
                <a:spcPts val="0"/>
              </a:spcAft>
            </a:pPr>
            <a:r>
              <a:rPr sz="2800" b="0" i="0">
                <a:solidFill>
                  <a:srgbClr val="0B1F33"/>
                </a:solidFill>
                <a:latin typeface="Georgia"/>
              </a:rPr>
              <a:t>The real challenge: finding the right information at the right time</a:t>
            </a:r>
          </a:p>
        </p:txBody>
      </p:sp>
      <p:cxnSp>
        <p:nvCxnSpPr>
          <p:cNvPr id="23" name="Connector 22"/>
          <p:cNvCxnSpPr/>
          <p:nvPr/>
        </p:nvCxnSpPr>
        <p:spPr>
          <a:xfrm>
            <a:off x="548640" y="1517904"/>
            <a:ext cx="11094415" cy="0"/>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48640" y="1837944"/>
            <a:ext cx="4572000" cy="237744"/>
          </a:xfrm>
          <a:prstGeom prst="rect">
            <a:avLst/>
          </a:prstGeom>
          <a:noFill/>
        </p:spPr>
        <p:txBody>
          <a:bodyPr wrap="none" lIns="0" tIns="0" rIns="0" bIns="0" anchor="ctr">
            <a:spAutoFit/>
          </a:bodyPr>
          <a:lstStyle/>
          <a:p>
            <a:pPr algn="l">
              <a:lnSpc>
                <a:spcPct val="105000"/>
              </a:lnSpc>
              <a:spcAft>
                <a:spcPts val="0"/>
              </a:spcAft>
            </a:pPr>
            <a:r>
              <a:rPr sz="850" b="0" i="0" spc="80">
                <a:solidFill>
                  <a:srgbClr val="56657A"/>
                </a:solidFill>
                <a:latin typeface="Segoe UI Semibold"/>
              </a:rPr>
              <a:t>DOKUMEN &amp; SISTEM</a:t>
            </a:r>
          </a:p>
        </p:txBody>
      </p:sp>
      <p:sp>
        <p:nvSpPr>
          <p:cNvPr id="25" name="!!fr00"/>
          <p:cNvSpPr/>
          <p:nvPr/>
        </p:nvSpPr>
        <p:spPr>
          <a:xfrm>
            <a:off x="548640" y="2148840"/>
            <a:ext cx="2057400" cy="1024128"/>
          </a:xfrm>
          <a:prstGeom prst="roundRect">
            <a:avLst>
              <a:gd name="adj" fmla="val 7142"/>
            </a:avLst>
          </a:prstGeom>
          <a:solidFill>
            <a:srgbClr val="F3F5F8"/>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fd00d"/>
          <p:cNvSpPr/>
          <p:nvPr/>
        </p:nvSpPr>
        <p:spPr>
          <a:xfrm>
            <a:off x="704088" y="2286000"/>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fd00i" descr="E787-98A3B3.png"/>
          <p:cNvPicPr>
            <a:picLocks noChangeAspect="1"/>
          </p:cNvPicPr>
          <p:nvPr/>
        </p:nvPicPr>
        <p:blipFill>
          <a:blip r:embed="rId3"/>
          <a:stretch>
            <a:fillRect/>
          </a:stretch>
        </p:blipFill>
        <p:spPr>
          <a:xfrm>
            <a:off x="818388" y="2400300"/>
            <a:ext cx="228600" cy="228600"/>
          </a:xfrm>
          <a:prstGeom prst="rect">
            <a:avLst/>
          </a:prstGeom>
        </p:spPr>
      </p:pic>
      <p:sp>
        <p:nvSpPr>
          <p:cNvPr id="28" name="TextBox 27"/>
          <p:cNvSpPr txBox="1"/>
          <p:nvPr/>
        </p:nvSpPr>
        <p:spPr>
          <a:xfrm>
            <a:off x="713232" y="2807208"/>
            <a:ext cx="1783080" cy="292608"/>
          </a:xfrm>
          <a:prstGeom prst="rect">
            <a:avLst/>
          </a:prstGeom>
          <a:noFill/>
        </p:spPr>
        <p:txBody>
          <a:bodyPr wrap="none" lIns="0" tIns="0" rIns="0" bIns="0" anchor="ctr">
            <a:spAutoFit/>
          </a:bodyPr>
          <a:lstStyle/>
          <a:p>
            <a:pPr algn="l">
              <a:lnSpc>
                <a:spcPct val="105000"/>
              </a:lnSpc>
              <a:spcAft>
                <a:spcPts val="0"/>
              </a:spcAft>
            </a:pPr>
            <a:r>
              <a:rPr sz="1250" b="0" i="0">
                <a:solidFill>
                  <a:srgbClr val="98A3B3"/>
                </a:solidFill>
                <a:latin typeface="Segoe UI Semibold"/>
              </a:rPr>
              <a:t>Schedule P6</a:t>
            </a:r>
          </a:p>
        </p:txBody>
      </p:sp>
      <p:sp>
        <p:nvSpPr>
          <p:cNvPr id="29" name="!!fr01"/>
          <p:cNvSpPr/>
          <p:nvPr/>
        </p:nvSpPr>
        <p:spPr>
          <a:xfrm>
            <a:off x="2807894" y="2148840"/>
            <a:ext cx="2057400" cy="1024128"/>
          </a:xfrm>
          <a:prstGeom prst="roundRect">
            <a:avLst>
              <a:gd name="adj" fmla="val 7142"/>
            </a:avLst>
          </a:prstGeom>
          <a:solidFill>
            <a:srgbClr val="F3F5F8"/>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fd01d"/>
          <p:cNvSpPr/>
          <p:nvPr/>
        </p:nvSpPr>
        <p:spPr>
          <a:xfrm>
            <a:off x="2963342" y="2286000"/>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fd01i" descr="E80A-98A3B3.png"/>
          <p:cNvPicPr>
            <a:picLocks noChangeAspect="1"/>
          </p:cNvPicPr>
          <p:nvPr/>
        </p:nvPicPr>
        <p:blipFill>
          <a:blip r:embed="rId4"/>
          <a:stretch>
            <a:fillRect/>
          </a:stretch>
        </p:blipFill>
        <p:spPr>
          <a:xfrm>
            <a:off x="3077642" y="2400300"/>
            <a:ext cx="228600" cy="228600"/>
          </a:xfrm>
          <a:prstGeom prst="rect">
            <a:avLst/>
          </a:prstGeom>
        </p:spPr>
      </p:pic>
      <p:sp>
        <p:nvSpPr>
          <p:cNvPr id="32" name="TextBox 31"/>
          <p:cNvSpPr txBox="1"/>
          <p:nvPr/>
        </p:nvSpPr>
        <p:spPr>
          <a:xfrm>
            <a:off x="2972486" y="2807208"/>
            <a:ext cx="1783080" cy="292608"/>
          </a:xfrm>
          <a:prstGeom prst="rect">
            <a:avLst/>
          </a:prstGeom>
          <a:noFill/>
        </p:spPr>
        <p:txBody>
          <a:bodyPr wrap="none" lIns="0" tIns="0" rIns="0" bIns="0" anchor="ctr">
            <a:spAutoFit/>
          </a:bodyPr>
          <a:lstStyle/>
          <a:p>
            <a:pPr algn="l">
              <a:lnSpc>
                <a:spcPct val="105000"/>
              </a:lnSpc>
              <a:spcAft>
                <a:spcPts val="0"/>
              </a:spcAft>
            </a:pPr>
            <a:r>
              <a:rPr sz="1250" b="0" i="0">
                <a:solidFill>
                  <a:srgbClr val="98A3B3"/>
                </a:solidFill>
                <a:latin typeface="Segoe UI Semibold"/>
              </a:rPr>
              <a:t>Tracker Excel</a:t>
            </a:r>
          </a:p>
        </p:txBody>
      </p:sp>
      <p:sp>
        <p:nvSpPr>
          <p:cNvPr id="33" name="!!fr02"/>
          <p:cNvSpPr/>
          <p:nvPr/>
        </p:nvSpPr>
        <p:spPr>
          <a:xfrm>
            <a:off x="5067148" y="2148840"/>
            <a:ext cx="2057400" cy="1024128"/>
          </a:xfrm>
          <a:prstGeom prst="roundRect">
            <a:avLst>
              <a:gd name="adj" fmla="val 7142"/>
            </a:avLst>
          </a:prstGeom>
          <a:solidFill>
            <a:srgbClr val="F3F5F8"/>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fd02d"/>
          <p:cNvSpPr/>
          <p:nvPr/>
        </p:nvSpPr>
        <p:spPr>
          <a:xfrm>
            <a:off x="5222596" y="2286000"/>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fd02i" descr="E8B9-98A3B3.png"/>
          <p:cNvPicPr>
            <a:picLocks noChangeAspect="1"/>
          </p:cNvPicPr>
          <p:nvPr/>
        </p:nvPicPr>
        <p:blipFill>
          <a:blip r:embed="rId5"/>
          <a:stretch>
            <a:fillRect/>
          </a:stretch>
        </p:blipFill>
        <p:spPr>
          <a:xfrm>
            <a:off x="5336896" y="2400300"/>
            <a:ext cx="228600" cy="228600"/>
          </a:xfrm>
          <a:prstGeom prst="rect">
            <a:avLst/>
          </a:prstGeom>
        </p:spPr>
      </p:pic>
      <p:sp>
        <p:nvSpPr>
          <p:cNvPr id="36" name="TextBox 35"/>
          <p:cNvSpPr txBox="1"/>
          <p:nvPr/>
        </p:nvSpPr>
        <p:spPr>
          <a:xfrm>
            <a:off x="5231740" y="2807208"/>
            <a:ext cx="1783080" cy="292608"/>
          </a:xfrm>
          <a:prstGeom prst="rect">
            <a:avLst/>
          </a:prstGeom>
          <a:noFill/>
        </p:spPr>
        <p:txBody>
          <a:bodyPr wrap="none" lIns="0" tIns="0" rIns="0" bIns="0" anchor="ctr">
            <a:spAutoFit/>
          </a:bodyPr>
          <a:lstStyle/>
          <a:p>
            <a:pPr algn="l">
              <a:lnSpc>
                <a:spcPct val="105000"/>
              </a:lnSpc>
              <a:spcAft>
                <a:spcPts val="0"/>
              </a:spcAft>
            </a:pPr>
            <a:r>
              <a:rPr sz="1250" b="0" i="0">
                <a:solidFill>
                  <a:srgbClr val="98A3B3"/>
                </a:solidFill>
                <a:latin typeface="Segoe UI Semibold"/>
              </a:rPr>
              <a:t>Drawing</a:t>
            </a:r>
          </a:p>
        </p:txBody>
      </p:sp>
      <p:sp>
        <p:nvSpPr>
          <p:cNvPr id="37" name="!!fr03"/>
          <p:cNvSpPr/>
          <p:nvPr/>
        </p:nvSpPr>
        <p:spPr>
          <a:xfrm>
            <a:off x="7326401" y="2148840"/>
            <a:ext cx="2057400" cy="1024128"/>
          </a:xfrm>
          <a:prstGeom prst="roundRect">
            <a:avLst>
              <a:gd name="adj" fmla="val 7142"/>
            </a:avLst>
          </a:prstGeom>
          <a:solidFill>
            <a:srgbClr val="F3F5F8"/>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fd03d"/>
          <p:cNvSpPr/>
          <p:nvPr/>
        </p:nvSpPr>
        <p:spPr>
          <a:xfrm>
            <a:off x="7481849" y="2286000"/>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fd03i" descr="E82D-98A3B3.png"/>
          <p:cNvPicPr>
            <a:picLocks noChangeAspect="1"/>
          </p:cNvPicPr>
          <p:nvPr/>
        </p:nvPicPr>
        <p:blipFill>
          <a:blip r:embed="rId6"/>
          <a:stretch>
            <a:fillRect/>
          </a:stretch>
        </p:blipFill>
        <p:spPr>
          <a:xfrm>
            <a:off x="7596149" y="2400300"/>
            <a:ext cx="228600" cy="228600"/>
          </a:xfrm>
          <a:prstGeom prst="rect">
            <a:avLst/>
          </a:prstGeom>
        </p:spPr>
      </p:pic>
      <p:sp>
        <p:nvSpPr>
          <p:cNvPr id="40" name="TextBox 39"/>
          <p:cNvSpPr txBox="1"/>
          <p:nvPr/>
        </p:nvSpPr>
        <p:spPr>
          <a:xfrm>
            <a:off x="7490993" y="2807208"/>
            <a:ext cx="1783080" cy="292608"/>
          </a:xfrm>
          <a:prstGeom prst="rect">
            <a:avLst/>
          </a:prstGeom>
          <a:noFill/>
        </p:spPr>
        <p:txBody>
          <a:bodyPr wrap="none" lIns="0" tIns="0" rIns="0" bIns="0" anchor="ctr">
            <a:spAutoFit/>
          </a:bodyPr>
          <a:lstStyle/>
          <a:p>
            <a:pPr algn="l">
              <a:lnSpc>
                <a:spcPct val="105000"/>
              </a:lnSpc>
              <a:spcAft>
                <a:spcPts val="0"/>
              </a:spcAft>
            </a:pPr>
            <a:r>
              <a:rPr sz="1250" b="0" i="0">
                <a:solidFill>
                  <a:srgbClr val="98A3B3"/>
                </a:solidFill>
                <a:latin typeface="Segoe UI Semibold"/>
              </a:rPr>
              <a:t>Spesifikasi</a:t>
            </a:r>
          </a:p>
        </p:txBody>
      </p:sp>
      <p:sp>
        <p:nvSpPr>
          <p:cNvPr id="41" name="!!fr04"/>
          <p:cNvSpPr/>
          <p:nvPr/>
        </p:nvSpPr>
        <p:spPr>
          <a:xfrm>
            <a:off x="9585655" y="2148840"/>
            <a:ext cx="2057400" cy="1024128"/>
          </a:xfrm>
          <a:prstGeom prst="roundRect">
            <a:avLst>
              <a:gd name="adj" fmla="val 7142"/>
            </a:avLst>
          </a:prstGeom>
          <a:solidFill>
            <a:srgbClr val="F3F5F8"/>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fd04d"/>
          <p:cNvSpPr/>
          <p:nvPr/>
        </p:nvSpPr>
        <p:spPr>
          <a:xfrm>
            <a:off x="9741103" y="2286000"/>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3" name="!!fd04i" descr="E8A5-98A3B3.png"/>
          <p:cNvPicPr>
            <a:picLocks noChangeAspect="1"/>
          </p:cNvPicPr>
          <p:nvPr/>
        </p:nvPicPr>
        <p:blipFill>
          <a:blip r:embed="rId7"/>
          <a:stretch>
            <a:fillRect/>
          </a:stretch>
        </p:blipFill>
        <p:spPr>
          <a:xfrm>
            <a:off x="9855403" y="2400300"/>
            <a:ext cx="228600" cy="228600"/>
          </a:xfrm>
          <a:prstGeom prst="rect">
            <a:avLst/>
          </a:prstGeom>
        </p:spPr>
      </p:pic>
      <p:sp>
        <p:nvSpPr>
          <p:cNvPr id="44" name="TextBox 43"/>
          <p:cNvSpPr txBox="1"/>
          <p:nvPr/>
        </p:nvSpPr>
        <p:spPr>
          <a:xfrm>
            <a:off x="9750247" y="2807208"/>
            <a:ext cx="1783080" cy="292608"/>
          </a:xfrm>
          <a:prstGeom prst="rect">
            <a:avLst/>
          </a:prstGeom>
          <a:noFill/>
        </p:spPr>
        <p:txBody>
          <a:bodyPr wrap="none" lIns="0" tIns="0" rIns="0" bIns="0" anchor="ctr">
            <a:spAutoFit/>
          </a:bodyPr>
          <a:lstStyle/>
          <a:p>
            <a:pPr algn="l">
              <a:lnSpc>
                <a:spcPct val="105000"/>
              </a:lnSpc>
              <a:spcAft>
                <a:spcPts val="0"/>
              </a:spcAft>
            </a:pPr>
            <a:r>
              <a:rPr sz="1250" b="0" i="0">
                <a:solidFill>
                  <a:srgbClr val="98A3B3"/>
                </a:solidFill>
                <a:latin typeface="Segoe UI Semibold"/>
              </a:rPr>
              <a:t>PDF</a:t>
            </a:r>
          </a:p>
        </p:txBody>
      </p:sp>
      <p:sp>
        <p:nvSpPr>
          <p:cNvPr id="45" name="TextBox 44"/>
          <p:cNvSpPr txBox="1"/>
          <p:nvPr/>
        </p:nvSpPr>
        <p:spPr>
          <a:xfrm>
            <a:off x="548640" y="4261104"/>
            <a:ext cx="4572000" cy="237744"/>
          </a:xfrm>
          <a:prstGeom prst="rect">
            <a:avLst/>
          </a:prstGeom>
          <a:noFill/>
        </p:spPr>
        <p:txBody>
          <a:bodyPr wrap="none" lIns="0" tIns="0" rIns="0" bIns="0" anchor="ctr">
            <a:spAutoFit/>
          </a:bodyPr>
          <a:lstStyle/>
          <a:p>
            <a:pPr algn="l">
              <a:lnSpc>
                <a:spcPct val="105000"/>
              </a:lnSpc>
              <a:spcAft>
                <a:spcPts val="0"/>
              </a:spcAft>
            </a:pPr>
            <a:r>
              <a:rPr sz="850" b="0" i="0" spc="80">
                <a:solidFill>
                  <a:srgbClr val="56657A"/>
                </a:solidFill>
                <a:latin typeface="Segoe UI Semibold"/>
              </a:rPr>
              <a:t>PERCAKAPAN &amp; INGATAN</a:t>
            </a:r>
          </a:p>
        </p:txBody>
      </p:sp>
      <p:sp>
        <p:nvSpPr>
          <p:cNvPr id="46" name="!!fr10"/>
          <p:cNvSpPr/>
          <p:nvPr/>
        </p:nvSpPr>
        <p:spPr>
          <a:xfrm>
            <a:off x="548640" y="4572000"/>
            <a:ext cx="2057400" cy="1024128"/>
          </a:xfrm>
          <a:prstGeom prst="roundRect">
            <a:avLst>
              <a:gd name="adj" fmla="val 7142"/>
            </a:avLst>
          </a:prstGeom>
          <a:solidFill>
            <a:srgbClr val="FFFFFF"/>
          </a:solidFill>
          <a:ln w="25400">
            <a:solidFill>
              <a:srgbClr val="1F5BD8"/>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fd10d"/>
          <p:cNvSpPr/>
          <p:nvPr/>
        </p:nvSpPr>
        <p:spPr>
          <a:xfrm>
            <a:off x="704088" y="4709160"/>
            <a:ext cx="457200" cy="457200"/>
          </a:xfrm>
          <a:prstGeom prst="ellipse">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8" name="!!fd10i" descr="EADF-FFFFFF.png"/>
          <p:cNvPicPr>
            <a:picLocks noChangeAspect="1"/>
          </p:cNvPicPr>
          <p:nvPr/>
        </p:nvPicPr>
        <p:blipFill>
          <a:blip r:embed="rId8"/>
          <a:stretch>
            <a:fillRect/>
          </a:stretch>
        </p:blipFill>
        <p:spPr>
          <a:xfrm>
            <a:off x="818388" y="4823460"/>
            <a:ext cx="228600" cy="228600"/>
          </a:xfrm>
          <a:prstGeom prst="rect">
            <a:avLst/>
          </a:prstGeom>
        </p:spPr>
      </p:pic>
      <p:sp>
        <p:nvSpPr>
          <p:cNvPr id="49" name="TextBox 48"/>
          <p:cNvSpPr txBox="1"/>
          <p:nvPr/>
        </p:nvSpPr>
        <p:spPr>
          <a:xfrm>
            <a:off x="713232" y="5230368"/>
            <a:ext cx="1783080" cy="292608"/>
          </a:xfrm>
          <a:prstGeom prst="rect">
            <a:avLst/>
          </a:prstGeom>
          <a:noFill/>
        </p:spPr>
        <p:txBody>
          <a:bodyPr wrap="none" lIns="0" tIns="0" rIns="0" bIns="0" anchor="ctr">
            <a:spAutoFit/>
          </a:bodyPr>
          <a:lstStyle/>
          <a:p>
            <a:pPr algn="l">
              <a:lnSpc>
                <a:spcPct val="105000"/>
              </a:lnSpc>
              <a:spcAft>
                <a:spcPts val="0"/>
              </a:spcAft>
            </a:pPr>
            <a:r>
              <a:rPr sz="1250" b="0" i="0">
                <a:solidFill>
                  <a:srgbClr val="0B1F33"/>
                </a:solidFill>
                <a:latin typeface="Segoe UI Semibold"/>
              </a:rPr>
              <a:t>Notulen rapat</a:t>
            </a:r>
          </a:p>
        </p:txBody>
      </p:sp>
      <p:sp>
        <p:nvSpPr>
          <p:cNvPr id="50" name="Rounded Rectangle 49"/>
          <p:cNvSpPr/>
          <p:nvPr/>
        </p:nvSpPr>
        <p:spPr>
          <a:xfrm>
            <a:off x="1093724" y="4681728"/>
            <a:ext cx="1402588" cy="256032"/>
          </a:xfrm>
          <a:prstGeom prst="roundRect">
            <a:avLst>
              <a:gd name="adj" fmla="val 50000"/>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240028" y="4681728"/>
            <a:ext cx="1402588" cy="256032"/>
          </a:xfrm>
          <a:prstGeom prst="rect">
            <a:avLst/>
          </a:prstGeom>
          <a:noFill/>
        </p:spPr>
        <p:txBody>
          <a:bodyPr wrap="none" lIns="0" tIns="0" rIns="0" bIns="0" anchor="ctr">
            <a:spAutoFit/>
          </a:bodyPr>
          <a:lstStyle/>
          <a:p>
            <a:pPr algn="l">
              <a:lnSpc>
                <a:spcPct val="105000"/>
              </a:lnSpc>
              <a:spcAft>
                <a:spcPts val="0"/>
              </a:spcAft>
            </a:pPr>
            <a:r>
              <a:rPr sz="900" b="0" i="0">
                <a:solidFill>
                  <a:srgbClr val="FFFFFF"/>
                </a:solidFill>
                <a:latin typeface="Segoe UI Semibold"/>
              </a:rPr>
              <a:t>Dibutuhkan sekarang</a:t>
            </a:r>
          </a:p>
        </p:txBody>
      </p:sp>
      <p:sp>
        <p:nvSpPr>
          <p:cNvPr id="52" name="!!fr11"/>
          <p:cNvSpPr/>
          <p:nvPr/>
        </p:nvSpPr>
        <p:spPr>
          <a:xfrm>
            <a:off x="2807894" y="4572000"/>
            <a:ext cx="2057400" cy="1024128"/>
          </a:xfrm>
          <a:prstGeom prst="roundRect">
            <a:avLst>
              <a:gd name="adj" fmla="val 7142"/>
            </a:avLst>
          </a:prstGeom>
          <a:solidFill>
            <a:srgbClr val="F3F5F8"/>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fd11d"/>
          <p:cNvSpPr/>
          <p:nvPr/>
        </p:nvSpPr>
        <p:spPr>
          <a:xfrm>
            <a:off x="2963342" y="4709160"/>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4" name="!!fd11i" descr="E716-98A3B3.png"/>
          <p:cNvPicPr>
            <a:picLocks noChangeAspect="1"/>
          </p:cNvPicPr>
          <p:nvPr/>
        </p:nvPicPr>
        <p:blipFill>
          <a:blip r:embed="rId9"/>
          <a:stretch>
            <a:fillRect/>
          </a:stretch>
        </p:blipFill>
        <p:spPr>
          <a:xfrm>
            <a:off x="3077642" y="4823460"/>
            <a:ext cx="228600" cy="228600"/>
          </a:xfrm>
          <a:prstGeom prst="rect">
            <a:avLst/>
          </a:prstGeom>
        </p:spPr>
      </p:pic>
      <p:sp>
        <p:nvSpPr>
          <p:cNvPr id="55" name="TextBox 54"/>
          <p:cNvSpPr txBox="1"/>
          <p:nvPr/>
        </p:nvSpPr>
        <p:spPr>
          <a:xfrm>
            <a:off x="2972486" y="5230368"/>
            <a:ext cx="1783080" cy="292608"/>
          </a:xfrm>
          <a:prstGeom prst="rect">
            <a:avLst/>
          </a:prstGeom>
          <a:noFill/>
        </p:spPr>
        <p:txBody>
          <a:bodyPr wrap="none" lIns="0" tIns="0" rIns="0" bIns="0" anchor="ctr">
            <a:spAutoFit/>
          </a:bodyPr>
          <a:lstStyle/>
          <a:p>
            <a:pPr algn="l">
              <a:lnSpc>
                <a:spcPct val="105000"/>
              </a:lnSpc>
              <a:spcAft>
                <a:spcPts val="0"/>
              </a:spcAft>
            </a:pPr>
            <a:r>
              <a:rPr sz="1250" b="0" i="0">
                <a:solidFill>
                  <a:srgbClr val="98A3B3"/>
                </a:solidFill>
                <a:latin typeface="Segoe UI Semibold"/>
              </a:rPr>
              <a:t>Diskusi</a:t>
            </a:r>
          </a:p>
        </p:txBody>
      </p:sp>
      <p:sp>
        <p:nvSpPr>
          <p:cNvPr id="56" name="!!fr12"/>
          <p:cNvSpPr/>
          <p:nvPr/>
        </p:nvSpPr>
        <p:spPr>
          <a:xfrm>
            <a:off x="5067148" y="4572000"/>
            <a:ext cx="2057400" cy="1024128"/>
          </a:xfrm>
          <a:prstGeom prst="roundRect">
            <a:avLst>
              <a:gd name="adj" fmla="val 7142"/>
            </a:avLst>
          </a:prstGeom>
          <a:solidFill>
            <a:srgbClr val="F3F5F8"/>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fd12d"/>
          <p:cNvSpPr/>
          <p:nvPr/>
        </p:nvSpPr>
        <p:spPr>
          <a:xfrm>
            <a:off x="5222596" y="4709160"/>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8" name="!!fd12i" descr="E715-98A3B3.png"/>
          <p:cNvPicPr>
            <a:picLocks noChangeAspect="1"/>
          </p:cNvPicPr>
          <p:nvPr/>
        </p:nvPicPr>
        <p:blipFill>
          <a:blip r:embed="rId10"/>
          <a:stretch>
            <a:fillRect/>
          </a:stretch>
        </p:blipFill>
        <p:spPr>
          <a:xfrm>
            <a:off x="5336896" y="4823460"/>
            <a:ext cx="228600" cy="228600"/>
          </a:xfrm>
          <a:prstGeom prst="rect">
            <a:avLst/>
          </a:prstGeom>
        </p:spPr>
      </p:pic>
      <p:sp>
        <p:nvSpPr>
          <p:cNvPr id="59" name="TextBox 58"/>
          <p:cNvSpPr txBox="1"/>
          <p:nvPr/>
        </p:nvSpPr>
        <p:spPr>
          <a:xfrm>
            <a:off x="5231740" y="5230368"/>
            <a:ext cx="1783080" cy="292608"/>
          </a:xfrm>
          <a:prstGeom prst="rect">
            <a:avLst/>
          </a:prstGeom>
          <a:noFill/>
        </p:spPr>
        <p:txBody>
          <a:bodyPr wrap="none" lIns="0" tIns="0" rIns="0" bIns="0" anchor="ctr">
            <a:spAutoFit/>
          </a:bodyPr>
          <a:lstStyle/>
          <a:p>
            <a:pPr algn="l">
              <a:lnSpc>
                <a:spcPct val="105000"/>
              </a:lnSpc>
              <a:spcAft>
                <a:spcPts val="0"/>
              </a:spcAft>
            </a:pPr>
            <a:r>
              <a:rPr sz="1250" b="0" i="0">
                <a:solidFill>
                  <a:srgbClr val="98A3B3"/>
                </a:solidFill>
                <a:latin typeface="Segoe UI Semibold"/>
              </a:rPr>
              <a:t>Email</a:t>
            </a:r>
          </a:p>
        </p:txBody>
      </p:sp>
      <p:sp>
        <p:nvSpPr>
          <p:cNvPr id="60" name="!!fr13"/>
          <p:cNvSpPr/>
          <p:nvPr/>
        </p:nvSpPr>
        <p:spPr>
          <a:xfrm>
            <a:off x="7326401" y="4572000"/>
            <a:ext cx="2057400" cy="1024128"/>
          </a:xfrm>
          <a:prstGeom prst="roundRect">
            <a:avLst>
              <a:gd name="adj" fmla="val 7142"/>
            </a:avLst>
          </a:prstGeom>
          <a:solidFill>
            <a:srgbClr val="F3F5F8"/>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fd13d"/>
          <p:cNvSpPr/>
          <p:nvPr/>
        </p:nvSpPr>
        <p:spPr>
          <a:xfrm>
            <a:off x="7481849" y="4709160"/>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2" name="!!fd13i" descr="E8BD-98A3B3.png"/>
          <p:cNvPicPr>
            <a:picLocks noChangeAspect="1"/>
          </p:cNvPicPr>
          <p:nvPr/>
        </p:nvPicPr>
        <p:blipFill>
          <a:blip r:embed="rId11"/>
          <a:stretch>
            <a:fillRect/>
          </a:stretch>
        </p:blipFill>
        <p:spPr>
          <a:xfrm>
            <a:off x="7596149" y="4823460"/>
            <a:ext cx="228600" cy="228600"/>
          </a:xfrm>
          <a:prstGeom prst="rect">
            <a:avLst/>
          </a:prstGeom>
        </p:spPr>
      </p:pic>
      <p:sp>
        <p:nvSpPr>
          <p:cNvPr id="63" name="TextBox 62"/>
          <p:cNvSpPr txBox="1"/>
          <p:nvPr/>
        </p:nvSpPr>
        <p:spPr>
          <a:xfrm>
            <a:off x="7490993" y="5230368"/>
            <a:ext cx="1783080" cy="292608"/>
          </a:xfrm>
          <a:prstGeom prst="rect">
            <a:avLst/>
          </a:prstGeom>
          <a:noFill/>
        </p:spPr>
        <p:txBody>
          <a:bodyPr wrap="none" lIns="0" tIns="0" rIns="0" bIns="0" anchor="ctr">
            <a:spAutoFit/>
          </a:bodyPr>
          <a:lstStyle/>
          <a:p>
            <a:pPr algn="l">
              <a:lnSpc>
                <a:spcPct val="105000"/>
              </a:lnSpc>
              <a:spcAft>
                <a:spcPts val="0"/>
              </a:spcAft>
            </a:pPr>
            <a:r>
              <a:rPr sz="1250" b="0" i="0">
                <a:solidFill>
                  <a:srgbClr val="98A3B3"/>
                </a:solidFill>
                <a:latin typeface="Segoe UI Semibold"/>
              </a:rPr>
              <a:t>Chat</a:t>
            </a:r>
          </a:p>
        </p:txBody>
      </p:sp>
      <p:sp>
        <p:nvSpPr>
          <p:cNvPr id="64" name="!!fr14"/>
          <p:cNvSpPr/>
          <p:nvPr/>
        </p:nvSpPr>
        <p:spPr>
          <a:xfrm>
            <a:off x="9585655" y="4572000"/>
            <a:ext cx="2057400" cy="1024128"/>
          </a:xfrm>
          <a:prstGeom prst="roundRect">
            <a:avLst>
              <a:gd name="adj" fmla="val 7142"/>
            </a:avLst>
          </a:prstGeom>
          <a:solidFill>
            <a:srgbClr val="F3F5F8"/>
          </a:solidFill>
          <a:ln w="9525">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fd14d"/>
          <p:cNvSpPr/>
          <p:nvPr/>
        </p:nvSpPr>
        <p:spPr>
          <a:xfrm>
            <a:off x="9741103" y="4709160"/>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6" name="!!fd14i" descr="EA80-98A3B3.png"/>
          <p:cNvPicPr>
            <a:picLocks noChangeAspect="1"/>
          </p:cNvPicPr>
          <p:nvPr/>
        </p:nvPicPr>
        <p:blipFill>
          <a:blip r:embed="rId12"/>
          <a:stretch>
            <a:fillRect/>
          </a:stretch>
        </p:blipFill>
        <p:spPr>
          <a:xfrm>
            <a:off x="9855403" y="4823460"/>
            <a:ext cx="228600" cy="228600"/>
          </a:xfrm>
          <a:prstGeom prst="rect">
            <a:avLst/>
          </a:prstGeom>
        </p:spPr>
      </p:pic>
      <p:sp>
        <p:nvSpPr>
          <p:cNvPr id="67" name="TextBox 66"/>
          <p:cNvSpPr txBox="1"/>
          <p:nvPr/>
        </p:nvSpPr>
        <p:spPr>
          <a:xfrm>
            <a:off x="9750247" y="5230368"/>
            <a:ext cx="1783080" cy="292608"/>
          </a:xfrm>
          <a:prstGeom prst="rect">
            <a:avLst/>
          </a:prstGeom>
          <a:noFill/>
        </p:spPr>
        <p:txBody>
          <a:bodyPr wrap="none" lIns="0" tIns="0" rIns="0" bIns="0" anchor="ctr">
            <a:spAutoFit/>
          </a:bodyPr>
          <a:lstStyle/>
          <a:p>
            <a:pPr algn="l">
              <a:lnSpc>
                <a:spcPct val="105000"/>
              </a:lnSpc>
              <a:spcAft>
                <a:spcPts val="0"/>
              </a:spcAft>
            </a:pPr>
            <a:r>
              <a:rPr sz="1250" b="0" i="0">
                <a:solidFill>
                  <a:srgbClr val="98A3B3"/>
                </a:solidFill>
                <a:latin typeface="Segoe UI Semibold"/>
              </a:rPr>
              <a:t>Di kepala saya</a:t>
            </a:r>
          </a:p>
        </p:txBody>
      </p:sp>
      <p:sp>
        <p:nvSpPr>
          <p:cNvPr id="68" name="!!question"/>
          <p:cNvSpPr txBox="1"/>
          <p:nvPr/>
        </p:nvSpPr>
        <p:spPr>
          <a:xfrm>
            <a:off x="548640" y="3310128"/>
            <a:ext cx="11094415" cy="822960"/>
          </a:xfrm>
          <a:prstGeom prst="rect">
            <a:avLst/>
          </a:prstGeom>
          <a:noFill/>
        </p:spPr>
        <p:txBody>
          <a:bodyPr wrap="square" lIns="0" tIns="0" rIns="0" bIns="0" anchor="ctr">
            <a:spAutoFit/>
          </a:bodyPr>
          <a:lstStyle/>
          <a:p>
            <a:pPr algn="ctr">
              <a:lnSpc>
                <a:spcPct val="105000"/>
              </a:lnSpc>
              <a:spcAft>
                <a:spcPts val="0"/>
              </a:spcAft>
            </a:pPr>
            <a:r>
              <a:rPr sz="3000" b="0" i="1">
                <a:solidFill>
                  <a:srgbClr val="0B1F33"/>
                </a:solidFill>
                <a:latin typeface="Georgia"/>
              </a:rPr>
              <a:t>Informasi itu ada di mana, ya?</a:t>
            </a:r>
          </a:p>
        </p:txBody>
      </p:sp>
      <p:sp>
        <p:nvSpPr>
          <p:cNvPr id="69" name="TextBox 68"/>
          <p:cNvSpPr txBox="1"/>
          <p:nvPr/>
        </p:nvSpPr>
        <p:spPr>
          <a:xfrm>
            <a:off x="7071055" y="6419088"/>
            <a:ext cx="3657600" cy="237744"/>
          </a:xfrm>
          <a:prstGeom prst="rect">
            <a:avLst/>
          </a:prstGeom>
          <a:noFill/>
        </p:spPr>
        <p:txBody>
          <a:bodyPr wrap="none" lIns="0" tIns="0" rIns="0" bIns="0" anchor="ctr">
            <a:spAutoFit/>
          </a:bodyPr>
          <a:lstStyle/>
          <a:p>
            <a:pPr algn="r">
              <a:lnSpc>
                <a:spcPct val="105000"/>
              </a:lnSpc>
              <a:spcAft>
                <a:spcPts val="0"/>
              </a:spcAft>
            </a:pPr>
            <a:r>
              <a:rPr sz="800" b="0" i="0" spc="80">
                <a:solidFill>
                  <a:srgbClr val="56657A"/>
                </a:solidFill>
                <a:latin typeface="Segoe UI Semibold"/>
              </a:rPr>
              <a:t>ABDUL KAUSAR</a:t>
            </a:r>
          </a:p>
        </p:txBody>
      </p:sp>
      <p:sp>
        <p:nvSpPr>
          <p:cNvPr id="70" name="TextBox 69"/>
          <p:cNvSpPr txBox="1"/>
          <p:nvPr/>
        </p:nvSpPr>
        <p:spPr>
          <a:xfrm>
            <a:off x="10911535" y="6419088"/>
            <a:ext cx="731520" cy="237744"/>
          </a:xfrm>
          <a:prstGeom prst="rect">
            <a:avLst/>
          </a:prstGeom>
          <a:noFill/>
        </p:spPr>
        <p:txBody>
          <a:bodyPr wrap="square" lIns="0" tIns="0" rIns="0" bIns="0" anchor="t">
            <a:spAutoFit/>
          </a:bodyPr>
          <a:lstStyle/>
          <a:p>
            <a:pPr algn="r">
              <a:lnSpc>
                <a:spcPct val="105000"/>
              </a:lnSpc>
              <a:spcAft>
                <a:spcPts val="0"/>
              </a:spcAft>
            </a:pPr>
            <a:r>
              <a:rPr sz="900" b="0" i="0">
                <a:solidFill>
                  <a:srgbClr val="98A3B3"/>
                </a:solidFill>
                <a:latin typeface="Segoe UI"/>
              </a:rPr>
              <a:t>19</a:t>
            </a:r>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82880"/>
            <a:ext cx="95234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DATA CENTER</a:t>
            </a:r>
          </a:p>
        </p:txBody>
      </p:sp>
      <p:sp>
        <p:nvSpPr>
          <p:cNvPr id="3" name="TextBox 2"/>
          <p:cNvSpPr txBox="1"/>
          <p:nvPr/>
        </p:nvSpPr>
        <p:spPr>
          <a:xfrm>
            <a:off x="1409543"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4" name="TextBox 3"/>
          <p:cNvSpPr txBox="1"/>
          <p:nvPr/>
        </p:nvSpPr>
        <p:spPr>
          <a:xfrm>
            <a:off x="1702151" y="182880"/>
            <a:ext cx="78485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INTERFACE</a:t>
            </a:r>
          </a:p>
        </p:txBody>
      </p:sp>
      <p:sp>
        <p:nvSpPr>
          <p:cNvPr id="5" name="TextBox 4"/>
          <p:cNvSpPr txBox="1"/>
          <p:nvPr/>
        </p:nvSpPr>
        <p:spPr>
          <a:xfrm>
            <a:off x="239556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6" name="TextBox 5"/>
          <p:cNvSpPr txBox="1"/>
          <p:nvPr/>
        </p:nvSpPr>
        <p:spPr>
          <a:xfrm>
            <a:off x="2688175" y="182880"/>
            <a:ext cx="724872"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CONTROL</a:t>
            </a:r>
          </a:p>
        </p:txBody>
      </p:sp>
      <p:sp>
        <p:nvSpPr>
          <p:cNvPr id="7" name="TextBox 6"/>
          <p:cNvSpPr txBox="1"/>
          <p:nvPr/>
        </p:nvSpPr>
        <p:spPr>
          <a:xfrm>
            <a:off x="3321608"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8" name="TextBox 7"/>
          <p:cNvSpPr txBox="1"/>
          <p:nvPr/>
        </p:nvSpPr>
        <p:spPr>
          <a:xfrm>
            <a:off x="3614216" y="182880"/>
            <a:ext cx="115377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COMMISSIONING</a:t>
            </a:r>
          </a:p>
        </p:txBody>
      </p:sp>
      <p:sp>
        <p:nvSpPr>
          <p:cNvPr id="9" name="TextBox 8"/>
          <p:cNvSpPr txBox="1"/>
          <p:nvPr/>
        </p:nvSpPr>
        <p:spPr>
          <a:xfrm>
            <a:off x="4676549"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0" name="TextBox 9"/>
          <p:cNvSpPr txBox="1"/>
          <p:nvPr/>
        </p:nvSpPr>
        <p:spPr>
          <a:xfrm>
            <a:off x="4969157" y="182880"/>
            <a:ext cx="945555"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MONITORING</a:t>
            </a:r>
          </a:p>
        </p:txBody>
      </p:sp>
      <p:sp>
        <p:nvSpPr>
          <p:cNvPr id="11" name="TextBox 10"/>
          <p:cNvSpPr txBox="1"/>
          <p:nvPr/>
        </p:nvSpPr>
        <p:spPr>
          <a:xfrm>
            <a:off x="582327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2" name="TextBox 11"/>
          <p:cNvSpPr txBox="1"/>
          <p:nvPr/>
        </p:nvSpPr>
        <p:spPr>
          <a:xfrm>
            <a:off x="6115879" y="182880"/>
            <a:ext cx="63679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REALITA</a:t>
            </a:r>
          </a:p>
        </p:txBody>
      </p:sp>
      <p:sp>
        <p:nvSpPr>
          <p:cNvPr id="13" name="TextBox 12"/>
          <p:cNvSpPr txBox="1"/>
          <p:nvPr/>
        </p:nvSpPr>
        <p:spPr>
          <a:xfrm>
            <a:off x="6661235"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4" name="TextBox 13"/>
          <p:cNvSpPr txBox="1"/>
          <p:nvPr/>
        </p:nvSpPr>
        <p:spPr>
          <a:xfrm>
            <a:off x="6953843" y="182880"/>
            <a:ext cx="821309"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INFORMASI</a:t>
            </a:r>
          </a:p>
        </p:txBody>
      </p:sp>
      <p:sp>
        <p:nvSpPr>
          <p:cNvPr id="15" name="TextBox 14"/>
          <p:cNvSpPr txBox="1"/>
          <p:nvPr/>
        </p:nvSpPr>
        <p:spPr>
          <a:xfrm>
            <a:off x="7683712"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6" name="TextBox 15"/>
          <p:cNvSpPr txBox="1"/>
          <p:nvPr/>
        </p:nvSpPr>
        <p:spPr>
          <a:xfrm>
            <a:off x="7976320" y="182880"/>
            <a:ext cx="899541"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1F5BD8"/>
                </a:solidFill>
                <a:latin typeface="Segoe UI Semibold"/>
              </a:rPr>
              <a:t>KNOWLEDGE</a:t>
            </a:r>
          </a:p>
        </p:txBody>
      </p:sp>
      <p:sp>
        <p:nvSpPr>
          <p:cNvPr id="17" name="Rectangle 16"/>
          <p:cNvSpPr/>
          <p:nvPr/>
        </p:nvSpPr>
        <p:spPr>
          <a:xfrm>
            <a:off x="7976320" y="420624"/>
            <a:ext cx="716661" cy="32004"/>
          </a:xfrm>
          <a:prstGeom prst="rect">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78442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9" name="TextBox 18"/>
          <p:cNvSpPr txBox="1"/>
          <p:nvPr/>
        </p:nvSpPr>
        <p:spPr>
          <a:xfrm>
            <a:off x="9077029" y="182880"/>
            <a:ext cx="733298"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OBSIDIAN</a:t>
            </a:r>
          </a:p>
        </p:txBody>
      </p:sp>
      <p:sp>
        <p:nvSpPr>
          <p:cNvPr id="20" name="TextBox 19"/>
          <p:cNvSpPr txBox="1"/>
          <p:nvPr/>
        </p:nvSpPr>
        <p:spPr>
          <a:xfrm>
            <a:off x="971888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21" name="TextBox 20"/>
          <p:cNvSpPr txBox="1"/>
          <p:nvPr/>
        </p:nvSpPr>
        <p:spPr>
          <a:xfrm>
            <a:off x="10011495" y="182880"/>
            <a:ext cx="297434"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AI</a:t>
            </a:r>
          </a:p>
        </p:txBody>
      </p:sp>
      <p:sp>
        <p:nvSpPr>
          <p:cNvPr id="22" name="!!title"/>
          <p:cNvSpPr txBox="1"/>
          <p:nvPr/>
        </p:nvSpPr>
        <p:spPr>
          <a:xfrm>
            <a:off x="548640" y="566928"/>
            <a:ext cx="11094415" cy="841248"/>
          </a:xfrm>
          <a:prstGeom prst="rect">
            <a:avLst/>
          </a:prstGeom>
          <a:noFill/>
        </p:spPr>
        <p:txBody>
          <a:bodyPr wrap="square" lIns="0" tIns="0" rIns="0" bIns="0" anchor="b">
            <a:spAutoFit/>
          </a:bodyPr>
          <a:lstStyle/>
          <a:p>
            <a:pPr algn="l">
              <a:lnSpc>
                <a:spcPct val="95000"/>
              </a:lnSpc>
              <a:spcAft>
                <a:spcPts val="0"/>
              </a:spcAft>
            </a:pPr>
            <a:r>
              <a:rPr sz="2800" b="0" i="0">
                <a:solidFill>
                  <a:srgbClr val="0B1F33"/>
                </a:solidFill>
                <a:latin typeface="Georgia"/>
              </a:rPr>
              <a:t>Storing information is not the same as building knowledge</a:t>
            </a:r>
          </a:p>
        </p:txBody>
      </p:sp>
      <p:cxnSp>
        <p:nvCxnSpPr>
          <p:cNvPr id="23" name="Connector 22"/>
          <p:cNvCxnSpPr/>
          <p:nvPr/>
        </p:nvCxnSpPr>
        <p:spPr>
          <a:xfrm>
            <a:off x="548640" y="1517904"/>
            <a:ext cx="11094415" cy="0"/>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24" name="!!win"/>
          <p:cNvSpPr/>
          <p:nvPr/>
        </p:nvSpPr>
        <p:spPr>
          <a:xfrm>
            <a:off x="548640" y="1874520"/>
            <a:ext cx="3383280" cy="4251960"/>
          </a:xfrm>
          <a:prstGeom prst="roundRect">
            <a:avLst>
              <a:gd name="adj" fmla="val 2702"/>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winbar"/>
          <p:cNvSpPr/>
          <p:nvPr/>
        </p:nvSpPr>
        <p:spPr>
          <a:xfrm>
            <a:off x="557784" y="1883664"/>
            <a:ext cx="3364992" cy="310896"/>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13232" y="2002536"/>
            <a:ext cx="73152" cy="73152"/>
          </a:xfrm>
          <a:prstGeom prst="ellipse">
            <a:avLst/>
          </a:prstGeom>
          <a:solidFill>
            <a:srgbClr val="DDE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68680" y="2002536"/>
            <a:ext cx="73152" cy="73152"/>
          </a:xfrm>
          <a:prstGeom prst="ellipse">
            <a:avLst/>
          </a:prstGeom>
          <a:solidFill>
            <a:srgbClr val="DDE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024128" y="2002536"/>
            <a:ext cx="73152" cy="73152"/>
          </a:xfrm>
          <a:prstGeom prst="ellipse">
            <a:avLst/>
          </a:prstGeom>
          <a:solidFill>
            <a:srgbClr val="DDE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wint"/>
          <p:cNvSpPr txBox="1"/>
          <p:nvPr/>
        </p:nvSpPr>
        <p:spPr>
          <a:xfrm>
            <a:off x="1280160" y="1883664"/>
            <a:ext cx="2468880" cy="310896"/>
          </a:xfrm>
          <a:prstGeom prst="rect">
            <a:avLst/>
          </a:prstGeom>
          <a:noFill/>
        </p:spPr>
        <p:txBody>
          <a:bodyPr wrap="none" lIns="0" tIns="0" rIns="0" bIns="0" anchor="ctr">
            <a:spAutoFit/>
          </a:bodyPr>
          <a:lstStyle/>
          <a:p>
            <a:pPr algn="l">
              <a:lnSpc>
                <a:spcPct val="105000"/>
              </a:lnSpc>
              <a:spcAft>
                <a:spcPts val="0"/>
              </a:spcAft>
            </a:pPr>
            <a:r>
              <a:rPr sz="950" b="0" i="0">
                <a:solidFill>
                  <a:srgbClr val="56657A"/>
                </a:solidFill>
                <a:latin typeface="Segoe UI"/>
              </a:rPr>
              <a:t>File Explorer</a:t>
            </a:r>
          </a:p>
        </p:txBody>
      </p:sp>
      <p:pic>
        <p:nvPicPr>
          <p:cNvPr id="30" name="!!fi0" descr="E8B7-56657A.png"/>
          <p:cNvPicPr>
            <a:picLocks noChangeAspect="1"/>
          </p:cNvPicPr>
          <p:nvPr/>
        </p:nvPicPr>
        <p:blipFill>
          <a:blip r:embed="rId3"/>
          <a:stretch>
            <a:fillRect/>
          </a:stretch>
        </p:blipFill>
        <p:spPr>
          <a:xfrm>
            <a:off x="749808" y="2395728"/>
            <a:ext cx="237744" cy="237744"/>
          </a:xfrm>
          <a:prstGeom prst="rect">
            <a:avLst/>
          </a:prstGeom>
        </p:spPr>
      </p:pic>
      <p:sp>
        <p:nvSpPr>
          <p:cNvPr id="31" name="!!fo0"/>
          <p:cNvSpPr txBox="1"/>
          <p:nvPr/>
        </p:nvSpPr>
        <p:spPr>
          <a:xfrm>
            <a:off x="1097280" y="2359152"/>
            <a:ext cx="2651760" cy="310896"/>
          </a:xfrm>
          <a:prstGeom prst="rect">
            <a:avLst/>
          </a:prstGeom>
          <a:noFill/>
        </p:spPr>
        <p:txBody>
          <a:bodyPr wrap="square" lIns="0" tIns="0" rIns="0" bIns="0" anchor="ctr">
            <a:spAutoFit/>
          </a:bodyPr>
          <a:lstStyle/>
          <a:p>
            <a:pPr algn="l">
              <a:lnSpc>
                <a:spcPct val="105000"/>
              </a:lnSpc>
              <a:spcAft>
                <a:spcPts val="0"/>
              </a:spcAft>
            </a:pPr>
            <a:r>
              <a:rPr sz="1100" b="0" i="0">
                <a:solidFill>
                  <a:srgbClr val="0B1F33"/>
                </a:solidFill>
                <a:latin typeface="Segoe UI Semibold"/>
              </a:rPr>
              <a:t>Planning</a:t>
            </a:r>
          </a:p>
        </p:txBody>
      </p:sp>
      <p:pic>
        <p:nvPicPr>
          <p:cNvPr id="32" name="!!ki0" descr="E8A5-98A3B3.png"/>
          <p:cNvPicPr>
            <a:picLocks noChangeAspect="1"/>
          </p:cNvPicPr>
          <p:nvPr/>
        </p:nvPicPr>
        <p:blipFill>
          <a:blip r:embed="rId4"/>
          <a:stretch>
            <a:fillRect/>
          </a:stretch>
        </p:blipFill>
        <p:spPr>
          <a:xfrm>
            <a:off x="1179576" y="2743200"/>
            <a:ext cx="201168" cy="201168"/>
          </a:xfrm>
          <a:prstGeom prst="rect">
            <a:avLst/>
          </a:prstGeom>
        </p:spPr>
      </p:pic>
      <p:sp>
        <p:nvSpPr>
          <p:cNvPr id="33" name="!!k0"/>
          <p:cNvSpPr txBox="1"/>
          <p:nvPr/>
        </p:nvSpPr>
        <p:spPr>
          <a:xfrm>
            <a:off x="1508760" y="2697480"/>
            <a:ext cx="2240280" cy="292608"/>
          </a:xfrm>
          <a:prstGeom prst="rect">
            <a:avLst/>
          </a:prstGeom>
          <a:noFill/>
        </p:spPr>
        <p:txBody>
          <a:bodyPr wrap="none" lIns="0" tIns="0" rIns="0" bIns="0" anchor="ctr">
            <a:spAutoFit/>
          </a:bodyPr>
          <a:lstStyle/>
          <a:p>
            <a:pPr algn="l">
              <a:lnSpc>
                <a:spcPct val="105000"/>
              </a:lnSpc>
              <a:spcAft>
                <a:spcPts val="0"/>
              </a:spcAft>
            </a:pPr>
            <a:r>
              <a:rPr sz="1000" b="0" i="0">
                <a:solidFill>
                  <a:srgbClr val="56657A"/>
                </a:solidFill>
                <a:latin typeface="Consolas"/>
              </a:rPr>
              <a:t>critical-path.pdf</a:t>
            </a:r>
          </a:p>
        </p:txBody>
      </p:sp>
      <p:pic>
        <p:nvPicPr>
          <p:cNvPr id="34" name="!!ki1" descr="E80A-98A3B3.png"/>
          <p:cNvPicPr>
            <a:picLocks noChangeAspect="1"/>
          </p:cNvPicPr>
          <p:nvPr/>
        </p:nvPicPr>
        <p:blipFill>
          <a:blip r:embed="rId5"/>
          <a:stretch>
            <a:fillRect/>
          </a:stretch>
        </p:blipFill>
        <p:spPr>
          <a:xfrm>
            <a:off x="1179576" y="3063240"/>
            <a:ext cx="201168" cy="201168"/>
          </a:xfrm>
          <a:prstGeom prst="rect">
            <a:avLst/>
          </a:prstGeom>
        </p:spPr>
      </p:pic>
      <p:sp>
        <p:nvSpPr>
          <p:cNvPr id="35" name="!!k1"/>
          <p:cNvSpPr txBox="1"/>
          <p:nvPr/>
        </p:nvSpPr>
        <p:spPr>
          <a:xfrm>
            <a:off x="1508760" y="3017520"/>
            <a:ext cx="2240280" cy="292608"/>
          </a:xfrm>
          <a:prstGeom prst="rect">
            <a:avLst/>
          </a:prstGeom>
          <a:noFill/>
        </p:spPr>
        <p:txBody>
          <a:bodyPr wrap="none" lIns="0" tIns="0" rIns="0" bIns="0" anchor="ctr">
            <a:spAutoFit/>
          </a:bodyPr>
          <a:lstStyle/>
          <a:p>
            <a:pPr algn="l">
              <a:lnSpc>
                <a:spcPct val="105000"/>
              </a:lnSpc>
              <a:spcAft>
                <a:spcPts val="0"/>
              </a:spcAft>
            </a:pPr>
            <a:r>
              <a:rPr sz="1000" b="0" i="0">
                <a:solidFill>
                  <a:srgbClr val="56657A"/>
                </a:solidFill>
                <a:latin typeface="Consolas"/>
              </a:rPr>
              <a:t>float-notes.xlsx</a:t>
            </a:r>
          </a:p>
        </p:txBody>
      </p:sp>
      <p:pic>
        <p:nvPicPr>
          <p:cNvPr id="36" name="!!fi1" descr="E8B7-56657A.png"/>
          <p:cNvPicPr>
            <a:picLocks noChangeAspect="1"/>
          </p:cNvPicPr>
          <p:nvPr/>
        </p:nvPicPr>
        <p:blipFill>
          <a:blip r:embed="rId3"/>
          <a:stretch>
            <a:fillRect/>
          </a:stretch>
        </p:blipFill>
        <p:spPr>
          <a:xfrm>
            <a:off x="749808" y="3374136"/>
            <a:ext cx="237744" cy="237744"/>
          </a:xfrm>
          <a:prstGeom prst="rect">
            <a:avLst/>
          </a:prstGeom>
        </p:spPr>
      </p:pic>
      <p:sp>
        <p:nvSpPr>
          <p:cNvPr id="37" name="!!fo1"/>
          <p:cNvSpPr txBox="1"/>
          <p:nvPr/>
        </p:nvSpPr>
        <p:spPr>
          <a:xfrm>
            <a:off x="1097280" y="3337560"/>
            <a:ext cx="2651760" cy="310896"/>
          </a:xfrm>
          <a:prstGeom prst="rect">
            <a:avLst/>
          </a:prstGeom>
          <a:noFill/>
        </p:spPr>
        <p:txBody>
          <a:bodyPr wrap="square" lIns="0" tIns="0" rIns="0" bIns="0" anchor="ctr">
            <a:spAutoFit/>
          </a:bodyPr>
          <a:lstStyle/>
          <a:p>
            <a:pPr algn="l">
              <a:lnSpc>
                <a:spcPct val="105000"/>
              </a:lnSpc>
              <a:spcAft>
                <a:spcPts val="0"/>
              </a:spcAft>
            </a:pPr>
            <a:r>
              <a:rPr sz="1100" b="0" i="0">
                <a:solidFill>
                  <a:srgbClr val="0B1F33"/>
                </a:solidFill>
                <a:latin typeface="Segoe UI Semibold"/>
              </a:rPr>
              <a:t>Report</a:t>
            </a:r>
          </a:p>
        </p:txBody>
      </p:sp>
      <p:pic>
        <p:nvPicPr>
          <p:cNvPr id="38" name="!!ki2" descr="E8A5-98A3B3.png"/>
          <p:cNvPicPr>
            <a:picLocks noChangeAspect="1"/>
          </p:cNvPicPr>
          <p:nvPr/>
        </p:nvPicPr>
        <p:blipFill>
          <a:blip r:embed="rId4"/>
          <a:stretch>
            <a:fillRect/>
          </a:stretch>
        </p:blipFill>
        <p:spPr>
          <a:xfrm>
            <a:off x="1179576" y="3721608"/>
            <a:ext cx="201168" cy="201168"/>
          </a:xfrm>
          <a:prstGeom prst="rect">
            <a:avLst/>
          </a:prstGeom>
        </p:spPr>
      </p:pic>
      <p:sp>
        <p:nvSpPr>
          <p:cNvPr id="39" name="!!k2"/>
          <p:cNvSpPr txBox="1"/>
          <p:nvPr/>
        </p:nvSpPr>
        <p:spPr>
          <a:xfrm>
            <a:off x="1508760" y="3675888"/>
            <a:ext cx="2240280" cy="292608"/>
          </a:xfrm>
          <a:prstGeom prst="rect">
            <a:avLst/>
          </a:prstGeom>
          <a:noFill/>
        </p:spPr>
        <p:txBody>
          <a:bodyPr wrap="none" lIns="0" tIns="0" rIns="0" bIns="0" anchor="ctr">
            <a:spAutoFit/>
          </a:bodyPr>
          <a:lstStyle/>
          <a:p>
            <a:pPr algn="l">
              <a:lnSpc>
                <a:spcPct val="105000"/>
              </a:lnSpc>
              <a:spcAft>
                <a:spcPts val="0"/>
              </a:spcAft>
            </a:pPr>
            <a:r>
              <a:rPr sz="1000" b="0" i="0">
                <a:solidFill>
                  <a:srgbClr val="56657A"/>
                </a:solidFill>
                <a:latin typeface="Consolas"/>
              </a:rPr>
              <a:t>delay-report-w14.pdf</a:t>
            </a:r>
          </a:p>
        </p:txBody>
      </p:sp>
      <p:pic>
        <p:nvPicPr>
          <p:cNvPr id="40" name="!!ki3" descr="E8A5-98A3B3.png"/>
          <p:cNvPicPr>
            <a:picLocks noChangeAspect="1"/>
          </p:cNvPicPr>
          <p:nvPr/>
        </p:nvPicPr>
        <p:blipFill>
          <a:blip r:embed="rId4"/>
          <a:stretch>
            <a:fillRect/>
          </a:stretch>
        </p:blipFill>
        <p:spPr>
          <a:xfrm>
            <a:off x="1179576" y="4041648"/>
            <a:ext cx="201168" cy="201168"/>
          </a:xfrm>
          <a:prstGeom prst="rect">
            <a:avLst/>
          </a:prstGeom>
        </p:spPr>
      </p:pic>
      <p:sp>
        <p:nvSpPr>
          <p:cNvPr id="41" name="!!k3"/>
          <p:cNvSpPr txBox="1"/>
          <p:nvPr/>
        </p:nvSpPr>
        <p:spPr>
          <a:xfrm>
            <a:off x="1508760" y="3995928"/>
            <a:ext cx="2240280" cy="292608"/>
          </a:xfrm>
          <a:prstGeom prst="rect">
            <a:avLst/>
          </a:prstGeom>
          <a:noFill/>
        </p:spPr>
        <p:txBody>
          <a:bodyPr wrap="none" lIns="0" tIns="0" rIns="0" bIns="0" anchor="ctr">
            <a:spAutoFit/>
          </a:bodyPr>
          <a:lstStyle/>
          <a:p>
            <a:pPr algn="l">
              <a:lnSpc>
                <a:spcPct val="105000"/>
              </a:lnSpc>
              <a:spcAft>
                <a:spcPts val="0"/>
              </a:spcAft>
            </a:pPr>
            <a:r>
              <a:rPr sz="1000" b="0" i="0">
                <a:solidFill>
                  <a:srgbClr val="56657A"/>
                </a:solidFill>
                <a:latin typeface="Consolas"/>
              </a:rPr>
              <a:t>recovery-plan-v3.docx</a:t>
            </a:r>
          </a:p>
        </p:txBody>
      </p:sp>
      <p:pic>
        <p:nvPicPr>
          <p:cNvPr id="42" name="!!fi2" descr="E8B7-56657A.png"/>
          <p:cNvPicPr>
            <a:picLocks noChangeAspect="1"/>
          </p:cNvPicPr>
          <p:nvPr/>
        </p:nvPicPr>
        <p:blipFill>
          <a:blip r:embed="rId3"/>
          <a:stretch>
            <a:fillRect/>
          </a:stretch>
        </p:blipFill>
        <p:spPr>
          <a:xfrm>
            <a:off x="749808" y="4352544"/>
            <a:ext cx="237744" cy="237744"/>
          </a:xfrm>
          <a:prstGeom prst="rect">
            <a:avLst/>
          </a:prstGeom>
        </p:spPr>
      </p:pic>
      <p:sp>
        <p:nvSpPr>
          <p:cNvPr id="43" name="!!fo2"/>
          <p:cNvSpPr txBox="1"/>
          <p:nvPr/>
        </p:nvSpPr>
        <p:spPr>
          <a:xfrm>
            <a:off x="1097280" y="4315968"/>
            <a:ext cx="2651760" cy="310896"/>
          </a:xfrm>
          <a:prstGeom prst="rect">
            <a:avLst/>
          </a:prstGeom>
          <a:noFill/>
        </p:spPr>
        <p:txBody>
          <a:bodyPr wrap="square" lIns="0" tIns="0" rIns="0" bIns="0" anchor="ctr">
            <a:spAutoFit/>
          </a:bodyPr>
          <a:lstStyle/>
          <a:p>
            <a:pPr algn="l">
              <a:lnSpc>
                <a:spcPct val="105000"/>
              </a:lnSpc>
              <a:spcAft>
                <a:spcPts val="0"/>
              </a:spcAft>
            </a:pPr>
            <a:r>
              <a:rPr sz="1100" b="0" i="0">
                <a:solidFill>
                  <a:srgbClr val="0B1F33"/>
                </a:solidFill>
                <a:latin typeface="Segoe UI Semibold"/>
              </a:rPr>
              <a:t>Referensi</a:t>
            </a:r>
          </a:p>
        </p:txBody>
      </p:sp>
      <p:pic>
        <p:nvPicPr>
          <p:cNvPr id="44" name="!!ki4" descr="E8A5-98A3B3.png"/>
          <p:cNvPicPr>
            <a:picLocks noChangeAspect="1"/>
          </p:cNvPicPr>
          <p:nvPr/>
        </p:nvPicPr>
        <p:blipFill>
          <a:blip r:embed="rId4"/>
          <a:stretch>
            <a:fillRect/>
          </a:stretch>
        </p:blipFill>
        <p:spPr>
          <a:xfrm>
            <a:off x="1179576" y="4700016"/>
            <a:ext cx="201168" cy="201168"/>
          </a:xfrm>
          <a:prstGeom prst="rect">
            <a:avLst/>
          </a:prstGeom>
        </p:spPr>
      </p:pic>
      <p:sp>
        <p:nvSpPr>
          <p:cNvPr id="45" name="!!k4"/>
          <p:cNvSpPr txBox="1"/>
          <p:nvPr/>
        </p:nvSpPr>
        <p:spPr>
          <a:xfrm>
            <a:off x="1508760" y="4654296"/>
            <a:ext cx="2240280" cy="292608"/>
          </a:xfrm>
          <a:prstGeom prst="rect">
            <a:avLst/>
          </a:prstGeom>
          <a:noFill/>
        </p:spPr>
        <p:txBody>
          <a:bodyPr wrap="none" lIns="0" tIns="0" rIns="0" bIns="0" anchor="ctr">
            <a:spAutoFit/>
          </a:bodyPr>
          <a:lstStyle/>
          <a:p>
            <a:pPr algn="l">
              <a:lnSpc>
                <a:spcPct val="105000"/>
              </a:lnSpc>
              <a:spcAft>
                <a:spcPts val="0"/>
              </a:spcAft>
            </a:pPr>
            <a:r>
              <a:rPr sz="1000" b="0" i="0">
                <a:solidFill>
                  <a:srgbClr val="56657A"/>
                </a:solidFill>
                <a:latin typeface="Consolas"/>
              </a:rPr>
              <a:t>resourcing-guide.pdf</a:t>
            </a:r>
          </a:p>
        </p:txBody>
      </p:sp>
      <p:pic>
        <p:nvPicPr>
          <p:cNvPr id="46" name="!!ki5" descr="E8A5-98A3B3.png"/>
          <p:cNvPicPr>
            <a:picLocks noChangeAspect="1"/>
          </p:cNvPicPr>
          <p:nvPr/>
        </p:nvPicPr>
        <p:blipFill>
          <a:blip r:embed="rId4"/>
          <a:stretch>
            <a:fillRect/>
          </a:stretch>
        </p:blipFill>
        <p:spPr>
          <a:xfrm>
            <a:off x="1179576" y="5020056"/>
            <a:ext cx="201168" cy="201168"/>
          </a:xfrm>
          <a:prstGeom prst="rect">
            <a:avLst/>
          </a:prstGeom>
        </p:spPr>
      </p:pic>
      <p:sp>
        <p:nvSpPr>
          <p:cNvPr id="47" name="!!k5"/>
          <p:cNvSpPr txBox="1"/>
          <p:nvPr/>
        </p:nvSpPr>
        <p:spPr>
          <a:xfrm>
            <a:off x="1508760" y="4974336"/>
            <a:ext cx="2240280" cy="292608"/>
          </a:xfrm>
          <a:prstGeom prst="rect">
            <a:avLst/>
          </a:prstGeom>
          <a:noFill/>
        </p:spPr>
        <p:txBody>
          <a:bodyPr wrap="none" lIns="0" tIns="0" rIns="0" bIns="0" anchor="ctr">
            <a:spAutoFit/>
          </a:bodyPr>
          <a:lstStyle/>
          <a:p>
            <a:pPr algn="l">
              <a:lnSpc>
                <a:spcPct val="105000"/>
              </a:lnSpc>
              <a:spcAft>
                <a:spcPts val="0"/>
              </a:spcAft>
            </a:pPr>
            <a:r>
              <a:rPr sz="1000" b="0" i="0">
                <a:solidFill>
                  <a:srgbClr val="56657A"/>
                </a:solidFill>
                <a:latin typeface="Consolas"/>
              </a:rPr>
              <a:t>acceleration.pdf</a:t>
            </a:r>
          </a:p>
        </p:txBody>
      </p:sp>
      <p:pic>
        <p:nvPicPr>
          <p:cNvPr id="48" name="!!fi3" descr="E8B7-56657A.png"/>
          <p:cNvPicPr>
            <a:picLocks noChangeAspect="1"/>
          </p:cNvPicPr>
          <p:nvPr/>
        </p:nvPicPr>
        <p:blipFill>
          <a:blip r:embed="rId3"/>
          <a:stretch>
            <a:fillRect/>
          </a:stretch>
        </p:blipFill>
        <p:spPr>
          <a:xfrm>
            <a:off x="749808" y="5330952"/>
            <a:ext cx="237744" cy="237744"/>
          </a:xfrm>
          <a:prstGeom prst="rect">
            <a:avLst/>
          </a:prstGeom>
        </p:spPr>
      </p:pic>
      <p:sp>
        <p:nvSpPr>
          <p:cNvPr id="49" name="!!fo3"/>
          <p:cNvSpPr txBox="1"/>
          <p:nvPr/>
        </p:nvSpPr>
        <p:spPr>
          <a:xfrm>
            <a:off x="1097280" y="5294376"/>
            <a:ext cx="2651760" cy="310896"/>
          </a:xfrm>
          <a:prstGeom prst="rect">
            <a:avLst/>
          </a:prstGeom>
          <a:noFill/>
        </p:spPr>
        <p:txBody>
          <a:bodyPr wrap="square" lIns="0" tIns="0" rIns="0" bIns="0" anchor="ctr">
            <a:spAutoFit/>
          </a:bodyPr>
          <a:lstStyle/>
          <a:p>
            <a:pPr algn="l">
              <a:lnSpc>
                <a:spcPct val="105000"/>
              </a:lnSpc>
              <a:spcAft>
                <a:spcPts val="0"/>
              </a:spcAft>
            </a:pPr>
            <a:r>
              <a:rPr sz="1100" b="0" i="0">
                <a:solidFill>
                  <a:srgbClr val="0B1F33"/>
                </a:solidFill>
                <a:latin typeface="Segoe UI Semibold"/>
              </a:rPr>
              <a:t>Lessons Learned</a:t>
            </a:r>
          </a:p>
        </p:txBody>
      </p:sp>
      <p:pic>
        <p:nvPicPr>
          <p:cNvPr id="50" name="!!ki6" descr="E80A-98A3B3.png"/>
          <p:cNvPicPr>
            <a:picLocks noChangeAspect="1"/>
          </p:cNvPicPr>
          <p:nvPr/>
        </p:nvPicPr>
        <p:blipFill>
          <a:blip r:embed="rId5"/>
          <a:stretch>
            <a:fillRect/>
          </a:stretch>
        </p:blipFill>
        <p:spPr>
          <a:xfrm>
            <a:off x="1179576" y="5678424"/>
            <a:ext cx="201168" cy="201168"/>
          </a:xfrm>
          <a:prstGeom prst="rect">
            <a:avLst/>
          </a:prstGeom>
        </p:spPr>
      </p:pic>
      <p:sp>
        <p:nvSpPr>
          <p:cNvPr id="51" name="!!k6"/>
          <p:cNvSpPr txBox="1"/>
          <p:nvPr/>
        </p:nvSpPr>
        <p:spPr>
          <a:xfrm>
            <a:off x="1508760" y="5632704"/>
            <a:ext cx="2240280" cy="292608"/>
          </a:xfrm>
          <a:prstGeom prst="rect">
            <a:avLst/>
          </a:prstGeom>
          <a:noFill/>
        </p:spPr>
        <p:txBody>
          <a:bodyPr wrap="none" lIns="0" tIns="0" rIns="0" bIns="0" anchor="ctr">
            <a:spAutoFit/>
          </a:bodyPr>
          <a:lstStyle/>
          <a:p>
            <a:pPr algn="l">
              <a:lnSpc>
                <a:spcPct val="105000"/>
              </a:lnSpc>
              <a:spcAft>
                <a:spcPts val="0"/>
              </a:spcAft>
            </a:pPr>
            <a:r>
              <a:rPr sz="1000" b="0" i="0">
                <a:solidFill>
                  <a:srgbClr val="56657A"/>
                </a:solidFill>
                <a:latin typeface="Consolas"/>
              </a:rPr>
              <a:t>risk-lessons.xlsx</a:t>
            </a:r>
          </a:p>
        </p:txBody>
      </p:sp>
      <p:sp>
        <p:nvSpPr>
          <p:cNvPr id="52" name="TextBox 51"/>
          <p:cNvSpPr txBox="1"/>
          <p:nvPr/>
        </p:nvSpPr>
        <p:spPr>
          <a:xfrm>
            <a:off x="4572000" y="1874520"/>
            <a:ext cx="4572000" cy="237744"/>
          </a:xfrm>
          <a:prstGeom prst="rect">
            <a:avLst/>
          </a:prstGeom>
          <a:noFill/>
        </p:spPr>
        <p:txBody>
          <a:bodyPr wrap="none" lIns="0" tIns="0" rIns="0" bIns="0" anchor="ctr">
            <a:spAutoFit/>
          </a:bodyPr>
          <a:lstStyle/>
          <a:p>
            <a:pPr algn="l">
              <a:lnSpc>
                <a:spcPct val="105000"/>
              </a:lnSpc>
              <a:spcAft>
                <a:spcPts val="0"/>
              </a:spcAft>
            </a:pPr>
            <a:r>
              <a:rPr sz="950" b="0" i="0" spc="80">
                <a:solidFill>
                  <a:srgbClr val="1F5BD8"/>
                </a:solidFill>
                <a:latin typeface="Segoe UI Semibold"/>
              </a:rPr>
              <a:t>CONNECTED BY MEANING</a:t>
            </a:r>
          </a:p>
        </p:txBody>
      </p:sp>
      <p:cxnSp>
        <p:nvCxnSpPr>
          <p:cNvPr id="53" name="Connector 52"/>
          <p:cNvCxnSpPr/>
          <p:nvPr/>
        </p:nvCxnSpPr>
        <p:spPr>
          <a:xfrm flipV="1">
            <a:off x="5806440" y="2331720"/>
            <a:ext cx="2423160" cy="365760"/>
          </a:xfrm>
          <a:prstGeom prst="line">
            <a:avLst/>
          </a:prstGeom>
          <a:ln w="19050">
            <a:solidFill>
              <a:srgbClr val="8DB4FF"/>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8229600" y="2331720"/>
            <a:ext cx="2331720" cy="594360"/>
          </a:xfrm>
          <a:prstGeom prst="line">
            <a:avLst/>
          </a:prstGeom>
          <a:ln w="19050">
            <a:solidFill>
              <a:srgbClr val="8DB4FF"/>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8366760" y="2926080"/>
            <a:ext cx="2194560" cy="1051560"/>
          </a:xfrm>
          <a:prstGeom prst="line">
            <a:avLst/>
          </a:prstGeom>
          <a:ln w="19050">
            <a:solidFill>
              <a:srgbClr val="8DB4FF"/>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5897880" y="3977640"/>
            <a:ext cx="2468880" cy="1143000"/>
          </a:xfrm>
          <a:prstGeom prst="line">
            <a:avLst/>
          </a:prstGeom>
          <a:ln w="19050">
            <a:solidFill>
              <a:srgbClr val="8DB4FF"/>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8366760" y="3977640"/>
            <a:ext cx="137160" cy="1645920"/>
          </a:xfrm>
          <a:prstGeom prst="line">
            <a:avLst/>
          </a:prstGeom>
          <a:ln w="19050">
            <a:solidFill>
              <a:srgbClr val="8DB4FF"/>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8366760" y="3977640"/>
            <a:ext cx="2377440" cy="1005840"/>
          </a:xfrm>
          <a:prstGeom prst="line">
            <a:avLst/>
          </a:prstGeom>
          <a:ln w="19050">
            <a:solidFill>
              <a:srgbClr val="8DB4FF"/>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5806440" y="2697480"/>
            <a:ext cx="2560320" cy="1280160"/>
          </a:xfrm>
          <a:prstGeom prst="line">
            <a:avLst/>
          </a:prstGeom>
          <a:ln w="19050">
            <a:solidFill>
              <a:srgbClr val="8DB4FF"/>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3931920" y="2697480"/>
            <a:ext cx="1121450" cy="146304"/>
          </a:xfrm>
          <a:prstGeom prst="line">
            <a:avLst/>
          </a:prstGeom>
          <a:ln w="9525">
            <a:solidFill>
              <a:srgbClr val="DDE2E9"/>
            </a:solidFill>
            <a:prstDash val="dash"/>
          </a:ln>
        </p:spPr>
        <p:style>
          <a:lnRef idx="2">
            <a:schemeClr val="accent1"/>
          </a:lnRef>
          <a:fillRef idx="0">
            <a:schemeClr val="accent1"/>
          </a:fillRef>
          <a:effectRef idx="1">
            <a:schemeClr val="accent1"/>
          </a:effectRef>
          <a:fontRef idx="minor">
            <a:schemeClr val="tx1"/>
          </a:fontRef>
        </p:style>
      </p:cxnSp>
      <p:sp>
        <p:nvSpPr>
          <p:cNvPr id="61" name="!!node0"/>
          <p:cNvSpPr/>
          <p:nvPr/>
        </p:nvSpPr>
        <p:spPr>
          <a:xfrm>
            <a:off x="5053370" y="2487168"/>
            <a:ext cx="1506141" cy="420624"/>
          </a:xfrm>
          <a:prstGeom prst="roundRect">
            <a:avLst>
              <a:gd name="adj" fmla="val 50000"/>
            </a:avLst>
          </a:prstGeom>
          <a:solidFill>
            <a:srgbClr val="FFFFFF"/>
          </a:solidFill>
          <a:ln w="9525">
            <a:solidFill>
              <a:srgbClr val="1F5BD8"/>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2" name="Picture 61" descr="E8A5-1F5BD8.png"/>
          <p:cNvPicPr>
            <a:picLocks noChangeAspect="1"/>
          </p:cNvPicPr>
          <p:nvPr/>
        </p:nvPicPr>
        <p:blipFill>
          <a:blip r:embed="rId6"/>
          <a:stretch>
            <a:fillRect/>
          </a:stretch>
        </p:blipFill>
        <p:spPr>
          <a:xfrm>
            <a:off x="5172242" y="2596896"/>
            <a:ext cx="201168" cy="201168"/>
          </a:xfrm>
          <a:prstGeom prst="rect">
            <a:avLst/>
          </a:prstGeom>
        </p:spPr>
      </p:pic>
      <p:sp>
        <p:nvSpPr>
          <p:cNvPr id="63" name="TextBox 62"/>
          <p:cNvSpPr txBox="1"/>
          <p:nvPr/>
        </p:nvSpPr>
        <p:spPr>
          <a:xfrm>
            <a:off x="5437418" y="2487168"/>
            <a:ext cx="1048941" cy="420624"/>
          </a:xfrm>
          <a:prstGeom prst="rect">
            <a:avLst/>
          </a:prstGeom>
          <a:noFill/>
        </p:spPr>
        <p:txBody>
          <a:bodyPr wrap="none" lIns="0" tIns="0" rIns="0" bIns="0" anchor="ctr">
            <a:spAutoFit/>
          </a:bodyPr>
          <a:lstStyle/>
          <a:p>
            <a:pPr algn="l">
              <a:lnSpc>
                <a:spcPct val="105000"/>
              </a:lnSpc>
              <a:spcAft>
                <a:spcPts val="0"/>
              </a:spcAft>
            </a:pPr>
            <a:r>
              <a:rPr sz="1250" b="0" i="0">
                <a:solidFill>
                  <a:srgbClr val="0B1F33"/>
                </a:solidFill>
                <a:latin typeface="Segoe UI Semibold"/>
              </a:rPr>
              <a:t>Critical Path</a:t>
            </a:r>
          </a:p>
        </p:txBody>
      </p:sp>
      <p:cxnSp>
        <p:nvCxnSpPr>
          <p:cNvPr id="64" name="Connector 63"/>
          <p:cNvCxnSpPr/>
          <p:nvPr/>
        </p:nvCxnSpPr>
        <p:spPr>
          <a:xfrm flipV="1">
            <a:off x="3931920" y="2331720"/>
            <a:ext cx="3595499" cy="832104"/>
          </a:xfrm>
          <a:prstGeom prst="line">
            <a:avLst/>
          </a:prstGeom>
          <a:ln w="9525">
            <a:solidFill>
              <a:srgbClr val="DDE2E9"/>
            </a:solidFill>
            <a:prstDash val="dash"/>
          </a:ln>
        </p:spPr>
        <p:style>
          <a:lnRef idx="2">
            <a:schemeClr val="accent1"/>
          </a:lnRef>
          <a:fillRef idx="0">
            <a:schemeClr val="accent1"/>
          </a:fillRef>
          <a:effectRef idx="1">
            <a:schemeClr val="accent1"/>
          </a:effectRef>
          <a:fontRef idx="minor">
            <a:schemeClr val="tx1"/>
          </a:fontRef>
        </p:style>
      </p:cxnSp>
      <p:sp>
        <p:nvSpPr>
          <p:cNvPr id="65" name="!!node1"/>
          <p:cNvSpPr/>
          <p:nvPr/>
        </p:nvSpPr>
        <p:spPr>
          <a:xfrm>
            <a:off x="7527419" y="2121408"/>
            <a:ext cx="1404362" cy="420624"/>
          </a:xfrm>
          <a:prstGeom prst="roundRect">
            <a:avLst>
              <a:gd name="adj" fmla="val 50000"/>
            </a:avLst>
          </a:prstGeom>
          <a:solidFill>
            <a:srgbClr val="FFFFFF"/>
          </a:solidFill>
          <a:ln w="9525">
            <a:solidFill>
              <a:srgbClr val="1F5BD8"/>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6" name="Picture 65" descr="E8A5-1F5BD8.png"/>
          <p:cNvPicPr>
            <a:picLocks noChangeAspect="1"/>
          </p:cNvPicPr>
          <p:nvPr/>
        </p:nvPicPr>
        <p:blipFill>
          <a:blip r:embed="rId6"/>
          <a:stretch>
            <a:fillRect/>
          </a:stretch>
        </p:blipFill>
        <p:spPr>
          <a:xfrm>
            <a:off x="7646291" y="2231136"/>
            <a:ext cx="201168" cy="201168"/>
          </a:xfrm>
          <a:prstGeom prst="rect">
            <a:avLst/>
          </a:prstGeom>
        </p:spPr>
      </p:pic>
      <p:sp>
        <p:nvSpPr>
          <p:cNvPr id="67" name="TextBox 66"/>
          <p:cNvSpPr txBox="1"/>
          <p:nvPr/>
        </p:nvSpPr>
        <p:spPr>
          <a:xfrm>
            <a:off x="7911467" y="2121408"/>
            <a:ext cx="947162" cy="420624"/>
          </a:xfrm>
          <a:prstGeom prst="rect">
            <a:avLst/>
          </a:prstGeom>
          <a:noFill/>
        </p:spPr>
        <p:txBody>
          <a:bodyPr wrap="none" lIns="0" tIns="0" rIns="0" bIns="0" anchor="ctr">
            <a:spAutoFit/>
          </a:bodyPr>
          <a:lstStyle/>
          <a:p>
            <a:pPr algn="l">
              <a:lnSpc>
                <a:spcPct val="105000"/>
              </a:lnSpc>
              <a:spcAft>
                <a:spcPts val="0"/>
              </a:spcAft>
            </a:pPr>
            <a:r>
              <a:rPr sz="1250" b="0" i="0">
                <a:solidFill>
                  <a:srgbClr val="0B1F33"/>
                </a:solidFill>
                <a:latin typeface="Segoe UI Semibold"/>
              </a:rPr>
              <a:t>Total Float</a:t>
            </a:r>
          </a:p>
        </p:txBody>
      </p:sp>
      <p:cxnSp>
        <p:nvCxnSpPr>
          <p:cNvPr id="68" name="Connector 67"/>
          <p:cNvCxnSpPr/>
          <p:nvPr/>
        </p:nvCxnSpPr>
        <p:spPr>
          <a:xfrm flipV="1">
            <a:off x="3931920" y="2926080"/>
            <a:ext cx="5760085" cy="896112"/>
          </a:xfrm>
          <a:prstGeom prst="line">
            <a:avLst/>
          </a:prstGeom>
          <a:ln w="9525">
            <a:solidFill>
              <a:srgbClr val="DDE2E9"/>
            </a:solidFill>
            <a:prstDash val="dash"/>
          </a:ln>
        </p:spPr>
        <p:style>
          <a:lnRef idx="2">
            <a:schemeClr val="accent1"/>
          </a:lnRef>
          <a:fillRef idx="0">
            <a:schemeClr val="accent1"/>
          </a:fillRef>
          <a:effectRef idx="1">
            <a:schemeClr val="accent1"/>
          </a:effectRef>
          <a:fontRef idx="minor">
            <a:schemeClr val="tx1"/>
          </a:fontRef>
        </p:style>
      </p:cxnSp>
      <p:sp>
        <p:nvSpPr>
          <p:cNvPr id="69" name="!!node2"/>
          <p:cNvSpPr/>
          <p:nvPr/>
        </p:nvSpPr>
        <p:spPr>
          <a:xfrm>
            <a:off x="9692005" y="2715768"/>
            <a:ext cx="1738630" cy="420624"/>
          </a:xfrm>
          <a:prstGeom prst="roundRect">
            <a:avLst>
              <a:gd name="adj" fmla="val 50000"/>
            </a:avLst>
          </a:prstGeom>
          <a:solidFill>
            <a:srgbClr val="FFFFFF"/>
          </a:solidFill>
          <a:ln w="9525">
            <a:solidFill>
              <a:srgbClr val="1F5BD8"/>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0" name="Picture 69" descr="E8A5-1F5BD8.png"/>
          <p:cNvPicPr>
            <a:picLocks noChangeAspect="1"/>
          </p:cNvPicPr>
          <p:nvPr/>
        </p:nvPicPr>
        <p:blipFill>
          <a:blip r:embed="rId6"/>
          <a:stretch>
            <a:fillRect/>
          </a:stretch>
        </p:blipFill>
        <p:spPr>
          <a:xfrm>
            <a:off x="9810877" y="2825496"/>
            <a:ext cx="201168" cy="201168"/>
          </a:xfrm>
          <a:prstGeom prst="rect">
            <a:avLst/>
          </a:prstGeom>
        </p:spPr>
      </p:pic>
      <p:sp>
        <p:nvSpPr>
          <p:cNvPr id="71" name="TextBox 70"/>
          <p:cNvSpPr txBox="1"/>
          <p:nvPr/>
        </p:nvSpPr>
        <p:spPr>
          <a:xfrm>
            <a:off x="10076053" y="2715768"/>
            <a:ext cx="1281430" cy="420624"/>
          </a:xfrm>
          <a:prstGeom prst="rect">
            <a:avLst/>
          </a:prstGeom>
          <a:noFill/>
        </p:spPr>
        <p:txBody>
          <a:bodyPr wrap="none" lIns="0" tIns="0" rIns="0" bIns="0" anchor="ctr">
            <a:spAutoFit/>
          </a:bodyPr>
          <a:lstStyle/>
          <a:p>
            <a:pPr algn="l">
              <a:lnSpc>
                <a:spcPct val="105000"/>
              </a:lnSpc>
              <a:spcAft>
                <a:spcPts val="0"/>
              </a:spcAft>
            </a:pPr>
            <a:r>
              <a:rPr sz="1250" b="0" i="0">
                <a:solidFill>
                  <a:srgbClr val="0B1F33"/>
                </a:solidFill>
                <a:latin typeface="Segoe UI Semibold"/>
              </a:rPr>
              <a:t>Schedule Delay</a:t>
            </a:r>
          </a:p>
        </p:txBody>
      </p:sp>
      <p:cxnSp>
        <p:nvCxnSpPr>
          <p:cNvPr id="72" name="Connector 71"/>
          <p:cNvCxnSpPr/>
          <p:nvPr/>
        </p:nvCxnSpPr>
        <p:spPr>
          <a:xfrm flipV="1">
            <a:off x="3931920" y="3977640"/>
            <a:ext cx="3439150" cy="164592"/>
          </a:xfrm>
          <a:prstGeom prst="line">
            <a:avLst/>
          </a:prstGeom>
          <a:ln w="9525">
            <a:solidFill>
              <a:srgbClr val="DDE2E9"/>
            </a:solidFill>
            <a:prstDash val="dash"/>
          </a:ln>
        </p:spPr>
        <p:style>
          <a:lnRef idx="2">
            <a:schemeClr val="accent1"/>
          </a:lnRef>
          <a:fillRef idx="0">
            <a:schemeClr val="accent1"/>
          </a:fillRef>
          <a:effectRef idx="1">
            <a:schemeClr val="accent1"/>
          </a:effectRef>
          <a:fontRef idx="minor">
            <a:schemeClr val="tx1"/>
          </a:fontRef>
        </p:style>
      </p:cxnSp>
      <p:sp>
        <p:nvSpPr>
          <p:cNvPr id="73" name="!!node3"/>
          <p:cNvSpPr/>
          <p:nvPr/>
        </p:nvSpPr>
        <p:spPr>
          <a:xfrm>
            <a:off x="7371070" y="3767328"/>
            <a:ext cx="1991380" cy="420624"/>
          </a:xfrm>
          <a:prstGeom prst="roundRect">
            <a:avLst>
              <a:gd name="adj" fmla="val 50000"/>
            </a:avLst>
          </a:prstGeom>
          <a:solidFill>
            <a:srgbClr val="1F5BD8"/>
          </a:solidFill>
          <a:ln>
            <a:no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4" name="Picture 73" descr="E8A5-FFFFFF.png"/>
          <p:cNvPicPr>
            <a:picLocks noChangeAspect="1"/>
          </p:cNvPicPr>
          <p:nvPr/>
        </p:nvPicPr>
        <p:blipFill>
          <a:blip r:embed="rId7"/>
          <a:stretch>
            <a:fillRect/>
          </a:stretch>
        </p:blipFill>
        <p:spPr>
          <a:xfrm>
            <a:off x="7489942" y="3877056"/>
            <a:ext cx="201168" cy="201168"/>
          </a:xfrm>
          <a:prstGeom prst="rect">
            <a:avLst/>
          </a:prstGeom>
        </p:spPr>
      </p:pic>
      <p:sp>
        <p:nvSpPr>
          <p:cNvPr id="75" name="TextBox 74"/>
          <p:cNvSpPr txBox="1"/>
          <p:nvPr/>
        </p:nvSpPr>
        <p:spPr>
          <a:xfrm>
            <a:off x="7755118" y="3767328"/>
            <a:ext cx="1534180" cy="420624"/>
          </a:xfrm>
          <a:prstGeom prst="rect">
            <a:avLst/>
          </a:prstGeom>
          <a:noFill/>
        </p:spPr>
        <p:txBody>
          <a:bodyPr wrap="none" lIns="0" tIns="0" rIns="0" bIns="0" anchor="ctr">
            <a:spAutoFit/>
          </a:bodyPr>
          <a:lstStyle/>
          <a:p>
            <a:pPr algn="l">
              <a:lnSpc>
                <a:spcPct val="105000"/>
              </a:lnSpc>
              <a:spcAft>
                <a:spcPts val="0"/>
              </a:spcAft>
            </a:pPr>
            <a:r>
              <a:rPr sz="1250" b="0" i="0">
                <a:solidFill>
                  <a:srgbClr val="FFFFFF"/>
                </a:solidFill>
                <a:latin typeface="Segoe UI Semibold"/>
              </a:rPr>
              <a:t>Schedule Recovery</a:t>
            </a:r>
          </a:p>
        </p:txBody>
      </p:sp>
      <p:cxnSp>
        <p:nvCxnSpPr>
          <p:cNvPr id="76" name="Connector 75"/>
          <p:cNvCxnSpPr/>
          <p:nvPr/>
        </p:nvCxnSpPr>
        <p:spPr>
          <a:xfrm>
            <a:off x="3931920" y="4800600"/>
            <a:ext cx="1283375" cy="320040"/>
          </a:xfrm>
          <a:prstGeom prst="line">
            <a:avLst/>
          </a:prstGeom>
          <a:ln w="9525">
            <a:solidFill>
              <a:srgbClr val="DDE2E9"/>
            </a:solidFill>
            <a:prstDash val="dash"/>
          </a:ln>
        </p:spPr>
        <p:style>
          <a:lnRef idx="2">
            <a:schemeClr val="accent1"/>
          </a:lnRef>
          <a:fillRef idx="0">
            <a:schemeClr val="accent1"/>
          </a:fillRef>
          <a:effectRef idx="1">
            <a:schemeClr val="accent1"/>
          </a:effectRef>
          <a:fontRef idx="minor">
            <a:schemeClr val="tx1"/>
          </a:fontRef>
        </p:style>
      </p:cxnSp>
      <p:sp>
        <p:nvSpPr>
          <p:cNvPr id="77" name="!!node4"/>
          <p:cNvSpPr/>
          <p:nvPr/>
        </p:nvSpPr>
        <p:spPr>
          <a:xfrm>
            <a:off x="5215295" y="4910328"/>
            <a:ext cx="1365171" cy="420624"/>
          </a:xfrm>
          <a:prstGeom prst="roundRect">
            <a:avLst>
              <a:gd name="adj" fmla="val 50000"/>
            </a:avLst>
          </a:prstGeom>
          <a:solidFill>
            <a:srgbClr val="FFFFFF"/>
          </a:solidFill>
          <a:ln w="9525">
            <a:solidFill>
              <a:srgbClr val="1F5BD8"/>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8" name="Picture 77" descr="E8A5-1F5BD8.png"/>
          <p:cNvPicPr>
            <a:picLocks noChangeAspect="1"/>
          </p:cNvPicPr>
          <p:nvPr/>
        </p:nvPicPr>
        <p:blipFill>
          <a:blip r:embed="rId6"/>
          <a:stretch>
            <a:fillRect/>
          </a:stretch>
        </p:blipFill>
        <p:spPr>
          <a:xfrm>
            <a:off x="5334167" y="5020056"/>
            <a:ext cx="201168" cy="201168"/>
          </a:xfrm>
          <a:prstGeom prst="rect">
            <a:avLst/>
          </a:prstGeom>
        </p:spPr>
      </p:pic>
      <p:sp>
        <p:nvSpPr>
          <p:cNvPr id="79" name="TextBox 78"/>
          <p:cNvSpPr txBox="1"/>
          <p:nvPr/>
        </p:nvSpPr>
        <p:spPr>
          <a:xfrm>
            <a:off x="5599343" y="4910328"/>
            <a:ext cx="907971" cy="420624"/>
          </a:xfrm>
          <a:prstGeom prst="rect">
            <a:avLst/>
          </a:prstGeom>
          <a:noFill/>
        </p:spPr>
        <p:txBody>
          <a:bodyPr wrap="none" lIns="0" tIns="0" rIns="0" bIns="0" anchor="ctr">
            <a:spAutoFit/>
          </a:bodyPr>
          <a:lstStyle/>
          <a:p>
            <a:pPr algn="l">
              <a:lnSpc>
                <a:spcPct val="105000"/>
              </a:lnSpc>
              <a:spcAft>
                <a:spcPts val="0"/>
              </a:spcAft>
            </a:pPr>
            <a:r>
              <a:rPr sz="1250" b="0" i="0">
                <a:solidFill>
                  <a:srgbClr val="0B1F33"/>
                </a:solidFill>
                <a:latin typeface="Segoe UI Semibold"/>
              </a:rPr>
              <a:t>Resources</a:t>
            </a:r>
          </a:p>
        </p:txBody>
      </p:sp>
      <p:cxnSp>
        <p:nvCxnSpPr>
          <p:cNvPr id="80" name="Connector 79"/>
          <p:cNvCxnSpPr/>
          <p:nvPr/>
        </p:nvCxnSpPr>
        <p:spPr>
          <a:xfrm>
            <a:off x="3931920" y="5120640"/>
            <a:ext cx="3804920" cy="502920"/>
          </a:xfrm>
          <a:prstGeom prst="line">
            <a:avLst/>
          </a:prstGeom>
          <a:ln w="9525">
            <a:solidFill>
              <a:srgbClr val="DDE2E9"/>
            </a:solidFill>
            <a:prstDash val="dash"/>
          </a:ln>
        </p:spPr>
        <p:style>
          <a:lnRef idx="2">
            <a:schemeClr val="accent1"/>
          </a:lnRef>
          <a:fillRef idx="0">
            <a:schemeClr val="accent1"/>
          </a:fillRef>
          <a:effectRef idx="1">
            <a:schemeClr val="accent1"/>
          </a:effectRef>
          <a:fontRef idx="minor">
            <a:schemeClr val="tx1"/>
          </a:fontRef>
        </p:style>
      </p:cxnSp>
      <p:sp>
        <p:nvSpPr>
          <p:cNvPr id="81" name="!!node5"/>
          <p:cNvSpPr/>
          <p:nvPr/>
        </p:nvSpPr>
        <p:spPr>
          <a:xfrm>
            <a:off x="7736840" y="5413248"/>
            <a:ext cx="1534160" cy="420624"/>
          </a:xfrm>
          <a:prstGeom prst="roundRect">
            <a:avLst>
              <a:gd name="adj" fmla="val 50000"/>
            </a:avLst>
          </a:prstGeom>
          <a:solidFill>
            <a:srgbClr val="FFFFFF"/>
          </a:solidFill>
          <a:ln w="9525">
            <a:solidFill>
              <a:srgbClr val="1F5BD8"/>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2" name="Picture 81" descr="E8A5-1F5BD8.png"/>
          <p:cNvPicPr>
            <a:picLocks noChangeAspect="1"/>
          </p:cNvPicPr>
          <p:nvPr/>
        </p:nvPicPr>
        <p:blipFill>
          <a:blip r:embed="rId6"/>
          <a:stretch>
            <a:fillRect/>
          </a:stretch>
        </p:blipFill>
        <p:spPr>
          <a:xfrm>
            <a:off x="7855712" y="5522976"/>
            <a:ext cx="201168" cy="201168"/>
          </a:xfrm>
          <a:prstGeom prst="rect">
            <a:avLst/>
          </a:prstGeom>
        </p:spPr>
      </p:pic>
      <p:sp>
        <p:nvSpPr>
          <p:cNvPr id="83" name="TextBox 82"/>
          <p:cNvSpPr txBox="1"/>
          <p:nvPr/>
        </p:nvSpPr>
        <p:spPr>
          <a:xfrm>
            <a:off x="8120888" y="5413248"/>
            <a:ext cx="1076960" cy="420624"/>
          </a:xfrm>
          <a:prstGeom prst="rect">
            <a:avLst/>
          </a:prstGeom>
          <a:noFill/>
        </p:spPr>
        <p:txBody>
          <a:bodyPr wrap="none" lIns="0" tIns="0" rIns="0" bIns="0" anchor="ctr">
            <a:spAutoFit/>
          </a:bodyPr>
          <a:lstStyle/>
          <a:p>
            <a:pPr algn="l">
              <a:lnSpc>
                <a:spcPct val="105000"/>
              </a:lnSpc>
              <a:spcAft>
                <a:spcPts val="0"/>
              </a:spcAft>
            </a:pPr>
            <a:r>
              <a:rPr sz="1250" b="0" i="0">
                <a:solidFill>
                  <a:srgbClr val="0B1F33"/>
                </a:solidFill>
                <a:latin typeface="Segoe UI Semibold"/>
              </a:rPr>
              <a:t>Acceleration</a:t>
            </a:r>
          </a:p>
        </p:txBody>
      </p:sp>
      <p:cxnSp>
        <p:nvCxnSpPr>
          <p:cNvPr id="84" name="Connector 83"/>
          <p:cNvCxnSpPr/>
          <p:nvPr/>
        </p:nvCxnSpPr>
        <p:spPr>
          <a:xfrm flipV="1">
            <a:off x="3931920" y="4983480"/>
            <a:ext cx="6345555" cy="795528"/>
          </a:xfrm>
          <a:prstGeom prst="line">
            <a:avLst/>
          </a:prstGeom>
          <a:ln w="9525">
            <a:solidFill>
              <a:srgbClr val="DDE2E9"/>
            </a:solidFill>
            <a:prstDash val="dash"/>
          </a:ln>
        </p:spPr>
        <p:style>
          <a:lnRef idx="2">
            <a:schemeClr val="accent1"/>
          </a:lnRef>
          <a:fillRef idx="0">
            <a:schemeClr val="accent1"/>
          </a:fillRef>
          <a:effectRef idx="1">
            <a:schemeClr val="accent1"/>
          </a:effectRef>
          <a:fontRef idx="minor">
            <a:schemeClr val="tx1"/>
          </a:fontRef>
        </p:style>
      </p:cxnSp>
      <p:sp>
        <p:nvSpPr>
          <p:cNvPr id="85" name="!!node6"/>
          <p:cNvSpPr/>
          <p:nvPr/>
        </p:nvSpPr>
        <p:spPr>
          <a:xfrm>
            <a:off x="10277475" y="4773168"/>
            <a:ext cx="933450" cy="420624"/>
          </a:xfrm>
          <a:prstGeom prst="roundRect">
            <a:avLst>
              <a:gd name="adj" fmla="val 50000"/>
            </a:avLst>
          </a:prstGeom>
          <a:solidFill>
            <a:srgbClr val="FFFFFF"/>
          </a:solidFill>
          <a:ln w="9525">
            <a:solidFill>
              <a:srgbClr val="1F5BD8"/>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6" name="Picture 85" descr="E8A5-1F5BD8.png"/>
          <p:cNvPicPr>
            <a:picLocks noChangeAspect="1"/>
          </p:cNvPicPr>
          <p:nvPr/>
        </p:nvPicPr>
        <p:blipFill>
          <a:blip r:embed="rId6"/>
          <a:stretch>
            <a:fillRect/>
          </a:stretch>
        </p:blipFill>
        <p:spPr>
          <a:xfrm>
            <a:off x="10396347" y="4882896"/>
            <a:ext cx="201168" cy="201168"/>
          </a:xfrm>
          <a:prstGeom prst="rect">
            <a:avLst/>
          </a:prstGeom>
        </p:spPr>
      </p:pic>
      <p:sp>
        <p:nvSpPr>
          <p:cNvPr id="87" name="TextBox 86"/>
          <p:cNvSpPr txBox="1"/>
          <p:nvPr/>
        </p:nvSpPr>
        <p:spPr>
          <a:xfrm>
            <a:off x="10661523" y="4773168"/>
            <a:ext cx="476250" cy="420624"/>
          </a:xfrm>
          <a:prstGeom prst="rect">
            <a:avLst/>
          </a:prstGeom>
          <a:noFill/>
        </p:spPr>
        <p:txBody>
          <a:bodyPr wrap="none" lIns="0" tIns="0" rIns="0" bIns="0" anchor="ctr">
            <a:spAutoFit/>
          </a:bodyPr>
          <a:lstStyle/>
          <a:p>
            <a:pPr algn="l">
              <a:lnSpc>
                <a:spcPct val="105000"/>
              </a:lnSpc>
              <a:spcAft>
                <a:spcPts val="0"/>
              </a:spcAft>
            </a:pPr>
            <a:r>
              <a:rPr sz="1250" b="0" i="0">
                <a:solidFill>
                  <a:srgbClr val="0B1F33"/>
                </a:solidFill>
                <a:latin typeface="Segoe UI Semibold"/>
              </a:rPr>
              <a:t>Risk</a:t>
            </a:r>
          </a:p>
        </p:txBody>
      </p:sp>
      <p:sp>
        <p:nvSpPr>
          <p:cNvPr id="88" name="TextBox 87"/>
          <p:cNvSpPr txBox="1"/>
          <p:nvPr/>
        </p:nvSpPr>
        <p:spPr>
          <a:xfrm>
            <a:off x="7071055" y="6419088"/>
            <a:ext cx="3657600" cy="237744"/>
          </a:xfrm>
          <a:prstGeom prst="rect">
            <a:avLst/>
          </a:prstGeom>
          <a:noFill/>
        </p:spPr>
        <p:txBody>
          <a:bodyPr wrap="none" lIns="0" tIns="0" rIns="0" bIns="0" anchor="ctr">
            <a:spAutoFit/>
          </a:bodyPr>
          <a:lstStyle/>
          <a:p>
            <a:pPr algn="r">
              <a:lnSpc>
                <a:spcPct val="105000"/>
              </a:lnSpc>
              <a:spcAft>
                <a:spcPts val="0"/>
              </a:spcAft>
            </a:pPr>
            <a:r>
              <a:rPr sz="800" b="0" i="0" spc="80">
                <a:solidFill>
                  <a:srgbClr val="56657A"/>
                </a:solidFill>
                <a:latin typeface="Segoe UI Semibold"/>
              </a:rPr>
              <a:t>ABDUL KAUSAR</a:t>
            </a:r>
          </a:p>
        </p:txBody>
      </p:sp>
      <p:sp>
        <p:nvSpPr>
          <p:cNvPr id="89" name="TextBox 88"/>
          <p:cNvSpPr txBox="1"/>
          <p:nvPr/>
        </p:nvSpPr>
        <p:spPr>
          <a:xfrm>
            <a:off x="10911535" y="6419088"/>
            <a:ext cx="731520" cy="237744"/>
          </a:xfrm>
          <a:prstGeom prst="rect">
            <a:avLst/>
          </a:prstGeom>
          <a:noFill/>
        </p:spPr>
        <p:txBody>
          <a:bodyPr wrap="square" lIns="0" tIns="0" rIns="0" bIns="0" anchor="t">
            <a:spAutoFit/>
          </a:bodyPr>
          <a:lstStyle/>
          <a:p>
            <a:pPr algn="r">
              <a:lnSpc>
                <a:spcPct val="105000"/>
              </a:lnSpc>
              <a:spcAft>
                <a:spcPts val="0"/>
              </a:spcAft>
            </a:pPr>
            <a:r>
              <a:rPr sz="900" b="0" i="0">
                <a:solidFill>
                  <a:srgbClr val="98A3B3"/>
                </a:solidFill>
                <a:latin typeface="Segoe UI"/>
              </a:rPr>
              <a:t>20</a:t>
            </a:r>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82880"/>
            <a:ext cx="95234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DATA CENTER</a:t>
            </a:r>
          </a:p>
        </p:txBody>
      </p:sp>
      <p:sp>
        <p:nvSpPr>
          <p:cNvPr id="3" name="TextBox 2"/>
          <p:cNvSpPr txBox="1"/>
          <p:nvPr/>
        </p:nvSpPr>
        <p:spPr>
          <a:xfrm>
            <a:off x="1409543"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4" name="TextBox 3"/>
          <p:cNvSpPr txBox="1"/>
          <p:nvPr/>
        </p:nvSpPr>
        <p:spPr>
          <a:xfrm>
            <a:off x="1702151" y="182880"/>
            <a:ext cx="78485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INTERFACE</a:t>
            </a:r>
          </a:p>
        </p:txBody>
      </p:sp>
      <p:sp>
        <p:nvSpPr>
          <p:cNvPr id="5" name="TextBox 4"/>
          <p:cNvSpPr txBox="1"/>
          <p:nvPr/>
        </p:nvSpPr>
        <p:spPr>
          <a:xfrm>
            <a:off x="239556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6" name="TextBox 5"/>
          <p:cNvSpPr txBox="1"/>
          <p:nvPr/>
        </p:nvSpPr>
        <p:spPr>
          <a:xfrm>
            <a:off x="2688175" y="182880"/>
            <a:ext cx="724872"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CONTROL</a:t>
            </a:r>
          </a:p>
        </p:txBody>
      </p:sp>
      <p:sp>
        <p:nvSpPr>
          <p:cNvPr id="7" name="TextBox 6"/>
          <p:cNvSpPr txBox="1"/>
          <p:nvPr/>
        </p:nvSpPr>
        <p:spPr>
          <a:xfrm>
            <a:off x="3321608"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8" name="TextBox 7"/>
          <p:cNvSpPr txBox="1"/>
          <p:nvPr/>
        </p:nvSpPr>
        <p:spPr>
          <a:xfrm>
            <a:off x="3614216" y="182880"/>
            <a:ext cx="115377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COMMISSIONING</a:t>
            </a:r>
          </a:p>
        </p:txBody>
      </p:sp>
      <p:sp>
        <p:nvSpPr>
          <p:cNvPr id="9" name="TextBox 8"/>
          <p:cNvSpPr txBox="1"/>
          <p:nvPr/>
        </p:nvSpPr>
        <p:spPr>
          <a:xfrm>
            <a:off x="4676549"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0" name="TextBox 9"/>
          <p:cNvSpPr txBox="1"/>
          <p:nvPr/>
        </p:nvSpPr>
        <p:spPr>
          <a:xfrm>
            <a:off x="4969157" y="182880"/>
            <a:ext cx="945555"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MONITORING</a:t>
            </a:r>
          </a:p>
        </p:txBody>
      </p:sp>
      <p:sp>
        <p:nvSpPr>
          <p:cNvPr id="11" name="TextBox 10"/>
          <p:cNvSpPr txBox="1"/>
          <p:nvPr/>
        </p:nvSpPr>
        <p:spPr>
          <a:xfrm>
            <a:off x="582327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2" name="TextBox 11"/>
          <p:cNvSpPr txBox="1"/>
          <p:nvPr/>
        </p:nvSpPr>
        <p:spPr>
          <a:xfrm>
            <a:off x="6115879" y="182880"/>
            <a:ext cx="63679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REALITA</a:t>
            </a:r>
          </a:p>
        </p:txBody>
      </p:sp>
      <p:sp>
        <p:nvSpPr>
          <p:cNvPr id="13" name="TextBox 12"/>
          <p:cNvSpPr txBox="1"/>
          <p:nvPr/>
        </p:nvSpPr>
        <p:spPr>
          <a:xfrm>
            <a:off x="6661235"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4" name="TextBox 13"/>
          <p:cNvSpPr txBox="1"/>
          <p:nvPr/>
        </p:nvSpPr>
        <p:spPr>
          <a:xfrm>
            <a:off x="6953843" y="182880"/>
            <a:ext cx="821309"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INFORMASI</a:t>
            </a:r>
          </a:p>
        </p:txBody>
      </p:sp>
      <p:sp>
        <p:nvSpPr>
          <p:cNvPr id="15" name="TextBox 14"/>
          <p:cNvSpPr txBox="1"/>
          <p:nvPr/>
        </p:nvSpPr>
        <p:spPr>
          <a:xfrm>
            <a:off x="7683712"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6" name="TextBox 15"/>
          <p:cNvSpPr txBox="1"/>
          <p:nvPr/>
        </p:nvSpPr>
        <p:spPr>
          <a:xfrm>
            <a:off x="7976320" y="182880"/>
            <a:ext cx="899541"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KNOWLEDGE</a:t>
            </a:r>
          </a:p>
        </p:txBody>
      </p:sp>
      <p:sp>
        <p:nvSpPr>
          <p:cNvPr id="17" name="TextBox 16"/>
          <p:cNvSpPr txBox="1"/>
          <p:nvPr/>
        </p:nvSpPr>
        <p:spPr>
          <a:xfrm>
            <a:off x="878442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8" name="TextBox 17"/>
          <p:cNvSpPr txBox="1"/>
          <p:nvPr/>
        </p:nvSpPr>
        <p:spPr>
          <a:xfrm>
            <a:off x="9077029" y="182880"/>
            <a:ext cx="733298"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1F5BD8"/>
                </a:solidFill>
                <a:latin typeface="Segoe UI Semibold"/>
              </a:rPr>
              <a:t>OBSIDIAN</a:t>
            </a:r>
          </a:p>
        </p:txBody>
      </p:sp>
      <p:sp>
        <p:nvSpPr>
          <p:cNvPr id="19" name="Rectangle 18"/>
          <p:cNvSpPr/>
          <p:nvPr/>
        </p:nvSpPr>
        <p:spPr>
          <a:xfrm>
            <a:off x="9077029" y="420624"/>
            <a:ext cx="550418" cy="32004"/>
          </a:xfrm>
          <a:prstGeom prst="rect">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71888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21" name="TextBox 20"/>
          <p:cNvSpPr txBox="1"/>
          <p:nvPr/>
        </p:nvSpPr>
        <p:spPr>
          <a:xfrm>
            <a:off x="10011495" y="182880"/>
            <a:ext cx="297434"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AI</a:t>
            </a:r>
          </a:p>
        </p:txBody>
      </p:sp>
      <p:sp>
        <p:nvSpPr>
          <p:cNvPr id="22" name="!!title"/>
          <p:cNvSpPr txBox="1"/>
          <p:nvPr/>
        </p:nvSpPr>
        <p:spPr>
          <a:xfrm>
            <a:off x="548640" y="566928"/>
            <a:ext cx="11094415" cy="841248"/>
          </a:xfrm>
          <a:prstGeom prst="rect">
            <a:avLst/>
          </a:prstGeom>
          <a:noFill/>
        </p:spPr>
        <p:txBody>
          <a:bodyPr wrap="square" lIns="0" tIns="0" rIns="0" bIns="0" anchor="b">
            <a:spAutoFit/>
          </a:bodyPr>
          <a:lstStyle/>
          <a:p>
            <a:pPr algn="l">
              <a:lnSpc>
                <a:spcPct val="95000"/>
              </a:lnSpc>
              <a:spcAft>
                <a:spcPts val="0"/>
              </a:spcAft>
            </a:pPr>
            <a:r>
              <a:rPr sz="2800" b="0" i="0">
                <a:solidFill>
                  <a:srgbClr val="0B1F33"/>
                </a:solidFill>
                <a:latin typeface="Georgia"/>
              </a:rPr>
              <a:t>Obsidian: aplikasi catatan yang saling terhubung, tersimpan di laptop sendiri</a:t>
            </a:r>
          </a:p>
        </p:txBody>
      </p:sp>
      <p:cxnSp>
        <p:nvCxnSpPr>
          <p:cNvPr id="23" name="Connector 22"/>
          <p:cNvCxnSpPr/>
          <p:nvPr/>
        </p:nvCxnSpPr>
        <p:spPr>
          <a:xfrm>
            <a:off x="548640" y="1517904"/>
            <a:ext cx="11094415" cy="0"/>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977640" y="1874520"/>
            <a:ext cx="0" cy="3246120"/>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589520" y="1874520"/>
            <a:ext cx="0" cy="3246120"/>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548640" y="1874520"/>
            <a:ext cx="768096" cy="768096"/>
          </a:xfrm>
          <a:prstGeom prst="ellipse">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EBD2-FFFFFF.png"/>
          <p:cNvPicPr>
            <a:picLocks noChangeAspect="1"/>
          </p:cNvPicPr>
          <p:nvPr/>
        </p:nvPicPr>
        <p:blipFill>
          <a:blip r:embed="rId3"/>
          <a:stretch>
            <a:fillRect/>
          </a:stretch>
        </p:blipFill>
        <p:spPr>
          <a:xfrm>
            <a:off x="740664" y="2066544"/>
            <a:ext cx="384048" cy="384048"/>
          </a:xfrm>
          <a:prstGeom prst="rect">
            <a:avLst/>
          </a:prstGeom>
        </p:spPr>
      </p:pic>
      <p:sp>
        <p:nvSpPr>
          <p:cNvPr id="28" name="TextBox 27"/>
          <p:cNvSpPr txBox="1"/>
          <p:nvPr/>
        </p:nvSpPr>
        <p:spPr>
          <a:xfrm>
            <a:off x="548640" y="2834640"/>
            <a:ext cx="3246120" cy="237744"/>
          </a:xfrm>
          <a:prstGeom prst="rect">
            <a:avLst/>
          </a:prstGeom>
          <a:noFill/>
        </p:spPr>
        <p:txBody>
          <a:bodyPr wrap="none" lIns="0" tIns="0" rIns="0" bIns="0" anchor="ctr">
            <a:spAutoFit/>
          </a:bodyPr>
          <a:lstStyle/>
          <a:p>
            <a:pPr algn="l">
              <a:lnSpc>
                <a:spcPct val="105000"/>
              </a:lnSpc>
              <a:spcAft>
                <a:spcPts val="0"/>
              </a:spcAft>
            </a:pPr>
            <a:r>
              <a:rPr sz="900" b="0" i="0" spc="80">
                <a:solidFill>
                  <a:srgbClr val="1F5BD8"/>
                </a:solidFill>
                <a:latin typeface="Segoe UI Semibold"/>
              </a:rPr>
              <a:t>APA ITU OBSIDIAN</a:t>
            </a:r>
          </a:p>
        </p:txBody>
      </p:sp>
      <p:sp>
        <p:nvSpPr>
          <p:cNvPr id="29" name="TextBox 28"/>
          <p:cNvSpPr txBox="1"/>
          <p:nvPr/>
        </p:nvSpPr>
        <p:spPr>
          <a:xfrm>
            <a:off x="548640" y="3136392"/>
            <a:ext cx="3246120" cy="2011680"/>
          </a:xfrm>
          <a:prstGeom prst="rect">
            <a:avLst/>
          </a:prstGeom>
          <a:noFill/>
        </p:spPr>
        <p:txBody>
          <a:bodyPr wrap="square" lIns="0" tIns="0" rIns="0" bIns="0" anchor="t">
            <a:spAutoFit/>
          </a:bodyPr>
          <a:lstStyle/>
          <a:p>
            <a:pPr algn="l">
              <a:lnSpc>
                <a:spcPct val="105000"/>
              </a:lnSpc>
              <a:spcAft>
                <a:spcPts val="0"/>
              </a:spcAft>
            </a:pPr>
            <a:r>
              <a:rPr sz="1800" b="0" i="0">
                <a:solidFill>
                  <a:srgbClr val="0B1F33"/>
                </a:solidFill>
                <a:latin typeface="Georgia"/>
              </a:rPr>
              <a:t>Aplikasi catatan gratis. Setiap catatan adalah file teks biasa (Markdown) di dalam satu folder — disebut vault — di laptop Anda sendiri.</a:t>
            </a:r>
          </a:p>
        </p:txBody>
      </p:sp>
      <p:sp>
        <p:nvSpPr>
          <p:cNvPr id="30" name="TextBox 29"/>
          <p:cNvSpPr txBox="1"/>
          <p:nvPr/>
        </p:nvSpPr>
        <p:spPr>
          <a:xfrm>
            <a:off x="4160520" y="1874520"/>
            <a:ext cx="3246120" cy="237744"/>
          </a:xfrm>
          <a:prstGeom prst="rect">
            <a:avLst/>
          </a:prstGeom>
          <a:noFill/>
        </p:spPr>
        <p:txBody>
          <a:bodyPr wrap="none" lIns="0" tIns="0" rIns="0" bIns="0" anchor="ctr">
            <a:spAutoFit/>
          </a:bodyPr>
          <a:lstStyle/>
          <a:p>
            <a:pPr algn="l">
              <a:lnSpc>
                <a:spcPct val="105000"/>
              </a:lnSpc>
              <a:spcAft>
                <a:spcPts val="0"/>
              </a:spcAft>
            </a:pPr>
            <a:r>
              <a:rPr sz="900" b="0" i="0" spc="80">
                <a:solidFill>
                  <a:srgbClr val="1F5BD8"/>
                </a:solidFill>
                <a:latin typeface="Segoe UI Semibold"/>
              </a:rPr>
              <a:t>BIASANYA DIPAKAI UNTUK</a:t>
            </a:r>
          </a:p>
        </p:txBody>
      </p:sp>
      <p:sp>
        <p:nvSpPr>
          <p:cNvPr id="31" name="Oval 30"/>
          <p:cNvSpPr/>
          <p:nvPr/>
        </p:nvSpPr>
        <p:spPr>
          <a:xfrm>
            <a:off x="4160520" y="2258568"/>
            <a:ext cx="438912" cy="438912"/>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Picture 31" descr="EADF-1F5BD8.png"/>
          <p:cNvPicPr>
            <a:picLocks noChangeAspect="1"/>
          </p:cNvPicPr>
          <p:nvPr/>
        </p:nvPicPr>
        <p:blipFill>
          <a:blip r:embed="rId4"/>
          <a:stretch>
            <a:fillRect/>
          </a:stretch>
        </p:blipFill>
        <p:spPr>
          <a:xfrm>
            <a:off x="4270248" y="2368296"/>
            <a:ext cx="219456" cy="219456"/>
          </a:xfrm>
          <a:prstGeom prst="rect">
            <a:avLst/>
          </a:prstGeom>
        </p:spPr>
      </p:pic>
      <p:sp>
        <p:nvSpPr>
          <p:cNvPr id="33" name="TextBox 32"/>
          <p:cNvSpPr txBox="1"/>
          <p:nvPr/>
        </p:nvSpPr>
        <p:spPr>
          <a:xfrm>
            <a:off x="4727448" y="2240280"/>
            <a:ext cx="2651760" cy="475488"/>
          </a:xfrm>
          <a:prstGeom prst="rect">
            <a:avLst/>
          </a:prstGeom>
          <a:noFill/>
        </p:spPr>
        <p:txBody>
          <a:bodyPr wrap="square" lIns="0" tIns="0" rIns="0" bIns="0" anchor="ctr">
            <a:spAutoFit/>
          </a:bodyPr>
          <a:lstStyle/>
          <a:p>
            <a:pPr algn="l">
              <a:lnSpc>
                <a:spcPct val="105000"/>
              </a:lnSpc>
              <a:spcAft>
                <a:spcPts val="0"/>
              </a:spcAft>
            </a:pPr>
            <a:r>
              <a:rPr sz="1400" b="0" i="0">
                <a:solidFill>
                  <a:srgbClr val="0B1F33"/>
                </a:solidFill>
                <a:latin typeface="Segoe UI Semibold"/>
              </a:rPr>
              <a:t>Catatan kerja dan rapat</a:t>
            </a:r>
          </a:p>
        </p:txBody>
      </p:sp>
      <p:sp>
        <p:nvSpPr>
          <p:cNvPr id="34" name="Oval 33"/>
          <p:cNvSpPr/>
          <p:nvPr/>
        </p:nvSpPr>
        <p:spPr>
          <a:xfrm>
            <a:off x="4160520" y="2916936"/>
            <a:ext cx="438912" cy="438912"/>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Picture 34" descr="E8F1-1F5BD8.png"/>
          <p:cNvPicPr>
            <a:picLocks noChangeAspect="1"/>
          </p:cNvPicPr>
          <p:nvPr/>
        </p:nvPicPr>
        <p:blipFill>
          <a:blip r:embed="rId5"/>
          <a:stretch>
            <a:fillRect/>
          </a:stretch>
        </p:blipFill>
        <p:spPr>
          <a:xfrm>
            <a:off x="4270248" y="3026664"/>
            <a:ext cx="219456" cy="219456"/>
          </a:xfrm>
          <a:prstGeom prst="rect">
            <a:avLst/>
          </a:prstGeom>
        </p:spPr>
      </p:pic>
      <p:sp>
        <p:nvSpPr>
          <p:cNvPr id="36" name="TextBox 35"/>
          <p:cNvSpPr txBox="1"/>
          <p:nvPr/>
        </p:nvSpPr>
        <p:spPr>
          <a:xfrm>
            <a:off x="4727448" y="2898648"/>
            <a:ext cx="2651760" cy="475488"/>
          </a:xfrm>
          <a:prstGeom prst="rect">
            <a:avLst/>
          </a:prstGeom>
          <a:noFill/>
        </p:spPr>
        <p:txBody>
          <a:bodyPr wrap="square" lIns="0" tIns="0" rIns="0" bIns="0" anchor="ctr">
            <a:spAutoFit/>
          </a:bodyPr>
          <a:lstStyle/>
          <a:p>
            <a:pPr algn="l">
              <a:lnSpc>
                <a:spcPct val="105000"/>
              </a:lnSpc>
              <a:spcAft>
                <a:spcPts val="0"/>
              </a:spcAft>
            </a:pPr>
            <a:r>
              <a:rPr sz="1400" b="0" i="0">
                <a:solidFill>
                  <a:srgbClr val="0B1F33"/>
                </a:solidFill>
                <a:latin typeface="Segoe UI Semibold"/>
              </a:rPr>
              <a:t>Knowledge base pribadi</a:t>
            </a:r>
          </a:p>
        </p:txBody>
      </p:sp>
      <p:sp>
        <p:nvSpPr>
          <p:cNvPr id="37" name="Oval 36"/>
          <p:cNvSpPr/>
          <p:nvPr/>
        </p:nvSpPr>
        <p:spPr>
          <a:xfrm>
            <a:off x="4160520" y="3575304"/>
            <a:ext cx="438912" cy="438912"/>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Picture 37" descr="E7BE-1F5BD8.png"/>
          <p:cNvPicPr>
            <a:picLocks noChangeAspect="1"/>
          </p:cNvPicPr>
          <p:nvPr/>
        </p:nvPicPr>
        <p:blipFill>
          <a:blip r:embed="rId6"/>
          <a:stretch>
            <a:fillRect/>
          </a:stretch>
        </p:blipFill>
        <p:spPr>
          <a:xfrm>
            <a:off x="4270248" y="3685032"/>
            <a:ext cx="219456" cy="219456"/>
          </a:xfrm>
          <a:prstGeom prst="rect">
            <a:avLst/>
          </a:prstGeom>
        </p:spPr>
      </p:pic>
      <p:sp>
        <p:nvSpPr>
          <p:cNvPr id="39" name="TextBox 38"/>
          <p:cNvSpPr txBox="1"/>
          <p:nvPr/>
        </p:nvSpPr>
        <p:spPr>
          <a:xfrm>
            <a:off x="4727448" y="3557016"/>
            <a:ext cx="2651760" cy="475488"/>
          </a:xfrm>
          <a:prstGeom prst="rect">
            <a:avLst/>
          </a:prstGeom>
          <a:noFill/>
        </p:spPr>
        <p:txBody>
          <a:bodyPr wrap="square" lIns="0" tIns="0" rIns="0" bIns="0" anchor="ctr">
            <a:spAutoFit/>
          </a:bodyPr>
          <a:lstStyle/>
          <a:p>
            <a:pPr algn="l">
              <a:lnSpc>
                <a:spcPct val="105000"/>
              </a:lnSpc>
              <a:spcAft>
                <a:spcPts val="0"/>
              </a:spcAft>
            </a:pPr>
            <a:r>
              <a:rPr sz="1400" b="0" i="0">
                <a:solidFill>
                  <a:srgbClr val="0B1F33"/>
                </a:solidFill>
                <a:latin typeface="Segoe UI Semibold"/>
              </a:rPr>
              <a:t>Belajar dan riset</a:t>
            </a:r>
          </a:p>
        </p:txBody>
      </p:sp>
      <p:sp>
        <p:nvSpPr>
          <p:cNvPr id="40" name="Oval 39"/>
          <p:cNvSpPr/>
          <p:nvPr/>
        </p:nvSpPr>
        <p:spPr>
          <a:xfrm>
            <a:off x="4160520" y="4233672"/>
            <a:ext cx="438912" cy="438912"/>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1" name="Picture 40" descr="E70F-1F5BD8.png"/>
          <p:cNvPicPr>
            <a:picLocks noChangeAspect="1"/>
          </p:cNvPicPr>
          <p:nvPr/>
        </p:nvPicPr>
        <p:blipFill>
          <a:blip r:embed="rId7"/>
          <a:stretch>
            <a:fillRect/>
          </a:stretch>
        </p:blipFill>
        <p:spPr>
          <a:xfrm>
            <a:off x="4270248" y="4343400"/>
            <a:ext cx="219456" cy="219456"/>
          </a:xfrm>
          <a:prstGeom prst="rect">
            <a:avLst/>
          </a:prstGeom>
        </p:spPr>
      </p:pic>
      <p:sp>
        <p:nvSpPr>
          <p:cNvPr id="42" name="TextBox 41"/>
          <p:cNvSpPr txBox="1"/>
          <p:nvPr/>
        </p:nvSpPr>
        <p:spPr>
          <a:xfrm>
            <a:off x="4727448" y="4215384"/>
            <a:ext cx="2651760" cy="475488"/>
          </a:xfrm>
          <a:prstGeom prst="rect">
            <a:avLst/>
          </a:prstGeom>
          <a:noFill/>
        </p:spPr>
        <p:txBody>
          <a:bodyPr wrap="square" lIns="0" tIns="0" rIns="0" bIns="0" anchor="ctr">
            <a:spAutoFit/>
          </a:bodyPr>
          <a:lstStyle/>
          <a:p>
            <a:pPr algn="l">
              <a:lnSpc>
                <a:spcPct val="105000"/>
              </a:lnSpc>
              <a:spcAft>
                <a:spcPts val="0"/>
              </a:spcAft>
            </a:pPr>
            <a:r>
              <a:rPr sz="1400" b="0" i="0">
                <a:solidFill>
                  <a:srgbClr val="0B1F33"/>
                </a:solidFill>
                <a:latin typeface="Segoe UI Semibold"/>
              </a:rPr>
              <a:t>Menulis dan merencanakan</a:t>
            </a:r>
          </a:p>
        </p:txBody>
      </p:sp>
      <p:sp>
        <p:nvSpPr>
          <p:cNvPr id="43" name="TextBox 42"/>
          <p:cNvSpPr txBox="1"/>
          <p:nvPr/>
        </p:nvSpPr>
        <p:spPr>
          <a:xfrm>
            <a:off x="7772400" y="1874520"/>
            <a:ext cx="3870655" cy="237744"/>
          </a:xfrm>
          <a:prstGeom prst="rect">
            <a:avLst/>
          </a:prstGeom>
          <a:noFill/>
        </p:spPr>
        <p:txBody>
          <a:bodyPr wrap="none" lIns="0" tIns="0" rIns="0" bIns="0" anchor="ctr">
            <a:spAutoFit/>
          </a:bodyPr>
          <a:lstStyle/>
          <a:p>
            <a:pPr algn="l">
              <a:lnSpc>
                <a:spcPct val="105000"/>
              </a:lnSpc>
              <a:spcAft>
                <a:spcPts val="0"/>
              </a:spcAft>
            </a:pPr>
            <a:r>
              <a:rPr sz="900" b="0" i="0" spc="80">
                <a:solidFill>
                  <a:srgbClr val="1F5BD8"/>
                </a:solidFill>
                <a:latin typeface="Segoe UI Semibold"/>
              </a:rPr>
              <a:t>KENAPA MENARIK</a:t>
            </a:r>
          </a:p>
        </p:txBody>
      </p:sp>
      <p:sp>
        <p:nvSpPr>
          <p:cNvPr id="44" name="Oval 43"/>
          <p:cNvSpPr/>
          <p:nvPr/>
        </p:nvSpPr>
        <p:spPr>
          <a:xfrm>
            <a:off x="7772400" y="2295144"/>
            <a:ext cx="438912" cy="438912"/>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5" name="Picture 44" descr="E71B-1F5BD8.png"/>
          <p:cNvPicPr>
            <a:picLocks noChangeAspect="1"/>
          </p:cNvPicPr>
          <p:nvPr/>
        </p:nvPicPr>
        <p:blipFill>
          <a:blip r:embed="rId8"/>
          <a:stretch>
            <a:fillRect/>
          </a:stretch>
        </p:blipFill>
        <p:spPr>
          <a:xfrm>
            <a:off x="7882128" y="2404872"/>
            <a:ext cx="219456" cy="219456"/>
          </a:xfrm>
          <a:prstGeom prst="rect">
            <a:avLst/>
          </a:prstGeom>
        </p:spPr>
      </p:pic>
      <p:sp>
        <p:nvSpPr>
          <p:cNvPr id="46" name="TextBox 45"/>
          <p:cNvSpPr txBox="1"/>
          <p:nvPr/>
        </p:nvSpPr>
        <p:spPr>
          <a:xfrm>
            <a:off x="8339328" y="2240280"/>
            <a:ext cx="3276295" cy="566928"/>
          </a:xfrm>
          <a:prstGeom prst="rect">
            <a:avLst/>
          </a:prstGeom>
          <a:noFill/>
        </p:spPr>
        <p:txBody>
          <a:bodyPr wrap="square" lIns="0" tIns="0" rIns="0" bIns="0" anchor="ctr">
            <a:spAutoFit/>
          </a:bodyPr>
          <a:lstStyle/>
          <a:p>
            <a:pPr algn="l">
              <a:lnSpc>
                <a:spcPct val="100000"/>
              </a:lnSpc>
              <a:spcAft>
                <a:spcPts val="0"/>
              </a:spcAft>
            </a:pPr>
            <a:r>
              <a:rPr sz="1300" b="0" i="0">
                <a:solidFill>
                  <a:srgbClr val="0B1F33"/>
                </a:solidFill>
                <a:latin typeface="Segoe UI"/>
              </a:rPr>
              <a:t>Catatan saling terhubung lewat link, backlinks dan graph</a:t>
            </a:r>
          </a:p>
        </p:txBody>
      </p:sp>
      <p:sp>
        <p:nvSpPr>
          <p:cNvPr id="47" name="Oval 46"/>
          <p:cNvSpPr/>
          <p:nvPr/>
        </p:nvSpPr>
        <p:spPr>
          <a:xfrm>
            <a:off x="7772400" y="3026664"/>
            <a:ext cx="438912" cy="438912"/>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8" name="Picture 47" descr="E8B7-1F5BD8.png"/>
          <p:cNvPicPr>
            <a:picLocks noChangeAspect="1"/>
          </p:cNvPicPr>
          <p:nvPr/>
        </p:nvPicPr>
        <p:blipFill>
          <a:blip r:embed="rId9"/>
          <a:stretch>
            <a:fillRect/>
          </a:stretch>
        </p:blipFill>
        <p:spPr>
          <a:xfrm>
            <a:off x="7882128" y="3136392"/>
            <a:ext cx="219456" cy="219456"/>
          </a:xfrm>
          <a:prstGeom prst="rect">
            <a:avLst/>
          </a:prstGeom>
        </p:spPr>
      </p:pic>
      <p:sp>
        <p:nvSpPr>
          <p:cNvPr id="49" name="TextBox 48"/>
          <p:cNvSpPr txBox="1"/>
          <p:nvPr/>
        </p:nvSpPr>
        <p:spPr>
          <a:xfrm>
            <a:off x="8339328" y="2971800"/>
            <a:ext cx="3276295" cy="566928"/>
          </a:xfrm>
          <a:prstGeom prst="rect">
            <a:avLst/>
          </a:prstGeom>
          <a:noFill/>
        </p:spPr>
        <p:txBody>
          <a:bodyPr wrap="square" lIns="0" tIns="0" rIns="0" bIns="0" anchor="ctr">
            <a:spAutoFit/>
          </a:bodyPr>
          <a:lstStyle/>
          <a:p>
            <a:pPr algn="l">
              <a:lnSpc>
                <a:spcPct val="100000"/>
              </a:lnSpc>
              <a:spcAft>
                <a:spcPts val="0"/>
              </a:spcAft>
            </a:pPr>
            <a:r>
              <a:rPr sz="1300" b="0" i="0">
                <a:solidFill>
                  <a:srgbClr val="0B1F33"/>
                </a:solidFill>
                <a:latin typeface="Segoe UI"/>
              </a:rPr>
              <a:t>File milik sendiri — tetap bisa dibuka tanpa internet</a:t>
            </a:r>
          </a:p>
        </p:txBody>
      </p:sp>
      <p:sp>
        <p:nvSpPr>
          <p:cNvPr id="50" name="Oval 49"/>
          <p:cNvSpPr/>
          <p:nvPr/>
        </p:nvSpPr>
        <p:spPr>
          <a:xfrm>
            <a:off x="7772400" y="3758184"/>
            <a:ext cx="438912" cy="438912"/>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1" name="Picture 50" descr="E99A-1F5BD8.png"/>
          <p:cNvPicPr>
            <a:picLocks noChangeAspect="1"/>
          </p:cNvPicPr>
          <p:nvPr/>
        </p:nvPicPr>
        <p:blipFill>
          <a:blip r:embed="rId10"/>
          <a:stretch>
            <a:fillRect/>
          </a:stretch>
        </p:blipFill>
        <p:spPr>
          <a:xfrm>
            <a:off x="7882128" y="3867912"/>
            <a:ext cx="219456" cy="219456"/>
          </a:xfrm>
          <a:prstGeom prst="rect">
            <a:avLst/>
          </a:prstGeom>
        </p:spPr>
      </p:pic>
      <p:sp>
        <p:nvSpPr>
          <p:cNvPr id="52" name="TextBox 51"/>
          <p:cNvSpPr txBox="1"/>
          <p:nvPr/>
        </p:nvSpPr>
        <p:spPr>
          <a:xfrm>
            <a:off x="8339328" y="3703320"/>
            <a:ext cx="3276295" cy="566928"/>
          </a:xfrm>
          <a:prstGeom prst="rect">
            <a:avLst/>
          </a:prstGeom>
          <a:noFill/>
        </p:spPr>
        <p:txBody>
          <a:bodyPr wrap="square" lIns="0" tIns="0" rIns="0" bIns="0" anchor="ctr">
            <a:spAutoFit/>
          </a:bodyPr>
          <a:lstStyle/>
          <a:p>
            <a:pPr algn="l">
              <a:lnSpc>
                <a:spcPct val="100000"/>
              </a:lnSpc>
              <a:spcAft>
                <a:spcPts val="0"/>
              </a:spcAft>
            </a:pPr>
            <a:r>
              <a:rPr sz="1300" b="0" i="0">
                <a:solidFill>
                  <a:srgbClr val="0B1F33"/>
                </a:solidFill>
                <a:latin typeface="Segoe UI"/>
              </a:rPr>
              <a:t>File biasa, jadi bisa dibaca tools lain — termasuk AI</a:t>
            </a:r>
          </a:p>
        </p:txBody>
      </p:sp>
      <p:sp>
        <p:nvSpPr>
          <p:cNvPr id="53" name="Oval 52"/>
          <p:cNvSpPr/>
          <p:nvPr/>
        </p:nvSpPr>
        <p:spPr>
          <a:xfrm>
            <a:off x="7772400" y="4489704"/>
            <a:ext cx="438912" cy="438912"/>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4" name="Picture 53" descr="E73E-1F5BD8.png"/>
          <p:cNvPicPr>
            <a:picLocks noChangeAspect="1"/>
          </p:cNvPicPr>
          <p:nvPr/>
        </p:nvPicPr>
        <p:blipFill>
          <a:blip r:embed="rId11"/>
          <a:stretch>
            <a:fillRect/>
          </a:stretch>
        </p:blipFill>
        <p:spPr>
          <a:xfrm>
            <a:off x="7882128" y="4599432"/>
            <a:ext cx="219456" cy="219456"/>
          </a:xfrm>
          <a:prstGeom prst="rect">
            <a:avLst/>
          </a:prstGeom>
        </p:spPr>
      </p:pic>
      <p:sp>
        <p:nvSpPr>
          <p:cNvPr id="55" name="TextBox 54"/>
          <p:cNvSpPr txBox="1"/>
          <p:nvPr/>
        </p:nvSpPr>
        <p:spPr>
          <a:xfrm>
            <a:off x="8339328" y="4434840"/>
            <a:ext cx="3276295" cy="566928"/>
          </a:xfrm>
          <a:prstGeom prst="rect">
            <a:avLst/>
          </a:prstGeom>
          <a:noFill/>
        </p:spPr>
        <p:txBody>
          <a:bodyPr wrap="square" lIns="0" tIns="0" rIns="0" bIns="0" anchor="ctr">
            <a:spAutoFit/>
          </a:bodyPr>
          <a:lstStyle/>
          <a:p>
            <a:pPr algn="l">
              <a:lnSpc>
                <a:spcPct val="100000"/>
              </a:lnSpc>
              <a:spcAft>
                <a:spcPts val="0"/>
              </a:spcAft>
            </a:pPr>
            <a:r>
              <a:rPr sz="1300" b="0" i="0">
                <a:solidFill>
                  <a:srgbClr val="0B1F33"/>
                </a:solidFill>
                <a:latin typeface="Segoe UI"/>
              </a:rPr>
              <a:t>Gratis, termasuk untuk pemakaian kerja</a:t>
            </a:r>
          </a:p>
        </p:txBody>
      </p:sp>
      <p:sp>
        <p:nvSpPr>
          <p:cNvPr id="56" name="Rounded Rectangle 55"/>
          <p:cNvSpPr/>
          <p:nvPr/>
        </p:nvSpPr>
        <p:spPr>
          <a:xfrm>
            <a:off x="548640" y="5349240"/>
            <a:ext cx="11094415" cy="868680"/>
          </a:xfrm>
          <a:prstGeom prst="roundRect">
            <a:avLst>
              <a:gd name="adj" fmla="val 10526"/>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7" name="Picture 56" descr="E8A7-8DB4FF.png"/>
          <p:cNvPicPr>
            <a:picLocks noChangeAspect="1"/>
          </p:cNvPicPr>
          <p:nvPr/>
        </p:nvPicPr>
        <p:blipFill>
          <a:blip r:embed="rId12"/>
          <a:stretch>
            <a:fillRect/>
          </a:stretch>
        </p:blipFill>
        <p:spPr>
          <a:xfrm>
            <a:off x="804672" y="5623560"/>
            <a:ext cx="310896" cy="310896"/>
          </a:xfrm>
          <a:prstGeom prst="rect">
            <a:avLst/>
          </a:prstGeom>
        </p:spPr>
      </p:pic>
      <p:sp>
        <p:nvSpPr>
          <p:cNvPr id="58" name="TextBox 57"/>
          <p:cNvSpPr txBox="1"/>
          <p:nvPr/>
        </p:nvSpPr>
        <p:spPr>
          <a:xfrm>
            <a:off x="1325880" y="5477256"/>
            <a:ext cx="3657600" cy="237744"/>
          </a:xfrm>
          <a:prstGeom prst="rect">
            <a:avLst/>
          </a:prstGeom>
          <a:noFill/>
        </p:spPr>
        <p:txBody>
          <a:bodyPr wrap="none" lIns="0" tIns="0" rIns="0" bIns="0" anchor="ctr">
            <a:spAutoFit/>
          </a:bodyPr>
          <a:lstStyle/>
          <a:p>
            <a:pPr algn="l">
              <a:lnSpc>
                <a:spcPct val="105000"/>
              </a:lnSpc>
              <a:spcAft>
                <a:spcPts val="0"/>
              </a:spcAft>
            </a:pPr>
            <a:r>
              <a:rPr sz="900" b="0" i="0" spc="80">
                <a:solidFill>
                  <a:srgbClr val="8DB4FF"/>
                </a:solidFill>
                <a:latin typeface="Segoe UI Semibold"/>
              </a:rPr>
              <a:t>DOWNLOAD GRATIS</a:t>
            </a:r>
          </a:p>
        </p:txBody>
      </p:sp>
      <p:sp>
        <p:nvSpPr>
          <p:cNvPr id="59" name="TextBox 58"/>
          <p:cNvSpPr txBox="1"/>
          <p:nvPr/>
        </p:nvSpPr>
        <p:spPr>
          <a:xfrm>
            <a:off x="1325880" y="5696712"/>
            <a:ext cx="4572000" cy="411480"/>
          </a:xfrm>
          <a:prstGeom prst="rect">
            <a:avLst/>
          </a:prstGeom>
          <a:noFill/>
        </p:spPr>
        <p:txBody>
          <a:bodyPr wrap="none" lIns="0" tIns="0" rIns="0" bIns="0" anchor="ctr">
            <a:spAutoFit/>
          </a:bodyPr>
          <a:lstStyle/>
          <a:p>
            <a:pPr algn="l">
              <a:lnSpc>
                <a:spcPct val="105000"/>
              </a:lnSpc>
              <a:spcAft>
                <a:spcPts val="0"/>
              </a:spcAft>
            </a:pPr>
            <a:r>
              <a:rPr sz="2000" b="0" i="0">
                <a:solidFill>
                  <a:srgbClr val="FFFFFF"/>
                </a:solidFill>
                <a:latin typeface="Segoe UI Semibold"/>
              </a:rPr>
              <a:t>obsidian.md/download</a:t>
            </a:r>
          </a:p>
        </p:txBody>
      </p:sp>
      <p:sp>
        <p:nvSpPr>
          <p:cNvPr id="60" name="TextBox 59"/>
          <p:cNvSpPr txBox="1"/>
          <p:nvPr/>
        </p:nvSpPr>
        <p:spPr>
          <a:xfrm>
            <a:off x="5120640" y="5349240"/>
            <a:ext cx="3566160" cy="868680"/>
          </a:xfrm>
          <a:prstGeom prst="rect">
            <a:avLst/>
          </a:prstGeom>
          <a:noFill/>
        </p:spPr>
        <p:txBody>
          <a:bodyPr wrap="none" lIns="0" tIns="0" rIns="0" bIns="0" anchor="ctr">
            <a:spAutoFit/>
          </a:bodyPr>
          <a:lstStyle/>
          <a:p>
            <a:pPr algn="l">
              <a:lnSpc>
                <a:spcPct val="105000"/>
              </a:lnSpc>
              <a:spcAft>
                <a:spcPts val="0"/>
              </a:spcAft>
            </a:pPr>
            <a:r>
              <a:rPr sz="1250" b="0" i="0">
                <a:solidFill>
                  <a:srgbClr val="98A3B3"/>
                </a:solidFill>
                <a:latin typeface="Segoe UI"/>
              </a:rPr>
              <a:t>Windows · Mac · Linux · iOS · Android</a:t>
            </a:r>
          </a:p>
        </p:txBody>
      </p:sp>
      <p:sp>
        <p:nvSpPr>
          <p:cNvPr id="61" name="Rounded Rectangle 60">
            <a:hlinkClick r:id="rId13"/>
          </p:cNvPr>
          <p:cNvSpPr/>
          <p:nvPr/>
        </p:nvSpPr>
        <p:spPr>
          <a:xfrm>
            <a:off x="8854135" y="5568696"/>
            <a:ext cx="2560320" cy="43891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0" rIns="0" bIns="0" rtlCol="0" anchor="ctr"/>
          <a:lstStyle/>
          <a:p>
            <a:pPr algn="l">
              <a:lnSpc>
                <a:spcPct val="105000"/>
              </a:lnSpc>
              <a:spcAft>
                <a:spcPts val="0"/>
              </a:spcAft>
            </a:pPr>
            <a:r>
              <a:rPr sz="1200" b="0" i="0">
                <a:solidFill>
                  <a:srgbClr val="0B1F33"/>
                </a:solidFill>
                <a:latin typeface="Segoe UI Semibold"/>
              </a:rPr>
              <a:t>Buka link download</a:t>
            </a:r>
          </a:p>
        </p:txBody>
      </p:sp>
      <p:pic>
        <p:nvPicPr>
          <p:cNvPr id="62" name="Picture 61" descr="E8A7-0B1F33.png">
            <a:hlinkClick r:id="rId13"/>
          </p:cNvPr>
          <p:cNvPicPr>
            <a:picLocks noChangeAspect="1"/>
          </p:cNvPicPr>
          <p:nvPr/>
        </p:nvPicPr>
        <p:blipFill>
          <a:blip r:embed="rId14"/>
          <a:stretch>
            <a:fillRect/>
          </a:stretch>
        </p:blipFill>
        <p:spPr>
          <a:xfrm>
            <a:off x="11084540" y="5695980"/>
            <a:ext cx="184343" cy="184343"/>
          </a:xfrm>
          <a:prstGeom prst="rect">
            <a:avLst/>
          </a:prstGeom>
        </p:spPr>
      </p:pic>
      <p:sp>
        <p:nvSpPr>
          <p:cNvPr id="63" name="TextBox 62"/>
          <p:cNvSpPr txBox="1"/>
          <p:nvPr/>
        </p:nvSpPr>
        <p:spPr>
          <a:xfrm>
            <a:off x="548640" y="6419088"/>
            <a:ext cx="8686800" cy="237744"/>
          </a:xfrm>
          <a:prstGeom prst="rect">
            <a:avLst/>
          </a:prstGeom>
          <a:noFill/>
        </p:spPr>
        <p:txBody>
          <a:bodyPr wrap="none" lIns="0" tIns="0" rIns="0" bIns="0" anchor="t">
            <a:spAutoFit/>
          </a:bodyPr>
          <a:lstStyle/>
          <a:p>
            <a:pPr algn="l">
              <a:lnSpc>
                <a:spcPct val="105000"/>
              </a:lnSpc>
              <a:spcAft>
                <a:spcPts val="0"/>
              </a:spcAft>
            </a:pPr>
            <a:r>
              <a:rPr sz="850" b="0" i="0">
                <a:solidFill>
                  <a:srgbClr val="98A3B3"/>
                </a:solidFill>
                <a:latin typeface="Segoe UI"/>
              </a:rPr>
              <a:t>Sumber: REF-040, REF-041, REF-042, REF-067 (vault demo › 06 Referensi)</a:t>
            </a:r>
          </a:p>
        </p:txBody>
      </p:sp>
      <p:sp>
        <p:nvSpPr>
          <p:cNvPr id="64" name="TextBox 63"/>
          <p:cNvSpPr txBox="1"/>
          <p:nvPr/>
        </p:nvSpPr>
        <p:spPr>
          <a:xfrm>
            <a:off x="7071055" y="6419088"/>
            <a:ext cx="3657600" cy="237744"/>
          </a:xfrm>
          <a:prstGeom prst="rect">
            <a:avLst/>
          </a:prstGeom>
          <a:noFill/>
        </p:spPr>
        <p:txBody>
          <a:bodyPr wrap="none" lIns="0" tIns="0" rIns="0" bIns="0" anchor="ctr">
            <a:spAutoFit/>
          </a:bodyPr>
          <a:lstStyle/>
          <a:p>
            <a:pPr algn="r">
              <a:lnSpc>
                <a:spcPct val="105000"/>
              </a:lnSpc>
              <a:spcAft>
                <a:spcPts val="0"/>
              </a:spcAft>
            </a:pPr>
            <a:r>
              <a:rPr sz="800" b="0" i="0" spc="80">
                <a:solidFill>
                  <a:srgbClr val="56657A"/>
                </a:solidFill>
                <a:latin typeface="Segoe UI Semibold"/>
              </a:rPr>
              <a:t>ABDUL KAUSAR</a:t>
            </a:r>
          </a:p>
        </p:txBody>
      </p:sp>
      <p:sp>
        <p:nvSpPr>
          <p:cNvPr id="65" name="TextBox 64"/>
          <p:cNvSpPr txBox="1"/>
          <p:nvPr/>
        </p:nvSpPr>
        <p:spPr>
          <a:xfrm>
            <a:off x="10911535" y="6419088"/>
            <a:ext cx="731520" cy="237744"/>
          </a:xfrm>
          <a:prstGeom prst="rect">
            <a:avLst/>
          </a:prstGeom>
          <a:noFill/>
        </p:spPr>
        <p:txBody>
          <a:bodyPr wrap="square" lIns="0" tIns="0" rIns="0" bIns="0" anchor="t">
            <a:spAutoFit/>
          </a:bodyPr>
          <a:lstStyle/>
          <a:p>
            <a:pPr algn="r">
              <a:lnSpc>
                <a:spcPct val="105000"/>
              </a:lnSpc>
              <a:spcAft>
                <a:spcPts val="0"/>
              </a:spcAft>
            </a:pPr>
            <a:r>
              <a:rPr sz="900" b="0" i="0">
                <a:solidFill>
                  <a:srgbClr val="98A3B3"/>
                </a:solidFill>
                <a:latin typeface="Segoe UI"/>
              </a:rPr>
              <a:t>21</a:t>
            </a:r>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82880"/>
            <a:ext cx="95234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DATA CENTER</a:t>
            </a:r>
          </a:p>
        </p:txBody>
      </p:sp>
      <p:sp>
        <p:nvSpPr>
          <p:cNvPr id="3" name="TextBox 2"/>
          <p:cNvSpPr txBox="1"/>
          <p:nvPr/>
        </p:nvSpPr>
        <p:spPr>
          <a:xfrm>
            <a:off x="1409543"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4" name="TextBox 3"/>
          <p:cNvSpPr txBox="1"/>
          <p:nvPr/>
        </p:nvSpPr>
        <p:spPr>
          <a:xfrm>
            <a:off x="1702151" y="182880"/>
            <a:ext cx="78485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INTERFACE</a:t>
            </a:r>
          </a:p>
        </p:txBody>
      </p:sp>
      <p:sp>
        <p:nvSpPr>
          <p:cNvPr id="5" name="TextBox 4"/>
          <p:cNvSpPr txBox="1"/>
          <p:nvPr/>
        </p:nvSpPr>
        <p:spPr>
          <a:xfrm>
            <a:off x="239556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6" name="TextBox 5"/>
          <p:cNvSpPr txBox="1"/>
          <p:nvPr/>
        </p:nvSpPr>
        <p:spPr>
          <a:xfrm>
            <a:off x="2688175" y="182880"/>
            <a:ext cx="724872"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CONTROL</a:t>
            </a:r>
          </a:p>
        </p:txBody>
      </p:sp>
      <p:sp>
        <p:nvSpPr>
          <p:cNvPr id="7" name="TextBox 6"/>
          <p:cNvSpPr txBox="1"/>
          <p:nvPr/>
        </p:nvSpPr>
        <p:spPr>
          <a:xfrm>
            <a:off x="3321608"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8" name="TextBox 7"/>
          <p:cNvSpPr txBox="1"/>
          <p:nvPr/>
        </p:nvSpPr>
        <p:spPr>
          <a:xfrm>
            <a:off x="3614216" y="182880"/>
            <a:ext cx="115377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COMMISSIONING</a:t>
            </a:r>
          </a:p>
        </p:txBody>
      </p:sp>
      <p:sp>
        <p:nvSpPr>
          <p:cNvPr id="9" name="TextBox 8"/>
          <p:cNvSpPr txBox="1"/>
          <p:nvPr/>
        </p:nvSpPr>
        <p:spPr>
          <a:xfrm>
            <a:off x="4676549"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0" name="TextBox 9"/>
          <p:cNvSpPr txBox="1"/>
          <p:nvPr/>
        </p:nvSpPr>
        <p:spPr>
          <a:xfrm>
            <a:off x="4969157" y="182880"/>
            <a:ext cx="945555"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MONITORING</a:t>
            </a:r>
          </a:p>
        </p:txBody>
      </p:sp>
      <p:sp>
        <p:nvSpPr>
          <p:cNvPr id="11" name="TextBox 10"/>
          <p:cNvSpPr txBox="1"/>
          <p:nvPr/>
        </p:nvSpPr>
        <p:spPr>
          <a:xfrm>
            <a:off x="582327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2" name="TextBox 11"/>
          <p:cNvSpPr txBox="1"/>
          <p:nvPr/>
        </p:nvSpPr>
        <p:spPr>
          <a:xfrm>
            <a:off x="6115879" y="182880"/>
            <a:ext cx="63679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REALITA</a:t>
            </a:r>
          </a:p>
        </p:txBody>
      </p:sp>
      <p:sp>
        <p:nvSpPr>
          <p:cNvPr id="13" name="TextBox 12"/>
          <p:cNvSpPr txBox="1"/>
          <p:nvPr/>
        </p:nvSpPr>
        <p:spPr>
          <a:xfrm>
            <a:off x="6661235"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4" name="TextBox 13"/>
          <p:cNvSpPr txBox="1"/>
          <p:nvPr/>
        </p:nvSpPr>
        <p:spPr>
          <a:xfrm>
            <a:off x="6953843" y="182880"/>
            <a:ext cx="821309"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INFORMASI</a:t>
            </a:r>
          </a:p>
        </p:txBody>
      </p:sp>
      <p:sp>
        <p:nvSpPr>
          <p:cNvPr id="15" name="TextBox 14"/>
          <p:cNvSpPr txBox="1"/>
          <p:nvPr/>
        </p:nvSpPr>
        <p:spPr>
          <a:xfrm>
            <a:off x="7683712"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6" name="TextBox 15"/>
          <p:cNvSpPr txBox="1"/>
          <p:nvPr/>
        </p:nvSpPr>
        <p:spPr>
          <a:xfrm>
            <a:off x="7976320" y="182880"/>
            <a:ext cx="899541"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KNOWLEDGE</a:t>
            </a:r>
          </a:p>
        </p:txBody>
      </p:sp>
      <p:sp>
        <p:nvSpPr>
          <p:cNvPr id="17" name="TextBox 16"/>
          <p:cNvSpPr txBox="1"/>
          <p:nvPr/>
        </p:nvSpPr>
        <p:spPr>
          <a:xfrm>
            <a:off x="878442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8" name="TextBox 17"/>
          <p:cNvSpPr txBox="1"/>
          <p:nvPr/>
        </p:nvSpPr>
        <p:spPr>
          <a:xfrm>
            <a:off x="9077029" y="182880"/>
            <a:ext cx="733298"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1F5BD8"/>
                </a:solidFill>
                <a:latin typeface="Segoe UI Semibold"/>
              </a:rPr>
              <a:t>OBSIDIAN</a:t>
            </a:r>
          </a:p>
        </p:txBody>
      </p:sp>
      <p:sp>
        <p:nvSpPr>
          <p:cNvPr id="19" name="Rectangle 18"/>
          <p:cNvSpPr/>
          <p:nvPr/>
        </p:nvSpPr>
        <p:spPr>
          <a:xfrm>
            <a:off x="9077029" y="420624"/>
            <a:ext cx="550418" cy="32004"/>
          </a:xfrm>
          <a:prstGeom prst="rect">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71888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21" name="TextBox 20"/>
          <p:cNvSpPr txBox="1"/>
          <p:nvPr/>
        </p:nvSpPr>
        <p:spPr>
          <a:xfrm>
            <a:off x="10011495" y="182880"/>
            <a:ext cx="297434"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AI</a:t>
            </a:r>
          </a:p>
        </p:txBody>
      </p:sp>
      <p:sp>
        <p:nvSpPr>
          <p:cNvPr id="22" name="!!title"/>
          <p:cNvSpPr txBox="1"/>
          <p:nvPr/>
        </p:nvSpPr>
        <p:spPr>
          <a:xfrm>
            <a:off x="548640" y="566928"/>
            <a:ext cx="11094415" cy="841248"/>
          </a:xfrm>
          <a:prstGeom prst="rect">
            <a:avLst/>
          </a:prstGeom>
          <a:noFill/>
        </p:spPr>
        <p:txBody>
          <a:bodyPr wrap="square" lIns="0" tIns="0" rIns="0" bIns="0" anchor="b">
            <a:spAutoFit/>
          </a:bodyPr>
          <a:lstStyle/>
          <a:p>
            <a:pPr algn="l">
              <a:lnSpc>
                <a:spcPct val="95000"/>
              </a:lnSpc>
              <a:spcAft>
                <a:spcPts val="0"/>
              </a:spcAft>
            </a:pPr>
            <a:r>
              <a:rPr sz="2800" b="0" i="0">
                <a:solidFill>
                  <a:srgbClr val="0B1F33"/>
                </a:solidFill>
                <a:latin typeface="Georgia"/>
              </a:rPr>
              <a:t>Capture, organize, connect, retrieve: four simple steps</a:t>
            </a:r>
          </a:p>
        </p:txBody>
      </p:sp>
      <p:cxnSp>
        <p:nvCxnSpPr>
          <p:cNvPr id="23" name="Connector 22"/>
          <p:cNvCxnSpPr/>
          <p:nvPr/>
        </p:nvCxnSpPr>
        <p:spPr>
          <a:xfrm>
            <a:off x="548640" y="1517904"/>
            <a:ext cx="11094415" cy="0"/>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24" name="!!chev0"/>
          <p:cNvSpPr/>
          <p:nvPr/>
        </p:nvSpPr>
        <p:spPr>
          <a:xfrm>
            <a:off x="548640" y="1737360"/>
            <a:ext cx="2842184" cy="457200"/>
          </a:xfrm>
          <a:prstGeom prst="homePlat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chi0" descr="E70F-1F5BD8.png"/>
          <p:cNvPicPr>
            <a:picLocks noChangeAspect="1"/>
          </p:cNvPicPr>
          <p:nvPr/>
        </p:nvPicPr>
        <p:blipFill>
          <a:blip r:embed="rId3"/>
          <a:stretch>
            <a:fillRect/>
          </a:stretch>
        </p:blipFill>
        <p:spPr>
          <a:xfrm>
            <a:off x="932688" y="1847088"/>
            <a:ext cx="237744" cy="237744"/>
          </a:xfrm>
          <a:prstGeom prst="rect">
            <a:avLst/>
          </a:prstGeom>
        </p:spPr>
      </p:pic>
      <p:sp>
        <p:nvSpPr>
          <p:cNvPr id="26" name="!!chl0"/>
          <p:cNvSpPr txBox="1"/>
          <p:nvPr/>
        </p:nvSpPr>
        <p:spPr>
          <a:xfrm>
            <a:off x="1280160" y="1847088"/>
            <a:ext cx="1927784" cy="237744"/>
          </a:xfrm>
          <a:prstGeom prst="rect">
            <a:avLst/>
          </a:prstGeom>
          <a:noFill/>
        </p:spPr>
        <p:txBody>
          <a:bodyPr wrap="none" lIns="0" tIns="0" rIns="0" bIns="0" anchor="ctr">
            <a:spAutoFit/>
          </a:bodyPr>
          <a:lstStyle/>
          <a:p>
            <a:pPr algn="l">
              <a:lnSpc>
                <a:spcPct val="105000"/>
              </a:lnSpc>
              <a:spcAft>
                <a:spcPts val="0"/>
              </a:spcAft>
            </a:pPr>
            <a:r>
              <a:rPr sz="1000" b="0" i="0" spc="80">
                <a:solidFill>
                  <a:srgbClr val="1F5BD8"/>
                </a:solidFill>
                <a:latin typeface="Segoe UI Semibold"/>
              </a:rPr>
              <a:t>CATAT</a:t>
            </a:r>
          </a:p>
        </p:txBody>
      </p:sp>
      <p:sp>
        <p:nvSpPr>
          <p:cNvPr id="27" name="!!chev1"/>
          <p:cNvSpPr/>
          <p:nvPr/>
        </p:nvSpPr>
        <p:spPr>
          <a:xfrm>
            <a:off x="3299384" y="1737360"/>
            <a:ext cx="2842184" cy="457200"/>
          </a:xfrm>
          <a:prstGeom prst="chevron">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chi1" descr="E8B7-1F5BD8.png"/>
          <p:cNvPicPr>
            <a:picLocks noChangeAspect="1"/>
          </p:cNvPicPr>
          <p:nvPr/>
        </p:nvPicPr>
        <p:blipFill>
          <a:blip r:embed="rId4"/>
          <a:stretch>
            <a:fillRect/>
          </a:stretch>
        </p:blipFill>
        <p:spPr>
          <a:xfrm>
            <a:off x="3683432" y="1847088"/>
            <a:ext cx="237744" cy="237744"/>
          </a:xfrm>
          <a:prstGeom prst="rect">
            <a:avLst/>
          </a:prstGeom>
        </p:spPr>
      </p:pic>
      <p:sp>
        <p:nvSpPr>
          <p:cNvPr id="29" name="!!chl1"/>
          <p:cNvSpPr txBox="1"/>
          <p:nvPr/>
        </p:nvSpPr>
        <p:spPr>
          <a:xfrm>
            <a:off x="4030904" y="1847088"/>
            <a:ext cx="1927784" cy="237744"/>
          </a:xfrm>
          <a:prstGeom prst="rect">
            <a:avLst/>
          </a:prstGeom>
          <a:noFill/>
        </p:spPr>
        <p:txBody>
          <a:bodyPr wrap="none" lIns="0" tIns="0" rIns="0" bIns="0" anchor="ctr">
            <a:spAutoFit/>
          </a:bodyPr>
          <a:lstStyle/>
          <a:p>
            <a:pPr algn="l">
              <a:lnSpc>
                <a:spcPct val="105000"/>
              </a:lnSpc>
              <a:spcAft>
                <a:spcPts val="0"/>
              </a:spcAft>
            </a:pPr>
            <a:r>
              <a:rPr sz="1000" b="0" i="0" spc="80">
                <a:solidFill>
                  <a:srgbClr val="1F5BD8"/>
                </a:solidFill>
                <a:latin typeface="Segoe UI Semibold"/>
              </a:rPr>
              <a:t>RAPIKAN</a:t>
            </a:r>
          </a:p>
        </p:txBody>
      </p:sp>
      <p:sp>
        <p:nvSpPr>
          <p:cNvPr id="30" name="!!chev2"/>
          <p:cNvSpPr/>
          <p:nvPr/>
        </p:nvSpPr>
        <p:spPr>
          <a:xfrm>
            <a:off x="6050128" y="1737360"/>
            <a:ext cx="2842184" cy="457200"/>
          </a:xfrm>
          <a:prstGeom prst="chevron">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chi2" descr="E71B-1F5BD8.png"/>
          <p:cNvPicPr>
            <a:picLocks noChangeAspect="1"/>
          </p:cNvPicPr>
          <p:nvPr/>
        </p:nvPicPr>
        <p:blipFill>
          <a:blip r:embed="rId5"/>
          <a:stretch>
            <a:fillRect/>
          </a:stretch>
        </p:blipFill>
        <p:spPr>
          <a:xfrm>
            <a:off x="6434176" y="1847088"/>
            <a:ext cx="237744" cy="237744"/>
          </a:xfrm>
          <a:prstGeom prst="rect">
            <a:avLst/>
          </a:prstGeom>
        </p:spPr>
      </p:pic>
      <p:sp>
        <p:nvSpPr>
          <p:cNvPr id="32" name="!!chl2"/>
          <p:cNvSpPr txBox="1"/>
          <p:nvPr/>
        </p:nvSpPr>
        <p:spPr>
          <a:xfrm>
            <a:off x="6781648" y="1847088"/>
            <a:ext cx="1927784" cy="237744"/>
          </a:xfrm>
          <a:prstGeom prst="rect">
            <a:avLst/>
          </a:prstGeom>
          <a:noFill/>
        </p:spPr>
        <p:txBody>
          <a:bodyPr wrap="none" lIns="0" tIns="0" rIns="0" bIns="0" anchor="ctr">
            <a:spAutoFit/>
          </a:bodyPr>
          <a:lstStyle/>
          <a:p>
            <a:pPr algn="l">
              <a:lnSpc>
                <a:spcPct val="105000"/>
              </a:lnSpc>
              <a:spcAft>
                <a:spcPts val="0"/>
              </a:spcAft>
            </a:pPr>
            <a:r>
              <a:rPr sz="1000" b="0" i="0" spc="80">
                <a:solidFill>
                  <a:srgbClr val="1F5BD8"/>
                </a:solidFill>
                <a:latin typeface="Segoe UI Semibold"/>
              </a:rPr>
              <a:t>HUBUNGKAN</a:t>
            </a:r>
          </a:p>
        </p:txBody>
      </p:sp>
      <p:sp>
        <p:nvSpPr>
          <p:cNvPr id="33" name="!!chev3"/>
          <p:cNvSpPr/>
          <p:nvPr/>
        </p:nvSpPr>
        <p:spPr>
          <a:xfrm>
            <a:off x="8800871" y="1737360"/>
            <a:ext cx="2842184" cy="457200"/>
          </a:xfrm>
          <a:prstGeom prst="chevron">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chi3" descr="E721-1F5BD8.png"/>
          <p:cNvPicPr>
            <a:picLocks noChangeAspect="1"/>
          </p:cNvPicPr>
          <p:nvPr/>
        </p:nvPicPr>
        <p:blipFill>
          <a:blip r:embed="rId6"/>
          <a:stretch>
            <a:fillRect/>
          </a:stretch>
        </p:blipFill>
        <p:spPr>
          <a:xfrm>
            <a:off x="9184919" y="1847088"/>
            <a:ext cx="237744" cy="237744"/>
          </a:xfrm>
          <a:prstGeom prst="rect">
            <a:avLst/>
          </a:prstGeom>
        </p:spPr>
      </p:pic>
      <p:sp>
        <p:nvSpPr>
          <p:cNvPr id="35" name="!!chl3"/>
          <p:cNvSpPr txBox="1"/>
          <p:nvPr/>
        </p:nvSpPr>
        <p:spPr>
          <a:xfrm>
            <a:off x="9532391" y="1847088"/>
            <a:ext cx="1927784" cy="237744"/>
          </a:xfrm>
          <a:prstGeom prst="rect">
            <a:avLst/>
          </a:prstGeom>
          <a:noFill/>
        </p:spPr>
        <p:txBody>
          <a:bodyPr wrap="none" lIns="0" tIns="0" rIns="0" bIns="0" anchor="ctr">
            <a:spAutoFit/>
          </a:bodyPr>
          <a:lstStyle/>
          <a:p>
            <a:pPr algn="l">
              <a:lnSpc>
                <a:spcPct val="105000"/>
              </a:lnSpc>
              <a:spcAft>
                <a:spcPts val="0"/>
              </a:spcAft>
            </a:pPr>
            <a:r>
              <a:rPr sz="1000" b="0" i="0" spc="80">
                <a:solidFill>
                  <a:srgbClr val="1F5BD8"/>
                </a:solidFill>
                <a:latin typeface="Segoe UI Semibold"/>
              </a:rPr>
              <a:t>TEMUKAN KEMBALI</a:t>
            </a:r>
          </a:p>
        </p:txBody>
      </p:sp>
      <p:sp>
        <p:nvSpPr>
          <p:cNvPr id="36" name="!!obs"/>
          <p:cNvSpPr/>
          <p:nvPr/>
        </p:nvSpPr>
        <p:spPr>
          <a:xfrm>
            <a:off x="548640" y="2423160"/>
            <a:ext cx="11094415" cy="3749040"/>
          </a:xfrm>
          <a:prstGeom prst="roundRect">
            <a:avLst>
              <a:gd name="adj" fmla="val 2439"/>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bsbar"/>
          <p:cNvSpPr/>
          <p:nvPr/>
        </p:nvSpPr>
        <p:spPr>
          <a:xfrm>
            <a:off x="557784" y="2432304"/>
            <a:ext cx="11076127" cy="310896"/>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713232" y="2551176"/>
            <a:ext cx="73152" cy="73152"/>
          </a:xfrm>
          <a:prstGeom prst="ellipse">
            <a:avLst/>
          </a:prstGeom>
          <a:solidFill>
            <a:srgbClr val="DDE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868680" y="2551176"/>
            <a:ext cx="73152" cy="73152"/>
          </a:xfrm>
          <a:prstGeom prst="ellipse">
            <a:avLst/>
          </a:prstGeom>
          <a:solidFill>
            <a:srgbClr val="DDE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024128" y="2551176"/>
            <a:ext cx="73152" cy="73152"/>
          </a:xfrm>
          <a:prstGeom prst="ellipse">
            <a:avLst/>
          </a:prstGeom>
          <a:solidFill>
            <a:srgbClr val="DDE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bst"/>
          <p:cNvSpPr txBox="1"/>
          <p:nvPr/>
        </p:nvSpPr>
        <p:spPr>
          <a:xfrm>
            <a:off x="1280160" y="2432304"/>
            <a:ext cx="10180015" cy="310896"/>
          </a:xfrm>
          <a:prstGeom prst="rect">
            <a:avLst/>
          </a:prstGeom>
          <a:noFill/>
        </p:spPr>
        <p:txBody>
          <a:bodyPr wrap="none" lIns="0" tIns="0" rIns="0" bIns="0" anchor="ctr">
            <a:spAutoFit/>
          </a:bodyPr>
          <a:lstStyle/>
          <a:p>
            <a:pPr algn="l">
              <a:lnSpc>
                <a:spcPct val="105000"/>
              </a:lnSpc>
              <a:spcAft>
                <a:spcPts val="0"/>
              </a:spcAft>
            </a:pPr>
            <a:r>
              <a:rPr sz="950" b="0" i="0">
                <a:solidFill>
                  <a:srgbClr val="56657A"/>
                </a:solidFill>
                <a:latin typeface="Segoe UI"/>
              </a:rPr>
              <a:t>Planning-Knowledge-Demo-ID — Obsidian</a:t>
            </a:r>
          </a:p>
        </p:txBody>
      </p:sp>
      <p:sp>
        <p:nvSpPr>
          <p:cNvPr id="42" name="Rectangle 41"/>
          <p:cNvSpPr/>
          <p:nvPr/>
        </p:nvSpPr>
        <p:spPr>
          <a:xfrm>
            <a:off x="557784" y="2743200"/>
            <a:ext cx="2240280" cy="3419856"/>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31520" y="2834640"/>
            <a:ext cx="1828800" cy="237744"/>
          </a:xfrm>
          <a:prstGeom prst="rect">
            <a:avLst/>
          </a:prstGeom>
          <a:noFill/>
        </p:spPr>
        <p:txBody>
          <a:bodyPr wrap="none" lIns="0" tIns="0" rIns="0" bIns="0" anchor="ctr">
            <a:spAutoFit/>
          </a:bodyPr>
          <a:lstStyle/>
          <a:p>
            <a:pPr algn="l">
              <a:lnSpc>
                <a:spcPct val="105000"/>
              </a:lnSpc>
              <a:spcAft>
                <a:spcPts val="0"/>
              </a:spcAft>
            </a:pPr>
            <a:r>
              <a:rPr sz="800" b="0" i="0" spc="80">
                <a:solidFill>
                  <a:srgbClr val="56657A"/>
                </a:solidFill>
                <a:latin typeface="Segoe UI Semibold"/>
              </a:rPr>
              <a:t>FILE</a:t>
            </a:r>
          </a:p>
        </p:txBody>
      </p:sp>
      <p:pic>
        <p:nvPicPr>
          <p:cNvPr id="44" name="Picture 43" descr="E8B7-98A3B3.png"/>
          <p:cNvPicPr>
            <a:picLocks noChangeAspect="1"/>
          </p:cNvPicPr>
          <p:nvPr/>
        </p:nvPicPr>
        <p:blipFill>
          <a:blip r:embed="rId7"/>
          <a:stretch>
            <a:fillRect/>
          </a:stretch>
        </p:blipFill>
        <p:spPr>
          <a:xfrm>
            <a:off x="731520" y="3182112"/>
            <a:ext cx="182880" cy="182880"/>
          </a:xfrm>
          <a:prstGeom prst="rect">
            <a:avLst/>
          </a:prstGeom>
        </p:spPr>
      </p:pic>
      <p:sp>
        <p:nvSpPr>
          <p:cNvPr id="45" name="TextBox 44"/>
          <p:cNvSpPr txBox="1"/>
          <p:nvPr/>
        </p:nvSpPr>
        <p:spPr>
          <a:xfrm>
            <a:off x="987552" y="3136392"/>
            <a:ext cx="1737360" cy="274320"/>
          </a:xfrm>
          <a:prstGeom prst="rect">
            <a:avLst/>
          </a:prstGeom>
          <a:noFill/>
        </p:spPr>
        <p:txBody>
          <a:bodyPr wrap="none" lIns="0" tIns="0" rIns="0" bIns="0" anchor="ctr">
            <a:spAutoFit/>
          </a:bodyPr>
          <a:lstStyle/>
          <a:p>
            <a:pPr algn="l">
              <a:lnSpc>
                <a:spcPct val="105000"/>
              </a:lnSpc>
              <a:spcAft>
                <a:spcPts val="0"/>
              </a:spcAft>
            </a:pPr>
            <a:r>
              <a:rPr sz="1000" b="0" i="0">
                <a:solidFill>
                  <a:srgbClr val="56657A"/>
                </a:solidFill>
                <a:latin typeface="Segoe UI"/>
              </a:rPr>
              <a:t>00 Beranda</a:t>
            </a:r>
          </a:p>
        </p:txBody>
      </p:sp>
      <p:pic>
        <p:nvPicPr>
          <p:cNvPr id="46" name="Picture 45" descr="E8B7-1F5BD8.png"/>
          <p:cNvPicPr>
            <a:picLocks noChangeAspect="1"/>
          </p:cNvPicPr>
          <p:nvPr/>
        </p:nvPicPr>
        <p:blipFill>
          <a:blip r:embed="rId4"/>
          <a:stretch>
            <a:fillRect/>
          </a:stretch>
        </p:blipFill>
        <p:spPr>
          <a:xfrm>
            <a:off x="731520" y="3474720"/>
            <a:ext cx="182880" cy="182880"/>
          </a:xfrm>
          <a:prstGeom prst="rect">
            <a:avLst/>
          </a:prstGeom>
        </p:spPr>
      </p:pic>
      <p:sp>
        <p:nvSpPr>
          <p:cNvPr id="47" name="TextBox 46"/>
          <p:cNvSpPr txBox="1"/>
          <p:nvPr/>
        </p:nvSpPr>
        <p:spPr>
          <a:xfrm>
            <a:off x="987552" y="3429000"/>
            <a:ext cx="1737360" cy="274320"/>
          </a:xfrm>
          <a:prstGeom prst="rect">
            <a:avLst/>
          </a:prstGeom>
          <a:noFill/>
        </p:spPr>
        <p:txBody>
          <a:bodyPr wrap="none" lIns="0" tIns="0" rIns="0" bIns="0" anchor="ctr">
            <a:spAutoFit/>
          </a:bodyPr>
          <a:lstStyle/>
          <a:p>
            <a:pPr algn="l">
              <a:lnSpc>
                <a:spcPct val="105000"/>
              </a:lnSpc>
              <a:spcAft>
                <a:spcPts val="0"/>
              </a:spcAft>
            </a:pPr>
            <a:r>
              <a:rPr sz="1000" b="0" i="0">
                <a:solidFill>
                  <a:srgbClr val="0B1F33"/>
                </a:solidFill>
                <a:latin typeface="Segoe UI Semibold"/>
              </a:rPr>
              <a:t>01 Planning &amp; Scheduling</a:t>
            </a:r>
          </a:p>
        </p:txBody>
      </p:sp>
      <p:sp>
        <p:nvSpPr>
          <p:cNvPr id="48" name="!!activefile"/>
          <p:cNvSpPr/>
          <p:nvPr/>
        </p:nvSpPr>
        <p:spPr>
          <a:xfrm>
            <a:off x="868680" y="3721608"/>
            <a:ext cx="1828800" cy="274320"/>
          </a:xfrm>
          <a:prstGeom prst="rect">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051560" y="3721608"/>
            <a:ext cx="1645920" cy="274320"/>
          </a:xfrm>
          <a:prstGeom prst="rect">
            <a:avLst/>
          </a:prstGeom>
          <a:noFill/>
        </p:spPr>
        <p:txBody>
          <a:bodyPr wrap="none" lIns="0" tIns="0" rIns="0" bIns="0" anchor="ctr">
            <a:spAutoFit/>
          </a:bodyPr>
          <a:lstStyle/>
          <a:p>
            <a:pPr algn="l">
              <a:lnSpc>
                <a:spcPct val="105000"/>
              </a:lnSpc>
              <a:spcAft>
                <a:spcPts val="0"/>
              </a:spcAft>
            </a:pPr>
            <a:r>
              <a:rPr sz="1000" b="0" i="0">
                <a:solidFill>
                  <a:srgbClr val="1F5BD8"/>
                </a:solidFill>
                <a:latin typeface="Segoe UI Semibold"/>
              </a:rPr>
              <a:t>Schedule Recovery</a:t>
            </a:r>
          </a:p>
        </p:txBody>
      </p:sp>
      <p:pic>
        <p:nvPicPr>
          <p:cNvPr id="50" name="Picture 49" descr="E8B7-98A3B3.png"/>
          <p:cNvPicPr>
            <a:picLocks noChangeAspect="1"/>
          </p:cNvPicPr>
          <p:nvPr/>
        </p:nvPicPr>
        <p:blipFill>
          <a:blip r:embed="rId7"/>
          <a:stretch>
            <a:fillRect/>
          </a:stretch>
        </p:blipFill>
        <p:spPr>
          <a:xfrm>
            <a:off x="731520" y="4078224"/>
            <a:ext cx="182880" cy="182880"/>
          </a:xfrm>
          <a:prstGeom prst="rect">
            <a:avLst/>
          </a:prstGeom>
        </p:spPr>
      </p:pic>
      <p:sp>
        <p:nvSpPr>
          <p:cNvPr id="51" name="TextBox 50"/>
          <p:cNvSpPr txBox="1"/>
          <p:nvPr/>
        </p:nvSpPr>
        <p:spPr>
          <a:xfrm>
            <a:off x="987552" y="4032504"/>
            <a:ext cx="1737360" cy="274320"/>
          </a:xfrm>
          <a:prstGeom prst="rect">
            <a:avLst/>
          </a:prstGeom>
          <a:noFill/>
        </p:spPr>
        <p:txBody>
          <a:bodyPr wrap="none" lIns="0" tIns="0" rIns="0" bIns="0" anchor="ctr">
            <a:spAutoFit/>
          </a:bodyPr>
          <a:lstStyle/>
          <a:p>
            <a:pPr algn="l">
              <a:lnSpc>
                <a:spcPct val="105000"/>
              </a:lnSpc>
              <a:spcAft>
                <a:spcPts val="0"/>
              </a:spcAft>
            </a:pPr>
            <a:r>
              <a:rPr sz="1000" b="0" i="0">
                <a:solidFill>
                  <a:srgbClr val="56657A"/>
                </a:solidFill>
                <a:latin typeface="Segoe UI"/>
              </a:rPr>
              <a:t>02 Data Center</a:t>
            </a:r>
          </a:p>
        </p:txBody>
      </p:sp>
      <p:pic>
        <p:nvPicPr>
          <p:cNvPr id="52" name="Picture 51" descr="E8B7-98A3B3.png"/>
          <p:cNvPicPr>
            <a:picLocks noChangeAspect="1"/>
          </p:cNvPicPr>
          <p:nvPr/>
        </p:nvPicPr>
        <p:blipFill>
          <a:blip r:embed="rId7"/>
          <a:stretch>
            <a:fillRect/>
          </a:stretch>
        </p:blipFill>
        <p:spPr>
          <a:xfrm>
            <a:off x="731520" y="4370832"/>
            <a:ext cx="182880" cy="182880"/>
          </a:xfrm>
          <a:prstGeom prst="rect">
            <a:avLst/>
          </a:prstGeom>
        </p:spPr>
      </p:pic>
      <p:sp>
        <p:nvSpPr>
          <p:cNvPr id="53" name="TextBox 52"/>
          <p:cNvSpPr txBox="1"/>
          <p:nvPr/>
        </p:nvSpPr>
        <p:spPr>
          <a:xfrm>
            <a:off x="987552" y="4325112"/>
            <a:ext cx="1737360" cy="274320"/>
          </a:xfrm>
          <a:prstGeom prst="rect">
            <a:avLst/>
          </a:prstGeom>
          <a:noFill/>
        </p:spPr>
        <p:txBody>
          <a:bodyPr wrap="none" lIns="0" tIns="0" rIns="0" bIns="0" anchor="ctr">
            <a:spAutoFit/>
          </a:bodyPr>
          <a:lstStyle/>
          <a:p>
            <a:pPr algn="l">
              <a:lnSpc>
                <a:spcPct val="105000"/>
              </a:lnSpc>
              <a:spcAft>
                <a:spcPts val="0"/>
              </a:spcAft>
            </a:pPr>
            <a:r>
              <a:rPr sz="1000" b="0" i="0">
                <a:solidFill>
                  <a:srgbClr val="56657A"/>
                </a:solidFill>
                <a:latin typeface="Segoe UI"/>
              </a:rPr>
              <a:t>03 Project Controls</a:t>
            </a:r>
          </a:p>
        </p:txBody>
      </p:sp>
      <p:pic>
        <p:nvPicPr>
          <p:cNvPr id="54" name="Picture 53" descr="E8B7-98A3B3.png"/>
          <p:cNvPicPr>
            <a:picLocks noChangeAspect="1"/>
          </p:cNvPicPr>
          <p:nvPr/>
        </p:nvPicPr>
        <p:blipFill>
          <a:blip r:embed="rId7"/>
          <a:stretch>
            <a:fillRect/>
          </a:stretch>
        </p:blipFill>
        <p:spPr>
          <a:xfrm>
            <a:off x="731520" y="4663440"/>
            <a:ext cx="182880" cy="182880"/>
          </a:xfrm>
          <a:prstGeom prst="rect">
            <a:avLst/>
          </a:prstGeom>
        </p:spPr>
      </p:pic>
      <p:sp>
        <p:nvSpPr>
          <p:cNvPr id="55" name="TextBox 54"/>
          <p:cNvSpPr txBox="1"/>
          <p:nvPr/>
        </p:nvSpPr>
        <p:spPr>
          <a:xfrm>
            <a:off x="987552" y="4617720"/>
            <a:ext cx="1737360" cy="274320"/>
          </a:xfrm>
          <a:prstGeom prst="rect">
            <a:avLst/>
          </a:prstGeom>
          <a:noFill/>
        </p:spPr>
        <p:txBody>
          <a:bodyPr wrap="none" lIns="0" tIns="0" rIns="0" bIns="0" anchor="ctr">
            <a:spAutoFit/>
          </a:bodyPr>
          <a:lstStyle/>
          <a:p>
            <a:pPr algn="l">
              <a:lnSpc>
                <a:spcPct val="105000"/>
              </a:lnSpc>
              <a:spcAft>
                <a:spcPts val="0"/>
              </a:spcAft>
            </a:pPr>
            <a:r>
              <a:rPr sz="1000" b="0" i="0">
                <a:solidFill>
                  <a:srgbClr val="56657A"/>
                </a:solidFill>
                <a:latin typeface="Segoe UI"/>
              </a:rPr>
              <a:t>04 Project Alpha</a:t>
            </a:r>
          </a:p>
        </p:txBody>
      </p:sp>
      <p:pic>
        <p:nvPicPr>
          <p:cNvPr id="56" name="Picture 55" descr="E8B7-98A3B3.png"/>
          <p:cNvPicPr>
            <a:picLocks noChangeAspect="1"/>
          </p:cNvPicPr>
          <p:nvPr/>
        </p:nvPicPr>
        <p:blipFill>
          <a:blip r:embed="rId7"/>
          <a:stretch>
            <a:fillRect/>
          </a:stretch>
        </p:blipFill>
        <p:spPr>
          <a:xfrm>
            <a:off x="731520" y="4956048"/>
            <a:ext cx="182880" cy="182880"/>
          </a:xfrm>
          <a:prstGeom prst="rect">
            <a:avLst/>
          </a:prstGeom>
        </p:spPr>
      </p:pic>
      <p:sp>
        <p:nvSpPr>
          <p:cNvPr id="57" name="TextBox 56"/>
          <p:cNvSpPr txBox="1"/>
          <p:nvPr/>
        </p:nvSpPr>
        <p:spPr>
          <a:xfrm>
            <a:off x="987552" y="4910328"/>
            <a:ext cx="1737360" cy="274320"/>
          </a:xfrm>
          <a:prstGeom prst="rect">
            <a:avLst/>
          </a:prstGeom>
          <a:noFill/>
        </p:spPr>
        <p:txBody>
          <a:bodyPr wrap="none" lIns="0" tIns="0" rIns="0" bIns="0" anchor="ctr">
            <a:spAutoFit/>
          </a:bodyPr>
          <a:lstStyle/>
          <a:p>
            <a:pPr algn="l">
              <a:lnSpc>
                <a:spcPct val="105000"/>
              </a:lnSpc>
              <a:spcAft>
                <a:spcPts val="0"/>
              </a:spcAft>
            </a:pPr>
            <a:r>
              <a:rPr sz="1000" b="0" i="0">
                <a:solidFill>
                  <a:srgbClr val="56657A"/>
                </a:solidFill>
                <a:latin typeface="Segoe UI"/>
              </a:rPr>
              <a:t>05 Lessons Learned</a:t>
            </a:r>
          </a:p>
        </p:txBody>
      </p:sp>
      <p:sp>
        <p:nvSpPr>
          <p:cNvPr id="58" name="TextBox 57"/>
          <p:cNvSpPr txBox="1"/>
          <p:nvPr/>
        </p:nvSpPr>
        <p:spPr>
          <a:xfrm>
            <a:off x="3017520" y="2862072"/>
            <a:ext cx="4572000" cy="237744"/>
          </a:xfrm>
          <a:prstGeom prst="rect">
            <a:avLst/>
          </a:prstGeom>
          <a:noFill/>
        </p:spPr>
        <p:txBody>
          <a:bodyPr wrap="none" lIns="0" tIns="0" rIns="0" bIns="0" anchor="ctr">
            <a:spAutoFit/>
          </a:bodyPr>
          <a:lstStyle/>
          <a:p>
            <a:pPr algn="l">
              <a:lnSpc>
                <a:spcPct val="105000"/>
              </a:lnSpc>
              <a:spcAft>
                <a:spcPts val="0"/>
              </a:spcAft>
            </a:pPr>
            <a:r>
              <a:rPr sz="800" b="0" i="0" spc="80">
                <a:solidFill>
                  <a:srgbClr val="1F5BD8"/>
                </a:solidFill>
                <a:latin typeface="Segoe UI Semibold"/>
              </a:rPr>
              <a:t>01 PLANNING &amp; SCHEDULING / SCHEDULE RECOVERY</a:t>
            </a:r>
          </a:p>
        </p:txBody>
      </p:sp>
      <p:sp>
        <p:nvSpPr>
          <p:cNvPr id="59" name="!!h1"/>
          <p:cNvSpPr txBox="1"/>
          <p:nvPr/>
        </p:nvSpPr>
        <p:spPr>
          <a:xfrm>
            <a:off x="3017520" y="3081528"/>
            <a:ext cx="5303520" cy="457200"/>
          </a:xfrm>
          <a:prstGeom prst="rect">
            <a:avLst/>
          </a:prstGeom>
          <a:noFill/>
        </p:spPr>
        <p:txBody>
          <a:bodyPr wrap="square" lIns="0" tIns="0" rIns="0" bIns="0" anchor="ctr">
            <a:spAutoFit/>
          </a:bodyPr>
          <a:lstStyle/>
          <a:p>
            <a:pPr algn="l">
              <a:lnSpc>
                <a:spcPct val="105000"/>
              </a:lnSpc>
              <a:spcAft>
                <a:spcPts val="0"/>
              </a:spcAft>
            </a:pPr>
            <a:r>
              <a:rPr sz="2200" b="0" i="0">
                <a:solidFill>
                  <a:srgbClr val="0B1F33"/>
                </a:solidFill>
                <a:latin typeface="Segoe UI Semibold"/>
              </a:rPr>
              <a:t>Schedule Recovery</a:t>
            </a:r>
          </a:p>
        </p:txBody>
      </p:sp>
      <p:sp>
        <p:nvSpPr>
          <p:cNvPr id="60" name="!!summary"/>
          <p:cNvSpPr txBox="1"/>
          <p:nvPr/>
        </p:nvSpPr>
        <p:spPr>
          <a:xfrm>
            <a:off x="3017520" y="3538728"/>
            <a:ext cx="5486400" cy="868680"/>
          </a:xfrm>
          <a:prstGeom prst="rect">
            <a:avLst/>
          </a:prstGeom>
          <a:noFill/>
        </p:spPr>
        <p:txBody>
          <a:bodyPr wrap="square" lIns="0" tIns="0" rIns="0" bIns="0" anchor="t">
            <a:spAutoFit/>
          </a:bodyPr>
          <a:lstStyle/>
          <a:p>
            <a:pPr algn="l">
              <a:lnSpc>
                <a:spcPct val="100000"/>
              </a:lnSpc>
              <a:spcAft>
                <a:spcPts val="0"/>
              </a:spcAft>
            </a:pPr>
            <a:r>
              <a:rPr sz="1100" b="0" i="0">
                <a:solidFill>
                  <a:srgbClr val="56657A"/>
                </a:solidFill>
                <a:latin typeface="Segoe UI"/>
              </a:rPr>
              <a:t>Schedule recovery adalah rencana yang disengaja dan berbasis bukti untuk merebut kembali waktu yang hilang di critical path dan near-critical path, dengan mengubah cara, waktu atau sumber daya untuk sisa pekerjaan — tanpa menciptakan risiko yang lebih besar dari delay itu sendiri.</a:t>
            </a:r>
          </a:p>
        </p:txBody>
      </p:sp>
      <p:sp>
        <p:nvSpPr>
          <p:cNvPr id="61" name="TextBox 60"/>
          <p:cNvSpPr txBox="1"/>
          <p:nvPr/>
        </p:nvSpPr>
        <p:spPr>
          <a:xfrm>
            <a:off x="3017520" y="4453128"/>
            <a:ext cx="2743200" cy="237744"/>
          </a:xfrm>
          <a:prstGeom prst="rect">
            <a:avLst/>
          </a:prstGeom>
          <a:noFill/>
        </p:spPr>
        <p:txBody>
          <a:bodyPr wrap="none" lIns="0" tIns="0" rIns="0" bIns="0" anchor="ctr">
            <a:spAutoFit/>
          </a:bodyPr>
          <a:lstStyle/>
          <a:p>
            <a:pPr algn="l">
              <a:lnSpc>
                <a:spcPct val="105000"/>
              </a:lnSpc>
              <a:spcAft>
                <a:spcPts val="0"/>
              </a:spcAft>
            </a:pPr>
            <a:r>
              <a:rPr sz="800" b="0" i="0" spc="80">
                <a:solidFill>
                  <a:srgbClr val="56657A"/>
                </a:solidFill>
                <a:latin typeface="Segoe UI Semibold"/>
              </a:rPr>
              <a:t>KONSEP TERKAIT</a:t>
            </a:r>
          </a:p>
        </p:txBody>
      </p:sp>
      <p:sp>
        <p:nvSpPr>
          <p:cNvPr id="62" name="TextBox 61"/>
          <p:cNvSpPr txBox="1"/>
          <p:nvPr/>
        </p:nvSpPr>
        <p:spPr>
          <a:xfrm>
            <a:off x="3017520" y="4690872"/>
            <a:ext cx="5394960" cy="274320"/>
          </a:xfrm>
          <a:prstGeom prst="rect">
            <a:avLst/>
          </a:prstGeom>
          <a:noFill/>
        </p:spPr>
        <p:txBody>
          <a:bodyPr wrap="none" lIns="0" tIns="0" rIns="0" bIns="0" anchor="ctr">
            <a:spAutoFit/>
          </a:bodyPr>
          <a:lstStyle/>
          <a:p>
            <a:pPr algn="l">
              <a:lnSpc>
                <a:spcPct val="105000"/>
              </a:lnSpc>
              <a:spcAft>
                <a:spcPts val="0"/>
              </a:spcAft>
            </a:pPr>
            <a:r>
              <a:rPr sz="1050" b="0" i="0">
                <a:solidFill>
                  <a:srgbClr val="98A3B3"/>
                </a:solidFill>
                <a:latin typeface="Segoe UI"/>
              </a:rPr>
              <a:t>•  </a:t>
            </a:r>
            <a:r>
              <a:rPr sz="1050" b="0" i="0">
                <a:solidFill>
                  <a:srgbClr val="1F5BD8"/>
                </a:solidFill>
                <a:latin typeface="Segoe UI Semibold"/>
              </a:rPr>
              <a:t>Critical Path</a:t>
            </a:r>
            <a:r>
              <a:rPr sz="1050" b="0" i="0">
                <a:solidFill>
                  <a:srgbClr val="56657A"/>
                </a:solidFill>
                <a:latin typeface="Segoe UI"/>
              </a:rPr>
              <a:t> — recovery hanya ada hasilnya di driving path</a:t>
            </a:r>
          </a:p>
        </p:txBody>
      </p:sp>
      <p:sp>
        <p:nvSpPr>
          <p:cNvPr id="63" name="TextBox 62"/>
          <p:cNvSpPr txBox="1"/>
          <p:nvPr/>
        </p:nvSpPr>
        <p:spPr>
          <a:xfrm>
            <a:off x="3017520" y="4965192"/>
            <a:ext cx="5394960" cy="274320"/>
          </a:xfrm>
          <a:prstGeom prst="rect">
            <a:avLst/>
          </a:prstGeom>
          <a:noFill/>
        </p:spPr>
        <p:txBody>
          <a:bodyPr wrap="none" lIns="0" tIns="0" rIns="0" bIns="0" anchor="ctr">
            <a:spAutoFit/>
          </a:bodyPr>
          <a:lstStyle/>
          <a:p>
            <a:pPr algn="l">
              <a:lnSpc>
                <a:spcPct val="105000"/>
              </a:lnSpc>
              <a:spcAft>
                <a:spcPts val="0"/>
              </a:spcAft>
            </a:pPr>
            <a:r>
              <a:rPr sz="1050" b="0" i="0">
                <a:solidFill>
                  <a:srgbClr val="98A3B3"/>
                </a:solidFill>
                <a:latin typeface="Segoe UI"/>
              </a:rPr>
              <a:t>•  </a:t>
            </a:r>
            <a:r>
              <a:rPr sz="1050" b="0" i="0">
                <a:solidFill>
                  <a:srgbClr val="1F5BD8"/>
                </a:solidFill>
                <a:latin typeface="Segoe UI Semibold"/>
              </a:rPr>
              <a:t>Total Float</a:t>
            </a:r>
            <a:r>
              <a:rPr sz="1050" b="0" i="0">
                <a:solidFill>
                  <a:srgbClr val="56657A"/>
                </a:solidFill>
                <a:latin typeface="Segoe UI"/>
              </a:rPr>
              <a:t> — recovery bertujuan memulihkan float ke milestone penting</a:t>
            </a:r>
          </a:p>
        </p:txBody>
      </p:sp>
      <p:sp>
        <p:nvSpPr>
          <p:cNvPr id="64" name="TextBox 63"/>
          <p:cNvSpPr txBox="1"/>
          <p:nvPr/>
        </p:nvSpPr>
        <p:spPr>
          <a:xfrm>
            <a:off x="3017520" y="5239512"/>
            <a:ext cx="5394960" cy="274320"/>
          </a:xfrm>
          <a:prstGeom prst="rect">
            <a:avLst/>
          </a:prstGeom>
          <a:noFill/>
        </p:spPr>
        <p:txBody>
          <a:bodyPr wrap="none" lIns="0" tIns="0" rIns="0" bIns="0" anchor="ctr">
            <a:spAutoFit/>
          </a:bodyPr>
          <a:lstStyle/>
          <a:p>
            <a:pPr algn="l">
              <a:lnSpc>
                <a:spcPct val="105000"/>
              </a:lnSpc>
              <a:spcAft>
                <a:spcPts val="0"/>
              </a:spcAft>
            </a:pPr>
            <a:r>
              <a:rPr sz="1050" b="0" i="0">
                <a:solidFill>
                  <a:srgbClr val="98A3B3"/>
                </a:solidFill>
                <a:latin typeface="Segoe UI"/>
              </a:rPr>
              <a:t>•  </a:t>
            </a:r>
            <a:r>
              <a:rPr sz="1050" b="0" i="0">
                <a:solidFill>
                  <a:srgbClr val="1F5BD8"/>
                </a:solidFill>
                <a:latin typeface="Segoe UI Semibold"/>
              </a:rPr>
              <a:t>Schedule Delay</a:t>
            </a:r>
            <a:r>
              <a:rPr sz="1050" b="0" i="0">
                <a:solidFill>
                  <a:srgbClr val="56657A"/>
                </a:solidFill>
                <a:latin typeface="Segoe UI"/>
              </a:rPr>
              <a:t> — alasan recovery plan dibuat</a:t>
            </a:r>
          </a:p>
        </p:txBody>
      </p:sp>
      <p:sp>
        <p:nvSpPr>
          <p:cNvPr id="65" name="TextBox 64"/>
          <p:cNvSpPr txBox="1"/>
          <p:nvPr/>
        </p:nvSpPr>
        <p:spPr>
          <a:xfrm>
            <a:off x="3017520" y="5513832"/>
            <a:ext cx="5394960" cy="274320"/>
          </a:xfrm>
          <a:prstGeom prst="rect">
            <a:avLst/>
          </a:prstGeom>
          <a:noFill/>
        </p:spPr>
        <p:txBody>
          <a:bodyPr wrap="none" lIns="0" tIns="0" rIns="0" bIns="0" anchor="ctr">
            <a:spAutoFit/>
          </a:bodyPr>
          <a:lstStyle/>
          <a:p>
            <a:pPr algn="l">
              <a:lnSpc>
                <a:spcPct val="105000"/>
              </a:lnSpc>
              <a:spcAft>
                <a:spcPts val="0"/>
              </a:spcAft>
            </a:pPr>
            <a:r>
              <a:rPr sz="1050" b="0" i="0">
                <a:solidFill>
                  <a:srgbClr val="98A3B3"/>
                </a:solidFill>
                <a:latin typeface="Segoe UI"/>
              </a:rPr>
              <a:t>•  </a:t>
            </a:r>
            <a:r>
              <a:rPr sz="1050" b="0" i="0">
                <a:solidFill>
                  <a:srgbClr val="1F5BD8"/>
                </a:solidFill>
                <a:latin typeface="Segoe UI Semibold"/>
              </a:rPr>
              <a:t>Acceleration</a:t>
            </a:r>
            <a:r>
              <a:rPr sz="1050" b="0" i="0">
                <a:solidFill>
                  <a:srgbClr val="56657A"/>
                </a:solidFill>
                <a:latin typeface="Segoe UI"/>
              </a:rPr>
              <a:t> — salah satu cara menjalankan recovery, biasanya mahal</a:t>
            </a:r>
          </a:p>
        </p:txBody>
      </p:sp>
      <p:sp>
        <p:nvSpPr>
          <p:cNvPr id="66" name="TextBox 65"/>
          <p:cNvSpPr txBox="1"/>
          <p:nvPr/>
        </p:nvSpPr>
        <p:spPr>
          <a:xfrm>
            <a:off x="3017520" y="5788152"/>
            <a:ext cx="5394960" cy="274320"/>
          </a:xfrm>
          <a:prstGeom prst="rect">
            <a:avLst/>
          </a:prstGeom>
          <a:noFill/>
        </p:spPr>
        <p:txBody>
          <a:bodyPr wrap="none" lIns="0" tIns="0" rIns="0" bIns="0" anchor="ctr">
            <a:spAutoFit/>
          </a:bodyPr>
          <a:lstStyle/>
          <a:p>
            <a:pPr algn="l">
              <a:lnSpc>
                <a:spcPct val="105000"/>
              </a:lnSpc>
              <a:spcAft>
                <a:spcPts val="0"/>
              </a:spcAft>
            </a:pPr>
            <a:r>
              <a:rPr sz="1050" b="0" i="0">
                <a:solidFill>
                  <a:srgbClr val="98A3B3"/>
                </a:solidFill>
                <a:latin typeface="Segoe UI"/>
              </a:rPr>
              <a:t>•  </a:t>
            </a:r>
            <a:r>
              <a:rPr sz="1050" b="0" i="0">
                <a:solidFill>
                  <a:srgbClr val="1F5BD8"/>
                </a:solidFill>
                <a:latin typeface="Segoe UI Semibold"/>
              </a:rPr>
              <a:t>Constraints</a:t>
            </a:r>
            <a:r>
              <a:rPr sz="1050" b="0" i="0">
                <a:solidFill>
                  <a:srgbClr val="56657A"/>
                </a:solidFill>
                <a:latin typeface="Segoe UI"/>
              </a:rPr>
              <a:t> — menyelesaikan readiness constraint lebih awal sering jadi recovery yan…</a:t>
            </a:r>
          </a:p>
        </p:txBody>
      </p:sp>
      <p:sp>
        <p:nvSpPr>
          <p:cNvPr id="67" name="Rectangle 66"/>
          <p:cNvSpPr/>
          <p:nvPr/>
        </p:nvSpPr>
        <p:spPr>
          <a:xfrm>
            <a:off x="8275320" y="2743200"/>
            <a:ext cx="3349447" cy="3419856"/>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8458200" y="2834640"/>
            <a:ext cx="2743200" cy="237744"/>
          </a:xfrm>
          <a:prstGeom prst="rect">
            <a:avLst/>
          </a:prstGeom>
          <a:noFill/>
        </p:spPr>
        <p:txBody>
          <a:bodyPr wrap="none" lIns="0" tIns="0" rIns="0" bIns="0" anchor="ctr">
            <a:spAutoFit/>
          </a:bodyPr>
          <a:lstStyle/>
          <a:p>
            <a:pPr algn="l">
              <a:lnSpc>
                <a:spcPct val="105000"/>
              </a:lnSpc>
              <a:spcAft>
                <a:spcPts val="0"/>
              </a:spcAft>
            </a:pPr>
            <a:r>
              <a:rPr sz="800" b="0" i="0" spc="80">
                <a:solidFill>
                  <a:srgbClr val="56657A"/>
                </a:solidFill>
                <a:latin typeface="Segoe UI Semibold"/>
              </a:rPr>
              <a:t>LOCAL GRAPH</a:t>
            </a:r>
          </a:p>
        </p:txBody>
      </p:sp>
      <p:cxnSp>
        <p:nvCxnSpPr>
          <p:cNvPr id="69" name="Connector 68"/>
          <p:cNvCxnSpPr/>
          <p:nvPr/>
        </p:nvCxnSpPr>
        <p:spPr>
          <a:xfrm flipV="1">
            <a:off x="9950044" y="3474720"/>
            <a:ext cx="0" cy="960120"/>
          </a:xfrm>
          <a:prstGeom prst="line">
            <a:avLst/>
          </a:prstGeom>
          <a:ln w="15875">
            <a:solidFill>
              <a:srgbClr val="8DB4FF"/>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9950044" y="4138147"/>
            <a:ext cx="1043575" cy="296693"/>
          </a:xfrm>
          <a:prstGeom prst="line">
            <a:avLst/>
          </a:prstGeom>
          <a:ln w="15875">
            <a:solidFill>
              <a:srgbClr val="8DB4FF"/>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950044" y="4434840"/>
            <a:ext cx="644965" cy="776753"/>
          </a:xfrm>
          <a:prstGeom prst="line">
            <a:avLst/>
          </a:prstGeom>
          <a:ln w="15875">
            <a:solidFill>
              <a:srgbClr val="8DB4FF"/>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9305079" y="4434840"/>
            <a:ext cx="644965" cy="776753"/>
          </a:xfrm>
          <a:prstGeom prst="line">
            <a:avLst/>
          </a:prstGeom>
          <a:ln w="15875">
            <a:solidFill>
              <a:srgbClr val="8DB4FF"/>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8906468" y="4138147"/>
            <a:ext cx="1043576" cy="296693"/>
          </a:xfrm>
          <a:prstGeom prst="line">
            <a:avLst/>
          </a:prstGeom>
          <a:ln w="15875">
            <a:solidFill>
              <a:srgbClr val="8DB4FF"/>
            </a:solidFill>
          </a:ln>
        </p:spPr>
        <p:style>
          <a:lnRef idx="2">
            <a:schemeClr val="accent1"/>
          </a:lnRef>
          <a:fillRef idx="0">
            <a:schemeClr val="accent1"/>
          </a:fillRef>
          <a:effectRef idx="1">
            <a:schemeClr val="accent1"/>
          </a:effectRef>
          <a:fontRef idx="minor">
            <a:schemeClr val="tx1"/>
          </a:fontRef>
        </p:style>
      </p:cxnSp>
      <p:sp>
        <p:nvSpPr>
          <p:cNvPr id="74" name="Oval 73"/>
          <p:cNvSpPr/>
          <p:nvPr/>
        </p:nvSpPr>
        <p:spPr>
          <a:xfrm>
            <a:off x="9867748" y="3392424"/>
            <a:ext cx="164592" cy="164592"/>
          </a:xfrm>
          <a:prstGeom prst="ellipse">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9218524" y="3566160"/>
            <a:ext cx="1463040" cy="237744"/>
          </a:xfrm>
          <a:prstGeom prst="rect">
            <a:avLst/>
          </a:prstGeom>
          <a:noFill/>
        </p:spPr>
        <p:txBody>
          <a:bodyPr wrap="none" lIns="0" tIns="0" rIns="0" bIns="0" anchor="t">
            <a:spAutoFit/>
          </a:bodyPr>
          <a:lstStyle/>
          <a:p>
            <a:pPr algn="ctr">
              <a:lnSpc>
                <a:spcPct val="105000"/>
              </a:lnSpc>
              <a:spcAft>
                <a:spcPts val="0"/>
              </a:spcAft>
            </a:pPr>
            <a:r>
              <a:rPr sz="900" b="0" i="0">
                <a:solidFill>
                  <a:srgbClr val="0B1F33"/>
                </a:solidFill>
                <a:latin typeface="Segoe UI"/>
              </a:rPr>
              <a:t>Critical Path</a:t>
            </a:r>
          </a:p>
        </p:txBody>
      </p:sp>
      <p:sp>
        <p:nvSpPr>
          <p:cNvPr id="76" name="Oval 75"/>
          <p:cNvSpPr/>
          <p:nvPr/>
        </p:nvSpPr>
        <p:spPr>
          <a:xfrm>
            <a:off x="10911323" y="4055851"/>
            <a:ext cx="164592" cy="164592"/>
          </a:xfrm>
          <a:prstGeom prst="ellipse">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10262099" y="4229587"/>
            <a:ext cx="1463040" cy="237744"/>
          </a:xfrm>
          <a:prstGeom prst="rect">
            <a:avLst/>
          </a:prstGeom>
          <a:noFill/>
        </p:spPr>
        <p:txBody>
          <a:bodyPr wrap="none" lIns="0" tIns="0" rIns="0" bIns="0" anchor="t">
            <a:spAutoFit/>
          </a:bodyPr>
          <a:lstStyle/>
          <a:p>
            <a:pPr algn="ctr">
              <a:lnSpc>
                <a:spcPct val="105000"/>
              </a:lnSpc>
              <a:spcAft>
                <a:spcPts val="0"/>
              </a:spcAft>
            </a:pPr>
            <a:r>
              <a:rPr sz="900" b="0" i="0">
                <a:solidFill>
                  <a:srgbClr val="0B1F33"/>
                </a:solidFill>
                <a:latin typeface="Segoe UI"/>
              </a:rPr>
              <a:t>Total Float</a:t>
            </a:r>
          </a:p>
        </p:txBody>
      </p:sp>
      <p:sp>
        <p:nvSpPr>
          <p:cNvPr id="78" name="Oval 77"/>
          <p:cNvSpPr/>
          <p:nvPr/>
        </p:nvSpPr>
        <p:spPr>
          <a:xfrm>
            <a:off x="10512713" y="5129297"/>
            <a:ext cx="164592" cy="164592"/>
          </a:xfrm>
          <a:prstGeom prst="ellipse">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9863489" y="5303033"/>
            <a:ext cx="1463040" cy="237744"/>
          </a:xfrm>
          <a:prstGeom prst="rect">
            <a:avLst/>
          </a:prstGeom>
          <a:noFill/>
        </p:spPr>
        <p:txBody>
          <a:bodyPr wrap="none" lIns="0" tIns="0" rIns="0" bIns="0" anchor="t">
            <a:spAutoFit/>
          </a:bodyPr>
          <a:lstStyle/>
          <a:p>
            <a:pPr algn="ctr">
              <a:lnSpc>
                <a:spcPct val="105000"/>
              </a:lnSpc>
              <a:spcAft>
                <a:spcPts val="0"/>
              </a:spcAft>
            </a:pPr>
            <a:r>
              <a:rPr sz="900" b="0" i="0">
                <a:solidFill>
                  <a:srgbClr val="0B1F33"/>
                </a:solidFill>
                <a:latin typeface="Segoe UI"/>
              </a:rPr>
              <a:t>Schedule Delay</a:t>
            </a:r>
          </a:p>
        </p:txBody>
      </p:sp>
      <p:sp>
        <p:nvSpPr>
          <p:cNvPr id="80" name="Oval 79"/>
          <p:cNvSpPr/>
          <p:nvPr/>
        </p:nvSpPr>
        <p:spPr>
          <a:xfrm>
            <a:off x="9222783" y="5129297"/>
            <a:ext cx="164592" cy="164592"/>
          </a:xfrm>
          <a:prstGeom prst="ellipse">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8573559" y="5303033"/>
            <a:ext cx="1463040" cy="237744"/>
          </a:xfrm>
          <a:prstGeom prst="rect">
            <a:avLst/>
          </a:prstGeom>
          <a:noFill/>
        </p:spPr>
        <p:txBody>
          <a:bodyPr wrap="none" lIns="0" tIns="0" rIns="0" bIns="0" anchor="t">
            <a:spAutoFit/>
          </a:bodyPr>
          <a:lstStyle/>
          <a:p>
            <a:pPr algn="ctr">
              <a:lnSpc>
                <a:spcPct val="105000"/>
              </a:lnSpc>
              <a:spcAft>
                <a:spcPts val="0"/>
              </a:spcAft>
            </a:pPr>
            <a:r>
              <a:rPr sz="900" b="0" i="0">
                <a:solidFill>
                  <a:srgbClr val="0B1F33"/>
                </a:solidFill>
                <a:latin typeface="Segoe UI"/>
              </a:rPr>
              <a:t>Acceleration</a:t>
            </a:r>
          </a:p>
        </p:txBody>
      </p:sp>
      <p:sp>
        <p:nvSpPr>
          <p:cNvPr id="82" name="Oval 81"/>
          <p:cNvSpPr/>
          <p:nvPr/>
        </p:nvSpPr>
        <p:spPr>
          <a:xfrm>
            <a:off x="8824172" y="4055851"/>
            <a:ext cx="164592" cy="164592"/>
          </a:xfrm>
          <a:prstGeom prst="ellipse">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8174948" y="4229587"/>
            <a:ext cx="1463040" cy="237744"/>
          </a:xfrm>
          <a:prstGeom prst="rect">
            <a:avLst/>
          </a:prstGeom>
          <a:noFill/>
        </p:spPr>
        <p:txBody>
          <a:bodyPr wrap="none" lIns="0" tIns="0" rIns="0" bIns="0" anchor="t">
            <a:spAutoFit/>
          </a:bodyPr>
          <a:lstStyle/>
          <a:p>
            <a:pPr algn="ctr">
              <a:lnSpc>
                <a:spcPct val="105000"/>
              </a:lnSpc>
              <a:spcAft>
                <a:spcPts val="0"/>
              </a:spcAft>
            </a:pPr>
            <a:r>
              <a:rPr sz="900" b="0" i="0">
                <a:solidFill>
                  <a:srgbClr val="0B1F33"/>
                </a:solidFill>
                <a:latin typeface="Segoe UI"/>
              </a:rPr>
              <a:t>Constraints</a:t>
            </a:r>
          </a:p>
        </p:txBody>
      </p:sp>
      <p:sp>
        <p:nvSpPr>
          <p:cNvPr id="84" name="Oval 83"/>
          <p:cNvSpPr/>
          <p:nvPr/>
        </p:nvSpPr>
        <p:spPr>
          <a:xfrm>
            <a:off x="9812884" y="4297680"/>
            <a:ext cx="274320" cy="274320"/>
          </a:xfrm>
          <a:prstGeom prst="ellipse">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548640" y="6419088"/>
            <a:ext cx="8686800" cy="237744"/>
          </a:xfrm>
          <a:prstGeom prst="rect">
            <a:avLst/>
          </a:prstGeom>
          <a:noFill/>
        </p:spPr>
        <p:txBody>
          <a:bodyPr wrap="none" lIns="0" tIns="0" rIns="0" bIns="0" anchor="t">
            <a:spAutoFit/>
          </a:bodyPr>
          <a:lstStyle/>
          <a:p>
            <a:pPr algn="l">
              <a:lnSpc>
                <a:spcPct val="105000"/>
              </a:lnSpc>
              <a:spcAft>
                <a:spcPts val="0"/>
              </a:spcAft>
            </a:pPr>
            <a:r>
              <a:rPr sz="850" b="0" i="0">
                <a:solidFill>
                  <a:srgbClr val="98A3B3"/>
                </a:solidFill>
                <a:latin typeface="Segoe UI"/>
              </a:rPr>
              <a:t>Sumber: REF-040, REF-041 (vault demo › 06 Referensi)</a:t>
            </a:r>
          </a:p>
        </p:txBody>
      </p:sp>
      <p:sp>
        <p:nvSpPr>
          <p:cNvPr id="86" name="TextBox 85"/>
          <p:cNvSpPr txBox="1"/>
          <p:nvPr/>
        </p:nvSpPr>
        <p:spPr>
          <a:xfrm>
            <a:off x="7071055" y="6419088"/>
            <a:ext cx="3657600" cy="237744"/>
          </a:xfrm>
          <a:prstGeom prst="rect">
            <a:avLst/>
          </a:prstGeom>
          <a:noFill/>
        </p:spPr>
        <p:txBody>
          <a:bodyPr wrap="none" lIns="0" tIns="0" rIns="0" bIns="0" anchor="ctr">
            <a:spAutoFit/>
          </a:bodyPr>
          <a:lstStyle/>
          <a:p>
            <a:pPr algn="r">
              <a:lnSpc>
                <a:spcPct val="105000"/>
              </a:lnSpc>
              <a:spcAft>
                <a:spcPts val="0"/>
              </a:spcAft>
            </a:pPr>
            <a:r>
              <a:rPr sz="800" b="0" i="0" spc="80">
                <a:solidFill>
                  <a:srgbClr val="56657A"/>
                </a:solidFill>
                <a:latin typeface="Segoe UI Semibold"/>
              </a:rPr>
              <a:t>ABDUL KAUSAR</a:t>
            </a:r>
          </a:p>
        </p:txBody>
      </p:sp>
      <p:sp>
        <p:nvSpPr>
          <p:cNvPr id="87" name="TextBox 86"/>
          <p:cNvSpPr txBox="1"/>
          <p:nvPr/>
        </p:nvSpPr>
        <p:spPr>
          <a:xfrm>
            <a:off x="10911535" y="6419088"/>
            <a:ext cx="731520" cy="237744"/>
          </a:xfrm>
          <a:prstGeom prst="rect">
            <a:avLst/>
          </a:prstGeom>
          <a:noFill/>
        </p:spPr>
        <p:txBody>
          <a:bodyPr wrap="square" lIns="0" tIns="0" rIns="0" bIns="0" anchor="t">
            <a:spAutoFit/>
          </a:bodyPr>
          <a:lstStyle/>
          <a:p>
            <a:pPr algn="r">
              <a:lnSpc>
                <a:spcPct val="105000"/>
              </a:lnSpc>
              <a:spcAft>
                <a:spcPts val="0"/>
              </a:spcAft>
            </a:pPr>
            <a:r>
              <a:rPr sz="900" b="0" i="0">
                <a:solidFill>
                  <a:srgbClr val="98A3B3"/>
                </a:solidFill>
                <a:latin typeface="Segoe UI"/>
              </a:rPr>
              <a:t>22</a:t>
            </a:r>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82880"/>
            <a:ext cx="95234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DATA CENTER</a:t>
            </a:r>
          </a:p>
        </p:txBody>
      </p:sp>
      <p:sp>
        <p:nvSpPr>
          <p:cNvPr id="3" name="TextBox 2"/>
          <p:cNvSpPr txBox="1"/>
          <p:nvPr/>
        </p:nvSpPr>
        <p:spPr>
          <a:xfrm>
            <a:off x="1409543"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4" name="TextBox 3"/>
          <p:cNvSpPr txBox="1"/>
          <p:nvPr/>
        </p:nvSpPr>
        <p:spPr>
          <a:xfrm>
            <a:off x="1702151" y="182880"/>
            <a:ext cx="78485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INTERFACE</a:t>
            </a:r>
          </a:p>
        </p:txBody>
      </p:sp>
      <p:sp>
        <p:nvSpPr>
          <p:cNvPr id="5" name="TextBox 4"/>
          <p:cNvSpPr txBox="1"/>
          <p:nvPr/>
        </p:nvSpPr>
        <p:spPr>
          <a:xfrm>
            <a:off x="239556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6" name="TextBox 5"/>
          <p:cNvSpPr txBox="1"/>
          <p:nvPr/>
        </p:nvSpPr>
        <p:spPr>
          <a:xfrm>
            <a:off x="2688175" y="182880"/>
            <a:ext cx="724872"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CONTROL</a:t>
            </a:r>
          </a:p>
        </p:txBody>
      </p:sp>
      <p:sp>
        <p:nvSpPr>
          <p:cNvPr id="7" name="TextBox 6"/>
          <p:cNvSpPr txBox="1"/>
          <p:nvPr/>
        </p:nvSpPr>
        <p:spPr>
          <a:xfrm>
            <a:off x="3321608"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8" name="TextBox 7"/>
          <p:cNvSpPr txBox="1"/>
          <p:nvPr/>
        </p:nvSpPr>
        <p:spPr>
          <a:xfrm>
            <a:off x="3614216" y="182880"/>
            <a:ext cx="115377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COMMISSIONING</a:t>
            </a:r>
          </a:p>
        </p:txBody>
      </p:sp>
      <p:sp>
        <p:nvSpPr>
          <p:cNvPr id="9" name="TextBox 8"/>
          <p:cNvSpPr txBox="1"/>
          <p:nvPr/>
        </p:nvSpPr>
        <p:spPr>
          <a:xfrm>
            <a:off x="4676549"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0" name="TextBox 9"/>
          <p:cNvSpPr txBox="1"/>
          <p:nvPr/>
        </p:nvSpPr>
        <p:spPr>
          <a:xfrm>
            <a:off x="4969157" y="182880"/>
            <a:ext cx="945555"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MONITORING</a:t>
            </a:r>
          </a:p>
        </p:txBody>
      </p:sp>
      <p:sp>
        <p:nvSpPr>
          <p:cNvPr id="11" name="TextBox 10"/>
          <p:cNvSpPr txBox="1"/>
          <p:nvPr/>
        </p:nvSpPr>
        <p:spPr>
          <a:xfrm>
            <a:off x="582327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2" name="TextBox 11"/>
          <p:cNvSpPr txBox="1"/>
          <p:nvPr/>
        </p:nvSpPr>
        <p:spPr>
          <a:xfrm>
            <a:off x="6115879" y="182880"/>
            <a:ext cx="63679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REALITA</a:t>
            </a:r>
          </a:p>
        </p:txBody>
      </p:sp>
      <p:sp>
        <p:nvSpPr>
          <p:cNvPr id="13" name="TextBox 12"/>
          <p:cNvSpPr txBox="1"/>
          <p:nvPr/>
        </p:nvSpPr>
        <p:spPr>
          <a:xfrm>
            <a:off x="6661235"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4" name="TextBox 13"/>
          <p:cNvSpPr txBox="1"/>
          <p:nvPr/>
        </p:nvSpPr>
        <p:spPr>
          <a:xfrm>
            <a:off x="6953843" y="182880"/>
            <a:ext cx="821309"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INFORMASI</a:t>
            </a:r>
          </a:p>
        </p:txBody>
      </p:sp>
      <p:sp>
        <p:nvSpPr>
          <p:cNvPr id="15" name="TextBox 14"/>
          <p:cNvSpPr txBox="1"/>
          <p:nvPr/>
        </p:nvSpPr>
        <p:spPr>
          <a:xfrm>
            <a:off x="7683712"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6" name="TextBox 15"/>
          <p:cNvSpPr txBox="1"/>
          <p:nvPr/>
        </p:nvSpPr>
        <p:spPr>
          <a:xfrm>
            <a:off x="7976320" y="182880"/>
            <a:ext cx="899541"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KNOWLEDGE</a:t>
            </a:r>
          </a:p>
        </p:txBody>
      </p:sp>
      <p:sp>
        <p:nvSpPr>
          <p:cNvPr id="17" name="TextBox 16"/>
          <p:cNvSpPr txBox="1"/>
          <p:nvPr/>
        </p:nvSpPr>
        <p:spPr>
          <a:xfrm>
            <a:off x="878442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8" name="TextBox 17"/>
          <p:cNvSpPr txBox="1"/>
          <p:nvPr/>
        </p:nvSpPr>
        <p:spPr>
          <a:xfrm>
            <a:off x="9077029" y="182880"/>
            <a:ext cx="733298"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1F5BD8"/>
                </a:solidFill>
                <a:latin typeface="Segoe UI Semibold"/>
              </a:rPr>
              <a:t>OBSIDIAN</a:t>
            </a:r>
          </a:p>
        </p:txBody>
      </p:sp>
      <p:sp>
        <p:nvSpPr>
          <p:cNvPr id="19" name="Rectangle 18"/>
          <p:cNvSpPr/>
          <p:nvPr/>
        </p:nvSpPr>
        <p:spPr>
          <a:xfrm>
            <a:off x="9077029" y="420624"/>
            <a:ext cx="550418" cy="32004"/>
          </a:xfrm>
          <a:prstGeom prst="rect">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71888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21" name="TextBox 20"/>
          <p:cNvSpPr txBox="1"/>
          <p:nvPr/>
        </p:nvSpPr>
        <p:spPr>
          <a:xfrm>
            <a:off x="10011495" y="182880"/>
            <a:ext cx="297434"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98A3B3"/>
                </a:solidFill>
                <a:latin typeface="Segoe UI Semibold"/>
              </a:rPr>
              <a:t>AI</a:t>
            </a:r>
          </a:p>
        </p:txBody>
      </p:sp>
      <p:sp>
        <p:nvSpPr>
          <p:cNvPr id="22" name="!!title"/>
          <p:cNvSpPr txBox="1"/>
          <p:nvPr/>
        </p:nvSpPr>
        <p:spPr>
          <a:xfrm>
            <a:off x="548640" y="566928"/>
            <a:ext cx="11094415" cy="841248"/>
          </a:xfrm>
          <a:prstGeom prst="rect">
            <a:avLst/>
          </a:prstGeom>
          <a:noFill/>
        </p:spPr>
        <p:txBody>
          <a:bodyPr wrap="square" lIns="0" tIns="0" rIns="0" bIns="0" anchor="b">
            <a:spAutoFit/>
          </a:bodyPr>
          <a:lstStyle/>
          <a:p>
            <a:pPr algn="l">
              <a:lnSpc>
                <a:spcPct val="95000"/>
              </a:lnSpc>
              <a:spcAft>
                <a:spcPts val="0"/>
              </a:spcAft>
            </a:pPr>
            <a:r>
              <a:rPr sz="2800" b="0" i="0">
                <a:solidFill>
                  <a:srgbClr val="0B1F33"/>
                </a:solidFill>
                <a:latin typeface="Georgia"/>
              </a:rPr>
              <a:t>This demo vault was prepared in advance. In real work, a vault grows from small habits</a:t>
            </a:r>
          </a:p>
        </p:txBody>
      </p:sp>
      <p:cxnSp>
        <p:nvCxnSpPr>
          <p:cNvPr id="23" name="Connector 22"/>
          <p:cNvCxnSpPr/>
          <p:nvPr/>
        </p:nvCxnSpPr>
        <p:spPr>
          <a:xfrm>
            <a:off x="548640" y="1517904"/>
            <a:ext cx="11094415" cy="0"/>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48640" y="1828800"/>
            <a:ext cx="3977640" cy="3977640"/>
          </a:xfrm>
          <a:prstGeom prst="roundRect">
            <a:avLst>
              <a:gd name="adj" fmla="val 2758"/>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68680" y="2103120"/>
            <a:ext cx="3429000" cy="237744"/>
          </a:xfrm>
          <a:prstGeom prst="rect">
            <a:avLst/>
          </a:prstGeom>
          <a:noFill/>
        </p:spPr>
        <p:txBody>
          <a:bodyPr wrap="none" lIns="0" tIns="0" rIns="0" bIns="0" anchor="ctr">
            <a:spAutoFit/>
          </a:bodyPr>
          <a:lstStyle/>
          <a:p>
            <a:pPr algn="l">
              <a:lnSpc>
                <a:spcPct val="105000"/>
              </a:lnSpc>
              <a:spcAft>
                <a:spcPts val="0"/>
              </a:spcAft>
            </a:pPr>
            <a:r>
              <a:rPr sz="900" b="0" i="0" spc="80">
                <a:solidFill>
                  <a:srgbClr val="8DB4FF"/>
                </a:solidFill>
                <a:latin typeface="Segoe UI Semibold"/>
              </a:rPr>
              <a:t>VAULT YANG AKAN ANDA LIHAT</a:t>
            </a:r>
          </a:p>
        </p:txBody>
      </p:sp>
      <p:sp>
        <p:nvSpPr>
          <p:cNvPr id="26" name="TextBox 25"/>
          <p:cNvSpPr txBox="1"/>
          <p:nvPr/>
        </p:nvSpPr>
        <p:spPr>
          <a:xfrm>
            <a:off x="868680" y="2377440"/>
            <a:ext cx="1828800" cy="868680"/>
          </a:xfrm>
          <a:prstGeom prst="rect">
            <a:avLst/>
          </a:prstGeom>
          <a:noFill/>
        </p:spPr>
        <p:txBody>
          <a:bodyPr wrap="none" lIns="0" tIns="0" rIns="0" bIns="0" anchor="ctr">
            <a:spAutoFit/>
          </a:bodyPr>
          <a:lstStyle/>
          <a:p>
            <a:pPr algn="l">
              <a:lnSpc>
                <a:spcPct val="105000"/>
              </a:lnSpc>
              <a:spcAft>
                <a:spcPts val="0"/>
              </a:spcAft>
            </a:pPr>
            <a:r>
              <a:rPr sz="4800" b="0" i="0">
                <a:solidFill>
                  <a:srgbClr val="FFFFFF"/>
                </a:solidFill>
                <a:latin typeface="Georgia"/>
              </a:rPr>
              <a:t>±50</a:t>
            </a:r>
          </a:p>
        </p:txBody>
      </p:sp>
      <p:sp>
        <p:nvSpPr>
          <p:cNvPr id="27" name="TextBox 26"/>
          <p:cNvSpPr txBox="1"/>
          <p:nvPr/>
        </p:nvSpPr>
        <p:spPr>
          <a:xfrm>
            <a:off x="868680" y="3246120"/>
            <a:ext cx="3429000" cy="502920"/>
          </a:xfrm>
          <a:prstGeom prst="rect">
            <a:avLst/>
          </a:prstGeom>
          <a:noFill/>
        </p:spPr>
        <p:txBody>
          <a:bodyPr wrap="square" lIns="0" tIns="0" rIns="0" bIns="0" anchor="t">
            <a:spAutoFit/>
          </a:bodyPr>
          <a:lstStyle/>
          <a:p>
            <a:pPr algn="l">
              <a:lnSpc>
                <a:spcPct val="105000"/>
              </a:lnSpc>
              <a:spcAft>
                <a:spcPts val="0"/>
              </a:spcAft>
            </a:pPr>
            <a:r>
              <a:rPr sz="1300" b="0" i="0">
                <a:solidFill>
                  <a:srgbClr val="8DB4FF"/>
                </a:solidFill>
                <a:latin typeface="Segoe UI Semibold"/>
              </a:rPr>
              <a:t>catatan, disiapkan khusus untuk sesi ini</a:t>
            </a:r>
          </a:p>
        </p:txBody>
      </p:sp>
      <p:pic>
        <p:nvPicPr>
          <p:cNvPr id="28" name="Picture 27" descr="E73E-8DB4FF.png"/>
          <p:cNvPicPr>
            <a:picLocks noChangeAspect="1"/>
          </p:cNvPicPr>
          <p:nvPr/>
        </p:nvPicPr>
        <p:blipFill>
          <a:blip r:embed="rId3"/>
          <a:stretch>
            <a:fillRect/>
          </a:stretch>
        </p:blipFill>
        <p:spPr>
          <a:xfrm>
            <a:off x="896112" y="3822191"/>
            <a:ext cx="219456" cy="219456"/>
          </a:xfrm>
          <a:prstGeom prst="rect">
            <a:avLst/>
          </a:prstGeom>
        </p:spPr>
      </p:pic>
      <p:sp>
        <p:nvSpPr>
          <p:cNvPr id="29" name="TextBox 28"/>
          <p:cNvSpPr txBox="1"/>
          <p:nvPr/>
        </p:nvSpPr>
        <p:spPr>
          <a:xfrm>
            <a:off x="1280160" y="3730752"/>
            <a:ext cx="3017520" cy="566928"/>
          </a:xfrm>
          <a:prstGeom prst="rect">
            <a:avLst/>
          </a:prstGeom>
          <a:noFill/>
        </p:spPr>
        <p:txBody>
          <a:bodyPr wrap="square" lIns="0" tIns="0" rIns="0" bIns="0" anchor="t">
            <a:spAutoFit/>
          </a:bodyPr>
          <a:lstStyle/>
          <a:p>
            <a:pPr algn="l">
              <a:lnSpc>
                <a:spcPct val="100000"/>
              </a:lnSpc>
              <a:spcAft>
                <a:spcPts val="0"/>
              </a:spcAft>
            </a:pPr>
            <a:r>
              <a:rPr sz="1200" b="0" i="0">
                <a:solidFill>
                  <a:srgbClr val="FFFFFF"/>
                </a:solidFill>
                <a:latin typeface="Segoe UI"/>
              </a:rPr>
              <a:t>Project Alpha 100% fiktif — tidak ada data proyek nyata</a:t>
            </a:r>
          </a:p>
        </p:txBody>
      </p:sp>
      <p:pic>
        <p:nvPicPr>
          <p:cNvPr id="30" name="Picture 29" descr="E73E-8DB4FF.png"/>
          <p:cNvPicPr>
            <a:picLocks noChangeAspect="1"/>
          </p:cNvPicPr>
          <p:nvPr/>
        </p:nvPicPr>
        <p:blipFill>
          <a:blip r:embed="rId3"/>
          <a:stretch>
            <a:fillRect/>
          </a:stretch>
        </p:blipFill>
        <p:spPr>
          <a:xfrm>
            <a:off x="896112" y="4334255"/>
            <a:ext cx="219456" cy="219456"/>
          </a:xfrm>
          <a:prstGeom prst="rect">
            <a:avLst/>
          </a:prstGeom>
        </p:spPr>
      </p:pic>
      <p:sp>
        <p:nvSpPr>
          <p:cNvPr id="31" name="TextBox 30"/>
          <p:cNvSpPr txBox="1"/>
          <p:nvPr/>
        </p:nvSpPr>
        <p:spPr>
          <a:xfrm>
            <a:off x="1280160" y="4242816"/>
            <a:ext cx="3017520" cy="566928"/>
          </a:xfrm>
          <a:prstGeom prst="rect">
            <a:avLst/>
          </a:prstGeom>
          <a:noFill/>
        </p:spPr>
        <p:txBody>
          <a:bodyPr wrap="square" lIns="0" tIns="0" rIns="0" bIns="0" anchor="t">
            <a:spAutoFit/>
          </a:bodyPr>
          <a:lstStyle/>
          <a:p>
            <a:pPr algn="l">
              <a:lnSpc>
                <a:spcPct val="100000"/>
              </a:lnSpc>
              <a:spcAft>
                <a:spcPts val="0"/>
              </a:spcAft>
            </a:pPr>
            <a:r>
              <a:rPr sz="1200" b="0" i="0">
                <a:solidFill>
                  <a:srgbClr val="FFFFFF"/>
                </a:solidFill>
                <a:latin typeface="Segoe UI"/>
              </a:rPr>
              <a:t>Draft dibantu AI, lalu saya review dan perbaiki sendiri</a:t>
            </a:r>
          </a:p>
        </p:txBody>
      </p:sp>
      <p:pic>
        <p:nvPicPr>
          <p:cNvPr id="32" name="Picture 31" descr="E73E-8DB4FF.png"/>
          <p:cNvPicPr>
            <a:picLocks noChangeAspect="1"/>
          </p:cNvPicPr>
          <p:nvPr/>
        </p:nvPicPr>
        <p:blipFill>
          <a:blip r:embed="rId3"/>
          <a:stretch>
            <a:fillRect/>
          </a:stretch>
        </p:blipFill>
        <p:spPr>
          <a:xfrm>
            <a:off x="896112" y="4846320"/>
            <a:ext cx="219456" cy="219456"/>
          </a:xfrm>
          <a:prstGeom prst="rect">
            <a:avLst/>
          </a:prstGeom>
        </p:spPr>
      </p:pic>
      <p:sp>
        <p:nvSpPr>
          <p:cNvPr id="33" name="TextBox 32"/>
          <p:cNvSpPr txBox="1"/>
          <p:nvPr/>
        </p:nvSpPr>
        <p:spPr>
          <a:xfrm>
            <a:off x="1280160" y="4754880"/>
            <a:ext cx="3017520" cy="566928"/>
          </a:xfrm>
          <a:prstGeom prst="rect">
            <a:avLst/>
          </a:prstGeom>
          <a:noFill/>
        </p:spPr>
        <p:txBody>
          <a:bodyPr wrap="square" lIns="0" tIns="0" rIns="0" bIns="0" anchor="t">
            <a:spAutoFit/>
          </a:bodyPr>
          <a:lstStyle/>
          <a:p>
            <a:pPr algn="l">
              <a:lnSpc>
                <a:spcPct val="100000"/>
              </a:lnSpc>
              <a:spcAft>
                <a:spcPts val="0"/>
              </a:spcAft>
            </a:pPr>
            <a:r>
              <a:rPr sz="1200" b="0" i="0">
                <a:solidFill>
                  <a:srgbClr val="FFFFFF"/>
                </a:solidFill>
                <a:latin typeface="Segoe UI"/>
              </a:rPr>
              <a:t>Tujuannya menunjukkan polanya, bukan jumlah catatannya</a:t>
            </a:r>
          </a:p>
        </p:txBody>
      </p:sp>
      <p:pic>
        <p:nvPicPr>
          <p:cNvPr id="62" name="Picture 31" descr="E73E-8DB4FF.png"/>
          <p:cNvPicPr>
            <a:picLocks noChangeAspect="1"/>
          </p:cNvPicPr>
          <p:nvPr/>
        </p:nvPicPr>
        <p:blipFill>
          <a:blip r:embed="rId3"/>
          <a:stretch>
            <a:fillRect/>
          </a:stretch>
        </p:blipFill>
        <p:spPr>
          <a:xfrm>
            <a:off x="896112" y="5358383"/>
            <a:ext cx="219456" cy="219456"/>
          </a:xfrm>
          <a:prstGeom prst="rect">
            <a:avLst/>
          </a:prstGeom>
        </p:spPr>
      </p:pic>
      <p:sp>
        <p:nvSpPr>
          <p:cNvPr id="63" name="TextBox 32"/>
          <p:cNvSpPr txBox="1"/>
          <p:nvPr/>
        </p:nvSpPr>
        <p:spPr>
          <a:xfrm>
            <a:off x="1280160" y="5266944"/>
            <a:ext cx="3017520" cy="566928"/>
          </a:xfrm>
          <a:prstGeom prst="rect">
            <a:avLst/>
          </a:prstGeom>
          <a:noFill/>
        </p:spPr>
        <p:txBody>
          <a:bodyPr wrap="square" lIns="0" tIns="0" rIns="0" bIns="0" anchor="t">
            <a:spAutoFit/>
          </a:bodyPr>
          <a:lstStyle/>
          <a:p>
            <a:pPr algn="l">
              <a:lnSpc>
                <a:spcPct val="100000"/>
              </a:lnSpc>
              <a:spcAft>
                <a:spcPts val="0"/>
              </a:spcAft>
            </a:pPr>
            <a:r>
              <a:rPr sz="1200" b="0" i="0">
                <a:solidFill>
                  <a:srgbClr val="FFFFFF"/>
                </a:solidFill>
                <a:latin typeface="Segoe UI"/>
              </a:rPr>
              <a:t>Masih eksperimen pribadi — bukan standar kerja atau rekomendasi resmi</a:t>
            </a:r>
          </a:p>
        </p:txBody>
      </p:sp>
      <p:sp>
        <p:nvSpPr>
          <p:cNvPr id="34" name="TextBox 33"/>
          <p:cNvSpPr txBox="1"/>
          <p:nvPr/>
        </p:nvSpPr>
        <p:spPr>
          <a:xfrm>
            <a:off x="4937760" y="1828800"/>
            <a:ext cx="6705295" cy="237744"/>
          </a:xfrm>
          <a:prstGeom prst="rect">
            <a:avLst/>
          </a:prstGeom>
          <a:noFill/>
        </p:spPr>
        <p:txBody>
          <a:bodyPr wrap="none" lIns="0" tIns="0" rIns="0" bIns="0" anchor="ctr">
            <a:spAutoFit/>
          </a:bodyPr>
          <a:lstStyle/>
          <a:p>
            <a:pPr algn="l">
              <a:lnSpc>
                <a:spcPct val="105000"/>
              </a:lnSpc>
              <a:spcAft>
                <a:spcPts val="0"/>
              </a:spcAft>
            </a:pPr>
            <a:r>
              <a:rPr sz="900" b="0" i="0" spc="80">
                <a:solidFill>
                  <a:srgbClr val="1F5BD8"/>
                </a:solidFill>
                <a:latin typeface="Segoe UI Semibold"/>
              </a:rPr>
              <a:t>DI PEKERJAAN NYATA</a:t>
            </a:r>
          </a:p>
        </p:txBody>
      </p:sp>
      <p:sp>
        <p:nvSpPr>
          <p:cNvPr id="35" name="Rounded Rectangle 34"/>
          <p:cNvSpPr/>
          <p:nvPr/>
        </p:nvSpPr>
        <p:spPr>
          <a:xfrm>
            <a:off x="4937760" y="2194560"/>
            <a:ext cx="1991258" cy="2514600"/>
          </a:xfrm>
          <a:prstGeom prst="roundRect">
            <a:avLst>
              <a:gd name="adj" fmla="val 5510"/>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5093208" y="2368296"/>
            <a:ext cx="603504" cy="603504"/>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7" name="Picture 36" descr="E70F-1F5BD8.png"/>
          <p:cNvPicPr>
            <a:picLocks noChangeAspect="1"/>
          </p:cNvPicPr>
          <p:nvPr/>
        </p:nvPicPr>
        <p:blipFill>
          <a:blip r:embed="rId4"/>
          <a:stretch>
            <a:fillRect/>
          </a:stretch>
        </p:blipFill>
        <p:spPr>
          <a:xfrm>
            <a:off x="5244084" y="2519172"/>
            <a:ext cx="301752" cy="301752"/>
          </a:xfrm>
          <a:prstGeom prst="rect">
            <a:avLst/>
          </a:prstGeom>
        </p:spPr>
      </p:pic>
      <p:sp>
        <p:nvSpPr>
          <p:cNvPr id="38" name="TextBox 37"/>
          <p:cNvSpPr txBox="1"/>
          <p:nvPr/>
        </p:nvSpPr>
        <p:spPr>
          <a:xfrm>
            <a:off x="5806440" y="2432304"/>
            <a:ext cx="1031138" cy="237744"/>
          </a:xfrm>
          <a:prstGeom prst="rect">
            <a:avLst/>
          </a:prstGeom>
          <a:noFill/>
        </p:spPr>
        <p:txBody>
          <a:bodyPr wrap="none" lIns="0" tIns="0" rIns="0" bIns="0" anchor="ctr">
            <a:spAutoFit/>
          </a:bodyPr>
          <a:lstStyle/>
          <a:p>
            <a:pPr algn="l">
              <a:lnSpc>
                <a:spcPct val="105000"/>
              </a:lnSpc>
              <a:spcAft>
                <a:spcPts val="0"/>
              </a:spcAft>
            </a:pPr>
            <a:r>
              <a:rPr sz="900" b="0" i="0" spc="80">
                <a:solidFill>
                  <a:srgbClr val="1F5BD8"/>
                </a:solidFill>
                <a:latin typeface="Segoe UI Semibold"/>
              </a:rPr>
              <a:t>HARI 1</a:t>
            </a:r>
          </a:p>
        </p:txBody>
      </p:sp>
      <p:sp>
        <p:nvSpPr>
          <p:cNvPr id="39" name="TextBox 38"/>
          <p:cNvSpPr txBox="1"/>
          <p:nvPr/>
        </p:nvSpPr>
        <p:spPr>
          <a:xfrm>
            <a:off x="5806440" y="2651760"/>
            <a:ext cx="1031138" cy="384048"/>
          </a:xfrm>
          <a:prstGeom prst="rect">
            <a:avLst/>
          </a:prstGeom>
          <a:noFill/>
        </p:spPr>
        <p:txBody>
          <a:bodyPr wrap="none" lIns="0" tIns="0" rIns="0" bIns="0" anchor="ctr">
            <a:spAutoFit/>
          </a:bodyPr>
          <a:lstStyle/>
          <a:p>
            <a:pPr algn="l">
              <a:lnSpc>
                <a:spcPct val="105000"/>
              </a:lnSpc>
              <a:spcAft>
                <a:spcPts val="0"/>
              </a:spcAft>
            </a:pPr>
            <a:r>
              <a:rPr sz="1500" b="0" i="0">
                <a:solidFill>
                  <a:srgbClr val="0B1F33"/>
                </a:solidFill>
                <a:latin typeface="Segoe UI Semibold"/>
              </a:rPr>
              <a:t>1 catatan</a:t>
            </a:r>
          </a:p>
        </p:txBody>
      </p:sp>
      <p:sp>
        <p:nvSpPr>
          <p:cNvPr id="40" name="TextBox 39"/>
          <p:cNvSpPr txBox="1"/>
          <p:nvPr/>
        </p:nvSpPr>
        <p:spPr>
          <a:xfrm>
            <a:off x="5166360" y="3218688"/>
            <a:ext cx="1579778" cy="1371600"/>
          </a:xfrm>
          <a:prstGeom prst="rect">
            <a:avLst/>
          </a:prstGeom>
          <a:noFill/>
        </p:spPr>
        <p:txBody>
          <a:bodyPr wrap="square" lIns="0" tIns="0" rIns="0" bIns="0" anchor="t">
            <a:spAutoFit/>
          </a:bodyPr>
          <a:lstStyle/>
          <a:p>
            <a:pPr algn="l">
              <a:lnSpc>
                <a:spcPct val="100000"/>
              </a:lnSpc>
              <a:spcAft>
                <a:spcPts val="0"/>
              </a:spcAft>
            </a:pPr>
            <a:r>
              <a:rPr sz="1200" b="0" i="0">
                <a:solidFill>
                  <a:srgbClr val="56657A"/>
                </a:solidFill>
                <a:latin typeface="Segoe UI"/>
              </a:rPr>
              <a:t>Satu temuan hari ini: site walk, rapat, atau issue di schedule</a:t>
            </a:r>
          </a:p>
        </p:txBody>
      </p:sp>
      <p:cxnSp>
        <p:nvCxnSpPr>
          <p:cNvPr id="41" name="Connector 40"/>
          <p:cNvCxnSpPr/>
          <p:nvPr/>
        </p:nvCxnSpPr>
        <p:spPr>
          <a:xfrm>
            <a:off x="6983882" y="3451860"/>
            <a:ext cx="256032" cy="0"/>
          </a:xfrm>
          <a:prstGeom prst="line">
            <a:avLst/>
          </a:prstGeom>
          <a:ln w="22225">
            <a:solidFill>
              <a:srgbClr val="1F5B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7294778" y="2194560"/>
            <a:ext cx="1991258" cy="2514600"/>
          </a:xfrm>
          <a:prstGeom prst="roundRect">
            <a:avLst>
              <a:gd name="adj" fmla="val 5510"/>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7450226" y="2368296"/>
            <a:ext cx="603504" cy="603504"/>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4" name="Picture 43" descr="E71B-1F5BD8.png"/>
          <p:cNvPicPr>
            <a:picLocks noChangeAspect="1"/>
          </p:cNvPicPr>
          <p:nvPr/>
        </p:nvPicPr>
        <p:blipFill>
          <a:blip r:embed="rId5"/>
          <a:stretch>
            <a:fillRect/>
          </a:stretch>
        </p:blipFill>
        <p:spPr>
          <a:xfrm>
            <a:off x="7601102" y="2519172"/>
            <a:ext cx="301752" cy="301752"/>
          </a:xfrm>
          <a:prstGeom prst="rect">
            <a:avLst/>
          </a:prstGeom>
        </p:spPr>
      </p:pic>
      <p:sp>
        <p:nvSpPr>
          <p:cNvPr id="45" name="TextBox 44"/>
          <p:cNvSpPr txBox="1"/>
          <p:nvPr/>
        </p:nvSpPr>
        <p:spPr>
          <a:xfrm>
            <a:off x="8163458" y="2432304"/>
            <a:ext cx="1031138" cy="237744"/>
          </a:xfrm>
          <a:prstGeom prst="rect">
            <a:avLst/>
          </a:prstGeom>
          <a:noFill/>
        </p:spPr>
        <p:txBody>
          <a:bodyPr wrap="none" lIns="0" tIns="0" rIns="0" bIns="0" anchor="ctr">
            <a:spAutoFit/>
          </a:bodyPr>
          <a:lstStyle/>
          <a:p>
            <a:pPr algn="l">
              <a:lnSpc>
                <a:spcPct val="105000"/>
              </a:lnSpc>
              <a:spcAft>
                <a:spcPts val="0"/>
              </a:spcAft>
            </a:pPr>
            <a:r>
              <a:rPr sz="900" b="0" i="0" spc="80">
                <a:solidFill>
                  <a:srgbClr val="1F5BD8"/>
                </a:solidFill>
                <a:latin typeface="Segoe UI Semibold"/>
              </a:rPr>
              <a:t>MINGGU 1</a:t>
            </a:r>
          </a:p>
        </p:txBody>
      </p:sp>
      <p:sp>
        <p:nvSpPr>
          <p:cNvPr id="46" name="TextBox 45"/>
          <p:cNvSpPr txBox="1"/>
          <p:nvPr/>
        </p:nvSpPr>
        <p:spPr>
          <a:xfrm>
            <a:off x="8163458" y="2651760"/>
            <a:ext cx="1031138" cy="384048"/>
          </a:xfrm>
          <a:prstGeom prst="rect">
            <a:avLst/>
          </a:prstGeom>
          <a:noFill/>
        </p:spPr>
        <p:txBody>
          <a:bodyPr wrap="none" lIns="0" tIns="0" rIns="0" bIns="0" anchor="ctr">
            <a:spAutoFit/>
          </a:bodyPr>
          <a:lstStyle/>
          <a:p>
            <a:pPr algn="l">
              <a:lnSpc>
                <a:spcPct val="105000"/>
              </a:lnSpc>
              <a:spcAft>
                <a:spcPts val="0"/>
              </a:spcAft>
            </a:pPr>
            <a:r>
              <a:rPr sz="1500" b="0" i="0">
                <a:solidFill>
                  <a:srgbClr val="0B1F33"/>
                </a:solidFill>
                <a:latin typeface="Segoe UI Semibold"/>
              </a:rPr>
              <a:t>±10 catatan</a:t>
            </a:r>
          </a:p>
        </p:txBody>
      </p:sp>
      <p:sp>
        <p:nvSpPr>
          <p:cNvPr id="47" name="TextBox 46"/>
          <p:cNvSpPr txBox="1"/>
          <p:nvPr/>
        </p:nvSpPr>
        <p:spPr>
          <a:xfrm>
            <a:off x="7523378" y="3218688"/>
            <a:ext cx="1579778" cy="1371600"/>
          </a:xfrm>
          <a:prstGeom prst="rect">
            <a:avLst/>
          </a:prstGeom>
          <a:noFill/>
        </p:spPr>
        <p:txBody>
          <a:bodyPr wrap="square" lIns="0" tIns="0" rIns="0" bIns="0" anchor="t">
            <a:spAutoFit/>
          </a:bodyPr>
          <a:lstStyle/>
          <a:p>
            <a:pPr algn="l">
              <a:lnSpc>
                <a:spcPct val="100000"/>
              </a:lnSpc>
              <a:spcAft>
                <a:spcPts val="0"/>
              </a:spcAft>
            </a:pPr>
            <a:r>
              <a:rPr sz="1200" b="0" i="0">
                <a:solidFill>
                  <a:srgbClr val="56657A"/>
                </a:solidFill>
                <a:latin typeface="Segoe UI"/>
              </a:rPr>
              <a:t>Setiap kejadian penting satu catatan pendek; ketik [[ untuk menghubungkan</a:t>
            </a:r>
          </a:p>
        </p:txBody>
      </p:sp>
      <p:cxnSp>
        <p:nvCxnSpPr>
          <p:cNvPr id="48" name="Connector 47"/>
          <p:cNvCxnSpPr/>
          <p:nvPr/>
        </p:nvCxnSpPr>
        <p:spPr>
          <a:xfrm>
            <a:off x="9340901" y="3451860"/>
            <a:ext cx="256032" cy="0"/>
          </a:xfrm>
          <a:prstGeom prst="line">
            <a:avLst/>
          </a:prstGeom>
          <a:ln w="22225">
            <a:solidFill>
              <a:srgbClr val="1F5B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9651797" y="2194560"/>
            <a:ext cx="1991258" cy="2514600"/>
          </a:xfrm>
          <a:prstGeom prst="roundRect">
            <a:avLst>
              <a:gd name="adj" fmla="val 5510"/>
            </a:avLst>
          </a:prstGeom>
          <a:solidFill>
            <a:srgbClr val="FFFFFF"/>
          </a:solidFill>
          <a:ln w="19050">
            <a:solidFill>
              <a:srgbClr val="1F5BD8"/>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9807245" y="2368296"/>
            <a:ext cx="603504" cy="603504"/>
          </a:xfrm>
          <a:prstGeom prst="ellipse">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1" name="Picture 50" descr="E8F1-FFFFFF.png"/>
          <p:cNvPicPr>
            <a:picLocks noChangeAspect="1"/>
          </p:cNvPicPr>
          <p:nvPr/>
        </p:nvPicPr>
        <p:blipFill>
          <a:blip r:embed="rId6"/>
          <a:stretch>
            <a:fillRect/>
          </a:stretch>
        </p:blipFill>
        <p:spPr>
          <a:xfrm>
            <a:off x="9958121" y="2519172"/>
            <a:ext cx="301752" cy="301752"/>
          </a:xfrm>
          <a:prstGeom prst="rect">
            <a:avLst/>
          </a:prstGeom>
        </p:spPr>
      </p:pic>
      <p:sp>
        <p:nvSpPr>
          <p:cNvPr id="52" name="TextBox 51"/>
          <p:cNvSpPr txBox="1"/>
          <p:nvPr/>
        </p:nvSpPr>
        <p:spPr>
          <a:xfrm>
            <a:off x="10520477" y="2432304"/>
            <a:ext cx="1031138" cy="237744"/>
          </a:xfrm>
          <a:prstGeom prst="rect">
            <a:avLst/>
          </a:prstGeom>
          <a:noFill/>
        </p:spPr>
        <p:txBody>
          <a:bodyPr wrap="none" lIns="0" tIns="0" rIns="0" bIns="0" anchor="ctr">
            <a:spAutoFit/>
          </a:bodyPr>
          <a:lstStyle/>
          <a:p>
            <a:pPr algn="l">
              <a:lnSpc>
                <a:spcPct val="105000"/>
              </a:lnSpc>
              <a:spcAft>
                <a:spcPts val="0"/>
              </a:spcAft>
            </a:pPr>
            <a:r>
              <a:rPr sz="900" b="0" i="0" spc="80">
                <a:solidFill>
                  <a:srgbClr val="1F5BD8"/>
                </a:solidFill>
                <a:latin typeface="Segoe UI Semibold"/>
              </a:rPr>
              <a:t>BULAN 1</a:t>
            </a:r>
          </a:p>
        </p:txBody>
      </p:sp>
      <p:sp>
        <p:nvSpPr>
          <p:cNvPr id="53" name="TextBox 52"/>
          <p:cNvSpPr txBox="1"/>
          <p:nvPr/>
        </p:nvSpPr>
        <p:spPr>
          <a:xfrm>
            <a:off x="10520477" y="2651760"/>
            <a:ext cx="1031138" cy="384048"/>
          </a:xfrm>
          <a:prstGeom prst="rect">
            <a:avLst/>
          </a:prstGeom>
          <a:noFill/>
        </p:spPr>
        <p:txBody>
          <a:bodyPr wrap="none" lIns="0" tIns="0" rIns="0" bIns="0" anchor="ctr">
            <a:spAutoFit/>
          </a:bodyPr>
          <a:lstStyle/>
          <a:p>
            <a:pPr algn="l">
              <a:lnSpc>
                <a:spcPct val="105000"/>
              </a:lnSpc>
              <a:spcAft>
                <a:spcPts val="0"/>
              </a:spcAft>
            </a:pPr>
            <a:r>
              <a:rPr sz="1500" b="0" i="0">
                <a:solidFill>
                  <a:srgbClr val="0B1F33"/>
                </a:solidFill>
                <a:latin typeface="Segoe UI Semibold"/>
              </a:rPr>
              <a:t>±50 catatan</a:t>
            </a:r>
          </a:p>
        </p:txBody>
      </p:sp>
      <p:sp>
        <p:nvSpPr>
          <p:cNvPr id="54" name="TextBox 53"/>
          <p:cNvSpPr txBox="1"/>
          <p:nvPr/>
        </p:nvSpPr>
        <p:spPr>
          <a:xfrm>
            <a:off x="9880397" y="3218688"/>
            <a:ext cx="1579778" cy="1371600"/>
          </a:xfrm>
          <a:prstGeom prst="rect">
            <a:avLst/>
          </a:prstGeom>
          <a:noFill/>
        </p:spPr>
        <p:txBody>
          <a:bodyPr wrap="square" lIns="0" tIns="0" rIns="0" bIns="0" anchor="t">
            <a:spAutoFit/>
          </a:bodyPr>
          <a:lstStyle/>
          <a:p>
            <a:pPr algn="l">
              <a:lnSpc>
                <a:spcPct val="100000"/>
              </a:lnSpc>
              <a:spcAft>
                <a:spcPts val="0"/>
              </a:spcAft>
            </a:pPr>
            <a:r>
              <a:rPr sz="1200" b="0" i="0">
                <a:solidFill>
                  <a:srgbClr val="56657A"/>
                </a:solidFill>
                <a:latin typeface="Segoe UI"/>
              </a:rPr>
              <a:t>2–3 catatan per hari kerja, plus 15 menit seminggu untuk merapikan</a:t>
            </a:r>
          </a:p>
        </p:txBody>
      </p:sp>
      <p:sp>
        <p:nvSpPr>
          <p:cNvPr id="55" name="Rectangle 54"/>
          <p:cNvSpPr/>
          <p:nvPr/>
        </p:nvSpPr>
        <p:spPr>
          <a:xfrm>
            <a:off x="4937760" y="5074920"/>
            <a:ext cx="6705295" cy="7315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4937760" y="5074920"/>
            <a:ext cx="54864" cy="731520"/>
          </a:xfrm>
          <a:prstGeom prst="rect">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7" name="Picture 56" descr="EA80-1F5BD8.png"/>
          <p:cNvPicPr>
            <a:picLocks noChangeAspect="1"/>
          </p:cNvPicPr>
          <p:nvPr/>
        </p:nvPicPr>
        <p:blipFill>
          <a:blip r:embed="rId7"/>
          <a:stretch>
            <a:fillRect/>
          </a:stretch>
        </p:blipFill>
        <p:spPr>
          <a:xfrm>
            <a:off x="5148072" y="5303520"/>
            <a:ext cx="274320" cy="274320"/>
          </a:xfrm>
          <a:prstGeom prst="rect">
            <a:avLst/>
          </a:prstGeom>
        </p:spPr>
      </p:pic>
      <p:sp>
        <p:nvSpPr>
          <p:cNvPr id="58" name="TextBox 57"/>
          <p:cNvSpPr txBox="1"/>
          <p:nvPr/>
        </p:nvSpPr>
        <p:spPr>
          <a:xfrm>
            <a:off x="5577840" y="5074920"/>
            <a:ext cx="5928055" cy="731520"/>
          </a:xfrm>
          <a:prstGeom prst="rect">
            <a:avLst/>
          </a:prstGeom>
          <a:noFill/>
        </p:spPr>
        <p:txBody>
          <a:bodyPr wrap="square" lIns="0" tIns="0" rIns="0" bIns="0" anchor="ctr">
            <a:spAutoFit/>
          </a:bodyPr>
          <a:lstStyle/>
          <a:p>
            <a:pPr algn="l">
              <a:lnSpc>
                <a:spcPct val="105000"/>
              </a:lnSpc>
              <a:spcAft>
                <a:spcPts val="0"/>
              </a:spcAft>
            </a:pPr>
            <a:r>
              <a:rPr sz="1400" b="0" i="0">
                <a:solidFill>
                  <a:srgbClr val="0B1F33"/>
                </a:solidFill>
                <a:latin typeface="Segoe UI Semibold"/>
              </a:rPr>
              <a:t>A vault isn't built in a day: one note, one link, every day.</a:t>
            </a:r>
          </a:p>
        </p:txBody>
      </p:sp>
      <p:sp>
        <p:nvSpPr>
          <p:cNvPr id="59" name="TextBox 58"/>
          <p:cNvSpPr txBox="1"/>
          <p:nvPr/>
        </p:nvSpPr>
        <p:spPr>
          <a:xfrm>
            <a:off x="548640" y="6419088"/>
            <a:ext cx="8686800" cy="237744"/>
          </a:xfrm>
          <a:prstGeom prst="rect">
            <a:avLst/>
          </a:prstGeom>
          <a:noFill/>
        </p:spPr>
        <p:txBody>
          <a:bodyPr wrap="none" lIns="0" tIns="0" rIns="0" bIns="0" anchor="t">
            <a:spAutoFit/>
          </a:bodyPr>
          <a:lstStyle/>
          <a:p>
            <a:pPr algn="l">
              <a:lnSpc>
                <a:spcPct val="105000"/>
              </a:lnSpc>
              <a:spcAft>
                <a:spcPts val="0"/>
              </a:spcAft>
            </a:pPr>
            <a:r>
              <a:rPr sz="850" b="0" i="0">
                <a:solidFill>
                  <a:srgbClr val="98A3B3"/>
                </a:solidFill>
                <a:latin typeface="Segoe UI"/>
              </a:rPr>
              <a:t>Sumber: REF-040, REF-041 (vault demo › 06 Referensi)</a:t>
            </a:r>
          </a:p>
        </p:txBody>
      </p:sp>
      <p:sp>
        <p:nvSpPr>
          <p:cNvPr id="60" name="TextBox 59"/>
          <p:cNvSpPr txBox="1"/>
          <p:nvPr/>
        </p:nvSpPr>
        <p:spPr>
          <a:xfrm>
            <a:off x="7071055" y="6419088"/>
            <a:ext cx="3657600" cy="237744"/>
          </a:xfrm>
          <a:prstGeom prst="rect">
            <a:avLst/>
          </a:prstGeom>
          <a:noFill/>
        </p:spPr>
        <p:txBody>
          <a:bodyPr wrap="none" lIns="0" tIns="0" rIns="0" bIns="0" anchor="ctr">
            <a:spAutoFit/>
          </a:bodyPr>
          <a:lstStyle/>
          <a:p>
            <a:pPr algn="r">
              <a:lnSpc>
                <a:spcPct val="105000"/>
              </a:lnSpc>
              <a:spcAft>
                <a:spcPts val="0"/>
              </a:spcAft>
            </a:pPr>
            <a:r>
              <a:rPr sz="800" b="0" i="0" spc="80">
                <a:solidFill>
                  <a:srgbClr val="56657A"/>
                </a:solidFill>
                <a:latin typeface="Segoe UI Semibold"/>
              </a:rPr>
              <a:t>ABDUL KAUSAR</a:t>
            </a:r>
          </a:p>
        </p:txBody>
      </p:sp>
      <p:sp>
        <p:nvSpPr>
          <p:cNvPr id="61" name="TextBox 60"/>
          <p:cNvSpPr txBox="1"/>
          <p:nvPr/>
        </p:nvSpPr>
        <p:spPr>
          <a:xfrm>
            <a:off x="10911535" y="6419088"/>
            <a:ext cx="731520" cy="237744"/>
          </a:xfrm>
          <a:prstGeom prst="rect">
            <a:avLst/>
          </a:prstGeom>
          <a:noFill/>
        </p:spPr>
        <p:txBody>
          <a:bodyPr wrap="square" lIns="0" tIns="0" rIns="0" bIns="0" anchor="t">
            <a:spAutoFit/>
          </a:bodyPr>
          <a:lstStyle/>
          <a:p>
            <a:pPr algn="r">
              <a:lnSpc>
                <a:spcPct val="105000"/>
              </a:lnSpc>
              <a:spcAft>
                <a:spcPts val="0"/>
              </a:spcAft>
            </a:pPr>
            <a:r>
              <a:rPr sz="900" b="0" i="0">
                <a:solidFill>
                  <a:srgbClr val="98A3B3"/>
                </a:solidFill>
                <a:latin typeface="Segoe UI"/>
              </a:rPr>
              <a:t>23</a:t>
            </a:r>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297680" cy="6858000"/>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777240"/>
            <a:ext cx="3474720" cy="237744"/>
          </a:xfrm>
          <a:prstGeom prst="rect">
            <a:avLst/>
          </a:prstGeom>
          <a:noFill/>
        </p:spPr>
        <p:txBody>
          <a:bodyPr wrap="none" lIns="0" tIns="0" rIns="0" bIns="0" anchor="ctr">
            <a:spAutoFit/>
          </a:bodyPr>
          <a:lstStyle/>
          <a:p>
            <a:pPr algn="l">
              <a:lnSpc>
                <a:spcPct val="105000"/>
              </a:lnSpc>
              <a:spcAft>
                <a:spcPts val="0"/>
              </a:spcAft>
            </a:pPr>
            <a:r>
              <a:rPr sz="1000" b="0" i="0" spc="80">
                <a:solidFill>
                  <a:srgbClr val="8DB4FF"/>
                </a:solidFill>
                <a:latin typeface="Segoe UI Semibold"/>
              </a:rPr>
              <a:t>LIVE DEMO</a:t>
            </a:r>
          </a:p>
        </p:txBody>
      </p:sp>
      <p:sp>
        <p:nvSpPr>
          <p:cNvPr id="4" name="TextBox 3"/>
          <p:cNvSpPr txBox="1"/>
          <p:nvPr/>
        </p:nvSpPr>
        <p:spPr>
          <a:xfrm>
            <a:off x="548640" y="1097280"/>
            <a:ext cx="3474720" cy="1371600"/>
          </a:xfrm>
          <a:prstGeom prst="rect">
            <a:avLst/>
          </a:prstGeom>
          <a:noFill/>
        </p:spPr>
        <p:txBody>
          <a:bodyPr wrap="square" lIns="0" tIns="0" rIns="0" bIns="0" anchor="t">
            <a:spAutoFit/>
          </a:bodyPr>
          <a:lstStyle/>
          <a:p>
            <a:pPr algn="l">
              <a:lnSpc>
                <a:spcPct val="95000"/>
              </a:lnSpc>
              <a:spcAft>
                <a:spcPts val="0"/>
              </a:spcAft>
            </a:pPr>
            <a:r>
              <a:rPr sz="4000" b="0" i="0">
                <a:solidFill>
                  <a:srgbClr val="FFFFFF"/>
                </a:solidFill>
                <a:latin typeface="Georgia"/>
              </a:rPr>
              <a:t>Let me</a:t>
            </a:r>
            <a:br>
              <a:rPr sz="4000" b="0" i="0">
                <a:solidFill>
                  <a:srgbClr val="FFFFFF"/>
                </a:solidFill>
                <a:latin typeface="Georgia"/>
              </a:rPr>
            </a:br>
            <a:r>
              <a:rPr sz="4000" b="0" i="0">
                <a:solidFill>
                  <a:srgbClr val="FFFFFF"/>
                </a:solidFill>
                <a:latin typeface="Georgia"/>
              </a:rPr>
              <a:t>show you</a:t>
            </a:r>
          </a:p>
        </p:txBody>
      </p:sp>
      <p:sp>
        <p:nvSpPr>
          <p:cNvPr id="5" name="TextBox 4"/>
          <p:cNvSpPr txBox="1"/>
          <p:nvPr/>
        </p:nvSpPr>
        <p:spPr>
          <a:xfrm>
            <a:off x="548640" y="2560320"/>
            <a:ext cx="3383280" cy="731520"/>
          </a:xfrm>
          <a:prstGeom prst="rect">
            <a:avLst/>
          </a:prstGeom>
          <a:noFill/>
        </p:spPr>
        <p:txBody>
          <a:bodyPr wrap="square" lIns="0" tIns="0" rIns="0" bIns="0" anchor="t">
            <a:spAutoFit/>
          </a:bodyPr>
          <a:lstStyle/>
          <a:p>
            <a:pPr algn="l">
              <a:lnSpc>
                <a:spcPct val="110000"/>
              </a:lnSpc>
              <a:spcAft>
                <a:spcPts val="0"/>
              </a:spcAft>
            </a:pPr>
            <a:r>
              <a:rPr sz="1300" b="0" i="0">
                <a:solidFill>
                  <a:srgbClr val="98A3B3"/>
                </a:solidFill>
                <a:latin typeface="Segoe UI"/>
              </a:rPr>
              <a:t>Vault demo 100% simulasi, dibuat khusus untuk sesi ini.</a:t>
            </a:r>
          </a:p>
        </p:txBody>
      </p:sp>
      <p:sp>
        <p:nvSpPr>
          <p:cNvPr id="6" name="Oval 5"/>
          <p:cNvSpPr/>
          <p:nvPr/>
        </p:nvSpPr>
        <p:spPr>
          <a:xfrm>
            <a:off x="548640" y="3611880"/>
            <a:ext cx="402336" cy="40233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7C9-0B1F33.png"/>
          <p:cNvPicPr>
            <a:picLocks noChangeAspect="1"/>
          </p:cNvPicPr>
          <p:nvPr/>
        </p:nvPicPr>
        <p:blipFill>
          <a:blip r:embed="rId3"/>
          <a:stretch>
            <a:fillRect/>
          </a:stretch>
        </p:blipFill>
        <p:spPr>
          <a:xfrm>
            <a:off x="649224" y="3712464"/>
            <a:ext cx="201168" cy="201168"/>
          </a:xfrm>
          <a:prstGeom prst="rect">
            <a:avLst/>
          </a:prstGeom>
        </p:spPr>
      </p:pic>
      <p:sp>
        <p:nvSpPr>
          <p:cNvPr id="8" name="TextBox 7"/>
          <p:cNvSpPr txBox="1"/>
          <p:nvPr/>
        </p:nvSpPr>
        <p:spPr>
          <a:xfrm>
            <a:off x="1097280" y="3611880"/>
            <a:ext cx="3108960" cy="402336"/>
          </a:xfrm>
          <a:prstGeom prst="rect">
            <a:avLst/>
          </a:prstGeom>
          <a:noFill/>
        </p:spPr>
        <p:txBody>
          <a:bodyPr wrap="square" lIns="0" tIns="0" rIns="0" bIns="0" anchor="ctr">
            <a:spAutoFit/>
          </a:bodyPr>
          <a:lstStyle/>
          <a:p>
            <a:pPr algn="l">
              <a:lnSpc>
                <a:spcPct val="105000"/>
              </a:lnSpc>
              <a:spcAft>
                <a:spcPts val="0"/>
              </a:spcAft>
            </a:pPr>
            <a:r>
              <a:rPr sz="1200" b="0" i="0">
                <a:solidFill>
                  <a:srgbClr val="FFFFFF"/>
                </a:solidFill>
                <a:latin typeface="Segoe UI"/>
              </a:rPr>
              <a:t>Klik satu langkah untuk membukanya di Obsidian</a:t>
            </a:r>
          </a:p>
        </p:txBody>
      </p:sp>
      <p:sp>
        <p:nvSpPr>
          <p:cNvPr id="9" name="Oval 8"/>
          <p:cNvSpPr/>
          <p:nvPr/>
        </p:nvSpPr>
        <p:spPr>
          <a:xfrm>
            <a:off x="548640" y="4178808"/>
            <a:ext cx="402336" cy="40233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E7C4-0B1F33.png"/>
          <p:cNvPicPr>
            <a:picLocks noChangeAspect="1"/>
          </p:cNvPicPr>
          <p:nvPr/>
        </p:nvPicPr>
        <p:blipFill>
          <a:blip r:embed="rId4"/>
          <a:stretch>
            <a:fillRect/>
          </a:stretch>
        </p:blipFill>
        <p:spPr>
          <a:xfrm>
            <a:off x="649224" y="4279392"/>
            <a:ext cx="201168" cy="201168"/>
          </a:xfrm>
          <a:prstGeom prst="rect">
            <a:avLst/>
          </a:prstGeom>
        </p:spPr>
      </p:pic>
      <p:sp>
        <p:nvSpPr>
          <p:cNvPr id="11" name="TextBox 10"/>
          <p:cNvSpPr txBox="1"/>
          <p:nvPr/>
        </p:nvSpPr>
        <p:spPr>
          <a:xfrm>
            <a:off x="1097280" y="4178808"/>
            <a:ext cx="3108960" cy="402336"/>
          </a:xfrm>
          <a:prstGeom prst="rect">
            <a:avLst/>
          </a:prstGeom>
          <a:noFill/>
        </p:spPr>
        <p:txBody>
          <a:bodyPr wrap="square" lIns="0" tIns="0" rIns="0" bIns="0" anchor="ctr">
            <a:spAutoFit/>
          </a:bodyPr>
          <a:lstStyle/>
          <a:p>
            <a:pPr algn="l">
              <a:lnSpc>
                <a:spcPct val="105000"/>
              </a:lnSpc>
              <a:spcAft>
                <a:spcPts val="0"/>
              </a:spcAft>
            </a:pPr>
            <a:r>
              <a:rPr sz="1200" b="0" i="0">
                <a:solidFill>
                  <a:srgbClr val="FFFFFF"/>
                </a:solidFill>
                <a:latin typeface="Segoe UI"/>
              </a:rPr>
              <a:t>Alt + Tab untuk kembali ke slide</a:t>
            </a:r>
          </a:p>
        </p:txBody>
      </p:sp>
      <p:sp>
        <p:nvSpPr>
          <p:cNvPr id="12" name="TextBox 11"/>
          <p:cNvSpPr txBox="1"/>
          <p:nvPr/>
        </p:nvSpPr>
        <p:spPr>
          <a:xfrm>
            <a:off x="548640" y="5120640"/>
            <a:ext cx="3383280" cy="914400"/>
          </a:xfrm>
          <a:prstGeom prst="rect">
            <a:avLst/>
          </a:prstGeom>
          <a:noFill/>
        </p:spPr>
        <p:txBody>
          <a:bodyPr wrap="square" lIns="0" tIns="0" rIns="0" bIns="0" anchor="t">
            <a:spAutoFit/>
          </a:bodyPr>
          <a:lstStyle/>
          <a:p>
            <a:pPr algn="l">
              <a:lnSpc>
                <a:spcPct val="105000"/>
              </a:lnSpc>
              <a:spcAft>
                <a:spcPts val="0"/>
              </a:spcAft>
            </a:pPr>
            <a:r>
              <a:rPr sz="1600" b="0" i="1">
                <a:solidFill>
                  <a:srgbClr val="8DB4FF"/>
                </a:solidFill>
                <a:latin typeface="Georgia"/>
              </a:rPr>
              <a:t>The graph isn't the goal. Finding the context again is.</a:t>
            </a:r>
          </a:p>
        </p:txBody>
      </p:sp>
      <p:sp>
        <p:nvSpPr>
          <p:cNvPr id="13" name="Rounded Rectangle 12"/>
          <p:cNvSpPr/>
          <p:nvPr/>
        </p:nvSpPr>
        <p:spPr>
          <a:xfrm>
            <a:off x="4709160" y="566928"/>
            <a:ext cx="6933895" cy="960120"/>
          </a:xfrm>
          <a:prstGeom prst="roundRect">
            <a:avLst>
              <a:gd name="adj" fmla="val 9523"/>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10328" y="566928"/>
            <a:ext cx="457200" cy="960120"/>
          </a:xfrm>
          <a:prstGeom prst="rect">
            <a:avLst/>
          </a:prstGeom>
          <a:noFill/>
        </p:spPr>
        <p:txBody>
          <a:bodyPr wrap="square" lIns="0" tIns="0" rIns="0" bIns="0" anchor="ctr">
            <a:spAutoFit/>
          </a:bodyPr>
          <a:lstStyle/>
          <a:p>
            <a:pPr algn="l">
              <a:lnSpc>
                <a:spcPct val="105000"/>
              </a:lnSpc>
              <a:spcAft>
                <a:spcPts val="0"/>
              </a:spcAft>
            </a:pPr>
            <a:r>
              <a:rPr sz="2400" b="0" i="0">
                <a:solidFill>
                  <a:srgbClr val="1F5BD8"/>
                </a:solidFill>
                <a:latin typeface="Georgia"/>
              </a:rPr>
              <a:t>1</a:t>
            </a:r>
          </a:p>
        </p:txBody>
      </p:sp>
      <p:sp>
        <p:nvSpPr>
          <p:cNvPr id="15" name="Oval 14"/>
          <p:cNvSpPr/>
          <p:nvPr/>
        </p:nvSpPr>
        <p:spPr>
          <a:xfrm>
            <a:off x="5404104" y="777240"/>
            <a:ext cx="530352" cy="530352"/>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E70F-1F5BD8.png"/>
          <p:cNvPicPr>
            <a:picLocks noChangeAspect="1"/>
          </p:cNvPicPr>
          <p:nvPr/>
        </p:nvPicPr>
        <p:blipFill>
          <a:blip r:embed="rId5"/>
          <a:stretch>
            <a:fillRect/>
          </a:stretch>
        </p:blipFill>
        <p:spPr>
          <a:xfrm>
            <a:off x="5536692" y="909828"/>
            <a:ext cx="265176" cy="265176"/>
          </a:xfrm>
          <a:prstGeom prst="rect">
            <a:avLst/>
          </a:prstGeom>
        </p:spPr>
      </p:pic>
      <p:sp>
        <p:nvSpPr>
          <p:cNvPr id="17" name="TextBox 16"/>
          <p:cNvSpPr txBox="1"/>
          <p:nvPr/>
        </p:nvSpPr>
        <p:spPr>
          <a:xfrm>
            <a:off x="6126480" y="676656"/>
            <a:ext cx="2743200" cy="237744"/>
          </a:xfrm>
          <a:prstGeom prst="rect">
            <a:avLst/>
          </a:prstGeom>
          <a:noFill/>
        </p:spPr>
        <p:txBody>
          <a:bodyPr wrap="none" lIns="0" tIns="0" rIns="0" bIns="0" anchor="ctr">
            <a:spAutoFit/>
          </a:bodyPr>
          <a:lstStyle/>
          <a:p>
            <a:pPr algn="l">
              <a:lnSpc>
                <a:spcPct val="105000"/>
              </a:lnSpc>
              <a:spcAft>
                <a:spcPts val="0"/>
              </a:spcAft>
            </a:pPr>
            <a:r>
              <a:rPr sz="850" b="0" i="0" spc="80">
                <a:solidFill>
                  <a:srgbClr val="1F5BD8"/>
                </a:solidFill>
                <a:latin typeface="Segoe UI Semibold"/>
              </a:rPr>
              <a:t>CATAT</a:t>
            </a:r>
          </a:p>
        </p:txBody>
      </p:sp>
      <p:sp>
        <p:nvSpPr>
          <p:cNvPr id="18" name="TextBox 17"/>
          <p:cNvSpPr txBox="1"/>
          <p:nvPr/>
        </p:nvSpPr>
        <p:spPr>
          <a:xfrm>
            <a:off x="6126480" y="841248"/>
            <a:ext cx="3824935" cy="274320"/>
          </a:xfrm>
          <a:prstGeom prst="rect">
            <a:avLst/>
          </a:prstGeom>
          <a:noFill/>
        </p:spPr>
        <p:txBody>
          <a:bodyPr wrap="none" lIns="0" tIns="0" rIns="0" bIns="0" anchor="ctr">
            <a:spAutoFit/>
          </a:bodyPr>
          <a:lstStyle/>
          <a:p>
            <a:pPr algn="l">
              <a:lnSpc>
                <a:spcPct val="105000"/>
              </a:lnSpc>
              <a:spcAft>
                <a:spcPts val="0"/>
              </a:spcAft>
            </a:pPr>
            <a:r>
              <a:rPr sz="1500" b="0" i="0">
                <a:solidFill>
                  <a:srgbClr val="0B1F33"/>
                </a:solidFill>
                <a:latin typeface="Segoe UI Semibold"/>
              </a:rPr>
              <a:t>Catat temuan site walk</a:t>
            </a:r>
          </a:p>
        </p:txBody>
      </p:sp>
      <p:sp>
        <p:nvSpPr>
          <p:cNvPr id="19" name="TextBox 18"/>
          <p:cNvSpPr txBox="1"/>
          <p:nvPr/>
        </p:nvSpPr>
        <p:spPr>
          <a:xfrm>
            <a:off x="6126480" y="1097280"/>
            <a:ext cx="3779215" cy="402336"/>
          </a:xfrm>
          <a:prstGeom prst="rect">
            <a:avLst/>
          </a:prstGeom>
          <a:noFill/>
        </p:spPr>
        <p:txBody>
          <a:bodyPr wrap="square" lIns="0" tIns="0" rIns="0" bIns="0" anchor="t">
            <a:spAutoFit/>
          </a:bodyPr>
          <a:lstStyle/>
          <a:p>
            <a:pPr algn="l">
              <a:lnSpc>
                <a:spcPct val="95000"/>
              </a:lnSpc>
              <a:spcAft>
                <a:spcPts val="0"/>
              </a:spcAft>
            </a:pPr>
            <a:r>
              <a:rPr sz="1000" b="0" i="0">
                <a:solidFill>
                  <a:srgbClr val="56657A"/>
                </a:solidFill>
                <a:latin typeface="Segoe UI"/>
              </a:rPr>
              <a:t>Satu klik menulis temuan hari ini sebagai note — langsung terhubung ke activity.</a:t>
            </a:r>
          </a:p>
        </p:txBody>
      </p:sp>
      <p:sp>
        <p:nvSpPr>
          <p:cNvPr id="20" name="Rounded Rectangle 19">
            <a:hlinkClick r:id="rId6"/>
          </p:cNvPr>
          <p:cNvSpPr/>
          <p:nvPr/>
        </p:nvSpPr>
        <p:spPr>
          <a:xfrm>
            <a:off x="10134295" y="841248"/>
            <a:ext cx="1325880" cy="420624"/>
          </a:xfrm>
          <a:prstGeom prst="roundRect">
            <a:avLst>
              <a:gd name="adj" fmla="val 50000"/>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0" rIns="0" bIns="0" rtlCol="0" anchor="ctr"/>
          <a:lstStyle/>
          <a:p>
            <a:pPr algn="l">
              <a:lnSpc>
                <a:spcPct val="105000"/>
              </a:lnSpc>
              <a:spcAft>
                <a:spcPts val="0"/>
              </a:spcAft>
            </a:pPr>
            <a:r>
              <a:rPr sz="1200" b="0" i="0">
                <a:solidFill>
                  <a:srgbClr val="FFFFFF"/>
                </a:solidFill>
                <a:latin typeface="Segoe UI Semibold"/>
              </a:rPr>
              <a:t>Buka</a:t>
            </a:r>
          </a:p>
        </p:txBody>
      </p:sp>
      <p:pic>
        <p:nvPicPr>
          <p:cNvPr id="21" name="Picture 20" descr="E8A7-FFFFFF.png">
            <a:hlinkClick r:id="rId6"/>
          </p:cNvPr>
          <p:cNvPicPr>
            <a:picLocks noChangeAspect="1"/>
          </p:cNvPicPr>
          <p:nvPr/>
        </p:nvPicPr>
        <p:blipFill>
          <a:blip r:embed="rId7"/>
          <a:stretch>
            <a:fillRect/>
          </a:stretch>
        </p:blipFill>
        <p:spPr>
          <a:xfrm>
            <a:off x="11134100" y="963229"/>
            <a:ext cx="176662" cy="176662"/>
          </a:xfrm>
          <a:prstGeom prst="rect">
            <a:avLst/>
          </a:prstGeom>
        </p:spPr>
      </p:pic>
      <p:sp>
        <p:nvSpPr>
          <p:cNvPr id="22" name="Rounded Rectangle 21"/>
          <p:cNvSpPr/>
          <p:nvPr/>
        </p:nvSpPr>
        <p:spPr>
          <a:xfrm>
            <a:off x="4709160" y="1691640"/>
            <a:ext cx="6933895" cy="960120"/>
          </a:xfrm>
          <a:prstGeom prst="roundRect">
            <a:avLst>
              <a:gd name="adj" fmla="val 9523"/>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910328" y="1691640"/>
            <a:ext cx="457200" cy="960120"/>
          </a:xfrm>
          <a:prstGeom prst="rect">
            <a:avLst/>
          </a:prstGeom>
          <a:noFill/>
        </p:spPr>
        <p:txBody>
          <a:bodyPr wrap="square" lIns="0" tIns="0" rIns="0" bIns="0" anchor="ctr">
            <a:spAutoFit/>
          </a:bodyPr>
          <a:lstStyle/>
          <a:p>
            <a:pPr algn="l">
              <a:lnSpc>
                <a:spcPct val="105000"/>
              </a:lnSpc>
              <a:spcAft>
                <a:spcPts val="0"/>
              </a:spcAft>
            </a:pPr>
            <a:r>
              <a:rPr sz="2400" b="0" i="0">
                <a:solidFill>
                  <a:srgbClr val="1F5BD8"/>
                </a:solidFill>
                <a:latin typeface="Georgia"/>
              </a:rPr>
              <a:t>2</a:t>
            </a:r>
          </a:p>
        </p:txBody>
      </p:sp>
      <p:sp>
        <p:nvSpPr>
          <p:cNvPr id="24" name="Oval 23"/>
          <p:cNvSpPr/>
          <p:nvPr/>
        </p:nvSpPr>
        <p:spPr>
          <a:xfrm>
            <a:off x="5404104" y="1901952"/>
            <a:ext cx="530352" cy="530352"/>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E71B-1F5BD8.png"/>
          <p:cNvPicPr>
            <a:picLocks noChangeAspect="1"/>
          </p:cNvPicPr>
          <p:nvPr/>
        </p:nvPicPr>
        <p:blipFill>
          <a:blip r:embed="rId8"/>
          <a:stretch>
            <a:fillRect/>
          </a:stretch>
        </p:blipFill>
        <p:spPr>
          <a:xfrm>
            <a:off x="5536692" y="2034540"/>
            <a:ext cx="265176" cy="265176"/>
          </a:xfrm>
          <a:prstGeom prst="rect">
            <a:avLst/>
          </a:prstGeom>
        </p:spPr>
      </p:pic>
      <p:sp>
        <p:nvSpPr>
          <p:cNvPr id="26" name="TextBox 25"/>
          <p:cNvSpPr txBox="1"/>
          <p:nvPr/>
        </p:nvSpPr>
        <p:spPr>
          <a:xfrm>
            <a:off x="6126480" y="1801368"/>
            <a:ext cx="2743200" cy="237744"/>
          </a:xfrm>
          <a:prstGeom prst="rect">
            <a:avLst/>
          </a:prstGeom>
          <a:noFill/>
        </p:spPr>
        <p:txBody>
          <a:bodyPr wrap="none" lIns="0" tIns="0" rIns="0" bIns="0" anchor="ctr">
            <a:spAutoFit/>
          </a:bodyPr>
          <a:lstStyle/>
          <a:p>
            <a:pPr algn="l">
              <a:lnSpc>
                <a:spcPct val="105000"/>
              </a:lnSpc>
              <a:spcAft>
                <a:spcPts val="0"/>
              </a:spcAft>
            </a:pPr>
            <a:r>
              <a:rPr sz="850" b="0" i="0" spc="80">
                <a:solidFill>
                  <a:srgbClr val="1F5BD8"/>
                </a:solidFill>
                <a:latin typeface="Segoe UI Semibold"/>
              </a:rPr>
              <a:t>HUBUNGKAN</a:t>
            </a:r>
          </a:p>
        </p:txBody>
      </p:sp>
      <p:sp>
        <p:nvSpPr>
          <p:cNvPr id="27" name="TextBox 26"/>
          <p:cNvSpPr txBox="1"/>
          <p:nvPr/>
        </p:nvSpPr>
        <p:spPr>
          <a:xfrm>
            <a:off x="6126480" y="1965960"/>
            <a:ext cx="3824935" cy="274320"/>
          </a:xfrm>
          <a:prstGeom prst="rect">
            <a:avLst/>
          </a:prstGeom>
          <a:noFill/>
        </p:spPr>
        <p:txBody>
          <a:bodyPr wrap="none" lIns="0" tIns="0" rIns="0" bIns="0" anchor="ctr">
            <a:spAutoFit/>
          </a:bodyPr>
          <a:lstStyle/>
          <a:p>
            <a:pPr algn="l">
              <a:lnSpc>
                <a:spcPct val="105000"/>
              </a:lnSpc>
              <a:spcAft>
                <a:spcPts val="0"/>
              </a:spcAft>
            </a:pPr>
            <a:r>
              <a:rPr sz="1500" b="0" i="0">
                <a:solidFill>
                  <a:srgbClr val="0B1F33"/>
                </a:solidFill>
                <a:latin typeface="Segoe UI Semibold"/>
              </a:rPr>
              <a:t>Lihat dari sisi activity</a:t>
            </a:r>
          </a:p>
        </p:txBody>
      </p:sp>
      <p:sp>
        <p:nvSpPr>
          <p:cNvPr id="28" name="TextBox 27"/>
          <p:cNvSpPr txBox="1"/>
          <p:nvPr/>
        </p:nvSpPr>
        <p:spPr>
          <a:xfrm>
            <a:off x="6126480" y="2221992"/>
            <a:ext cx="3779215" cy="402336"/>
          </a:xfrm>
          <a:prstGeom prst="rect">
            <a:avLst/>
          </a:prstGeom>
          <a:noFill/>
        </p:spPr>
        <p:txBody>
          <a:bodyPr wrap="square" lIns="0" tIns="0" rIns="0" bIns="0" anchor="t">
            <a:spAutoFit/>
          </a:bodyPr>
          <a:lstStyle/>
          <a:p>
            <a:pPr algn="l">
              <a:lnSpc>
                <a:spcPct val="95000"/>
              </a:lnSpc>
              <a:spcAft>
                <a:spcPts val="0"/>
              </a:spcAft>
            </a:pPr>
            <a:r>
              <a:rPr sz="1000" b="0" i="0">
                <a:solidFill>
                  <a:srgbClr val="56657A"/>
                </a:solidFill>
                <a:latin typeface="Segoe UI"/>
              </a:rPr>
              <a:t>Activity menampilkan readiness check — dan semua note yang menyebutnya.</a:t>
            </a:r>
          </a:p>
        </p:txBody>
      </p:sp>
      <p:sp>
        <p:nvSpPr>
          <p:cNvPr id="29" name="Rounded Rectangle 28">
            <a:hlinkClick r:id="rId9"/>
          </p:cNvPr>
          <p:cNvSpPr/>
          <p:nvPr/>
        </p:nvSpPr>
        <p:spPr>
          <a:xfrm>
            <a:off x="10134295" y="1965960"/>
            <a:ext cx="1325880" cy="420624"/>
          </a:xfrm>
          <a:prstGeom prst="roundRect">
            <a:avLst>
              <a:gd name="adj" fmla="val 50000"/>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0" rIns="0" bIns="0" rtlCol="0" anchor="ctr"/>
          <a:lstStyle/>
          <a:p>
            <a:pPr algn="l">
              <a:lnSpc>
                <a:spcPct val="105000"/>
              </a:lnSpc>
              <a:spcAft>
                <a:spcPts val="0"/>
              </a:spcAft>
            </a:pPr>
            <a:r>
              <a:rPr sz="1200" b="0" i="0">
                <a:solidFill>
                  <a:srgbClr val="FFFFFF"/>
                </a:solidFill>
                <a:latin typeface="Segoe UI Semibold"/>
              </a:rPr>
              <a:t>Buka</a:t>
            </a:r>
          </a:p>
        </p:txBody>
      </p:sp>
      <p:pic>
        <p:nvPicPr>
          <p:cNvPr id="30" name="Picture 29" descr="E8A7-FFFFFF.png">
            <a:hlinkClick r:id="rId9"/>
          </p:cNvPr>
          <p:cNvPicPr>
            <a:picLocks noChangeAspect="1"/>
          </p:cNvPicPr>
          <p:nvPr/>
        </p:nvPicPr>
        <p:blipFill>
          <a:blip r:embed="rId7"/>
          <a:stretch>
            <a:fillRect/>
          </a:stretch>
        </p:blipFill>
        <p:spPr>
          <a:xfrm>
            <a:off x="11134100" y="2087941"/>
            <a:ext cx="176662" cy="176662"/>
          </a:xfrm>
          <a:prstGeom prst="rect">
            <a:avLst/>
          </a:prstGeom>
        </p:spPr>
      </p:pic>
      <p:sp>
        <p:nvSpPr>
          <p:cNvPr id="31" name="Rounded Rectangle 30"/>
          <p:cNvSpPr/>
          <p:nvPr/>
        </p:nvSpPr>
        <p:spPr>
          <a:xfrm>
            <a:off x="4709160" y="2816352"/>
            <a:ext cx="6933895" cy="960120"/>
          </a:xfrm>
          <a:prstGeom prst="roundRect">
            <a:avLst>
              <a:gd name="adj" fmla="val 9523"/>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910328" y="2816352"/>
            <a:ext cx="457200" cy="960120"/>
          </a:xfrm>
          <a:prstGeom prst="rect">
            <a:avLst/>
          </a:prstGeom>
          <a:noFill/>
        </p:spPr>
        <p:txBody>
          <a:bodyPr wrap="square" lIns="0" tIns="0" rIns="0" bIns="0" anchor="ctr">
            <a:spAutoFit/>
          </a:bodyPr>
          <a:lstStyle/>
          <a:p>
            <a:pPr algn="l">
              <a:lnSpc>
                <a:spcPct val="105000"/>
              </a:lnSpc>
              <a:spcAft>
                <a:spcPts val="0"/>
              </a:spcAft>
            </a:pPr>
            <a:r>
              <a:rPr sz="2400" b="0" i="0">
                <a:solidFill>
                  <a:srgbClr val="1F5BD8"/>
                </a:solidFill>
                <a:latin typeface="Georgia"/>
              </a:rPr>
              <a:t>3</a:t>
            </a:r>
          </a:p>
        </p:txBody>
      </p:sp>
      <p:sp>
        <p:nvSpPr>
          <p:cNvPr id="33" name="Oval 32"/>
          <p:cNvSpPr/>
          <p:nvPr/>
        </p:nvSpPr>
        <p:spPr>
          <a:xfrm>
            <a:off x="5404104" y="3026664"/>
            <a:ext cx="530352" cy="530352"/>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Picture 33" descr="E777-1F5BD8.png"/>
          <p:cNvPicPr>
            <a:picLocks noChangeAspect="1"/>
          </p:cNvPicPr>
          <p:nvPr/>
        </p:nvPicPr>
        <p:blipFill>
          <a:blip r:embed="rId10"/>
          <a:stretch>
            <a:fillRect/>
          </a:stretch>
        </p:blipFill>
        <p:spPr>
          <a:xfrm>
            <a:off x="5536692" y="3159252"/>
            <a:ext cx="265176" cy="265176"/>
          </a:xfrm>
          <a:prstGeom prst="rect">
            <a:avLst/>
          </a:prstGeom>
        </p:spPr>
      </p:pic>
      <p:sp>
        <p:nvSpPr>
          <p:cNvPr id="35" name="TextBox 34"/>
          <p:cNvSpPr txBox="1"/>
          <p:nvPr/>
        </p:nvSpPr>
        <p:spPr>
          <a:xfrm>
            <a:off x="6126480" y="2926080"/>
            <a:ext cx="2743200" cy="237744"/>
          </a:xfrm>
          <a:prstGeom prst="rect">
            <a:avLst/>
          </a:prstGeom>
          <a:noFill/>
        </p:spPr>
        <p:txBody>
          <a:bodyPr wrap="none" lIns="0" tIns="0" rIns="0" bIns="0" anchor="ctr">
            <a:spAutoFit/>
          </a:bodyPr>
          <a:lstStyle/>
          <a:p>
            <a:pPr algn="l">
              <a:lnSpc>
                <a:spcPct val="105000"/>
              </a:lnSpc>
              <a:spcAft>
                <a:spcPts val="0"/>
              </a:spcAft>
            </a:pPr>
            <a:r>
              <a:rPr sz="850" b="0" i="0" spc="80">
                <a:solidFill>
                  <a:srgbClr val="1F5BD8"/>
                </a:solidFill>
                <a:latin typeface="Segoe UI Semibold"/>
              </a:rPr>
              <a:t>PAKAI ULANG</a:t>
            </a:r>
          </a:p>
        </p:txBody>
      </p:sp>
      <p:sp>
        <p:nvSpPr>
          <p:cNvPr id="36" name="TextBox 35"/>
          <p:cNvSpPr txBox="1"/>
          <p:nvPr/>
        </p:nvSpPr>
        <p:spPr>
          <a:xfrm>
            <a:off x="6126480" y="3090672"/>
            <a:ext cx="3824935" cy="274320"/>
          </a:xfrm>
          <a:prstGeom prst="rect">
            <a:avLst/>
          </a:prstGeom>
          <a:noFill/>
        </p:spPr>
        <p:txBody>
          <a:bodyPr wrap="none" lIns="0" tIns="0" rIns="0" bIns="0" anchor="ctr">
            <a:spAutoFit/>
          </a:bodyPr>
          <a:lstStyle/>
          <a:p>
            <a:pPr algn="l">
              <a:lnSpc>
                <a:spcPct val="105000"/>
              </a:lnSpc>
              <a:spcAft>
                <a:spcPts val="0"/>
              </a:spcAft>
            </a:pPr>
            <a:r>
              <a:rPr sz="1500" b="0" i="0">
                <a:solidFill>
                  <a:srgbClr val="0B1F33"/>
                </a:solidFill>
                <a:latin typeface="Segoe UI Semibold"/>
              </a:rPr>
              <a:t>Pakai lagi lesson yang ada</a:t>
            </a:r>
          </a:p>
        </p:txBody>
      </p:sp>
      <p:sp>
        <p:nvSpPr>
          <p:cNvPr id="37" name="TextBox 36"/>
          <p:cNvSpPr txBox="1"/>
          <p:nvPr/>
        </p:nvSpPr>
        <p:spPr>
          <a:xfrm>
            <a:off x="6126480" y="3346704"/>
            <a:ext cx="3779215" cy="402336"/>
          </a:xfrm>
          <a:prstGeom prst="rect">
            <a:avLst/>
          </a:prstGeom>
          <a:noFill/>
        </p:spPr>
        <p:txBody>
          <a:bodyPr wrap="square" lIns="0" tIns="0" rIns="0" bIns="0" anchor="t">
            <a:spAutoFit/>
          </a:bodyPr>
          <a:lstStyle/>
          <a:p>
            <a:pPr algn="l">
              <a:lnSpc>
                <a:spcPct val="95000"/>
              </a:lnSpc>
              <a:spcAft>
                <a:spcPts val="0"/>
              </a:spcAft>
            </a:pPr>
            <a:r>
              <a:rPr sz="1000" b="0" i="0">
                <a:solidFill>
                  <a:srgbClr val="56657A"/>
                </a:solidFill>
                <a:latin typeface="Segoe UI"/>
              </a:rPr>
              <a:t>Lesson yang ditulis sekali — 4 dari 5 ready itu belum ready — berlaku di setiap project.</a:t>
            </a:r>
          </a:p>
        </p:txBody>
      </p:sp>
      <p:sp>
        <p:nvSpPr>
          <p:cNvPr id="38" name="Rounded Rectangle 37">
            <a:hlinkClick r:id="rId11"/>
          </p:cNvPr>
          <p:cNvSpPr/>
          <p:nvPr/>
        </p:nvSpPr>
        <p:spPr>
          <a:xfrm>
            <a:off x="10134295" y="3090672"/>
            <a:ext cx="1325880" cy="420624"/>
          </a:xfrm>
          <a:prstGeom prst="roundRect">
            <a:avLst>
              <a:gd name="adj" fmla="val 50000"/>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0" rIns="0" bIns="0" rtlCol="0" anchor="ctr"/>
          <a:lstStyle/>
          <a:p>
            <a:pPr algn="l">
              <a:lnSpc>
                <a:spcPct val="105000"/>
              </a:lnSpc>
              <a:spcAft>
                <a:spcPts val="0"/>
              </a:spcAft>
            </a:pPr>
            <a:r>
              <a:rPr sz="1200" b="0" i="0">
                <a:solidFill>
                  <a:srgbClr val="FFFFFF"/>
                </a:solidFill>
                <a:latin typeface="Segoe UI Semibold"/>
              </a:rPr>
              <a:t>Buka</a:t>
            </a:r>
          </a:p>
        </p:txBody>
      </p:sp>
      <p:pic>
        <p:nvPicPr>
          <p:cNvPr id="39" name="Picture 38" descr="E8A7-FFFFFF.png">
            <a:hlinkClick r:id="rId11"/>
          </p:cNvPr>
          <p:cNvPicPr>
            <a:picLocks noChangeAspect="1"/>
          </p:cNvPicPr>
          <p:nvPr/>
        </p:nvPicPr>
        <p:blipFill>
          <a:blip r:embed="rId7"/>
          <a:stretch>
            <a:fillRect/>
          </a:stretch>
        </p:blipFill>
        <p:spPr>
          <a:xfrm>
            <a:off x="11134100" y="3212653"/>
            <a:ext cx="176662" cy="176662"/>
          </a:xfrm>
          <a:prstGeom prst="rect">
            <a:avLst/>
          </a:prstGeom>
        </p:spPr>
      </p:pic>
      <p:sp>
        <p:nvSpPr>
          <p:cNvPr id="40" name="Rounded Rectangle 39"/>
          <p:cNvSpPr/>
          <p:nvPr/>
        </p:nvSpPr>
        <p:spPr>
          <a:xfrm>
            <a:off x="4709160" y="3941064"/>
            <a:ext cx="6933895" cy="960120"/>
          </a:xfrm>
          <a:prstGeom prst="roundRect">
            <a:avLst>
              <a:gd name="adj" fmla="val 9523"/>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910328" y="3941064"/>
            <a:ext cx="457200" cy="960120"/>
          </a:xfrm>
          <a:prstGeom prst="rect">
            <a:avLst/>
          </a:prstGeom>
          <a:noFill/>
        </p:spPr>
        <p:txBody>
          <a:bodyPr wrap="square" lIns="0" tIns="0" rIns="0" bIns="0" anchor="ctr">
            <a:spAutoFit/>
          </a:bodyPr>
          <a:lstStyle/>
          <a:p>
            <a:pPr algn="l">
              <a:lnSpc>
                <a:spcPct val="105000"/>
              </a:lnSpc>
              <a:spcAft>
                <a:spcPts val="0"/>
              </a:spcAft>
            </a:pPr>
            <a:r>
              <a:rPr sz="2400" b="0" i="0">
                <a:solidFill>
                  <a:srgbClr val="1F5BD8"/>
                </a:solidFill>
                <a:latin typeface="Georgia"/>
              </a:rPr>
              <a:t>4</a:t>
            </a:r>
          </a:p>
        </p:txBody>
      </p:sp>
      <p:sp>
        <p:nvSpPr>
          <p:cNvPr id="42" name="Oval 41"/>
          <p:cNvSpPr/>
          <p:nvPr/>
        </p:nvSpPr>
        <p:spPr>
          <a:xfrm>
            <a:off x="5404104" y="4151376"/>
            <a:ext cx="530352" cy="530352"/>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3" name="Picture 42" descr="E721-1F5BD8.png"/>
          <p:cNvPicPr>
            <a:picLocks noChangeAspect="1"/>
          </p:cNvPicPr>
          <p:nvPr/>
        </p:nvPicPr>
        <p:blipFill>
          <a:blip r:embed="rId12"/>
          <a:stretch>
            <a:fillRect/>
          </a:stretch>
        </p:blipFill>
        <p:spPr>
          <a:xfrm>
            <a:off x="5536692" y="4283964"/>
            <a:ext cx="265176" cy="265176"/>
          </a:xfrm>
          <a:prstGeom prst="rect">
            <a:avLst/>
          </a:prstGeom>
        </p:spPr>
      </p:pic>
      <p:sp>
        <p:nvSpPr>
          <p:cNvPr id="44" name="TextBox 43"/>
          <p:cNvSpPr txBox="1"/>
          <p:nvPr/>
        </p:nvSpPr>
        <p:spPr>
          <a:xfrm>
            <a:off x="6126480" y="4050792"/>
            <a:ext cx="2743200" cy="237744"/>
          </a:xfrm>
          <a:prstGeom prst="rect">
            <a:avLst/>
          </a:prstGeom>
          <a:noFill/>
        </p:spPr>
        <p:txBody>
          <a:bodyPr wrap="none" lIns="0" tIns="0" rIns="0" bIns="0" anchor="ctr">
            <a:spAutoFit/>
          </a:bodyPr>
          <a:lstStyle/>
          <a:p>
            <a:pPr algn="l">
              <a:lnSpc>
                <a:spcPct val="105000"/>
              </a:lnSpc>
              <a:spcAft>
                <a:spcPts val="0"/>
              </a:spcAft>
            </a:pPr>
            <a:r>
              <a:rPr sz="850" b="0" i="0" spc="80">
                <a:solidFill>
                  <a:srgbClr val="1F5BD8"/>
                </a:solidFill>
                <a:latin typeface="Segoe UI Semibold"/>
              </a:rPr>
              <a:t>TEMUKAN</a:t>
            </a:r>
          </a:p>
        </p:txBody>
      </p:sp>
      <p:sp>
        <p:nvSpPr>
          <p:cNvPr id="45" name="TextBox 44"/>
          <p:cNvSpPr txBox="1"/>
          <p:nvPr/>
        </p:nvSpPr>
        <p:spPr>
          <a:xfrm>
            <a:off x="6126480" y="4215384"/>
            <a:ext cx="3824935" cy="274320"/>
          </a:xfrm>
          <a:prstGeom prst="rect">
            <a:avLst/>
          </a:prstGeom>
          <a:noFill/>
        </p:spPr>
        <p:txBody>
          <a:bodyPr wrap="none" lIns="0" tIns="0" rIns="0" bIns="0" anchor="ctr">
            <a:spAutoFit/>
          </a:bodyPr>
          <a:lstStyle/>
          <a:p>
            <a:pPr algn="l">
              <a:lnSpc>
                <a:spcPct val="105000"/>
              </a:lnSpc>
              <a:spcAft>
                <a:spcPts val="0"/>
              </a:spcAft>
            </a:pPr>
            <a:r>
              <a:rPr sz="1500" b="0" i="0">
                <a:solidFill>
                  <a:srgbClr val="0B1F33"/>
                </a:solidFill>
                <a:latin typeface="Segoe UI Semibold"/>
              </a:rPr>
              <a:t>Temukan lagi dengan satu kata</a:t>
            </a:r>
          </a:p>
        </p:txBody>
      </p:sp>
      <p:sp>
        <p:nvSpPr>
          <p:cNvPr id="46" name="TextBox 45"/>
          <p:cNvSpPr txBox="1"/>
          <p:nvPr/>
        </p:nvSpPr>
        <p:spPr>
          <a:xfrm>
            <a:off x="6126480" y="4471416"/>
            <a:ext cx="3779215" cy="402336"/>
          </a:xfrm>
          <a:prstGeom prst="rect">
            <a:avLst/>
          </a:prstGeom>
          <a:noFill/>
        </p:spPr>
        <p:txBody>
          <a:bodyPr wrap="square" lIns="0" tIns="0" rIns="0" bIns="0" anchor="t">
            <a:spAutoFit/>
          </a:bodyPr>
          <a:lstStyle/>
          <a:p>
            <a:pPr algn="l">
              <a:lnSpc>
                <a:spcPct val="95000"/>
              </a:lnSpc>
              <a:spcAft>
                <a:spcPts val="0"/>
              </a:spcAft>
            </a:pPr>
            <a:r>
              <a:rPr sz="1000" b="0" i="0">
                <a:solidFill>
                  <a:srgbClr val="56657A"/>
                </a:solidFill>
                <a:latin typeface="Segoe UI"/>
              </a:rPr>
              <a:t>Berbulan-bulan kemudian, satu pencarian memunculkan meeting, activity, lesson dan note hari ini.</a:t>
            </a:r>
          </a:p>
        </p:txBody>
      </p:sp>
      <p:sp>
        <p:nvSpPr>
          <p:cNvPr id="47" name="Rounded Rectangle 46">
            <a:hlinkClick r:id="rId13"/>
          </p:cNvPr>
          <p:cNvSpPr/>
          <p:nvPr/>
        </p:nvSpPr>
        <p:spPr>
          <a:xfrm>
            <a:off x="10134295" y="4215384"/>
            <a:ext cx="1325880" cy="420624"/>
          </a:xfrm>
          <a:prstGeom prst="roundRect">
            <a:avLst>
              <a:gd name="adj" fmla="val 50000"/>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0" rIns="0" bIns="0" rtlCol="0" anchor="ctr"/>
          <a:lstStyle/>
          <a:p>
            <a:pPr algn="l">
              <a:lnSpc>
                <a:spcPct val="105000"/>
              </a:lnSpc>
              <a:spcAft>
                <a:spcPts val="0"/>
              </a:spcAft>
            </a:pPr>
            <a:r>
              <a:rPr sz="1200" b="0" i="0">
                <a:solidFill>
                  <a:srgbClr val="FFFFFF"/>
                </a:solidFill>
                <a:latin typeface="Segoe UI Semibold"/>
              </a:rPr>
              <a:t>Buka</a:t>
            </a:r>
          </a:p>
        </p:txBody>
      </p:sp>
      <p:pic>
        <p:nvPicPr>
          <p:cNvPr id="48" name="Picture 47" descr="E8A7-FFFFFF.png">
            <a:hlinkClick r:id="rId13"/>
          </p:cNvPr>
          <p:cNvPicPr>
            <a:picLocks noChangeAspect="1"/>
          </p:cNvPicPr>
          <p:nvPr/>
        </p:nvPicPr>
        <p:blipFill>
          <a:blip r:embed="rId7"/>
          <a:stretch>
            <a:fillRect/>
          </a:stretch>
        </p:blipFill>
        <p:spPr>
          <a:xfrm>
            <a:off x="11134100" y="4337365"/>
            <a:ext cx="176662" cy="176662"/>
          </a:xfrm>
          <a:prstGeom prst="rect">
            <a:avLst/>
          </a:prstGeom>
        </p:spPr>
      </p:pic>
      <p:sp>
        <p:nvSpPr>
          <p:cNvPr id="49" name="Rounded Rectangle 48"/>
          <p:cNvSpPr/>
          <p:nvPr/>
        </p:nvSpPr>
        <p:spPr>
          <a:xfrm>
            <a:off x="4709160" y="5065776"/>
            <a:ext cx="6933895" cy="960120"/>
          </a:xfrm>
          <a:prstGeom prst="roundRect">
            <a:avLst>
              <a:gd name="adj" fmla="val 9523"/>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910328" y="5065776"/>
            <a:ext cx="457200" cy="960120"/>
          </a:xfrm>
          <a:prstGeom prst="rect">
            <a:avLst/>
          </a:prstGeom>
          <a:noFill/>
        </p:spPr>
        <p:txBody>
          <a:bodyPr wrap="square" lIns="0" tIns="0" rIns="0" bIns="0" anchor="ctr">
            <a:spAutoFit/>
          </a:bodyPr>
          <a:lstStyle/>
          <a:p>
            <a:pPr algn="l">
              <a:lnSpc>
                <a:spcPct val="105000"/>
              </a:lnSpc>
              <a:spcAft>
                <a:spcPts val="0"/>
              </a:spcAft>
            </a:pPr>
            <a:r>
              <a:rPr sz="2400" b="0" i="0">
                <a:solidFill>
                  <a:srgbClr val="1F5BD8"/>
                </a:solidFill>
                <a:latin typeface="Georgia"/>
              </a:rPr>
              <a:t>5</a:t>
            </a:r>
          </a:p>
        </p:txBody>
      </p:sp>
      <p:sp>
        <p:nvSpPr>
          <p:cNvPr id="51" name="Oval 50"/>
          <p:cNvSpPr/>
          <p:nvPr/>
        </p:nvSpPr>
        <p:spPr>
          <a:xfrm>
            <a:off x="5404104" y="5276088"/>
            <a:ext cx="530352" cy="530352"/>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2" name="Picture 51" descr="EBD2-1F5BD8.png"/>
          <p:cNvPicPr>
            <a:picLocks noChangeAspect="1"/>
          </p:cNvPicPr>
          <p:nvPr/>
        </p:nvPicPr>
        <p:blipFill>
          <a:blip r:embed="rId14"/>
          <a:stretch>
            <a:fillRect/>
          </a:stretch>
        </p:blipFill>
        <p:spPr>
          <a:xfrm>
            <a:off x="5536692" y="5408676"/>
            <a:ext cx="265176" cy="265176"/>
          </a:xfrm>
          <a:prstGeom prst="rect">
            <a:avLst/>
          </a:prstGeom>
        </p:spPr>
      </p:pic>
      <p:sp>
        <p:nvSpPr>
          <p:cNvPr id="53" name="TextBox 52"/>
          <p:cNvSpPr txBox="1"/>
          <p:nvPr/>
        </p:nvSpPr>
        <p:spPr>
          <a:xfrm>
            <a:off x="6126480" y="5175504"/>
            <a:ext cx="2743200" cy="237744"/>
          </a:xfrm>
          <a:prstGeom prst="rect">
            <a:avLst/>
          </a:prstGeom>
          <a:noFill/>
        </p:spPr>
        <p:txBody>
          <a:bodyPr wrap="none" lIns="0" tIns="0" rIns="0" bIns="0" anchor="ctr">
            <a:spAutoFit/>
          </a:bodyPr>
          <a:lstStyle/>
          <a:p>
            <a:pPr algn="l">
              <a:lnSpc>
                <a:spcPct val="105000"/>
              </a:lnSpc>
              <a:spcAft>
                <a:spcPts val="0"/>
              </a:spcAft>
            </a:pPr>
            <a:r>
              <a:rPr sz="850" b="0" i="0" spc="80">
                <a:solidFill>
                  <a:srgbClr val="1F5BD8"/>
                </a:solidFill>
                <a:latin typeface="Segoe UI Semibold"/>
              </a:rPr>
              <a:t>LIHAT</a:t>
            </a:r>
          </a:p>
        </p:txBody>
      </p:sp>
      <p:sp>
        <p:nvSpPr>
          <p:cNvPr id="54" name="TextBox 53"/>
          <p:cNvSpPr txBox="1"/>
          <p:nvPr/>
        </p:nvSpPr>
        <p:spPr>
          <a:xfrm>
            <a:off x="6126480" y="5340096"/>
            <a:ext cx="3824935" cy="274320"/>
          </a:xfrm>
          <a:prstGeom prst="rect">
            <a:avLst/>
          </a:prstGeom>
          <a:noFill/>
        </p:spPr>
        <p:txBody>
          <a:bodyPr wrap="none" lIns="0" tIns="0" rIns="0" bIns="0" anchor="ctr">
            <a:spAutoFit/>
          </a:bodyPr>
          <a:lstStyle/>
          <a:p>
            <a:pPr algn="l">
              <a:lnSpc>
                <a:spcPct val="105000"/>
              </a:lnSpc>
              <a:spcAft>
                <a:spcPts val="0"/>
              </a:spcAft>
            </a:pPr>
            <a:r>
              <a:rPr sz="1500" b="0" i="0">
                <a:solidFill>
                  <a:srgbClr val="0B1F33"/>
                </a:solidFill>
                <a:latin typeface="Segoe UI Semibold"/>
              </a:rPr>
              <a:t>Lihat hubungannya</a:t>
            </a:r>
          </a:p>
        </p:txBody>
      </p:sp>
      <p:sp>
        <p:nvSpPr>
          <p:cNvPr id="55" name="TextBox 54"/>
          <p:cNvSpPr txBox="1"/>
          <p:nvPr/>
        </p:nvSpPr>
        <p:spPr>
          <a:xfrm>
            <a:off x="6126480" y="5596128"/>
            <a:ext cx="3779215" cy="402336"/>
          </a:xfrm>
          <a:prstGeom prst="rect">
            <a:avLst/>
          </a:prstGeom>
          <a:noFill/>
        </p:spPr>
        <p:txBody>
          <a:bodyPr wrap="square" lIns="0" tIns="0" rIns="0" bIns="0" anchor="t">
            <a:spAutoFit/>
          </a:bodyPr>
          <a:lstStyle/>
          <a:p>
            <a:pPr algn="l">
              <a:lnSpc>
                <a:spcPct val="95000"/>
              </a:lnSpc>
              <a:spcAft>
                <a:spcPts val="0"/>
              </a:spcAft>
            </a:pPr>
            <a:r>
              <a:rPr sz="1000" b="0" i="0">
                <a:solidFill>
                  <a:srgbClr val="56657A"/>
                </a:solidFill>
                <a:latin typeface="Segoe UI"/>
              </a:rPr>
              <a:t>Opsional — graph view menunjukkan bagaimana note saling terhubung.</a:t>
            </a:r>
          </a:p>
        </p:txBody>
      </p:sp>
      <p:sp>
        <p:nvSpPr>
          <p:cNvPr id="56" name="Rounded Rectangle 55"/>
          <p:cNvSpPr/>
          <p:nvPr/>
        </p:nvSpPr>
        <p:spPr>
          <a:xfrm>
            <a:off x="10484815" y="5340096"/>
            <a:ext cx="975360" cy="420624"/>
          </a:xfrm>
          <a:prstGeom prst="roundRect">
            <a:avLst>
              <a:gd name="adj" fmla="val 50000"/>
            </a:avLst>
          </a:prstGeom>
          <a:solidFill>
            <a:srgbClr val="F3F5F8"/>
          </a:solidFill>
          <a:ln w="12700">
            <a:solidFill>
              <a:srgbClr val="DDE2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10484815" y="5340096"/>
            <a:ext cx="975360" cy="420624"/>
          </a:xfrm>
          <a:prstGeom prst="rect">
            <a:avLst/>
          </a:prstGeom>
          <a:noFill/>
        </p:spPr>
        <p:txBody>
          <a:bodyPr wrap="square" lIns="0" tIns="0" rIns="0" bIns="0" anchor="ctr">
            <a:spAutoFit/>
          </a:bodyPr>
          <a:lstStyle/>
          <a:p>
            <a:pPr algn="ctr">
              <a:lnSpc>
                <a:spcPct val="105000"/>
              </a:lnSpc>
              <a:spcAft>
                <a:spcPts val="0"/>
              </a:spcAft>
            </a:pPr>
            <a:r>
              <a:rPr sz="1100" b="0" i="0">
                <a:solidFill>
                  <a:srgbClr val="0B1F33"/>
                </a:solidFill>
                <a:latin typeface="Consolas"/>
              </a:rPr>
              <a:t>Ctrl + G</a:t>
            </a:r>
          </a:p>
        </p:txBody>
      </p:sp>
      <p:sp>
        <p:nvSpPr>
          <p:cNvPr id="58" name="TextBox 57"/>
          <p:cNvSpPr txBox="1"/>
          <p:nvPr/>
        </p:nvSpPr>
        <p:spPr>
          <a:xfrm>
            <a:off x="4709160" y="6419088"/>
            <a:ext cx="8686800" cy="237744"/>
          </a:xfrm>
          <a:prstGeom prst="rect">
            <a:avLst/>
          </a:prstGeom>
          <a:noFill/>
        </p:spPr>
        <p:txBody>
          <a:bodyPr wrap="none" lIns="0" tIns="0" rIns="0" bIns="0" anchor="t">
            <a:spAutoFit/>
          </a:bodyPr>
          <a:lstStyle/>
          <a:p>
            <a:pPr algn="l">
              <a:lnSpc>
                <a:spcPct val="105000"/>
              </a:lnSpc>
              <a:spcAft>
                <a:spcPts val="0"/>
              </a:spcAft>
            </a:pPr>
            <a:r>
              <a:rPr sz="850" b="0" i="0">
                <a:solidFill>
                  <a:srgbClr val="98A3B3"/>
                </a:solidFill>
                <a:latin typeface="Segoe UI"/>
              </a:rPr>
              <a:t>Sumber: REF-043 (vault demo › 06 Referensi)</a:t>
            </a:r>
          </a:p>
        </p:txBody>
      </p:sp>
      <p:sp>
        <p:nvSpPr>
          <p:cNvPr id="59" name="TextBox 58"/>
          <p:cNvSpPr txBox="1"/>
          <p:nvPr/>
        </p:nvSpPr>
        <p:spPr>
          <a:xfrm>
            <a:off x="7071055" y="6419088"/>
            <a:ext cx="3657600" cy="237744"/>
          </a:xfrm>
          <a:prstGeom prst="rect">
            <a:avLst/>
          </a:prstGeom>
          <a:noFill/>
        </p:spPr>
        <p:txBody>
          <a:bodyPr wrap="none" lIns="0" tIns="0" rIns="0" bIns="0" anchor="ctr">
            <a:spAutoFit/>
          </a:bodyPr>
          <a:lstStyle/>
          <a:p>
            <a:pPr algn="r">
              <a:lnSpc>
                <a:spcPct val="105000"/>
              </a:lnSpc>
              <a:spcAft>
                <a:spcPts val="0"/>
              </a:spcAft>
            </a:pPr>
            <a:r>
              <a:rPr sz="800" b="0" i="0" spc="80">
                <a:solidFill>
                  <a:srgbClr val="56657A"/>
                </a:solidFill>
                <a:latin typeface="Segoe UI Semibold"/>
              </a:rPr>
              <a:t>ABDUL KAUSAR</a:t>
            </a:r>
          </a:p>
        </p:txBody>
      </p:sp>
      <p:sp>
        <p:nvSpPr>
          <p:cNvPr id="60" name="TextBox 59"/>
          <p:cNvSpPr txBox="1"/>
          <p:nvPr/>
        </p:nvSpPr>
        <p:spPr>
          <a:xfrm>
            <a:off x="10911535" y="6419088"/>
            <a:ext cx="731520" cy="237744"/>
          </a:xfrm>
          <a:prstGeom prst="rect">
            <a:avLst/>
          </a:prstGeom>
          <a:noFill/>
        </p:spPr>
        <p:txBody>
          <a:bodyPr wrap="square" lIns="0" tIns="0" rIns="0" bIns="0" anchor="t">
            <a:spAutoFit/>
          </a:bodyPr>
          <a:lstStyle/>
          <a:p>
            <a:pPr algn="r">
              <a:lnSpc>
                <a:spcPct val="105000"/>
              </a:lnSpc>
              <a:spcAft>
                <a:spcPts val="0"/>
              </a:spcAft>
            </a:pPr>
            <a:r>
              <a:rPr sz="900" b="0" i="0">
                <a:solidFill>
                  <a:srgbClr val="98A3B3"/>
                </a:solidFill>
                <a:latin typeface="Segoe UI"/>
              </a:rPr>
              <a:t>24</a:t>
            </a:r>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82880"/>
            <a:ext cx="95234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DATA CENTER</a:t>
            </a:r>
          </a:p>
        </p:txBody>
      </p:sp>
      <p:sp>
        <p:nvSpPr>
          <p:cNvPr id="3" name="TextBox 2"/>
          <p:cNvSpPr txBox="1"/>
          <p:nvPr/>
        </p:nvSpPr>
        <p:spPr>
          <a:xfrm>
            <a:off x="1409543"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4" name="TextBox 3"/>
          <p:cNvSpPr txBox="1"/>
          <p:nvPr/>
        </p:nvSpPr>
        <p:spPr>
          <a:xfrm>
            <a:off x="1702151" y="182880"/>
            <a:ext cx="78485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INTERFACE</a:t>
            </a:r>
          </a:p>
        </p:txBody>
      </p:sp>
      <p:sp>
        <p:nvSpPr>
          <p:cNvPr id="5" name="TextBox 4"/>
          <p:cNvSpPr txBox="1"/>
          <p:nvPr/>
        </p:nvSpPr>
        <p:spPr>
          <a:xfrm>
            <a:off x="239556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6" name="TextBox 5"/>
          <p:cNvSpPr txBox="1"/>
          <p:nvPr/>
        </p:nvSpPr>
        <p:spPr>
          <a:xfrm>
            <a:off x="2688175" y="182880"/>
            <a:ext cx="724872"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CONTROL</a:t>
            </a:r>
          </a:p>
        </p:txBody>
      </p:sp>
      <p:sp>
        <p:nvSpPr>
          <p:cNvPr id="7" name="TextBox 6"/>
          <p:cNvSpPr txBox="1"/>
          <p:nvPr/>
        </p:nvSpPr>
        <p:spPr>
          <a:xfrm>
            <a:off x="3321608"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8" name="TextBox 7"/>
          <p:cNvSpPr txBox="1"/>
          <p:nvPr/>
        </p:nvSpPr>
        <p:spPr>
          <a:xfrm>
            <a:off x="3614216" y="182880"/>
            <a:ext cx="115377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COMMISSIONING</a:t>
            </a:r>
          </a:p>
        </p:txBody>
      </p:sp>
      <p:sp>
        <p:nvSpPr>
          <p:cNvPr id="9" name="TextBox 8"/>
          <p:cNvSpPr txBox="1"/>
          <p:nvPr/>
        </p:nvSpPr>
        <p:spPr>
          <a:xfrm>
            <a:off x="4676549"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0" name="TextBox 9"/>
          <p:cNvSpPr txBox="1"/>
          <p:nvPr/>
        </p:nvSpPr>
        <p:spPr>
          <a:xfrm>
            <a:off x="4969157" y="182880"/>
            <a:ext cx="945555"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MONITORING</a:t>
            </a:r>
          </a:p>
        </p:txBody>
      </p:sp>
      <p:sp>
        <p:nvSpPr>
          <p:cNvPr id="11" name="TextBox 10"/>
          <p:cNvSpPr txBox="1"/>
          <p:nvPr/>
        </p:nvSpPr>
        <p:spPr>
          <a:xfrm>
            <a:off x="582327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2" name="TextBox 11"/>
          <p:cNvSpPr txBox="1"/>
          <p:nvPr/>
        </p:nvSpPr>
        <p:spPr>
          <a:xfrm>
            <a:off x="6115879" y="182880"/>
            <a:ext cx="63679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REALITA</a:t>
            </a:r>
          </a:p>
        </p:txBody>
      </p:sp>
      <p:sp>
        <p:nvSpPr>
          <p:cNvPr id="13" name="TextBox 12"/>
          <p:cNvSpPr txBox="1"/>
          <p:nvPr/>
        </p:nvSpPr>
        <p:spPr>
          <a:xfrm>
            <a:off x="6661235"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4" name="TextBox 13"/>
          <p:cNvSpPr txBox="1"/>
          <p:nvPr/>
        </p:nvSpPr>
        <p:spPr>
          <a:xfrm>
            <a:off x="6953843" y="182880"/>
            <a:ext cx="821309"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INFORMASI</a:t>
            </a:r>
          </a:p>
        </p:txBody>
      </p:sp>
      <p:sp>
        <p:nvSpPr>
          <p:cNvPr id="15" name="TextBox 14"/>
          <p:cNvSpPr txBox="1"/>
          <p:nvPr/>
        </p:nvSpPr>
        <p:spPr>
          <a:xfrm>
            <a:off x="7683712"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6" name="TextBox 15"/>
          <p:cNvSpPr txBox="1"/>
          <p:nvPr/>
        </p:nvSpPr>
        <p:spPr>
          <a:xfrm>
            <a:off x="7976320" y="182880"/>
            <a:ext cx="899541"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KNOWLEDGE</a:t>
            </a:r>
          </a:p>
        </p:txBody>
      </p:sp>
      <p:sp>
        <p:nvSpPr>
          <p:cNvPr id="17" name="TextBox 16"/>
          <p:cNvSpPr txBox="1"/>
          <p:nvPr/>
        </p:nvSpPr>
        <p:spPr>
          <a:xfrm>
            <a:off x="878442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8" name="TextBox 17"/>
          <p:cNvSpPr txBox="1"/>
          <p:nvPr/>
        </p:nvSpPr>
        <p:spPr>
          <a:xfrm>
            <a:off x="9077029" y="182880"/>
            <a:ext cx="733298"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OBSIDIAN</a:t>
            </a:r>
          </a:p>
        </p:txBody>
      </p:sp>
      <p:sp>
        <p:nvSpPr>
          <p:cNvPr id="19" name="TextBox 18"/>
          <p:cNvSpPr txBox="1"/>
          <p:nvPr/>
        </p:nvSpPr>
        <p:spPr>
          <a:xfrm>
            <a:off x="971888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20" name="TextBox 19"/>
          <p:cNvSpPr txBox="1"/>
          <p:nvPr/>
        </p:nvSpPr>
        <p:spPr>
          <a:xfrm>
            <a:off x="10011495" y="182880"/>
            <a:ext cx="297434"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1F5BD8"/>
                </a:solidFill>
                <a:latin typeface="Segoe UI Semibold"/>
              </a:rPr>
              <a:t>AI</a:t>
            </a:r>
          </a:p>
        </p:txBody>
      </p:sp>
      <p:sp>
        <p:nvSpPr>
          <p:cNvPr id="21" name="Rectangle 20"/>
          <p:cNvSpPr/>
          <p:nvPr/>
        </p:nvSpPr>
        <p:spPr>
          <a:xfrm>
            <a:off x="10011495" y="420624"/>
            <a:ext cx="114554" cy="32004"/>
          </a:xfrm>
          <a:prstGeom prst="rect">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itle"/>
          <p:cNvSpPr txBox="1"/>
          <p:nvPr/>
        </p:nvSpPr>
        <p:spPr>
          <a:xfrm>
            <a:off x="548640" y="566928"/>
            <a:ext cx="11094415" cy="841248"/>
          </a:xfrm>
          <a:prstGeom prst="rect">
            <a:avLst/>
          </a:prstGeom>
          <a:noFill/>
        </p:spPr>
        <p:txBody>
          <a:bodyPr wrap="square" lIns="0" tIns="0" rIns="0" bIns="0" anchor="b">
            <a:spAutoFit/>
          </a:bodyPr>
          <a:lstStyle/>
          <a:p>
            <a:pPr algn="l">
              <a:lnSpc>
                <a:spcPct val="95000"/>
              </a:lnSpc>
              <a:spcAft>
                <a:spcPts val="0"/>
              </a:spcAft>
            </a:pPr>
            <a:r>
              <a:rPr sz="2800" b="0" i="0">
                <a:solidFill>
                  <a:srgbClr val="0B1F33"/>
                </a:solidFill>
                <a:latin typeface="Georgia"/>
              </a:rPr>
              <a:t>AI finds the notes, connects them, and shows its sources</a:t>
            </a:r>
          </a:p>
        </p:txBody>
      </p:sp>
      <p:cxnSp>
        <p:nvCxnSpPr>
          <p:cNvPr id="23" name="Connector 22"/>
          <p:cNvCxnSpPr/>
          <p:nvPr/>
        </p:nvCxnSpPr>
        <p:spPr>
          <a:xfrm>
            <a:off x="548640" y="1517904"/>
            <a:ext cx="11094415" cy="0"/>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48640" y="1783080"/>
            <a:ext cx="11094415" cy="512064"/>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E721-56657A.png"/>
          <p:cNvPicPr>
            <a:picLocks noChangeAspect="1"/>
          </p:cNvPicPr>
          <p:nvPr/>
        </p:nvPicPr>
        <p:blipFill>
          <a:blip r:embed="rId3"/>
          <a:stretch>
            <a:fillRect/>
          </a:stretch>
        </p:blipFill>
        <p:spPr>
          <a:xfrm>
            <a:off x="740664" y="1911096"/>
            <a:ext cx="256032" cy="256032"/>
          </a:xfrm>
          <a:prstGeom prst="rect">
            <a:avLst/>
          </a:prstGeom>
        </p:spPr>
      </p:pic>
      <p:sp>
        <p:nvSpPr>
          <p:cNvPr id="26" name="TextBox 25"/>
          <p:cNvSpPr txBox="1"/>
          <p:nvPr/>
        </p:nvSpPr>
        <p:spPr>
          <a:xfrm>
            <a:off x="1143000" y="1783080"/>
            <a:ext cx="10271455" cy="512064"/>
          </a:xfrm>
          <a:prstGeom prst="rect">
            <a:avLst/>
          </a:prstGeom>
          <a:noFill/>
        </p:spPr>
        <p:txBody>
          <a:bodyPr wrap="square" lIns="0" tIns="0" rIns="0" bIns="0" anchor="ctr">
            <a:spAutoFit/>
          </a:bodyPr>
          <a:lstStyle/>
          <a:p>
            <a:pPr algn="l">
              <a:lnSpc>
                <a:spcPct val="105000"/>
              </a:lnSpc>
              <a:spcAft>
                <a:spcPts val="0"/>
              </a:spcAft>
            </a:pPr>
            <a:r>
              <a:rPr sz="1400" b="0" i="0">
                <a:solidFill>
                  <a:srgbClr val="0B1F33"/>
                </a:solidFill>
                <a:latin typeface="Segoe UI"/>
              </a:rPr>
              <a:t>“Activity mana di critical path yang masih punya constraint open?”</a:t>
            </a:r>
          </a:p>
        </p:txBody>
      </p:sp>
      <p:sp>
        <p:nvSpPr>
          <p:cNvPr id="27" name="Rectangle 26"/>
          <p:cNvSpPr/>
          <p:nvPr/>
        </p:nvSpPr>
        <p:spPr>
          <a:xfrm>
            <a:off x="548640" y="2560320"/>
            <a:ext cx="3520440" cy="27432"/>
          </a:xfrm>
          <a:prstGeom prst="rect">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48640" y="2651760"/>
            <a:ext cx="411480" cy="457200"/>
          </a:xfrm>
          <a:prstGeom prst="rect">
            <a:avLst/>
          </a:prstGeom>
          <a:noFill/>
        </p:spPr>
        <p:txBody>
          <a:bodyPr wrap="square" lIns="0" tIns="0" rIns="0" bIns="0" anchor="ctr">
            <a:spAutoFit/>
          </a:bodyPr>
          <a:lstStyle/>
          <a:p>
            <a:pPr algn="l">
              <a:lnSpc>
                <a:spcPct val="105000"/>
              </a:lnSpc>
              <a:spcAft>
                <a:spcPts val="0"/>
              </a:spcAft>
            </a:pPr>
            <a:r>
              <a:rPr sz="2200" b="0" i="0">
                <a:solidFill>
                  <a:srgbClr val="1F5BD8"/>
                </a:solidFill>
                <a:latin typeface="Georgia"/>
              </a:rPr>
              <a:t>1</a:t>
            </a:r>
          </a:p>
        </p:txBody>
      </p:sp>
      <p:pic>
        <p:nvPicPr>
          <p:cNvPr id="29" name="Picture 28" descr="E721-1F5BD8.png"/>
          <p:cNvPicPr>
            <a:picLocks noChangeAspect="1"/>
          </p:cNvPicPr>
          <p:nvPr/>
        </p:nvPicPr>
        <p:blipFill>
          <a:blip r:embed="rId4"/>
          <a:stretch>
            <a:fillRect/>
          </a:stretch>
        </p:blipFill>
        <p:spPr>
          <a:xfrm>
            <a:off x="978408" y="2743200"/>
            <a:ext cx="274320" cy="274320"/>
          </a:xfrm>
          <a:prstGeom prst="rect">
            <a:avLst/>
          </a:prstGeom>
        </p:spPr>
      </p:pic>
      <p:sp>
        <p:nvSpPr>
          <p:cNvPr id="30" name="TextBox 29"/>
          <p:cNvSpPr txBox="1"/>
          <p:nvPr/>
        </p:nvSpPr>
        <p:spPr>
          <a:xfrm>
            <a:off x="1371600" y="2651760"/>
            <a:ext cx="2697480" cy="457200"/>
          </a:xfrm>
          <a:prstGeom prst="rect">
            <a:avLst/>
          </a:prstGeom>
          <a:noFill/>
        </p:spPr>
        <p:txBody>
          <a:bodyPr wrap="square" lIns="0" tIns="0" rIns="0" bIns="0" anchor="ctr">
            <a:spAutoFit/>
          </a:bodyPr>
          <a:lstStyle/>
          <a:p>
            <a:pPr algn="l">
              <a:lnSpc>
                <a:spcPct val="105000"/>
              </a:lnSpc>
              <a:spcAft>
                <a:spcPts val="0"/>
              </a:spcAft>
            </a:pPr>
            <a:r>
              <a:rPr sz="1700" b="0" i="0">
                <a:solidFill>
                  <a:srgbClr val="0B1F33"/>
                </a:solidFill>
                <a:latin typeface="Segoe UI Semibold"/>
              </a:rPr>
              <a:t>Find</a:t>
            </a:r>
          </a:p>
        </p:txBody>
      </p:sp>
      <p:sp>
        <p:nvSpPr>
          <p:cNvPr id="31" name="TextBox 30"/>
          <p:cNvSpPr txBox="1"/>
          <p:nvPr/>
        </p:nvSpPr>
        <p:spPr>
          <a:xfrm>
            <a:off x="548640" y="3108960"/>
            <a:ext cx="3520440" cy="274320"/>
          </a:xfrm>
          <a:prstGeom prst="rect">
            <a:avLst/>
          </a:prstGeom>
          <a:noFill/>
        </p:spPr>
        <p:txBody>
          <a:bodyPr wrap="square" lIns="0" tIns="0" rIns="0" bIns="0" anchor="ctr">
            <a:spAutoFit/>
          </a:bodyPr>
          <a:lstStyle/>
          <a:p>
            <a:pPr algn="l">
              <a:lnSpc>
                <a:spcPct val="105000"/>
              </a:lnSpc>
              <a:spcAft>
                <a:spcPts val="0"/>
              </a:spcAft>
            </a:pPr>
            <a:r>
              <a:rPr sz="1100" b="0" i="0">
                <a:solidFill>
                  <a:srgbClr val="56657A"/>
                </a:solidFill>
                <a:latin typeface="Segoe UI"/>
              </a:rPr>
              <a:t>note yang relevan</a:t>
            </a:r>
          </a:p>
        </p:txBody>
      </p:sp>
      <p:cxnSp>
        <p:nvCxnSpPr>
          <p:cNvPr id="32" name="Connector 31"/>
          <p:cNvCxnSpPr/>
          <p:nvPr/>
        </p:nvCxnSpPr>
        <p:spPr>
          <a:xfrm>
            <a:off x="4114800" y="2880360"/>
            <a:ext cx="175108" cy="0"/>
          </a:xfrm>
          <a:prstGeom prst="line">
            <a:avLst/>
          </a:prstGeom>
          <a:ln w="15875">
            <a:solidFill>
              <a:srgbClr val="98A3B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4335628" y="2560320"/>
            <a:ext cx="3520440" cy="27432"/>
          </a:xfrm>
          <a:prstGeom prst="rect">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335628" y="2651760"/>
            <a:ext cx="411480" cy="457200"/>
          </a:xfrm>
          <a:prstGeom prst="rect">
            <a:avLst/>
          </a:prstGeom>
          <a:noFill/>
        </p:spPr>
        <p:txBody>
          <a:bodyPr wrap="square" lIns="0" tIns="0" rIns="0" bIns="0" anchor="ctr">
            <a:spAutoFit/>
          </a:bodyPr>
          <a:lstStyle/>
          <a:p>
            <a:pPr algn="l">
              <a:lnSpc>
                <a:spcPct val="105000"/>
              </a:lnSpc>
              <a:spcAft>
                <a:spcPts val="0"/>
              </a:spcAft>
            </a:pPr>
            <a:r>
              <a:rPr sz="2200" b="0" i="0">
                <a:solidFill>
                  <a:srgbClr val="1F5BD8"/>
                </a:solidFill>
                <a:latin typeface="Georgia"/>
              </a:rPr>
              <a:t>2</a:t>
            </a:r>
          </a:p>
        </p:txBody>
      </p:sp>
      <p:pic>
        <p:nvPicPr>
          <p:cNvPr id="35" name="Picture 34" descr="E71B-1F5BD8.png"/>
          <p:cNvPicPr>
            <a:picLocks noChangeAspect="1"/>
          </p:cNvPicPr>
          <p:nvPr/>
        </p:nvPicPr>
        <p:blipFill>
          <a:blip r:embed="rId5"/>
          <a:stretch>
            <a:fillRect/>
          </a:stretch>
        </p:blipFill>
        <p:spPr>
          <a:xfrm>
            <a:off x="4765396" y="2743200"/>
            <a:ext cx="274320" cy="274320"/>
          </a:xfrm>
          <a:prstGeom prst="rect">
            <a:avLst/>
          </a:prstGeom>
        </p:spPr>
      </p:pic>
      <p:sp>
        <p:nvSpPr>
          <p:cNvPr id="36" name="TextBox 35"/>
          <p:cNvSpPr txBox="1"/>
          <p:nvPr/>
        </p:nvSpPr>
        <p:spPr>
          <a:xfrm>
            <a:off x="5158588" y="2651760"/>
            <a:ext cx="2697480" cy="457200"/>
          </a:xfrm>
          <a:prstGeom prst="rect">
            <a:avLst/>
          </a:prstGeom>
          <a:noFill/>
        </p:spPr>
        <p:txBody>
          <a:bodyPr wrap="square" lIns="0" tIns="0" rIns="0" bIns="0" anchor="ctr">
            <a:spAutoFit/>
          </a:bodyPr>
          <a:lstStyle/>
          <a:p>
            <a:pPr algn="l">
              <a:lnSpc>
                <a:spcPct val="105000"/>
              </a:lnSpc>
              <a:spcAft>
                <a:spcPts val="0"/>
              </a:spcAft>
            </a:pPr>
            <a:r>
              <a:rPr sz="1700" b="0" i="0">
                <a:solidFill>
                  <a:srgbClr val="0B1F33"/>
                </a:solidFill>
                <a:latin typeface="Segoe UI Semibold"/>
              </a:rPr>
              <a:t>Connect</a:t>
            </a:r>
          </a:p>
        </p:txBody>
      </p:sp>
      <p:sp>
        <p:nvSpPr>
          <p:cNvPr id="37" name="TextBox 36"/>
          <p:cNvSpPr txBox="1"/>
          <p:nvPr/>
        </p:nvSpPr>
        <p:spPr>
          <a:xfrm>
            <a:off x="4335628" y="3108960"/>
            <a:ext cx="3520440" cy="274320"/>
          </a:xfrm>
          <a:prstGeom prst="rect">
            <a:avLst/>
          </a:prstGeom>
          <a:noFill/>
        </p:spPr>
        <p:txBody>
          <a:bodyPr wrap="square" lIns="0" tIns="0" rIns="0" bIns="0" anchor="ctr">
            <a:spAutoFit/>
          </a:bodyPr>
          <a:lstStyle/>
          <a:p>
            <a:pPr algn="l">
              <a:lnSpc>
                <a:spcPct val="105000"/>
              </a:lnSpc>
              <a:spcAft>
                <a:spcPts val="0"/>
              </a:spcAft>
            </a:pPr>
            <a:r>
              <a:rPr sz="1100" b="0" i="0">
                <a:solidFill>
                  <a:srgbClr val="56657A"/>
                </a:solidFill>
                <a:latin typeface="Segoe UI"/>
              </a:rPr>
              <a:t>isi note yang saling terkait</a:t>
            </a:r>
          </a:p>
        </p:txBody>
      </p:sp>
      <p:cxnSp>
        <p:nvCxnSpPr>
          <p:cNvPr id="38" name="Connector 37"/>
          <p:cNvCxnSpPr/>
          <p:nvPr/>
        </p:nvCxnSpPr>
        <p:spPr>
          <a:xfrm>
            <a:off x="7901788" y="2880360"/>
            <a:ext cx="175107" cy="0"/>
          </a:xfrm>
          <a:prstGeom prst="line">
            <a:avLst/>
          </a:prstGeom>
          <a:ln w="15875">
            <a:solidFill>
              <a:srgbClr val="98A3B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8122615" y="2560320"/>
            <a:ext cx="3520440" cy="27432"/>
          </a:xfrm>
          <a:prstGeom prst="rect">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122615" y="2651760"/>
            <a:ext cx="411480" cy="457200"/>
          </a:xfrm>
          <a:prstGeom prst="rect">
            <a:avLst/>
          </a:prstGeom>
          <a:noFill/>
        </p:spPr>
        <p:txBody>
          <a:bodyPr wrap="square" lIns="0" tIns="0" rIns="0" bIns="0" anchor="ctr">
            <a:spAutoFit/>
          </a:bodyPr>
          <a:lstStyle/>
          <a:p>
            <a:pPr algn="l">
              <a:lnSpc>
                <a:spcPct val="105000"/>
              </a:lnSpc>
              <a:spcAft>
                <a:spcPts val="0"/>
              </a:spcAft>
            </a:pPr>
            <a:r>
              <a:rPr sz="2200" b="0" i="0">
                <a:solidFill>
                  <a:srgbClr val="1F5BD8"/>
                </a:solidFill>
                <a:latin typeface="Georgia"/>
              </a:rPr>
              <a:t>3</a:t>
            </a:r>
          </a:p>
        </p:txBody>
      </p:sp>
      <p:pic>
        <p:nvPicPr>
          <p:cNvPr id="41" name="Picture 40" descr="E8A5-1F5BD8.png"/>
          <p:cNvPicPr>
            <a:picLocks noChangeAspect="1"/>
          </p:cNvPicPr>
          <p:nvPr/>
        </p:nvPicPr>
        <p:blipFill>
          <a:blip r:embed="rId6"/>
          <a:stretch>
            <a:fillRect/>
          </a:stretch>
        </p:blipFill>
        <p:spPr>
          <a:xfrm>
            <a:off x="8552383" y="2743200"/>
            <a:ext cx="274320" cy="274320"/>
          </a:xfrm>
          <a:prstGeom prst="rect">
            <a:avLst/>
          </a:prstGeom>
        </p:spPr>
      </p:pic>
      <p:sp>
        <p:nvSpPr>
          <p:cNvPr id="42" name="TextBox 41"/>
          <p:cNvSpPr txBox="1"/>
          <p:nvPr/>
        </p:nvSpPr>
        <p:spPr>
          <a:xfrm>
            <a:off x="8945575" y="2651760"/>
            <a:ext cx="2697480" cy="457200"/>
          </a:xfrm>
          <a:prstGeom prst="rect">
            <a:avLst/>
          </a:prstGeom>
          <a:noFill/>
        </p:spPr>
        <p:txBody>
          <a:bodyPr wrap="square" lIns="0" tIns="0" rIns="0" bIns="0" anchor="ctr">
            <a:spAutoFit/>
          </a:bodyPr>
          <a:lstStyle/>
          <a:p>
            <a:pPr algn="l">
              <a:lnSpc>
                <a:spcPct val="105000"/>
              </a:lnSpc>
              <a:spcAft>
                <a:spcPts val="0"/>
              </a:spcAft>
            </a:pPr>
            <a:r>
              <a:rPr sz="1700" b="0" i="0">
                <a:solidFill>
                  <a:srgbClr val="0B1F33"/>
                </a:solidFill>
                <a:latin typeface="Segoe UI Semibold"/>
              </a:rPr>
              <a:t>Cite</a:t>
            </a:r>
          </a:p>
        </p:txBody>
      </p:sp>
      <p:sp>
        <p:nvSpPr>
          <p:cNvPr id="43" name="TextBox 42"/>
          <p:cNvSpPr txBox="1"/>
          <p:nvPr/>
        </p:nvSpPr>
        <p:spPr>
          <a:xfrm>
            <a:off x="8122615" y="3108960"/>
            <a:ext cx="3520440" cy="274320"/>
          </a:xfrm>
          <a:prstGeom prst="rect">
            <a:avLst/>
          </a:prstGeom>
          <a:noFill/>
        </p:spPr>
        <p:txBody>
          <a:bodyPr wrap="square" lIns="0" tIns="0" rIns="0" bIns="0" anchor="ctr">
            <a:spAutoFit/>
          </a:bodyPr>
          <a:lstStyle/>
          <a:p>
            <a:pPr algn="l">
              <a:lnSpc>
                <a:spcPct val="105000"/>
              </a:lnSpc>
              <a:spcAft>
                <a:spcPts val="0"/>
              </a:spcAft>
            </a:pPr>
            <a:r>
              <a:rPr sz="1100" b="0" i="0">
                <a:solidFill>
                  <a:srgbClr val="56657A"/>
                </a:solidFill>
                <a:latin typeface="Segoe UI"/>
              </a:rPr>
              <a:t>dari mana setiap poin berasal</a:t>
            </a:r>
          </a:p>
        </p:txBody>
      </p:sp>
      <p:pic>
        <p:nvPicPr>
          <p:cNvPr id="44" name="Picture 43" descr="E8A5-1F5BD8.png"/>
          <p:cNvPicPr>
            <a:picLocks noChangeAspect="1"/>
          </p:cNvPicPr>
          <p:nvPr/>
        </p:nvPicPr>
        <p:blipFill>
          <a:blip r:embed="rId6"/>
          <a:stretch>
            <a:fillRect/>
          </a:stretch>
        </p:blipFill>
        <p:spPr>
          <a:xfrm>
            <a:off x="576072" y="3621024"/>
            <a:ext cx="201168" cy="201168"/>
          </a:xfrm>
          <a:prstGeom prst="rect">
            <a:avLst/>
          </a:prstGeom>
        </p:spPr>
      </p:pic>
      <p:sp>
        <p:nvSpPr>
          <p:cNvPr id="45" name="TextBox 44"/>
          <p:cNvSpPr txBox="1"/>
          <p:nvPr/>
        </p:nvSpPr>
        <p:spPr>
          <a:xfrm>
            <a:off x="896112" y="3566160"/>
            <a:ext cx="3154680" cy="310896"/>
          </a:xfrm>
          <a:prstGeom prst="rect">
            <a:avLst/>
          </a:prstGeom>
          <a:noFill/>
        </p:spPr>
        <p:txBody>
          <a:bodyPr wrap="none" lIns="0" tIns="0" rIns="0" bIns="0" anchor="ctr">
            <a:spAutoFit/>
          </a:bodyPr>
          <a:lstStyle/>
          <a:p>
            <a:pPr algn="l">
              <a:lnSpc>
                <a:spcPct val="105000"/>
              </a:lnSpc>
              <a:spcAft>
                <a:spcPts val="0"/>
              </a:spcAft>
            </a:pPr>
            <a:r>
              <a:rPr sz="1050" b="0" i="0">
                <a:solidFill>
                  <a:srgbClr val="0B1F33"/>
                </a:solidFill>
                <a:latin typeface="Consolas"/>
              </a:rPr>
              <a:t>Constraint Register</a:t>
            </a:r>
          </a:p>
        </p:txBody>
      </p:sp>
      <p:pic>
        <p:nvPicPr>
          <p:cNvPr id="46" name="Picture 45" descr="E8A5-1F5BD8.png"/>
          <p:cNvPicPr>
            <a:picLocks noChangeAspect="1"/>
          </p:cNvPicPr>
          <p:nvPr/>
        </p:nvPicPr>
        <p:blipFill>
          <a:blip r:embed="rId6"/>
          <a:stretch>
            <a:fillRect/>
          </a:stretch>
        </p:blipFill>
        <p:spPr>
          <a:xfrm>
            <a:off x="576072" y="4023360"/>
            <a:ext cx="201168" cy="201168"/>
          </a:xfrm>
          <a:prstGeom prst="rect">
            <a:avLst/>
          </a:prstGeom>
        </p:spPr>
      </p:pic>
      <p:sp>
        <p:nvSpPr>
          <p:cNvPr id="47" name="TextBox 46"/>
          <p:cNvSpPr txBox="1"/>
          <p:nvPr/>
        </p:nvSpPr>
        <p:spPr>
          <a:xfrm>
            <a:off x="896112" y="3968496"/>
            <a:ext cx="3154680" cy="310896"/>
          </a:xfrm>
          <a:prstGeom prst="rect">
            <a:avLst/>
          </a:prstGeom>
          <a:noFill/>
        </p:spPr>
        <p:txBody>
          <a:bodyPr wrap="none" lIns="0" tIns="0" rIns="0" bIns="0" anchor="ctr">
            <a:spAutoFit/>
          </a:bodyPr>
          <a:lstStyle/>
          <a:p>
            <a:pPr algn="l">
              <a:lnSpc>
                <a:spcPct val="105000"/>
              </a:lnSpc>
              <a:spcAft>
                <a:spcPts val="0"/>
              </a:spcAft>
            </a:pPr>
            <a:r>
              <a:rPr sz="1050" b="0" i="0">
                <a:solidFill>
                  <a:srgbClr val="0B1F33"/>
                </a:solidFill>
                <a:latin typeface="Consolas"/>
              </a:rPr>
              <a:t>Decision Log</a:t>
            </a:r>
          </a:p>
        </p:txBody>
      </p:sp>
      <p:pic>
        <p:nvPicPr>
          <p:cNvPr id="48" name="Picture 47" descr="E8A5-1F5BD8.png"/>
          <p:cNvPicPr>
            <a:picLocks noChangeAspect="1"/>
          </p:cNvPicPr>
          <p:nvPr/>
        </p:nvPicPr>
        <p:blipFill>
          <a:blip r:embed="rId6"/>
          <a:stretch>
            <a:fillRect/>
          </a:stretch>
        </p:blipFill>
        <p:spPr>
          <a:xfrm>
            <a:off x="576072" y="4425696"/>
            <a:ext cx="201168" cy="201168"/>
          </a:xfrm>
          <a:prstGeom prst="rect">
            <a:avLst/>
          </a:prstGeom>
        </p:spPr>
      </p:pic>
      <p:sp>
        <p:nvSpPr>
          <p:cNvPr id="49" name="TextBox 48"/>
          <p:cNvSpPr txBox="1"/>
          <p:nvPr/>
        </p:nvSpPr>
        <p:spPr>
          <a:xfrm>
            <a:off x="896112" y="4370832"/>
            <a:ext cx="3154680" cy="310896"/>
          </a:xfrm>
          <a:prstGeom prst="rect">
            <a:avLst/>
          </a:prstGeom>
          <a:noFill/>
        </p:spPr>
        <p:txBody>
          <a:bodyPr wrap="none" lIns="0" tIns="0" rIns="0" bIns="0" anchor="ctr">
            <a:spAutoFit/>
          </a:bodyPr>
          <a:lstStyle/>
          <a:p>
            <a:pPr algn="l">
              <a:lnSpc>
                <a:spcPct val="105000"/>
              </a:lnSpc>
              <a:spcAft>
                <a:spcPts val="0"/>
              </a:spcAft>
            </a:pPr>
            <a:r>
              <a:rPr sz="1050" b="0" i="0">
                <a:solidFill>
                  <a:srgbClr val="0B1F33"/>
                </a:solidFill>
                <a:latin typeface="Consolas"/>
              </a:rPr>
              <a:t>Project Alpha Schedule</a:t>
            </a:r>
          </a:p>
        </p:txBody>
      </p:sp>
      <p:pic>
        <p:nvPicPr>
          <p:cNvPr id="50" name="Picture 49" descr="E8A5-1F5BD8.png"/>
          <p:cNvPicPr>
            <a:picLocks noChangeAspect="1"/>
          </p:cNvPicPr>
          <p:nvPr/>
        </p:nvPicPr>
        <p:blipFill>
          <a:blip r:embed="rId6"/>
          <a:stretch>
            <a:fillRect/>
          </a:stretch>
        </p:blipFill>
        <p:spPr>
          <a:xfrm>
            <a:off x="576072" y="4828032"/>
            <a:ext cx="201168" cy="201168"/>
          </a:xfrm>
          <a:prstGeom prst="rect">
            <a:avLst/>
          </a:prstGeom>
        </p:spPr>
      </p:pic>
      <p:sp>
        <p:nvSpPr>
          <p:cNvPr id="51" name="TextBox 50"/>
          <p:cNvSpPr txBox="1"/>
          <p:nvPr/>
        </p:nvSpPr>
        <p:spPr>
          <a:xfrm>
            <a:off x="896112" y="4773168"/>
            <a:ext cx="3154680" cy="310896"/>
          </a:xfrm>
          <a:prstGeom prst="rect">
            <a:avLst/>
          </a:prstGeom>
          <a:noFill/>
        </p:spPr>
        <p:txBody>
          <a:bodyPr wrap="none" lIns="0" tIns="0" rIns="0" bIns="0" anchor="ctr">
            <a:spAutoFit/>
          </a:bodyPr>
          <a:lstStyle/>
          <a:p>
            <a:pPr algn="l">
              <a:lnSpc>
                <a:spcPct val="105000"/>
              </a:lnSpc>
              <a:spcAft>
                <a:spcPts val="0"/>
              </a:spcAft>
            </a:pPr>
            <a:r>
              <a:rPr sz="1050" b="0" i="0">
                <a:solidFill>
                  <a:srgbClr val="0B1F33"/>
                </a:solidFill>
                <a:latin typeface="Consolas"/>
              </a:rPr>
              <a:t>Weekly Planning - Week 14</a:t>
            </a:r>
          </a:p>
        </p:txBody>
      </p:sp>
      <p:pic>
        <p:nvPicPr>
          <p:cNvPr id="52" name="Picture 51" descr="E8A5-1F5BD8.png"/>
          <p:cNvPicPr>
            <a:picLocks noChangeAspect="1"/>
          </p:cNvPicPr>
          <p:nvPr/>
        </p:nvPicPr>
        <p:blipFill>
          <a:blip r:embed="rId6"/>
          <a:stretch>
            <a:fillRect/>
          </a:stretch>
        </p:blipFill>
        <p:spPr>
          <a:xfrm>
            <a:off x="576072" y="5230368"/>
            <a:ext cx="201168" cy="201168"/>
          </a:xfrm>
          <a:prstGeom prst="rect">
            <a:avLst/>
          </a:prstGeom>
        </p:spPr>
      </p:pic>
      <p:sp>
        <p:nvSpPr>
          <p:cNvPr id="53" name="TextBox 52"/>
          <p:cNvSpPr txBox="1"/>
          <p:nvPr/>
        </p:nvSpPr>
        <p:spPr>
          <a:xfrm>
            <a:off x="896112" y="5175504"/>
            <a:ext cx="3154680" cy="310896"/>
          </a:xfrm>
          <a:prstGeom prst="rect">
            <a:avLst/>
          </a:prstGeom>
          <a:noFill/>
        </p:spPr>
        <p:txBody>
          <a:bodyPr wrap="none" lIns="0" tIns="0" rIns="0" bIns="0" anchor="ctr">
            <a:spAutoFit/>
          </a:bodyPr>
          <a:lstStyle/>
          <a:p>
            <a:pPr algn="l">
              <a:lnSpc>
                <a:spcPct val="105000"/>
              </a:lnSpc>
              <a:spcAft>
                <a:spcPts val="0"/>
              </a:spcAft>
            </a:pPr>
            <a:r>
              <a:rPr sz="1050" b="0" i="0">
                <a:solidFill>
                  <a:srgbClr val="0B1F33"/>
                </a:solidFill>
                <a:latin typeface="Consolas"/>
              </a:rPr>
              <a:t>Template Review Critical Path</a:t>
            </a:r>
          </a:p>
        </p:txBody>
      </p:sp>
      <p:pic>
        <p:nvPicPr>
          <p:cNvPr id="54" name="Picture 53" descr="E8A5-1F5BD8.png"/>
          <p:cNvPicPr>
            <a:picLocks noChangeAspect="1"/>
          </p:cNvPicPr>
          <p:nvPr/>
        </p:nvPicPr>
        <p:blipFill>
          <a:blip r:embed="rId6"/>
          <a:stretch>
            <a:fillRect/>
          </a:stretch>
        </p:blipFill>
        <p:spPr>
          <a:xfrm>
            <a:off x="576072" y="5632704"/>
            <a:ext cx="201168" cy="201168"/>
          </a:xfrm>
          <a:prstGeom prst="rect">
            <a:avLst/>
          </a:prstGeom>
        </p:spPr>
      </p:pic>
      <p:sp>
        <p:nvSpPr>
          <p:cNvPr id="55" name="TextBox 54"/>
          <p:cNvSpPr txBox="1"/>
          <p:nvPr/>
        </p:nvSpPr>
        <p:spPr>
          <a:xfrm>
            <a:off x="896112" y="5577840"/>
            <a:ext cx="3154680" cy="310896"/>
          </a:xfrm>
          <a:prstGeom prst="rect">
            <a:avLst/>
          </a:prstGeom>
          <a:noFill/>
        </p:spPr>
        <p:txBody>
          <a:bodyPr wrap="none" lIns="0" tIns="0" rIns="0" bIns="0" anchor="ctr">
            <a:spAutoFit/>
          </a:bodyPr>
          <a:lstStyle/>
          <a:p>
            <a:pPr algn="l">
              <a:lnSpc>
                <a:spcPct val="105000"/>
              </a:lnSpc>
              <a:spcAft>
                <a:spcPts val="0"/>
              </a:spcAft>
            </a:pPr>
            <a:r>
              <a:rPr sz="1050" b="0" i="0">
                <a:solidFill>
                  <a:srgbClr val="0B1F33"/>
                </a:solidFill>
                <a:latin typeface="Consolas"/>
              </a:rPr>
              <a:t>AGENTS (aturan vault)</a:t>
            </a:r>
          </a:p>
        </p:txBody>
      </p:sp>
      <p:cxnSp>
        <p:nvCxnSpPr>
          <p:cNvPr id="56" name="Connector 55"/>
          <p:cNvCxnSpPr/>
          <p:nvPr/>
        </p:nvCxnSpPr>
        <p:spPr>
          <a:xfrm flipV="1">
            <a:off x="6095848" y="3840480"/>
            <a:ext cx="0" cy="868680"/>
          </a:xfrm>
          <a:prstGeom prst="line">
            <a:avLst/>
          </a:prstGeom>
          <a:ln w="15875">
            <a:solidFill>
              <a:srgbClr val="8DB4FF"/>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6095848" y="4440723"/>
            <a:ext cx="1174022" cy="268437"/>
          </a:xfrm>
          <a:prstGeom prst="line">
            <a:avLst/>
          </a:prstGeom>
          <a:ln w="15875">
            <a:solidFill>
              <a:srgbClr val="8DB4FF"/>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6095848" y="4709160"/>
            <a:ext cx="725585" cy="702777"/>
          </a:xfrm>
          <a:prstGeom prst="line">
            <a:avLst/>
          </a:prstGeom>
          <a:ln w="15875">
            <a:solidFill>
              <a:srgbClr val="8DB4FF"/>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5370262" y="4709160"/>
            <a:ext cx="725586" cy="702777"/>
          </a:xfrm>
          <a:prstGeom prst="line">
            <a:avLst/>
          </a:prstGeom>
          <a:ln w="15875">
            <a:solidFill>
              <a:srgbClr val="8DB4FF"/>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4921825" y="4440723"/>
            <a:ext cx="1174023" cy="268437"/>
          </a:xfrm>
          <a:prstGeom prst="line">
            <a:avLst/>
          </a:prstGeom>
          <a:ln w="15875">
            <a:solidFill>
              <a:srgbClr val="8DB4FF"/>
            </a:solidFill>
          </a:ln>
        </p:spPr>
        <p:style>
          <a:lnRef idx="2">
            <a:schemeClr val="accent1"/>
          </a:lnRef>
          <a:fillRef idx="0">
            <a:schemeClr val="accent1"/>
          </a:fillRef>
          <a:effectRef idx="1">
            <a:schemeClr val="accent1"/>
          </a:effectRef>
          <a:fontRef idx="minor">
            <a:schemeClr val="tx1"/>
          </a:fontRef>
        </p:style>
      </p:cxnSp>
      <p:sp>
        <p:nvSpPr>
          <p:cNvPr id="61" name="Oval 60"/>
          <p:cNvSpPr/>
          <p:nvPr/>
        </p:nvSpPr>
        <p:spPr>
          <a:xfrm>
            <a:off x="6013552" y="3758184"/>
            <a:ext cx="164592" cy="164592"/>
          </a:xfrm>
          <a:prstGeom prst="ellipse">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410048" y="3931920"/>
            <a:ext cx="1371600" cy="219456"/>
          </a:xfrm>
          <a:prstGeom prst="rect">
            <a:avLst/>
          </a:prstGeom>
          <a:noFill/>
        </p:spPr>
        <p:txBody>
          <a:bodyPr wrap="none" lIns="0" tIns="0" rIns="0" bIns="0" anchor="t">
            <a:spAutoFit/>
          </a:bodyPr>
          <a:lstStyle/>
          <a:p>
            <a:pPr algn="ctr">
              <a:lnSpc>
                <a:spcPct val="105000"/>
              </a:lnSpc>
              <a:spcAft>
                <a:spcPts val="0"/>
              </a:spcAft>
            </a:pPr>
            <a:r>
              <a:rPr sz="850" b="0" i="0">
                <a:solidFill>
                  <a:srgbClr val="56657A"/>
                </a:solidFill>
                <a:latin typeface="Segoe UI"/>
              </a:rPr>
              <a:t>Constraint Register</a:t>
            </a:r>
          </a:p>
        </p:txBody>
      </p:sp>
      <p:sp>
        <p:nvSpPr>
          <p:cNvPr id="63" name="Oval 62"/>
          <p:cNvSpPr/>
          <p:nvPr/>
        </p:nvSpPr>
        <p:spPr>
          <a:xfrm>
            <a:off x="7187574" y="4358427"/>
            <a:ext cx="164592" cy="164592"/>
          </a:xfrm>
          <a:prstGeom prst="ellipse">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6584070" y="4532163"/>
            <a:ext cx="1371600" cy="219456"/>
          </a:xfrm>
          <a:prstGeom prst="rect">
            <a:avLst/>
          </a:prstGeom>
          <a:noFill/>
        </p:spPr>
        <p:txBody>
          <a:bodyPr wrap="none" lIns="0" tIns="0" rIns="0" bIns="0" anchor="t">
            <a:spAutoFit/>
          </a:bodyPr>
          <a:lstStyle/>
          <a:p>
            <a:pPr algn="ctr">
              <a:lnSpc>
                <a:spcPct val="105000"/>
              </a:lnSpc>
              <a:spcAft>
                <a:spcPts val="0"/>
              </a:spcAft>
            </a:pPr>
            <a:r>
              <a:rPr sz="850" b="0" i="0">
                <a:solidFill>
                  <a:srgbClr val="56657A"/>
                </a:solidFill>
                <a:latin typeface="Segoe UI"/>
              </a:rPr>
              <a:t>Decision Log</a:t>
            </a:r>
          </a:p>
        </p:txBody>
      </p:sp>
      <p:sp>
        <p:nvSpPr>
          <p:cNvPr id="65" name="Oval 64"/>
          <p:cNvSpPr/>
          <p:nvPr/>
        </p:nvSpPr>
        <p:spPr>
          <a:xfrm>
            <a:off x="6739137" y="5329641"/>
            <a:ext cx="164592" cy="164592"/>
          </a:xfrm>
          <a:prstGeom prst="ellipse">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135633" y="5503377"/>
            <a:ext cx="1371600" cy="219456"/>
          </a:xfrm>
          <a:prstGeom prst="rect">
            <a:avLst/>
          </a:prstGeom>
          <a:noFill/>
        </p:spPr>
        <p:txBody>
          <a:bodyPr wrap="none" lIns="0" tIns="0" rIns="0" bIns="0" anchor="t">
            <a:spAutoFit/>
          </a:bodyPr>
          <a:lstStyle/>
          <a:p>
            <a:pPr algn="ctr">
              <a:lnSpc>
                <a:spcPct val="105000"/>
              </a:lnSpc>
              <a:spcAft>
                <a:spcPts val="0"/>
              </a:spcAft>
            </a:pPr>
            <a:r>
              <a:rPr sz="850" b="0" i="0">
                <a:solidFill>
                  <a:srgbClr val="56657A"/>
                </a:solidFill>
                <a:latin typeface="Segoe UI"/>
              </a:rPr>
              <a:t>Project Alpha Schedule</a:t>
            </a:r>
          </a:p>
        </p:txBody>
      </p:sp>
      <p:sp>
        <p:nvSpPr>
          <p:cNvPr id="67" name="Oval 66"/>
          <p:cNvSpPr/>
          <p:nvPr/>
        </p:nvSpPr>
        <p:spPr>
          <a:xfrm>
            <a:off x="5287966" y="5329641"/>
            <a:ext cx="164592" cy="164592"/>
          </a:xfrm>
          <a:prstGeom prst="ellipse">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4684462" y="5503377"/>
            <a:ext cx="1371600" cy="219456"/>
          </a:xfrm>
          <a:prstGeom prst="rect">
            <a:avLst/>
          </a:prstGeom>
          <a:noFill/>
        </p:spPr>
        <p:txBody>
          <a:bodyPr wrap="none" lIns="0" tIns="0" rIns="0" bIns="0" anchor="t">
            <a:spAutoFit/>
          </a:bodyPr>
          <a:lstStyle/>
          <a:p>
            <a:pPr algn="ctr">
              <a:lnSpc>
                <a:spcPct val="105000"/>
              </a:lnSpc>
              <a:spcAft>
                <a:spcPts val="0"/>
              </a:spcAft>
            </a:pPr>
            <a:r>
              <a:rPr sz="850" b="0" i="0">
                <a:solidFill>
                  <a:srgbClr val="56657A"/>
                </a:solidFill>
                <a:latin typeface="Segoe UI"/>
              </a:rPr>
              <a:t>Weekly Planning</a:t>
            </a:r>
          </a:p>
        </p:txBody>
      </p:sp>
      <p:sp>
        <p:nvSpPr>
          <p:cNvPr id="69" name="Oval 68"/>
          <p:cNvSpPr/>
          <p:nvPr/>
        </p:nvSpPr>
        <p:spPr>
          <a:xfrm>
            <a:off x="4839529" y="4358427"/>
            <a:ext cx="164592" cy="164592"/>
          </a:xfrm>
          <a:prstGeom prst="ellipse">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4236025" y="4532163"/>
            <a:ext cx="1371600" cy="219456"/>
          </a:xfrm>
          <a:prstGeom prst="rect">
            <a:avLst/>
          </a:prstGeom>
          <a:noFill/>
        </p:spPr>
        <p:txBody>
          <a:bodyPr wrap="none" lIns="0" tIns="0" rIns="0" bIns="0" anchor="t">
            <a:spAutoFit/>
          </a:bodyPr>
          <a:lstStyle/>
          <a:p>
            <a:pPr algn="ctr">
              <a:lnSpc>
                <a:spcPct val="105000"/>
              </a:lnSpc>
              <a:spcAft>
                <a:spcPts val="0"/>
              </a:spcAft>
            </a:pPr>
            <a:r>
              <a:rPr sz="850" b="0" i="0">
                <a:solidFill>
                  <a:srgbClr val="56657A"/>
                </a:solidFill>
                <a:latin typeface="Segoe UI"/>
              </a:rPr>
              <a:t>Template Review</a:t>
            </a:r>
          </a:p>
        </p:txBody>
      </p:sp>
      <p:sp>
        <p:nvSpPr>
          <p:cNvPr id="71" name="Oval 70"/>
          <p:cNvSpPr/>
          <p:nvPr/>
        </p:nvSpPr>
        <p:spPr>
          <a:xfrm>
            <a:off x="5839816" y="4453128"/>
            <a:ext cx="512064" cy="512064"/>
          </a:xfrm>
          <a:prstGeom prst="ellipse">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2" name="Picture 71" descr="E71B-FFFFFF.png"/>
          <p:cNvPicPr>
            <a:picLocks noChangeAspect="1"/>
          </p:cNvPicPr>
          <p:nvPr/>
        </p:nvPicPr>
        <p:blipFill>
          <a:blip r:embed="rId7"/>
          <a:stretch>
            <a:fillRect/>
          </a:stretch>
        </p:blipFill>
        <p:spPr>
          <a:xfrm>
            <a:off x="5967832" y="4581144"/>
            <a:ext cx="256032" cy="256032"/>
          </a:xfrm>
          <a:prstGeom prst="rect">
            <a:avLst/>
          </a:prstGeom>
        </p:spPr>
      </p:pic>
      <p:sp>
        <p:nvSpPr>
          <p:cNvPr id="73" name="Rounded Rectangle 72"/>
          <p:cNvSpPr/>
          <p:nvPr/>
        </p:nvSpPr>
        <p:spPr>
          <a:xfrm>
            <a:off x="8122615" y="3566160"/>
            <a:ext cx="3520440" cy="2468880"/>
          </a:xfrm>
          <a:prstGeom prst="roundRect">
            <a:avLst>
              <a:gd name="adj" fmla="val 4444"/>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8351215" y="3675888"/>
            <a:ext cx="3063240" cy="365760"/>
          </a:xfrm>
          <a:prstGeom prst="rect">
            <a:avLst/>
          </a:prstGeom>
          <a:noFill/>
        </p:spPr>
        <p:txBody>
          <a:bodyPr wrap="square" lIns="0" tIns="0" rIns="0" bIns="0" anchor="ctr">
            <a:spAutoFit/>
          </a:bodyPr>
          <a:lstStyle/>
          <a:p>
            <a:pPr algn="l">
              <a:lnSpc>
                <a:spcPct val="105000"/>
              </a:lnSpc>
              <a:spcAft>
                <a:spcPts val="0"/>
              </a:spcAft>
            </a:pPr>
            <a:r>
              <a:rPr sz="1300" b="0" i="0">
                <a:solidFill>
                  <a:srgbClr val="0B1F33"/>
                </a:solidFill>
                <a:latin typeface="Segoe UI Semibold"/>
              </a:rPr>
              <a:t>Answer + sources</a:t>
            </a:r>
          </a:p>
        </p:txBody>
      </p:sp>
      <p:sp>
        <p:nvSpPr>
          <p:cNvPr id="75" name="Rounded Rectangle 74"/>
          <p:cNvSpPr/>
          <p:nvPr/>
        </p:nvSpPr>
        <p:spPr>
          <a:xfrm>
            <a:off x="8351215" y="4160520"/>
            <a:ext cx="2818181" cy="91440"/>
          </a:xfrm>
          <a:prstGeom prst="roundRect">
            <a:avLst>
              <a:gd name="adj" fmla="val 50000"/>
            </a:avLst>
          </a:prstGeom>
          <a:solidFill>
            <a:srgbClr val="DDE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ounded Rectangle 75"/>
          <p:cNvSpPr/>
          <p:nvPr/>
        </p:nvSpPr>
        <p:spPr>
          <a:xfrm>
            <a:off x="8351215" y="4398264"/>
            <a:ext cx="2450592" cy="91440"/>
          </a:xfrm>
          <a:prstGeom prst="roundRect">
            <a:avLst>
              <a:gd name="adj" fmla="val 50000"/>
            </a:avLst>
          </a:prstGeom>
          <a:solidFill>
            <a:srgbClr val="DDE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ounded Rectangle 76"/>
          <p:cNvSpPr/>
          <p:nvPr/>
        </p:nvSpPr>
        <p:spPr>
          <a:xfrm>
            <a:off x="8351215" y="4636008"/>
            <a:ext cx="1899209" cy="91440"/>
          </a:xfrm>
          <a:prstGeom prst="roundRect">
            <a:avLst>
              <a:gd name="adj" fmla="val 50000"/>
            </a:avLst>
          </a:prstGeom>
          <a:solidFill>
            <a:srgbClr val="DDE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ounded Rectangle 77"/>
          <p:cNvSpPr/>
          <p:nvPr/>
        </p:nvSpPr>
        <p:spPr>
          <a:xfrm>
            <a:off x="8351215" y="4937760"/>
            <a:ext cx="1480078" cy="274320"/>
          </a:xfrm>
          <a:prstGeom prst="roundRect">
            <a:avLst>
              <a:gd name="adj" fmla="val 5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8497519" y="4937760"/>
            <a:ext cx="1480078" cy="274320"/>
          </a:xfrm>
          <a:prstGeom prst="rect">
            <a:avLst/>
          </a:prstGeom>
          <a:noFill/>
        </p:spPr>
        <p:txBody>
          <a:bodyPr wrap="none" lIns="0" tIns="0" rIns="0" bIns="0" anchor="ctr">
            <a:spAutoFit/>
          </a:bodyPr>
          <a:lstStyle/>
          <a:p>
            <a:pPr algn="l">
              <a:lnSpc>
                <a:spcPct val="105000"/>
              </a:lnSpc>
              <a:spcAft>
                <a:spcPts val="0"/>
              </a:spcAft>
            </a:pPr>
            <a:r>
              <a:rPr sz="950" b="0" i="0">
                <a:solidFill>
                  <a:srgbClr val="1F5BD8"/>
                </a:solidFill>
                <a:latin typeface="Segoe UI Semibold"/>
              </a:rPr>
              <a:t>[[Constraint Register]]</a:t>
            </a:r>
          </a:p>
        </p:txBody>
      </p:sp>
      <p:sp>
        <p:nvSpPr>
          <p:cNvPr id="80" name="Rounded Rectangle 79"/>
          <p:cNvSpPr/>
          <p:nvPr/>
        </p:nvSpPr>
        <p:spPr>
          <a:xfrm>
            <a:off x="8351215" y="5285232"/>
            <a:ext cx="1810258" cy="274320"/>
          </a:xfrm>
          <a:prstGeom prst="roundRect">
            <a:avLst>
              <a:gd name="adj" fmla="val 5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8497519" y="5285232"/>
            <a:ext cx="1810258" cy="274320"/>
          </a:xfrm>
          <a:prstGeom prst="rect">
            <a:avLst/>
          </a:prstGeom>
          <a:noFill/>
        </p:spPr>
        <p:txBody>
          <a:bodyPr wrap="none" lIns="0" tIns="0" rIns="0" bIns="0" anchor="ctr">
            <a:spAutoFit/>
          </a:bodyPr>
          <a:lstStyle/>
          <a:p>
            <a:pPr algn="l">
              <a:lnSpc>
                <a:spcPct val="105000"/>
              </a:lnSpc>
              <a:spcAft>
                <a:spcPts val="0"/>
              </a:spcAft>
            </a:pPr>
            <a:r>
              <a:rPr sz="950" b="0" i="0">
                <a:solidFill>
                  <a:srgbClr val="1F5BD8"/>
                </a:solidFill>
                <a:latin typeface="Segoe UI Semibold"/>
              </a:rPr>
              <a:t>[[Project Alpha Schedule]]</a:t>
            </a:r>
          </a:p>
        </p:txBody>
      </p:sp>
      <p:sp>
        <p:nvSpPr>
          <p:cNvPr id="82" name="Rounded Rectangle 81"/>
          <p:cNvSpPr/>
          <p:nvPr/>
        </p:nvSpPr>
        <p:spPr>
          <a:xfrm>
            <a:off x="8351215" y="5632704"/>
            <a:ext cx="1114238" cy="274320"/>
          </a:xfrm>
          <a:prstGeom prst="roundRect">
            <a:avLst>
              <a:gd name="adj" fmla="val 5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8497519" y="5632704"/>
            <a:ext cx="1114238" cy="274320"/>
          </a:xfrm>
          <a:prstGeom prst="rect">
            <a:avLst/>
          </a:prstGeom>
          <a:noFill/>
        </p:spPr>
        <p:txBody>
          <a:bodyPr wrap="none" lIns="0" tIns="0" rIns="0" bIns="0" anchor="ctr">
            <a:spAutoFit/>
          </a:bodyPr>
          <a:lstStyle/>
          <a:p>
            <a:pPr algn="l">
              <a:lnSpc>
                <a:spcPct val="105000"/>
              </a:lnSpc>
              <a:spcAft>
                <a:spcPts val="0"/>
              </a:spcAft>
            </a:pPr>
            <a:r>
              <a:rPr sz="950" b="0" i="0">
                <a:solidFill>
                  <a:srgbClr val="1F5BD8"/>
                </a:solidFill>
                <a:latin typeface="Segoe UI Semibold"/>
              </a:rPr>
              <a:t>[[Decision Log]]</a:t>
            </a:r>
          </a:p>
        </p:txBody>
      </p:sp>
      <p:sp>
        <p:nvSpPr>
          <p:cNvPr id="84" name="TextBox 83"/>
          <p:cNvSpPr txBox="1"/>
          <p:nvPr/>
        </p:nvSpPr>
        <p:spPr>
          <a:xfrm>
            <a:off x="548640" y="6419088"/>
            <a:ext cx="8686800" cy="237744"/>
          </a:xfrm>
          <a:prstGeom prst="rect">
            <a:avLst/>
          </a:prstGeom>
          <a:noFill/>
        </p:spPr>
        <p:txBody>
          <a:bodyPr wrap="none" lIns="0" tIns="0" rIns="0" bIns="0" anchor="t">
            <a:spAutoFit/>
          </a:bodyPr>
          <a:lstStyle/>
          <a:p>
            <a:pPr algn="l">
              <a:lnSpc>
                <a:spcPct val="105000"/>
              </a:lnSpc>
              <a:spcAft>
                <a:spcPts val="0"/>
              </a:spcAft>
            </a:pPr>
            <a:r>
              <a:rPr sz="850" b="0" i="0">
                <a:solidFill>
                  <a:srgbClr val="98A3B3"/>
                </a:solidFill>
                <a:latin typeface="Segoe UI"/>
              </a:rPr>
              <a:t>Nama note = file yang dibaca Claude pada uji coba (2 kali, hasil identik).   ·   Sumber: REF-058 (vault demo › 06 Referensi)</a:t>
            </a:r>
          </a:p>
        </p:txBody>
      </p:sp>
      <p:sp>
        <p:nvSpPr>
          <p:cNvPr id="85" name="TextBox 84"/>
          <p:cNvSpPr txBox="1"/>
          <p:nvPr/>
        </p:nvSpPr>
        <p:spPr>
          <a:xfrm>
            <a:off x="7071055" y="6419088"/>
            <a:ext cx="3657600" cy="237744"/>
          </a:xfrm>
          <a:prstGeom prst="rect">
            <a:avLst/>
          </a:prstGeom>
          <a:noFill/>
        </p:spPr>
        <p:txBody>
          <a:bodyPr wrap="none" lIns="0" tIns="0" rIns="0" bIns="0" anchor="ctr">
            <a:spAutoFit/>
          </a:bodyPr>
          <a:lstStyle/>
          <a:p>
            <a:pPr algn="r">
              <a:lnSpc>
                <a:spcPct val="105000"/>
              </a:lnSpc>
              <a:spcAft>
                <a:spcPts val="0"/>
              </a:spcAft>
            </a:pPr>
            <a:r>
              <a:rPr sz="800" b="0" i="0" spc="80">
                <a:solidFill>
                  <a:srgbClr val="56657A"/>
                </a:solidFill>
                <a:latin typeface="Segoe UI Semibold"/>
              </a:rPr>
              <a:t>ABDUL KAUSAR</a:t>
            </a:r>
          </a:p>
        </p:txBody>
      </p:sp>
      <p:sp>
        <p:nvSpPr>
          <p:cNvPr id="86" name="TextBox 85"/>
          <p:cNvSpPr txBox="1"/>
          <p:nvPr/>
        </p:nvSpPr>
        <p:spPr>
          <a:xfrm>
            <a:off x="10911535" y="6419088"/>
            <a:ext cx="731520" cy="237744"/>
          </a:xfrm>
          <a:prstGeom prst="rect">
            <a:avLst/>
          </a:prstGeom>
          <a:noFill/>
        </p:spPr>
        <p:txBody>
          <a:bodyPr wrap="square" lIns="0" tIns="0" rIns="0" bIns="0" anchor="t">
            <a:spAutoFit/>
          </a:bodyPr>
          <a:lstStyle/>
          <a:p>
            <a:pPr algn="r">
              <a:lnSpc>
                <a:spcPct val="105000"/>
              </a:lnSpc>
              <a:spcAft>
                <a:spcPts val="0"/>
              </a:spcAft>
            </a:pPr>
            <a:r>
              <a:rPr sz="900" b="0" i="0">
                <a:solidFill>
                  <a:srgbClr val="98A3B3"/>
                </a:solidFill>
                <a:latin typeface="Segoe UI"/>
              </a:rPr>
              <a:t>25</a:t>
            </a:r>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297680" cy="6858000"/>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777240"/>
            <a:ext cx="3474720" cy="237744"/>
          </a:xfrm>
          <a:prstGeom prst="rect">
            <a:avLst/>
          </a:prstGeom>
          <a:noFill/>
        </p:spPr>
        <p:txBody>
          <a:bodyPr wrap="none" lIns="0" tIns="0" rIns="0" bIns="0" anchor="ctr">
            <a:spAutoFit/>
          </a:bodyPr>
          <a:lstStyle/>
          <a:p>
            <a:pPr algn="l">
              <a:lnSpc>
                <a:spcPct val="105000"/>
              </a:lnSpc>
              <a:spcAft>
                <a:spcPts val="0"/>
              </a:spcAft>
            </a:pPr>
            <a:r>
              <a:rPr sz="1000" b="0" i="0" spc="80">
                <a:solidFill>
                  <a:srgbClr val="8DB4FF"/>
                </a:solidFill>
                <a:latin typeface="Segoe UI Semibold"/>
              </a:rPr>
              <a:t>LIVE DEMO</a:t>
            </a:r>
          </a:p>
        </p:txBody>
      </p:sp>
      <p:sp>
        <p:nvSpPr>
          <p:cNvPr id="4" name="TextBox 3"/>
          <p:cNvSpPr txBox="1"/>
          <p:nvPr/>
        </p:nvSpPr>
        <p:spPr>
          <a:xfrm>
            <a:off x="548640" y="1097280"/>
            <a:ext cx="3474720" cy="1371600"/>
          </a:xfrm>
          <a:prstGeom prst="rect">
            <a:avLst/>
          </a:prstGeom>
          <a:noFill/>
        </p:spPr>
        <p:txBody>
          <a:bodyPr wrap="square" lIns="0" tIns="0" rIns="0" bIns="0" anchor="t">
            <a:spAutoFit/>
          </a:bodyPr>
          <a:lstStyle/>
          <a:p>
            <a:pPr algn="l">
              <a:lnSpc>
                <a:spcPct val="95000"/>
              </a:lnSpc>
              <a:spcAft>
                <a:spcPts val="0"/>
              </a:spcAft>
            </a:pPr>
            <a:r>
              <a:rPr sz="4000" b="0" i="0">
                <a:solidFill>
                  <a:srgbClr val="FFFFFF"/>
                </a:solidFill>
                <a:latin typeface="Georgia"/>
              </a:rPr>
              <a:t>Obsidian + Claude</a:t>
            </a:r>
          </a:p>
        </p:txBody>
      </p:sp>
      <p:sp>
        <p:nvSpPr>
          <p:cNvPr id="5" name="TextBox 4"/>
          <p:cNvSpPr txBox="1"/>
          <p:nvPr/>
        </p:nvSpPr>
        <p:spPr>
          <a:xfrm>
            <a:off x="548640" y="2606040"/>
            <a:ext cx="3383280" cy="731520"/>
          </a:xfrm>
          <a:prstGeom prst="rect">
            <a:avLst/>
          </a:prstGeom>
          <a:noFill/>
        </p:spPr>
        <p:txBody>
          <a:bodyPr wrap="square" lIns="0" tIns="0" rIns="0" bIns="0" anchor="t">
            <a:spAutoFit/>
          </a:bodyPr>
          <a:lstStyle/>
          <a:p>
            <a:pPr algn="l">
              <a:lnSpc>
                <a:spcPct val="110000"/>
              </a:lnSpc>
              <a:spcAft>
                <a:spcPts val="0"/>
              </a:spcAft>
            </a:pPr>
            <a:r>
              <a:rPr sz="1200" b="0" i="0">
                <a:solidFill>
                  <a:srgbClr val="98A3B3"/>
                </a:solidFill>
                <a:latin typeface="Segoe UI"/>
              </a:rPr>
              <a:t>Claude Desktop · tab Code · folder vault demo · model Sonnet · mode Ask permissions</a:t>
            </a:r>
          </a:p>
        </p:txBody>
      </p:sp>
      <p:sp>
        <p:nvSpPr>
          <p:cNvPr id="6" name="Rounded Rectangle 5">
            <a:hlinkClick r:id="rId3" invalidUrl="claude://"/>
          </p:cNvPr>
          <p:cNvSpPr/>
          <p:nvPr/>
        </p:nvSpPr>
        <p:spPr>
          <a:xfrm>
            <a:off x="548640" y="3657600"/>
            <a:ext cx="3200400" cy="4754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0" rIns="0" bIns="0" rtlCol="0" anchor="ctr"/>
          <a:lstStyle/>
          <a:p>
            <a:pPr algn="l">
              <a:lnSpc>
                <a:spcPct val="105000"/>
              </a:lnSpc>
              <a:spcAft>
                <a:spcPts val="0"/>
              </a:spcAft>
            </a:pPr>
            <a:r>
              <a:rPr sz="1300" b="0" i="0">
                <a:solidFill>
                  <a:srgbClr val="0B1F33"/>
                </a:solidFill>
                <a:latin typeface="Segoe UI Semibold"/>
              </a:rPr>
              <a:t>Buka Claude</a:t>
            </a:r>
          </a:p>
        </p:txBody>
      </p:sp>
      <p:pic>
        <p:nvPicPr>
          <p:cNvPr id="7" name="Picture 6" descr="E8A7-0B1F33.png">
            <a:hlinkClick r:id="rId4" invalidUrl="claude://"/>
          </p:cNvPr>
          <p:cNvPicPr>
            <a:picLocks noChangeAspect="1"/>
          </p:cNvPicPr>
          <p:nvPr/>
        </p:nvPicPr>
        <p:blipFill>
          <a:blip r:embed="rId5"/>
          <a:stretch>
            <a:fillRect/>
          </a:stretch>
        </p:blipFill>
        <p:spPr>
          <a:xfrm>
            <a:off x="3411444" y="3795492"/>
            <a:ext cx="199705" cy="199705"/>
          </a:xfrm>
          <a:prstGeom prst="rect">
            <a:avLst/>
          </a:prstGeom>
        </p:spPr>
      </p:pic>
      <p:sp>
        <p:nvSpPr>
          <p:cNvPr id="8" name="Rounded Rectangle 7">
            <a:hlinkClick r:id="rId6"/>
          </p:cNvPr>
          <p:cNvSpPr/>
          <p:nvPr/>
        </p:nvSpPr>
        <p:spPr>
          <a:xfrm>
            <a:off x="548640" y="4297680"/>
            <a:ext cx="3200400" cy="4754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0" rIns="0" bIns="0" rtlCol="0" anchor="ctr"/>
          <a:lstStyle/>
          <a:p>
            <a:pPr algn="l">
              <a:lnSpc>
                <a:spcPct val="105000"/>
              </a:lnSpc>
              <a:spcAft>
                <a:spcPts val="0"/>
              </a:spcAft>
            </a:pPr>
            <a:r>
              <a:rPr sz="1300" b="0" i="0">
                <a:solidFill>
                  <a:srgbClr val="0B1F33"/>
                </a:solidFill>
                <a:latin typeface="Segoe UI Semibold"/>
              </a:rPr>
              <a:t>Salin prompt</a:t>
            </a:r>
          </a:p>
        </p:txBody>
      </p:sp>
      <p:pic>
        <p:nvPicPr>
          <p:cNvPr id="9" name="Picture 8" descr="E8A7-0B1F33.png">
            <a:hlinkClick r:id="rId6"/>
          </p:cNvPr>
          <p:cNvPicPr>
            <a:picLocks noChangeAspect="1"/>
          </p:cNvPicPr>
          <p:nvPr/>
        </p:nvPicPr>
        <p:blipFill>
          <a:blip r:embed="rId5"/>
          <a:stretch>
            <a:fillRect/>
          </a:stretch>
        </p:blipFill>
        <p:spPr>
          <a:xfrm>
            <a:off x="3411444" y="4435572"/>
            <a:ext cx="199705" cy="199705"/>
          </a:xfrm>
          <a:prstGeom prst="rect">
            <a:avLst/>
          </a:prstGeom>
        </p:spPr>
      </p:pic>
      <p:sp>
        <p:nvSpPr>
          <p:cNvPr id="10" name="TextBox 9"/>
          <p:cNvSpPr txBox="1"/>
          <p:nvPr/>
        </p:nvSpPr>
        <p:spPr>
          <a:xfrm>
            <a:off x="548640" y="4937760"/>
            <a:ext cx="3383280" cy="914400"/>
          </a:xfrm>
          <a:prstGeom prst="rect">
            <a:avLst/>
          </a:prstGeom>
          <a:noFill/>
        </p:spPr>
        <p:txBody>
          <a:bodyPr wrap="square" lIns="0" tIns="0" rIns="0" bIns="0" anchor="t">
            <a:spAutoFit/>
          </a:bodyPr>
          <a:lstStyle/>
          <a:p>
            <a:pPr algn="l">
              <a:lnSpc>
                <a:spcPct val="110000"/>
              </a:lnSpc>
              <a:spcAft>
                <a:spcPts val="0"/>
              </a:spcAft>
            </a:pPr>
            <a:r>
              <a:rPr sz="1100" b="0" i="0">
                <a:solidFill>
                  <a:srgbClr val="98A3B3"/>
                </a:solidFill>
                <a:latin typeface="Segoe UI"/>
              </a:rPr>
              <a:t>Salin prompt membuka halaman Demo Launcher; klik Salin prompt, lalu paste di Claude.</a:t>
            </a:r>
          </a:p>
        </p:txBody>
      </p:sp>
      <p:sp>
        <p:nvSpPr>
          <p:cNvPr id="11" name="Rounded Rectangle 10"/>
          <p:cNvSpPr/>
          <p:nvPr/>
        </p:nvSpPr>
        <p:spPr>
          <a:xfrm>
            <a:off x="4709160" y="822960"/>
            <a:ext cx="6933895" cy="2651760"/>
          </a:xfrm>
          <a:prstGeom prst="roundRect">
            <a:avLst>
              <a:gd name="adj" fmla="val 5517"/>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0" y="987552"/>
            <a:ext cx="3657600" cy="237744"/>
          </a:xfrm>
          <a:prstGeom prst="rect">
            <a:avLst/>
          </a:prstGeom>
          <a:noFill/>
        </p:spPr>
        <p:txBody>
          <a:bodyPr wrap="none" lIns="0" tIns="0" rIns="0" bIns="0" anchor="ctr">
            <a:spAutoFit/>
          </a:bodyPr>
          <a:lstStyle/>
          <a:p>
            <a:pPr algn="l">
              <a:lnSpc>
                <a:spcPct val="105000"/>
              </a:lnSpc>
              <a:spcAft>
                <a:spcPts val="0"/>
              </a:spcAft>
            </a:pPr>
            <a:r>
              <a:rPr sz="850" b="0" i="0" spc="80">
                <a:solidFill>
                  <a:srgbClr val="1F5BD8"/>
                </a:solidFill>
                <a:latin typeface="Segoe UI Semibold"/>
              </a:rPr>
              <a:t>PROMPT · REVIEW CRITICAL PATH</a:t>
            </a:r>
          </a:p>
        </p:txBody>
      </p:sp>
      <p:sp>
        <p:nvSpPr>
          <p:cNvPr id="13" name="TextBox 12"/>
          <p:cNvSpPr txBox="1"/>
          <p:nvPr/>
        </p:nvSpPr>
        <p:spPr>
          <a:xfrm>
            <a:off x="5029200" y="1280160"/>
            <a:ext cx="5745175" cy="2011680"/>
          </a:xfrm>
          <a:prstGeom prst="rect">
            <a:avLst/>
          </a:prstGeom>
          <a:noFill/>
        </p:spPr>
        <p:txBody>
          <a:bodyPr wrap="square" lIns="0" tIns="0" rIns="0" bIns="0" anchor="t">
            <a:spAutoFit/>
          </a:bodyPr>
          <a:lstStyle/>
          <a:p>
            <a:pPr algn="l">
              <a:lnSpc>
                <a:spcPct val="112000"/>
              </a:lnSpc>
              <a:spcAft>
                <a:spcPts val="0"/>
              </a:spcAft>
            </a:pPr>
            <a:r>
              <a:rPr sz="1600" b="0" i="0" dirty="0">
                <a:solidFill>
                  <a:srgbClr val="0B1F33"/>
                </a:solidFill>
                <a:latin typeface="Segoe UI Semibold"/>
              </a:rPr>
              <a:t>Dari data Project Alpha di vault </a:t>
            </a:r>
            <a:r>
              <a:rPr sz="1600" b="0" i="0" dirty="0" err="1">
                <a:solidFill>
                  <a:srgbClr val="0B1F33"/>
                </a:solidFill>
                <a:latin typeface="Segoe UI Semibold"/>
              </a:rPr>
              <a:t>saya</a:t>
            </a:r>
            <a:r>
              <a:rPr sz="1600" b="0" i="0" dirty="0">
                <a:solidFill>
                  <a:srgbClr val="0B1F33"/>
                </a:solidFill>
                <a:latin typeface="Segoe UI Semibold"/>
              </a:rPr>
              <a:t>: activity mana di critical path yang </a:t>
            </a:r>
            <a:r>
              <a:rPr sz="1600" b="0" i="0" dirty="0" err="1">
                <a:solidFill>
                  <a:srgbClr val="0B1F33"/>
                </a:solidFill>
                <a:latin typeface="Segoe UI Semibold"/>
              </a:rPr>
              <a:t>masih</a:t>
            </a:r>
            <a:r>
              <a:rPr sz="1600" b="0" i="0" dirty="0">
                <a:solidFill>
                  <a:srgbClr val="0B1F33"/>
                </a:solidFill>
                <a:latin typeface="Segoe UI Semibold"/>
              </a:rPr>
              <a:t> punya constraint open? </a:t>
            </a:r>
            <a:r>
              <a:rPr sz="1600" b="0" i="0" dirty="0" err="1">
                <a:solidFill>
                  <a:srgbClr val="0B1F33"/>
                </a:solidFill>
                <a:latin typeface="Segoe UI Semibold"/>
              </a:rPr>
              <a:t>Tampilkan</a:t>
            </a:r>
            <a:r>
              <a:rPr sz="1600" b="0" i="0" dirty="0">
                <a:solidFill>
                  <a:srgbClr val="0B1F33"/>
                </a:solidFill>
                <a:latin typeface="Segoe UI Semibold"/>
              </a:rPr>
              <a:t> Activity ID, constraint, owner, </a:t>
            </a:r>
            <a:r>
              <a:rPr sz="1600" b="0" i="0" dirty="0" err="1">
                <a:solidFill>
                  <a:srgbClr val="0B1F33"/>
                </a:solidFill>
                <a:latin typeface="Segoe UI Semibold"/>
              </a:rPr>
              <a:t>tanggal</a:t>
            </a:r>
            <a:r>
              <a:rPr sz="1600" b="0" i="0" dirty="0">
                <a:solidFill>
                  <a:srgbClr val="0B1F33"/>
                </a:solidFill>
                <a:latin typeface="Segoe UI Semibold"/>
              </a:rPr>
              <a:t> </a:t>
            </a:r>
            <a:r>
              <a:rPr sz="1600" b="0" i="0" dirty="0" err="1">
                <a:solidFill>
                  <a:srgbClr val="0B1F33"/>
                </a:solidFill>
                <a:latin typeface="Segoe UI Semibold"/>
              </a:rPr>
              <a:t>dibutuhkan</a:t>
            </a:r>
            <a:r>
              <a:rPr sz="1600" b="0" i="0" dirty="0">
                <a:solidFill>
                  <a:srgbClr val="0B1F33"/>
                </a:solidFill>
                <a:latin typeface="Segoe UI Semibold"/>
              </a:rPr>
              <a:t>, dan decision </a:t>
            </a:r>
            <a:r>
              <a:rPr sz="1600" b="0" i="0" dirty="0" err="1">
                <a:solidFill>
                  <a:srgbClr val="0B1F33"/>
                </a:solidFill>
                <a:latin typeface="Segoe UI Semibold"/>
              </a:rPr>
              <a:t>terkait</a:t>
            </a:r>
            <a:r>
              <a:rPr sz="1600" b="0" i="0" dirty="0">
                <a:solidFill>
                  <a:srgbClr val="0B1F33"/>
                </a:solidFill>
                <a:latin typeface="Segoe UI Semibold"/>
              </a:rPr>
              <a:t>. </a:t>
            </a:r>
            <a:r>
              <a:rPr sz="1600" b="0" i="0" dirty="0" err="1">
                <a:solidFill>
                  <a:srgbClr val="0B1F33"/>
                </a:solidFill>
                <a:latin typeface="Segoe UI Semibold"/>
              </a:rPr>
              <a:t>Simpan</a:t>
            </a:r>
            <a:r>
              <a:rPr sz="1600" b="0" i="0" dirty="0">
                <a:solidFill>
                  <a:srgbClr val="0B1F33"/>
                </a:solidFill>
                <a:latin typeface="Segoe UI Semibold"/>
              </a:rPr>
              <a:t> </a:t>
            </a:r>
            <a:r>
              <a:rPr sz="1600" b="0" i="0" dirty="0" err="1">
                <a:solidFill>
                  <a:srgbClr val="0B1F33"/>
                </a:solidFill>
                <a:latin typeface="Segoe UI Semibold"/>
              </a:rPr>
              <a:t>sebagai</a:t>
            </a:r>
            <a:r>
              <a:rPr sz="1600" b="0" i="0" dirty="0">
                <a:solidFill>
                  <a:srgbClr val="0B1F33"/>
                </a:solidFill>
                <a:latin typeface="Segoe UI Semibold"/>
              </a:rPr>
              <a:t> note </a:t>
            </a:r>
            <a:r>
              <a:rPr sz="1600" b="0" i="0" dirty="0" err="1">
                <a:solidFill>
                  <a:srgbClr val="0B1F33"/>
                </a:solidFill>
                <a:latin typeface="Segoe UI Semibold"/>
              </a:rPr>
              <a:t>memakai</a:t>
            </a:r>
            <a:r>
              <a:rPr sz="1600" b="0" i="0" dirty="0">
                <a:solidFill>
                  <a:srgbClr val="0B1F33"/>
                </a:solidFill>
                <a:latin typeface="Segoe UI Semibold"/>
              </a:rPr>
              <a:t> Template Review Critical Path.</a:t>
            </a:r>
          </a:p>
        </p:txBody>
      </p:sp>
      <p:sp>
        <p:nvSpPr>
          <p:cNvPr id="14" name="Oval 13"/>
          <p:cNvSpPr/>
          <p:nvPr/>
        </p:nvSpPr>
        <p:spPr>
          <a:xfrm>
            <a:off x="10957255" y="2834640"/>
            <a:ext cx="457200" cy="457200"/>
          </a:xfrm>
          <a:prstGeom prst="ellipse">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E724-FFFFFF.png"/>
          <p:cNvPicPr>
            <a:picLocks noChangeAspect="1"/>
          </p:cNvPicPr>
          <p:nvPr/>
        </p:nvPicPr>
        <p:blipFill>
          <a:blip r:embed="rId7"/>
          <a:stretch>
            <a:fillRect/>
          </a:stretch>
        </p:blipFill>
        <p:spPr>
          <a:xfrm>
            <a:off x="11071555" y="2948940"/>
            <a:ext cx="228600" cy="228600"/>
          </a:xfrm>
          <a:prstGeom prst="rect">
            <a:avLst/>
          </a:prstGeom>
        </p:spPr>
      </p:pic>
      <p:sp>
        <p:nvSpPr>
          <p:cNvPr id="16" name="TextBox 15"/>
          <p:cNvSpPr txBox="1"/>
          <p:nvPr/>
        </p:nvSpPr>
        <p:spPr>
          <a:xfrm>
            <a:off x="4709160" y="3840480"/>
            <a:ext cx="411480" cy="566928"/>
          </a:xfrm>
          <a:prstGeom prst="rect">
            <a:avLst/>
          </a:prstGeom>
          <a:noFill/>
        </p:spPr>
        <p:txBody>
          <a:bodyPr wrap="square" lIns="0" tIns="0" rIns="0" bIns="0" anchor="ctr">
            <a:spAutoFit/>
          </a:bodyPr>
          <a:lstStyle/>
          <a:p>
            <a:pPr algn="l">
              <a:lnSpc>
                <a:spcPct val="105000"/>
              </a:lnSpc>
              <a:spcAft>
                <a:spcPts val="0"/>
              </a:spcAft>
            </a:pPr>
            <a:r>
              <a:rPr sz="2200" b="0" i="0">
                <a:solidFill>
                  <a:srgbClr val="1F5BD8"/>
                </a:solidFill>
                <a:latin typeface="Georgia"/>
              </a:rPr>
              <a:t>1</a:t>
            </a:r>
          </a:p>
        </p:txBody>
      </p:sp>
      <p:sp>
        <p:nvSpPr>
          <p:cNvPr id="17" name="Oval 16"/>
          <p:cNvSpPr/>
          <p:nvPr/>
        </p:nvSpPr>
        <p:spPr>
          <a:xfrm>
            <a:off x="5202936" y="3886200"/>
            <a:ext cx="475488" cy="475488"/>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E721-1F5BD8.png"/>
          <p:cNvPicPr>
            <a:picLocks noChangeAspect="1"/>
          </p:cNvPicPr>
          <p:nvPr/>
        </p:nvPicPr>
        <p:blipFill>
          <a:blip r:embed="rId8"/>
          <a:stretch>
            <a:fillRect/>
          </a:stretch>
        </p:blipFill>
        <p:spPr>
          <a:xfrm>
            <a:off x="5321808" y="4005072"/>
            <a:ext cx="237744" cy="237744"/>
          </a:xfrm>
          <a:prstGeom prst="rect">
            <a:avLst/>
          </a:prstGeom>
        </p:spPr>
      </p:pic>
      <p:sp>
        <p:nvSpPr>
          <p:cNvPr id="19" name="TextBox 18"/>
          <p:cNvSpPr txBox="1"/>
          <p:nvPr/>
        </p:nvSpPr>
        <p:spPr>
          <a:xfrm>
            <a:off x="5806440" y="3840480"/>
            <a:ext cx="5745175" cy="566928"/>
          </a:xfrm>
          <a:prstGeom prst="rect">
            <a:avLst/>
          </a:prstGeom>
          <a:noFill/>
        </p:spPr>
        <p:txBody>
          <a:bodyPr wrap="square" lIns="0" tIns="0" rIns="0" bIns="0" anchor="ctr">
            <a:spAutoFit/>
          </a:bodyPr>
          <a:lstStyle/>
          <a:p>
            <a:pPr algn="l">
              <a:lnSpc>
                <a:spcPct val="105000"/>
              </a:lnSpc>
              <a:spcAft>
                <a:spcPts val="0"/>
              </a:spcAft>
            </a:pPr>
            <a:r>
              <a:rPr sz="1500" b="0" i="0">
                <a:solidFill>
                  <a:srgbClr val="0B1F33"/>
                </a:solidFill>
                <a:latin typeface="Segoe UI"/>
              </a:rPr>
              <a:t>Perhatikan: note saya dibuka dulu</a:t>
            </a:r>
          </a:p>
        </p:txBody>
      </p:sp>
      <p:sp>
        <p:nvSpPr>
          <p:cNvPr id="20" name="TextBox 19"/>
          <p:cNvSpPr txBox="1"/>
          <p:nvPr/>
        </p:nvSpPr>
        <p:spPr>
          <a:xfrm>
            <a:off x="4709160" y="4590288"/>
            <a:ext cx="411480" cy="566928"/>
          </a:xfrm>
          <a:prstGeom prst="rect">
            <a:avLst/>
          </a:prstGeom>
          <a:noFill/>
        </p:spPr>
        <p:txBody>
          <a:bodyPr wrap="square" lIns="0" tIns="0" rIns="0" bIns="0" anchor="ctr">
            <a:spAutoFit/>
          </a:bodyPr>
          <a:lstStyle/>
          <a:p>
            <a:pPr algn="l">
              <a:lnSpc>
                <a:spcPct val="105000"/>
              </a:lnSpc>
              <a:spcAft>
                <a:spcPts val="0"/>
              </a:spcAft>
            </a:pPr>
            <a:r>
              <a:rPr sz="2200" b="0" i="0">
                <a:solidFill>
                  <a:srgbClr val="1F5BD8"/>
                </a:solidFill>
                <a:latin typeface="Georgia"/>
              </a:rPr>
              <a:t>2</a:t>
            </a:r>
          </a:p>
        </p:txBody>
      </p:sp>
      <p:sp>
        <p:nvSpPr>
          <p:cNvPr id="21" name="Oval 20"/>
          <p:cNvSpPr/>
          <p:nvPr/>
        </p:nvSpPr>
        <p:spPr>
          <a:xfrm>
            <a:off x="5202936" y="4636008"/>
            <a:ext cx="475488" cy="475488"/>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E8A5-1F5BD8.png"/>
          <p:cNvPicPr>
            <a:picLocks noChangeAspect="1"/>
          </p:cNvPicPr>
          <p:nvPr/>
        </p:nvPicPr>
        <p:blipFill>
          <a:blip r:embed="rId9"/>
          <a:stretch>
            <a:fillRect/>
          </a:stretch>
        </p:blipFill>
        <p:spPr>
          <a:xfrm>
            <a:off x="5321808" y="4754880"/>
            <a:ext cx="237744" cy="237744"/>
          </a:xfrm>
          <a:prstGeom prst="rect">
            <a:avLst/>
          </a:prstGeom>
        </p:spPr>
      </p:pic>
      <p:sp>
        <p:nvSpPr>
          <p:cNvPr id="23" name="TextBox 22"/>
          <p:cNvSpPr txBox="1"/>
          <p:nvPr/>
        </p:nvSpPr>
        <p:spPr>
          <a:xfrm>
            <a:off x="5806440" y="4590288"/>
            <a:ext cx="5745175" cy="566928"/>
          </a:xfrm>
          <a:prstGeom prst="rect">
            <a:avLst/>
          </a:prstGeom>
          <a:noFill/>
        </p:spPr>
        <p:txBody>
          <a:bodyPr wrap="square" lIns="0" tIns="0" rIns="0" bIns="0" anchor="ctr">
            <a:spAutoFit/>
          </a:bodyPr>
          <a:lstStyle/>
          <a:p>
            <a:pPr algn="l">
              <a:lnSpc>
                <a:spcPct val="105000"/>
              </a:lnSpc>
              <a:spcAft>
                <a:spcPts val="0"/>
              </a:spcAft>
            </a:pPr>
            <a:r>
              <a:rPr sz="1500" b="0" i="0">
                <a:solidFill>
                  <a:srgbClr val="0B1F33"/>
                </a:solidFill>
                <a:latin typeface="Segoe UI"/>
              </a:rPr>
              <a:t>Izinkan Claude menyimpan note baru</a:t>
            </a:r>
          </a:p>
        </p:txBody>
      </p:sp>
      <p:sp>
        <p:nvSpPr>
          <p:cNvPr id="24" name="TextBox 23"/>
          <p:cNvSpPr txBox="1"/>
          <p:nvPr/>
        </p:nvSpPr>
        <p:spPr>
          <a:xfrm>
            <a:off x="4709160" y="5340096"/>
            <a:ext cx="411480" cy="566928"/>
          </a:xfrm>
          <a:prstGeom prst="rect">
            <a:avLst/>
          </a:prstGeom>
          <a:noFill/>
        </p:spPr>
        <p:txBody>
          <a:bodyPr wrap="square" lIns="0" tIns="0" rIns="0" bIns="0" anchor="ctr">
            <a:spAutoFit/>
          </a:bodyPr>
          <a:lstStyle/>
          <a:p>
            <a:pPr algn="l">
              <a:lnSpc>
                <a:spcPct val="105000"/>
              </a:lnSpc>
              <a:spcAft>
                <a:spcPts val="0"/>
              </a:spcAft>
            </a:pPr>
            <a:r>
              <a:rPr sz="2200" b="0" i="0">
                <a:solidFill>
                  <a:srgbClr val="1F5BD8"/>
                </a:solidFill>
                <a:latin typeface="Georgia"/>
              </a:rPr>
              <a:t>3</a:t>
            </a:r>
          </a:p>
        </p:txBody>
      </p:sp>
      <p:sp>
        <p:nvSpPr>
          <p:cNvPr id="25" name="Oval 24"/>
          <p:cNvSpPr/>
          <p:nvPr/>
        </p:nvSpPr>
        <p:spPr>
          <a:xfrm>
            <a:off x="5202936" y="5385816"/>
            <a:ext cx="475488" cy="475488"/>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E73E-1F5BD8.png"/>
          <p:cNvPicPr>
            <a:picLocks noChangeAspect="1"/>
          </p:cNvPicPr>
          <p:nvPr/>
        </p:nvPicPr>
        <p:blipFill>
          <a:blip r:embed="rId10"/>
          <a:stretch>
            <a:fillRect/>
          </a:stretch>
        </p:blipFill>
        <p:spPr>
          <a:xfrm>
            <a:off x="5321808" y="5504688"/>
            <a:ext cx="237744" cy="237744"/>
          </a:xfrm>
          <a:prstGeom prst="rect">
            <a:avLst/>
          </a:prstGeom>
        </p:spPr>
      </p:pic>
      <p:sp>
        <p:nvSpPr>
          <p:cNvPr id="27" name="TextBox 26"/>
          <p:cNvSpPr txBox="1"/>
          <p:nvPr/>
        </p:nvSpPr>
        <p:spPr>
          <a:xfrm>
            <a:off x="5806440" y="5340096"/>
            <a:ext cx="5745175" cy="566928"/>
          </a:xfrm>
          <a:prstGeom prst="rect">
            <a:avLst/>
          </a:prstGeom>
          <a:noFill/>
        </p:spPr>
        <p:txBody>
          <a:bodyPr wrap="square" lIns="0" tIns="0" rIns="0" bIns="0" anchor="ctr">
            <a:spAutoFit/>
          </a:bodyPr>
          <a:lstStyle/>
          <a:p>
            <a:pPr algn="l">
              <a:lnSpc>
                <a:spcPct val="105000"/>
              </a:lnSpc>
              <a:spcAft>
                <a:spcPts val="0"/>
              </a:spcAft>
            </a:pPr>
            <a:r>
              <a:rPr sz="1500" b="0" i="0">
                <a:solidFill>
                  <a:srgbClr val="0B1F33"/>
                </a:solidFill>
                <a:latin typeface="Segoe UI"/>
              </a:rPr>
              <a:t>Buka note hasilnya di Obsidian</a:t>
            </a:r>
          </a:p>
        </p:txBody>
      </p:sp>
      <p:sp>
        <p:nvSpPr>
          <p:cNvPr id="28" name="TextBox 27"/>
          <p:cNvSpPr txBox="1"/>
          <p:nvPr/>
        </p:nvSpPr>
        <p:spPr>
          <a:xfrm>
            <a:off x="4709160" y="6419088"/>
            <a:ext cx="8686800" cy="237744"/>
          </a:xfrm>
          <a:prstGeom prst="rect">
            <a:avLst/>
          </a:prstGeom>
          <a:noFill/>
        </p:spPr>
        <p:txBody>
          <a:bodyPr wrap="none" lIns="0" tIns="0" rIns="0" bIns="0" anchor="t">
            <a:spAutoFit/>
          </a:bodyPr>
          <a:lstStyle/>
          <a:p>
            <a:pPr algn="l">
              <a:lnSpc>
                <a:spcPct val="105000"/>
              </a:lnSpc>
              <a:spcAft>
                <a:spcPts val="0"/>
              </a:spcAft>
            </a:pPr>
            <a:r>
              <a:rPr sz="850" b="0" i="0">
                <a:solidFill>
                  <a:srgbClr val="98A3B3"/>
                </a:solidFill>
                <a:latin typeface="Segoe UI"/>
              </a:rPr>
              <a:t>Sumber: REF-060, REF-049 (vault demo › 06 Referensi)</a:t>
            </a:r>
          </a:p>
        </p:txBody>
      </p:sp>
      <p:sp>
        <p:nvSpPr>
          <p:cNvPr id="29" name="TextBox 28"/>
          <p:cNvSpPr txBox="1"/>
          <p:nvPr/>
        </p:nvSpPr>
        <p:spPr>
          <a:xfrm>
            <a:off x="7071055" y="6419088"/>
            <a:ext cx="3657600" cy="237744"/>
          </a:xfrm>
          <a:prstGeom prst="rect">
            <a:avLst/>
          </a:prstGeom>
          <a:noFill/>
        </p:spPr>
        <p:txBody>
          <a:bodyPr wrap="none" lIns="0" tIns="0" rIns="0" bIns="0" anchor="ctr">
            <a:spAutoFit/>
          </a:bodyPr>
          <a:lstStyle/>
          <a:p>
            <a:pPr algn="r">
              <a:lnSpc>
                <a:spcPct val="105000"/>
              </a:lnSpc>
              <a:spcAft>
                <a:spcPts val="0"/>
              </a:spcAft>
            </a:pPr>
            <a:r>
              <a:rPr sz="800" b="0" i="0" spc="80">
                <a:solidFill>
                  <a:srgbClr val="56657A"/>
                </a:solidFill>
                <a:latin typeface="Segoe UI Semibold"/>
              </a:rPr>
              <a:t>ABDUL KAUSAR</a:t>
            </a:r>
          </a:p>
        </p:txBody>
      </p:sp>
      <p:sp>
        <p:nvSpPr>
          <p:cNvPr id="30" name="TextBox 29"/>
          <p:cNvSpPr txBox="1"/>
          <p:nvPr/>
        </p:nvSpPr>
        <p:spPr>
          <a:xfrm>
            <a:off x="10911535" y="6419088"/>
            <a:ext cx="731520" cy="237744"/>
          </a:xfrm>
          <a:prstGeom prst="rect">
            <a:avLst/>
          </a:prstGeom>
          <a:noFill/>
        </p:spPr>
        <p:txBody>
          <a:bodyPr wrap="square" lIns="0" tIns="0" rIns="0" bIns="0" anchor="t">
            <a:spAutoFit/>
          </a:bodyPr>
          <a:lstStyle/>
          <a:p>
            <a:pPr algn="r">
              <a:lnSpc>
                <a:spcPct val="105000"/>
              </a:lnSpc>
              <a:spcAft>
                <a:spcPts val="0"/>
              </a:spcAft>
            </a:pPr>
            <a:r>
              <a:rPr sz="900" b="0" i="0">
                <a:solidFill>
                  <a:srgbClr val="98A3B3"/>
                </a:solidFill>
                <a:latin typeface="Segoe UI"/>
              </a:rPr>
              <a:t>26</a:t>
            </a:r>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182880"/>
            <a:ext cx="95234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DATA CENTER</a:t>
            </a:r>
          </a:p>
        </p:txBody>
      </p:sp>
      <p:sp>
        <p:nvSpPr>
          <p:cNvPr id="3" name="TextBox 2"/>
          <p:cNvSpPr txBox="1"/>
          <p:nvPr/>
        </p:nvSpPr>
        <p:spPr>
          <a:xfrm>
            <a:off x="1409543"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4" name="TextBox 3"/>
          <p:cNvSpPr txBox="1"/>
          <p:nvPr/>
        </p:nvSpPr>
        <p:spPr>
          <a:xfrm>
            <a:off x="1702151" y="182880"/>
            <a:ext cx="78485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INTERFACE</a:t>
            </a:r>
          </a:p>
        </p:txBody>
      </p:sp>
      <p:sp>
        <p:nvSpPr>
          <p:cNvPr id="5" name="TextBox 4"/>
          <p:cNvSpPr txBox="1"/>
          <p:nvPr/>
        </p:nvSpPr>
        <p:spPr>
          <a:xfrm>
            <a:off x="239556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6" name="TextBox 5"/>
          <p:cNvSpPr txBox="1"/>
          <p:nvPr/>
        </p:nvSpPr>
        <p:spPr>
          <a:xfrm>
            <a:off x="2688175" y="182880"/>
            <a:ext cx="724872"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CONTROL</a:t>
            </a:r>
          </a:p>
        </p:txBody>
      </p:sp>
      <p:sp>
        <p:nvSpPr>
          <p:cNvPr id="7" name="TextBox 6"/>
          <p:cNvSpPr txBox="1"/>
          <p:nvPr/>
        </p:nvSpPr>
        <p:spPr>
          <a:xfrm>
            <a:off x="3321608"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8" name="TextBox 7"/>
          <p:cNvSpPr txBox="1"/>
          <p:nvPr/>
        </p:nvSpPr>
        <p:spPr>
          <a:xfrm>
            <a:off x="3614216" y="182880"/>
            <a:ext cx="1153773"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COMMISSIONING</a:t>
            </a:r>
          </a:p>
        </p:txBody>
      </p:sp>
      <p:sp>
        <p:nvSpPr>
          <p:cNvPr id="9" name="TextBox 8"/>
          <p:cNvSpPr txBox="1"/>
          <p:nvPr/>
        </p:nvSpPr>
        <p:spPr>
          <a:xfrm>
            <a:off x="4676549"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0" name="TextBox 9"/>
          <p:cNvSpPr txBox="1"/>
          <p:nvPr/>
        </p:nvSpPr>
        <p:spPr>
          <a:xfrm>
            <a:off x="4969157" y="182880"/>
            <a:ext cx="945555"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MONITORING</a:t>
            </a:r>
          </a:p>
        </p:txBody>
      </p:sp>
      <p:sp>
        <p:nvSpPr>
          <p:cNvPr id="11" name="TextBox 10"/>
          <p:cNvSpPr txBox="1"/>
          <p:nvPr/>
        </p:nvSpPr>
        <p:spPr>
          <a:xfrm>
            <a:off x="582327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2" name="TextBox 11"/>
          <p:cNvSpPr txBox="1"/>
          <p:nvPr/>
        </p:nvSpPr>
        <p:spPr>
          <a:xfrm>
            <a:off x="6115879" y="182880"/>
            <a:ext cx="636796"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REALITA</a:t>
            </a:r>
          </a:p>
        </p:txBody>
      </p:sp>
      <p:sp>
        <p:nvSpPr>
          <p:cNvPr id="13" name="TextBox 12"/>
          <p:cNvSpPr txBox="1"/>
          <p:nvPr/>
        </p:nvSpPr>
        <p:spPr>
          <a:xfrm>
            <a:off x="6661235"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4" name="TextBox 13"/>
          <p:cNvSpPr txBox="1"/>
          <p:nvPr/>
        </p:nvSpPr>
        <p:spPr>
          <a:xfrm>
            <a:off x="6953843" y="182880"/>
            <a:ext cx="821309"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INFORMASI</a:t>
            </a:r>
          </a:p>
        </p:txBody>
      </p:sp>
      <p:sp>
        <p:nvSpPr>
          <p:cNvPr id="15" name="TextBox 14"/>
          <p:cNvSpPr txBox="1"/>
          <p:nvPr/>
        </p:nvSpPr>
        <p:spPr>
          <a:xfrm>
            <a:off x="7683712"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6" name="TextBox 15"/>
          <p:cNvSpPr txBox="1"/>
          <p:nvPr/>
        </p:nvSpPr>
        <p:spPr>
          <a:xfrm>
            <a:off x="7976320" y="182880"/>
            <a:ext cx="899541"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KNOWLEDGE</a:t>
            </a:r>
          </a:p>
        </p:txBody>
      </p:sp>
      <p:sp>
        <p:nvSpPr>
          <p:cNvPr id="17" name="TextBox 16"/>
          <p:cNvSpPr txBox="1"/>
          <p:nvPr/>
        </p:nvSpPr>
        <p:spPr>
          <a:xfrm>
            <a:off x="8784421"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18" name="TextBox 17"/>
          <p:cNvSpPr txBox="1"/>
          <p:nvPr/>
        </p:nvSpPr>
        <p:spPr>
          <a:xfrm>
            <a:off x="9077029" y="182880"/>
            <a:ext cx="733298"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56657A"/>
                </a:solidFill>
                <a:latin typeface="Segoe UI Semibold"/>
              </a:rPr>
              <a:t>OBSIDIAN</a:t>
            </a:r>
          </a:p>
        </p:txBody>
      </p:sp>
      <p:sp>
        <p:nvSpPr>
          <p:cNvPr id="19" name="TextBox 18"/>
          <p:cNvSpPr txBox="1"/>
          <p:nvPr/>
        </p:nvSpPr>
        <p:spPr>
          <a:xfrm>
            <a:off x="9718887" y="182880"/>
            <a:ext cx="182880" cy="219456"/>
          </a:xfrm>
          <a:prstGeom prst="rect">
            <a:avLst/>
          </a:prstGeom>
          <a:noFill/>
        </p:spPr>
        <p:txBody>
          <a:bodyPr wrap="none" lIns="0" tIns="0" rIns="0" bIns="0" anchor="t">
            <a:spAutoFit/>
          </a:bodyPr>
          <a:lstStyle/>
          <a:p>
            <a:pPr algn="ctr">
              <a:lnSpc>
                <a:spcPct val="105000"/>
              </a:lnSpc>
              <a:spcAft>
                <a:spcPts val="0"/>
              </a:spcAft>
            </a:pPr>
            <a:r>
              <a:rPr sz="900" b="0" i="0">
                <a:solidFill>
                  <a:srgbClr val="98A3B3"/>
                </a:solidFill>
                <a:latin typeface="Segoe UI"/>
              </a:rPr>
              <a:t>›</a:t>
            </a:r>
          </a:p>
        </p:txBody>
      </p:sp>
      <p:sp>
        <p:nvSpPr>
          <p:cNvPr id="20" name="TextBox 19"/>
          <p:cNvSpPr txBox="1"/>
          <p:nvPr/>
        </p:nvSpPr>
        <p:spPr>
          <a:xfrm>
            <a:off x="10011495" y="182880"/>
            <a:ext cx="297434" cy="219456"/>
          </a:xfrm>
          <a:prstGeom prst="rect">
            <a:avLst/>
          </a:prstGeom>
          <a:noFill/>
        </p:spPr>
        <p:txBody>
          <a:bodyPr wrap="none" lIns="0" tIns="0" rIns="0" bIns="0" anchor="t">
            <a:spAutoFit/>
          </a:bodyPr>
          <a:lstStyle/>
          <a:p>
            <a:pPr algn="l">
              <a:lnSpc>
                <a:spcPct val="105000"/>
              </a:lnSpc>
              <a:spcAft>
                <a:spcPts val="0"/>
              </a:spcAft>
            </a:pPr>
            <a:r>
              <a:rPr sz="850" b="0" i="0" spc="60">
                <a:solidFill>
                  <a:srgbClr val="1F5BD8"/>
                </a:solidFill>
                <a:latin typeface="Segoe UI Semibold"/>
              </a:rPr>
              <a:t>AI</a:t>
            </a:r>
          </a:p>
        </p:txBody>
      </p:sp>
      <p:sp>
        <p:nvSpPr>
          <p:cNvPr id="21" name="Rectangle 20"/>
          <p:cNvSpPr/>
          <p:nvPr/>
        </p:nvSpPr>
        <p:spPr>
          <a:xfrm>
            <a:off x="10011495" y="420624"/>
            <a:ext cx="114554" cy="32004"/>
          </a:xfrm>
          <a:prstGeom prst="rect">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itle"/>
          <p:cNvSpPr txBox="1"/>
          <p:nvPr/>
        </p:nvSpPr>
        <p:spPr>
          <a:xfrm>
            <a:off x="548640" y="566928"/>
            <a:ext cx="11094415" cy="841248"/>
          </a:xfrm>
          <a:prstGeom prst="rect">
            <a:avLst/>
          </a:prstGeom>
          <a:noFill/>
        </p:spPr>
        <p:txBody>
          <a:bodyPr wrap="square" lIns="0" tIns="0" rIns="0" bIns="0" anchor="b">
            <a:spAutoFit/>
          </a:bodyPr>
          <a:lstStyle/>
          <a:p>
            <a:pPr algn="l">
              <a:lnSpc>
                <a:spcPct val="95000"/>
              </a:lnSpc>
              <a:spcAft>
                <a:spcPts val="0"/>
              </a:spcAft>
            </a:pPr>
            <a:r>
              <a:rPr sz="2800" b="0" i="0">
                <a:solidFill>
                  <a:srgbClr val="0B1F33"/>
                </a:solidFill>
                <a:latin typeface="Georgia"/>
              </a:rPr>
              <a:t>The value isn't the table. It's knowing where every row came from.</a:t>
            </a:r>
          </a:p>
        </p:txBody>
      </p:sp>
      <p:cxnSp>
        <p:nvCxnSpPr>
          <p:cNvPr id="23" name="Connector 22"/>
          <p:cNvCxnSpPr/>
          <p:nvPr/>
        </p:nvCxnSpPr>
        <p:spPr>
          <a:xfrm>
            <a:off x="548640" y="1517904"/>
            <a:ext cx="11094415" cy="0"/>
          </a:xfrm>
          <a:prstGeom prst="line">
            <a:avLst/>
          </a:prstGeom>
          <a:ln w="9525">
            <a:solidFill>
              <a:srgbClr val="DDE2E9"/>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48640" y="1874520"/>
            <a:ext cx="5029200" cy="3611880"/>
          </a:xfrm>
          <a:prstGeom prst="roundRect">
            <a:avLst>
              <a:gd name="adj" fmla="val 3037"/>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2960" y="2011680"/>
            <a:ext cx="4572000" cy="237744"/>
          </a:xfrm>
          <a:prstGeom prst="rect">
            <a:avLst/>
          </a:prstGeom>
          <a:noFill/>
        </p:spPr>
        <p:txBody>
          <a:bodyPr wrap="none" lIns="0" tIns="0" rIns="0" bIns="0" anchor="ctr">
            <a:spAutoFit/>
          </a:bodyPr>
          <a:lstStyle/>
          <a:p>
            <a:pPr algn="l">
              <a:lnSpc>
                <a:spcPct val="105000"/>
              </a:lnSpc>
              <a:spcAft>
                <a:spcPts val="0"/>
              </a:spcAft>
            </a:pPr>
            <a:r>
              <a:rPr sz="850" b="0" i="0" spc="80">
                <a:solidFill>
                  <a:srgbClr val="56657A"/>
                </a:solidFill>
                <a:latin typeface="Segoe UI Semibold"/>
              </a:rPr>
              <a:t>1 · NOTE HASIL CLAUDE · 08 AI OUTPUT</a:t>
            </a:r>
          </a:p>
        </p:txBody>
      </p:sp>
      <p:sp>
        <p:nvSpPr>
          <p:cNvPr id="26" name="TextBox 25"/>
          <p:cNvSpPr txBox="1"/>
          <p:nvPr/>
        </p:nvSpPr>
        <p:spPr>
          <a:xfrm>
            <a:off x="822960" y="2377440"/>
            <a:ext cx="4480560" cy="1920240"/>
          </a:xfrm>
          <a:prstGeom prst="rect">
            <a:avLst/>
          </a:prstGeom>
          <a:noFill/>
        </p:spPr>
        <p:txBody>
          <a:bodyPr wrap="square" lIns="0" tIns="0" rIns="0" bIns="0" anchor="t">
            <a:spAutoFit/>
          </a:bodyPr>
          <a:lstStyle/>
          <a:p>
            <a:pPr algn="l">
              <a:lnSpc>
                <a:spcPct val="110000"/>
              </a:lnSpc>
              <a:spcAft>
                <a:spcPts val="0"/>
              </a:spcAft>
            </a:pPr>
            <a:r>
              <a:rPr sz="1600" b="0" i="0">
                <a:solidFill>
                  <a:srgbClr val="0B1F33"/>
                </a:solidFill>
                <a:latin typeface="Segoe UI"/>
              </a:rPr>
              <a:t>A-3030 · C-003 Access · dibutuhkan 2030-04-08 · decision D-001, D-002</a:t>
            </a:r>
          </a:p>
        </p:txBody>
      </p:sp>
      <p:sp>
        <p:nvSpPr>
          <p:cNvPr id="27" name="Rounded Rectangle 26"/>
          <p:cNvSpPr/>
          <p:nvPr/>
        </p:nvSpPr>
        <p:spPr>
          <a:xfrm>
            <a:off x="822960" y="4434840"/>
            <a:ext cx="2770334" cy="329184"/>
          </a:xfrm>
          <a:prstGeom prst="roundRect">
            <a:avLst>
              <a:gd name="adj" fmla="val 50000"/>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E8A5-1F5BD8.png"/>
          <p:cNvPicPr>
            <a:picLocks noChangeAspect="1"/>
          </p:cNvPicPr>
          <p:nvPr/>
        </p:nvPicPr>
        <p:blipFill>
          <a:blip r:embed="rId3"/>
          <a:stretch>
            <a:fillRect/>
          </a:stretch>
        </p:blipFill>
        <p:spPr>
          <a:xfrm>
            <a:off x="961034" y="4508906"/>
            <a:ext cx="181051" cy="181051"/>
          </a:xfrm>
          <a:prstGeom prst="rect">
            <a:avLst/>
          </a:prstGeom>
        </p:spPr>
      </p:pic>
      <p:sp>
        <p:nvSpPr>
          <p:cNvPr id="29" name="TextBox 28"/>
          <p:cNvSpPr txBox="1"/>
          <p:nvPr/>
        </p:nvSpPr>
        <p:spPr>
          <a:xfrm>
            <a:off x="1207008" y="4434840"/>
            <a:ext cx="2770334" cy="329184"/>
          </a:xfrm>
          <a:prstGeom prst="rect">
            <a:avLst/>
          </a:prstGeom>
          <a:noFill/>
        </p:spPr>
        <p:txBody>
          <a:bodyPr wrap="none" lIns="0" tIns="0" rIns="0" bIns="0" anchor="ctr">
            <a:spAutoFit/>
          </a:bodyPr>
          <a:lstStyle/>
          <a:p>
            <a:pPr algn="l">
              <a:lnSpc>
                <a:spcPct val="105000"/>
              </a:lnSpc>
              <a:spcAft>
                <a:spcPts val="0"/>
              </a:spcAft>
            </a:pPr>
            <a:r>
              <a:rPr sz="1100" b="0" i="0">
                <a:solidFill>
                  <a:srgbClr val="1F5BD8"/>
                </a:solidFill>
                <a:latin typeface="Segoe UI Semibold"/>
              </a:rPr>
              <a:t>Constraint Register</a:t>
            </a:r>
          </a:p>
        </p:txBody>
      </p:sp>
      <p:sp>
        <p:nvSpPr>
          <p:cNvPr id="30" name="Rounded Rectangle 29"/>
          <p:cNvSpPr/>
          <p:nvPr/>
        </p:nvSpPr>
        <p:spPr>
          <a:xfrm>
            <a:off x="822960" y="4846320"/>
            <a:ext cx="1317518" cy="274320"/>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69264" y="4846320"/>
            <a:ext cx="1317518" cy="274320"/>
          </a:xfrm>
          <a:prstGeom prst="rect">
            <a:avLst/>
          </a:prstGeom>
          <a:noFill/>
        </p:spPr>
        <p:txBody>
          <a:bodyPr wrap="none" lIns="0" tIns="0" rIns="0" bIns="0" anchor="ctr">
            <a:spAutoFit/>
          </a:bodyPr>
          <a:lstStyle/>
          <a:p>
            <a:pPr algn="l">
              <a:lnSpc>
                <a:spcPct val="105000"/>
              </a:lnSpc>
              <a:spcAft>
                <a:spcPts val="0"/>
              </a:spcAft>
            </a:pPr>
            <a:r>
              <a:rPr sz="950" b="0" i="0">
                <a:solidFill>
                  <a:srgbClr val="56657A"/>
                </a:solidFill>
                <a:latin typeface="Segoe UI Semibold"/>
              </a:rPr>
              <a:t>Decision Log</a:t>
            </a:r>
          </a:p>
        </p:txBody>
      </p:sp>
      <p:sp>
        <p:nvSpPr>
          <p:cNvPr id="32" name="Rounded Rectangle 31"/>
          <p:cNvSpPr/>
          <p:nvPr/>
        </p:nvSpPr>
        <p:spPr>
          <a:xfrm>
            <a:off x="6537960" y="1874520"/>
            <a:ext cx="5105095" cy="3611880"/>
          </a:xfrm>
          <a:prstGeom prst="roundRect">
            <a:avLst>
              <a:gd name="adj" fmla="val 3037"/>
            </a:avLst>
          </a:prstGeom>
          <a:solidFill>
            <a:srgbClr val="FFFFFF"/>
          </a:solidFill>
          <a:ln w="9525">
            <a:solidFill>
              <a:srgbClr val="DDE2E9"/>
            </a:solidFill>
          </a:ln>
          <a:effectLst>
            <a:outerShdw blurRad="146304" dist="27432" dir="5400000" algn="t" rotWithShape="0">
              <a:srgbClr val="0B1F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812280" y="2011680"/>
            <a:ext cx="4572000" cy="237744"/>
          </a:xfrm>
          <a:prstGeom prst="rect">
            <a:avLst/>
          </a:prstGeom>
          <a:noFill/>
        </p:spPr>
        <p:txBody>
          <a:bodyPr wrap="none" lIns="0" tIns="0" rIns="0" bIns="0" anchor="ctr">
            <a:spAutoFit/>
          </a:bodyPr>
          <a:lstStyle/>
          <a:p>
            <a:pPr algn="l">
              <a:lnSpc>
                <a:spcPct val="105000"/>
              </a:lnSpc>
              <a:spcAft>
                <a:spcPts val="0"/>
              </a:spcAft>
            </a:pPr>
            <a:r>
              <a:rPr sz="850" b="0" i="0" spc="80">
                <a:solidFill>
                  <a:srgbClr val="56657A"/>
                </a:solidFill>
                <a:latin typeface="Segoe UI Semibold"/>
              </a:rPr>
              <a:t>2 · NOTE YANG DIKUTIP · 04 PROJECT ALPHA</a:t>
            </a:r>
          </a:p>
        </p:txBody>
      </p:sp>
      <p:sp>
        <p:nvSpPr>
          <p:cNvPr id="34" name="TextBox 33"/>
          <p:cNvSpPr txBox="1"/>
          <p:nvPr/>
        </p:nvSpPr>
        <p:spPr>
          <a:xfrm>
            <a:off x="6812280" y="2286000"/>
            <a:ext cx="4556455" cy="457200"/>
          </a:xfrm>
          <a:prstGeom prst="rect">
            <a:avLst/>
          </a:prstGeom>
          <a:noFill/>
        </p:spPr>
        <p:txBody>
          <a:bodyPr wrap="square" lIns="0" tIns="0" rIns="0" bIns="0" anchor="ctr">
            <a:spAutoFit/>
          </a:bodyPr>
          <a:lstStyle/>
          <a:p>
            <a:pPr algn="l">
              <a:lnSpc>
                <a:spcPct val="105000"/>
              </a:lnSpc>
              <a:spcAft>
                <a:spcPts val="0"/>
              </a:spcAft>
            </a:pPr>
            <a:r>
              <a:rPr sz="1900" b="0" i="0">
                <a:solidFill>
                  <a:srgbClr val="0B1F33"/>
                </a:solidFill>
                <a:latin typeface="Segoe UI Semibold"/>
              </a:rPr>
              <a:t>Constraint Register</a:t>
            </a:r>
          </a:p>
        </p:txBody>
      </p:sp>
      <p:sp>
        <p:nvSpPr>
          <p:cNvPr id="35" name="TextBox 34"/>
          <p:cNvSpPr txBox="1"/>
          <p:nvPr/>
        </p:nvSpPr>
        <p:spPr>
          <a:xfrm>
            <a:off x="6812280" y="2761488"/>
            <a:ext cx="2743200" cy="237744"/>
          </a:xfrm>
          <a:prstGeom prst="rect">
            <a:avLst/>
          </a:prstGeom>
          <a:noFill/>
        </p:spPr>
        <p:txBody>
          <a:bodyPr wrap="none" lIns="0" tIns="0" rIns="0" bIns="0" anchor="ctr">
            <a:spAutoFit/>
          </a:bodyPr>
          <a:lstStyle/>
          <a:p>
            <a:pPr algn="l">
              <a:lnSpc>
                <a:spcPct val="105000"/>
              </a:lnSpc>
              <a:spcAft>
                <a:spcPts val="0"/>
              </a:spcAft>
            </a:pPr>
            <a:r>
              <a:rPr sz="850" b="0" i="0" spc="80">
                <a:solidFill>
                  <a:srgbClr val="1F5BD8"/>
                </a:solidFill>
                <a:latin typeface="Segoe UI Semibold"/>
              </a:rPr>
              <a:t>REGISTER · C-003</a:t>
            </a:r>
          </a:p>
        </p:txBody>
      </p:sp>
      <p:sp>
        <p:nvSpPr>
          <p:cNvPr id="36" name="Rectangle 35"/>
          <p:cNvSpPr/>
          <p:nvPr/>
        </p:nvSpPr>
        <p:spPr>
          <a:xfrm>
            <a:off x="6720840" y="3063240"/>
            <a:ext cx="4739335" cy="868680"/>
          </a:xfrm>
          <a:prstGeom prst="rect">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720840" y="3063240"/>
            <a:ext cx="45720" cy="868680"/>
          </a:xfrm>
          <a:prstGeom prst="rect">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903720" y="3063240"/>
            <a:ext cx="4419295" cy="868680"/>
          </a:xfrm>
          <a:prstGeom prst="rect">
            <a:avLst/>
          </a:prstGeom>
          <a:noFill/>
        </p:spPr>
        <p:txBody>
          <a:bodyPr wrap="square" lIns="0" tIns="0" rIns="0" bIns="0" anchor="ctr">
            <a:spAutoFit/>
          </a:bodyPr>
          <a:lstStyle/>
          <a:p>
            <a:pPr algn="l">
              <a:lnSpc>
                <a:spcPct val="105000"/>
              </a:lnSpc>
              <a:spcAft>
                <a:spcPts val="0"/>
              </a:spcAft>
            </a:pPr>
            <a:r>
              <a:rPr sz="1250" b="0" i="0">
                <a:solidFill>
                  <a:srgbClr val="0B1F33"/>
                </a:solidFill>
                <a:latin typeface="Segoe UI"/>
              </a:rPr>
              <a:t>C-003 · A-3030 · Access · Open · Impact High · dibutuhkan 2030-04-08 · total float 0 (critical)</a:t>
            </a:r>
          </a:p>
        </p:txBody>
      </p:sp>
      <p:sp>
        <p:nvSpPr>
          <p:cNvPr id="39" name="TextBox 38"/>
          <p:cNvSpPr txBox="1"/>
          <p:nvPr/>
        </p:nvSpPr>
        <p:spPr>
          <a:xfrm>
            <a:off x="6903720" y="4023360"/>
            <a:ext cx="4419295" cy="640080"/>
          </a:xfrm>
          <a:prstGeom prst="rect">
            <a:avLst/>
          </a:prstGeom>
          <a:noFill/>
        </p:spPr>
        <p:txBody>
          <a:bodyPr wrap="square" lIns="0" tIns="0" rIns="0" bIns="0" anchor="t">
            <a:spAutoFit/>
          </a:bodyPr>
          <a:lstStyle/>
          <a:p>
            <a:pPr algn="l">
              <a:lnSpc>
                <a:spcPct val="105000"/>
              </a:lnSpc>
              <a:spcAft>
                <a:spcPts val="0"/>
              </a:spcAft>
            </a:pPr>
            <a:r>
              <a:rPr sz="1150" b="0" i="0">
                <a:solidFill>
                  <a:srgbClr val="56657A"/>
                </a:solidFill>
                <a:latin typeface="Segoe UI"/>
              </a:rPr>
              <a:t>Rigging route ke Area A terhalang scaffold facade; lifting permit LP-07 masih pending.</a:t>
            </a:r>
          </a:p>
        </p:txBody>
      </p:sp>
      <p:sp>
        <p:nvSpPr>
          <p:cNvPr id="40" name="TextBox 39"/>
          <p:cNvSpPr txBox="1"/>
          <p:nvPr/>
        </p:nvSpPr>
        <p:spPr>
          <a:xfrm>
            <a:off x="6903720" y="4681728"/>
            <a:ext cx="4419295" cy="640080"/>
          </a:xfrm>
          <a:prstGeom prst="rect">
            <a:avLst/>
          </a:prstGeom>
          <a:noFill/>
        </p:spPr>
        <p:txBody>
          <a:bodyPr wrap="square" lIns="0" tIns="0" rIns="0" bIns="0" anchor="t">
            <a:spAutoFit/>
          </a:bodyPr>
          <a:lstStyle/>
          <a:p>
            <a:pPr algn="l">
              <a:lnSpc>
                <a:spcPct val="105000"/>
              </a:lnSpc>
              <a:spcAft>
                <a:spcPts val="0"/>
              </a:spcAft>
            </a:pPr>
            <a:r>
              <a:rPr sz="1150" b="0" i="0">
                <a:solidFill>
                  <a:srgbClr val="56657A"/>
                </a:solidFill>
                <a:latin typeface="Segoe UI"/>
              </a:rPr>
              <a:t>Owner: Main Contractor Site Manager. Tindakan: pindahkan bay scaffold dan ajukan LP-07 fast-track (D-001, D-002).</a:t>
            </a:r>
          </a:p>
        </p:txBody>
      </p:sp>
      <p:sp>
        <p:nvSpPr>
          <p:cNvPr id="41" name="Freeform 40"/>
          <p:cNvSpPr/>
          <p:nvPr/>
        </p:nvSpPr>
        <p:spPr>
          <a:xfrm>
            <a:off x="3593294" y="3493008"/>
            <a:ext cx="3109258" cy="1106424"/>
          </a:xfrm>
          <a:custGeom>
            <a:avLst/>
            <a:gdLst/>
            <a:ahLst/>
            <a:cxnLst/>
            <a:rect l="l" t="t" r="r" b="b"/>
            <a:pathLst>
              <a:path w="3109258" h="1106424">
                <a:moveTo>
                  <a:pt x="0" y="1106424"/>
                </a:moveTo>
                <a:lnTo>
                  <a:pt x="2460034" y="1106424"/>
                </a:lnTo>
                <a:lnTo>
                  <a:pt x="2460034" y="0"/>
                </a:lnTo>
                <a:lnTo>
                  <a:pt x="3109258" y="0"/>
                </a:lnTo>
              </a:path>
            </a:pathLst>
          </a:custGeom>
          <a:noFill/>
          <a:ln w="22225">
            <a:solidFill>
              <a:srgbClr val="1F5BD8"/>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a:hlinkClick r:id="rId4"/>
          </p:cNvPr>
          <p:cNvSpPr/>
          <p:nvPr/>
        </p:nvSpPr>
        <p:spPr>
          <a:xfrm>
            <a:off x="6537960" y="5669280"/>
            <a:ext cx="2834640" cy="420624"/>
          </a:xfrm>
          <a:prstGeom prst="roundRect">
            <a:avLst>
              <a:gd name="adj" fmla="val 50000"/>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0" rIns="0" bIns="0" rtlCol="0" anchor="ctr"/>
          <a:lstStyle/>
          <a:p>
            <a:pPr algn="l">
              <a:lnSpc>
                <a:spcPct val="105000"/>
              </a:lnSpc>
              <a:spcAft>
                <a:spcPts val="0"/>
              </a:spcAft>
            </a:pPr>
            <a:r>
              <a:rPr sz="1200" b="0" i="0">
                <a:solidFill>
                  <a:srgbClr val="FFFFFF"/>
                </a:solidFill>
                <a:latin typeface="Segoe UI Semibold"/>
              </a:rPr>
              <a:t>Buka note yang dikutip</a:t>
            </a:r>
          </a:p>
        </p:txBody>
      </p:sp>
      <p:pic>
        <p:nvPicPr>
          <p:cNvPr id="43" name="Picture 42" descr="E8A7-FFFFFF.png">
            <a:hlinkClick r:id="rId4"/>
          </p:cNvPr>
          <p:cNvPicPr>
            <a:picLocks noChangeAspect="1"/>
          </p:cNvPicPr>
          <p:nvPr/>
        </p:nvPicPr>
        <p:blipFill>
          <a:blip r:embed="rId5"/>
          <a:stretch>
            <a:fillRect/>
          </a:stretch>
        </p:blipFill>
        <p:spPr>
          <a:xfrm>
            <a:off x="9046525" y="5791261"/>
            <a:ext cx="176662" cy="176662"/>
          </a:xfrm>
          <a:prstGeom prst="rect">
            <a:avLst/>
          </a:prstGeom>
        </p:spPr>
      </p:pic>
      <p:sp>
        <p:nvSpPr>
          <p:cNvPr id="44" name="TextBox 43"/>
          <p:cNvSpPr txBox="1"/>
          <p:nvPr/>
        </p:nvSpPr>
        <p:spPr>
          <a:xfrm>
            <a:off x="9555480" y="5669280"/>
            <a:ext cx="2087575" cy="420624"/>
          </a:xfrm>
          <a:prstGeom prst="rect">
            <a:avLst/>
          </a:prstGeom>
          <a:noFill/>
        </p:spPr>
        <p:txBody>
          <a:bodyPr wrap="square" lIns="0" tIns="0" rIns="0" bIns="0" anchor="ctr">
            <a:spAutoFit/>
          </a:bodyPr>
          <a:lstStyle/>
          <a:p>
            <a:pPr algn="l">
              <a:lnSpc>
                <a:spcPct val="105000"/>
              </a:lnSpc>
              <a:spcAft>
                <a:spcPts val="0"/>
              </a:spcAft>
            </a:pPr>
            <a:r>
              <a:rPr sz="1100" b="0" i="0">
                <a:solidFill>
                  <a:srgbClr val="56657A"/>
                </a:solidFill>
                <a:latin typeface="Segoe UI"/>
              </a:rPr>
              <a:t>Trust, but verify: the source is one click away.</a:t>
            </a:r>
          </a:p>
        </p:txBody>
      </p:sp>
      <p:sp>
        <p:nvSpPr>
          <p:cNvPr id="45" name="TextBox 44"/>
          <p:cNvSpPr txBox="1"/>
          <p:nvPr/>
        </p:nvSpPr>
        <p:spPr>
          <a:xfrm>
            <a:off x="548640" y="6419088"/>
            <a:ext cx="8686800" cy="237744"/>
          </a:xfrm>
          <a:prstGeom prst="rect">
            <a:avLst/>
          </a:prstGeom>
          <a:noFill/>
        </p:spPr>
        <p:txBody>
          <a:bodyPr wrap="none" lIns="0" tIns="0" rIns="0" bIns="0" anchor="t">
            <a:spAutoFit/>
          </a:bodyPr>
          <a:lstStyle/>
          <a:p>
            <a:pPr algn="l">
              <a:lnSpc>
                <a:spcPct val="105000"/>
              </a:lnSpc>
              <a:spcAft>
                <a:spcPts val="0"/>
              </a:spcAft>
            </a:pPr>
            <a:r>
              <a:rPr sz="850" b="0" i="0">
                <a:solidFill>
                  <a:srgbClr val="98A3B3"/>
                </a:solidFill>
                <a:latin typeface="Segoe UI"/>
              </a:rPr>
              <a:t>Sumber: REF-060, REF-049 (vault demo › 06 Referensi)</a:t>
            </a:r>
          </a:p>
        </p:txBody>
      </p:sp>
      <p:sp>
        <p:nvSpPr>
          <p:cNvPr id="46" name="TextBox 45"/>
          <p:cNvSpPr txBox="1"/>
          <p:nvPr/>
        </p:nvSpPr>
        <p:spPr>
          <a:xfrm>
            <a:off x="7071055" y="6419088"/>
            <a:ext cx="3657600" cy="237744"/>
          </a:xfrm>
          <a:prstGeom prst="rect">
            <a:avLst/>
          </a:prstGeom>
          <a:noFill/>
        </p:spPr>
        <p:txBody>
          <a:bodyPr wrap="none" lIns="0" tIns="0" rIns="0" bIns="0" anchor="ctr">
            <a:spAutoFit/>
          </a:bodyPr>
          <a:lstStyle/>
          <a:p>
            <a:pPr algn="r">
              <a:lnSpc>
                <a:spcPct val="105000"/>
              </a:lnSpc>
              <a:spcAft>
                <a:spcPts val="0"/>
              </a:spcAft>
            </a:pPr>
            <a:r>
              <a:rPr sz="800" b="0" i="0" spc="80">
                <a:solidFill>
                  <a:srgbClr val="56657A"/>
                </a:solidFill>
                <a:latin typeface="Segoe UI Semibold"/>
              </a:rPr>
              <a:t>ABDUL KAUSAR</a:t>
            </a:r>
          </a:p>
        </p:txBody>
      </p:sp>
      <p:sp>
        <p:nvSpPr>
          <p:cNvPr id="47" name="TextBox 46"/>
          <p:cNvSpPr txBox="1"/>
          <p:nvPr/>
        </p:nvSpPr>
        <p:spPr>
          <a:xfrm>
            <a:off x="10911535" y="6419088"/>
            <a:ext cx="731520" cy="237744"/>
          </a:xfrm>
          <a:prstGeom prst="rect">
            <a:avLst/>
          </a:prstGeom>
          <a:noFill/>
        </p:spPr>
        <p:txBody>
          <a:bodyPr wrap="square" lIns="0" tIns="0" rIns="0" bIns="0" anchor="t">
            <a:spAutoFit/>
          </a:bodyPr>
          <a:lstStyle/>
          <a:p>
            <a:pPr algn="r">
              <a:lnSpc>
                <a:spcPct val="105000"/>
              </a:lnSpc>
              <a:spcAft>
                <a:spcPts val="0"/>
              </a:spcAft>
            </a:pPr>
            <a:r>
              <a:rPr sz="900" b="0" i="0">
                <a:solidFill>
                  <a:srgbClr val="98A3B3"/>
                </a:solidFill>
                <a:latin typeface="Segoe UI"/>
              </a:rPr>
              <a:t>27</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2" name="Freeform 1"/>
          <p:cNvSpPr/>
          <p:nvPr/>
        </p:nvSpPr>
        <p:spPr>
          <a:xfrm>
            <a:off x="1649261" y="1508763"/>
            <a:ext cx="9414979" cy="2834634"/>
          </a:xfrm>
          <a:custGeom>
            <a:avLst/>
            <a:gdLst/>
            <a:ahLst/>
            <a:cxnLst/>
            <a:rect l="l" t="t" r="r" b="b"/>
            <a:pathLst>
              <a:path w="9414979" h="2834634">
                <a:moveTo>
                  <a:pt x="0" y="1135739"/>
                </a:moveTo>
                <a:lnTo>
                  <a:pt x="71659" y="1045603"/>
                </a:lnTo>
                <a:lnTo>
                  <a:pt x="162919" y="957056"/>
                </a:lnTo>
                <a:lnTo>
                  <a:pt x="273388" y="870474"/>
                </a:lnTo>
                <a:lnTo>
                  <a:pt x="402595" y="786228"/>
                </a:lnTo>
                <a:lnTo>
                  <a:pt x="549988" y="704678"/>
                </a:lnTo>
                <a:lnTo>
                  <a:pt x="714938" y="626172"/>
                </a:lnTo>
                <a:lnTo>
                  <a:pt x="896740" y="551045"/>
                </a:lnTo>
                <a:lnTo>
                  <a:pt x="1094617" y="479619"/>
                </a:lnTo>
                <a:lnTo>
                  <a:pt x="1307724" y="412198"/>
                </a:lnTo>
                <a:lnTo>
                  <a:pt x="1535151" y="349070"/>
                </a:lnTo>
                <a:lnTo>
                  <a:pt x="1775927" y="290506"/>
                </a:lnTo>
                <a:lnTo>
                  <a:pt x="2029022" y="236755"/>
                </a:lnTo>
                <a:lnTo>
                  <a:pt x="2293356" y="188046"/>
                </a:lnTo>
                <a:lnTo>
                  <a:pt x="2567800" y="144589"/>
                </a:lnTo>
                <a:lnTo>
                  <a:pt x="2851181" y="106568"/>
                </a:lnTo>
                <a:lnTo>
                  <a:pt x="3142289" y="74146"/>
                </a:lnTo>
                <a:lnTo>
                  <a:pt x="3439881" y="47461"/>
                </a:lnTo>
                <a:lnTo>
                  <a:pt x="3742685" y="26628"/>
                </a:lnTo>
                <a:lnTo>
                  <a:pt x="4049407" y="11735"/>
                </a:lnTo>
                <a:lnTo>
                  <a:pt x="4358738" y="2847"/>
                </a:lnTo>
                <a:lnTo>
                  <a:pt x="4669356" y="0"/>
                </a:lnTo>
                <a:lnTo>
                  <a:pt x="4979935" y="3207"/>
                </a:lnTo>
                <a:lnTo>
                  <a:pt x="5289148" y="12455"/>
                </a:lnTo>
                <a:lnTo>
                  <a:pt x="5595673" y="27703"/>
                </a:lnTo>
                <a:lnTo>
                  <a:pt x="5898202" y="48888"/>
                </a:lnTo>
                <a:lnTo>
                  <a:pt x="6195443" y="75918"/>
                </a:lnTo>
                <a:lnTo>
                  <a:pt x="6486125" y="108677"/>
                </a:lnTo>
                <a:lnTo>
                  <a:pt x="6769008" y="147027"/>
                </a:lnTo>
                <a:lnTo>
                  <a:pt x="7042882" y="190803"/>
                </a:lnTo>
                <a:lnTo>
                  <a:pt x="7306578" y="239818"/>
                </a:lnTo>
                <a:lnTo>
                  <a:pt x="7558969" y="293862"/>
                </a:lnTo>
                <a:lnTo>
                  <a:pt x="7798978" y="352706"/>
                </a:lnTo>
                <a:lnTo>
                  <a:pt x="8025578" y="416096"/>
                </a:lnTo>
                <a:lnTo>
                  <a:pt x="8237803" y="483764"/>
                </a:lnTo>
                <a:lnTo>
                  <a:pt x="8434746" y="555420"/>
                </a:lnTo>
                <a:lnTo>
                  <a:pt x="8615565" y="630757"/>
                </a:lnTo>
                <a:lnTo>
                  <a:pt x="8779488" y="709454"/>
                </a:lnTo>
                <a:lnTo>
                  <a:pt x="8925815" y="791174"/>
                </a:lnTo>
                <a:lnTo>
                  <a:pt x="9053920" y="875570"/>
                </a:lnTo>
                <a:lnTo>
                  <a:pt x="9163258" y="962279"/>
                </a:lnTo>
                <a:lnTo>
                  <a:pt x="9253359" y="1050932"/>
                </a:lnTo>
                <a:lnTo>
                  <a:pt x="9323841" y="1141150"/>
                </a:lnTo>
                <a:lnTo>
                  <a:pt x="9374401" y="1232548"/>
                </a:lnTo>
                <a:lnTo>
                  <a:pt x="9404824" y="1324735"/>
                </a:lnTo>
                <a:lnTo>
                  <a:pt x="9414979" y="1417317"/>
                </a:lnTo>
                <a:lnTo>
                  <a:pt x="9404824" y="1509899"/>
                </a:lnTo>
                <a:lnTo>
                  <a:pt x="9374401" y="1602086"/>
                </a:lnTo>
                <a:lnTo>
                  <a:pt x="9323841" y="1693484"/>
                </a:lnTo>
                <a:lnTo>
                  <a:pt x="9253359" y="1783702"/>
                </a:lnTo>
                <a:lnTo>
                  <a:pt x="9163258" y="1872355"/>
                </a:lnTo>
                <a:lnTo>
                  <a:pt x="9053920" y="1959064"/>
                </a:lnTo>
                <a:lnTo>
                  <a:pt x="8925815" y="2043460"/>
                </a:lnTo>
                <a:lnTo>
                  <a:pt x="8779488" y="2125180"/>
                </a:lnTo>
                <a:lnTo>
                  <a:pt x="8615565" y="2203877"/>
                </a:lnTo>
                <a:lnTo>
                  <a:pt x="8434746" y="2279214"/>
                </a:lnTo>
                <a:lnTo>
                  <a:pt x="8237803" y="2350870"/>
                </a:lnTo>
                <a:lnTo>
                  <a:pt x="8025578" y="2418538"/>
                </a:lnTo>
                <a:lnTo>
                  <a:pt x="7798978" y="2481928"/>
                </a:lnTo>
                <a:lnTo>
                  <a:pt x="7558969" y="2540772"/>
                </a:lnTo>
                <a:lnTo>
                  <a:pt x="7306578" y="2594816"/>
                </a:lnTo>
                <a:lnTo>
                  <a:pt x="7042882" y="2643831"/>
                </a:lnTo>
                <a:lnTo>
                  <a:pt x="6769008" y="2687607"/>
                </a:lnTo>
                <a:lnTo>
                  <a:pt x="6486125" y="2725957"/>
                </a:lnTo>
                <a:lnTo>
                  <a:pt x="6195443" y="2758716"/>
                </a:lnTo>
                <a:lnTo>
                  <a:pt x="5898202" y="2785746"/>
                </a:lnTo>
                <a:lnTo>
                  <a:pt x="5595673" y="2806931"/>
                </a:lnTo>
                <a:lnTo>
                  <a:pt x="5289148" y="2822179"/>
                </a:lnTo>
                <a:lnTo>
                  <a:pt x="4979935" y="2831427"/>
                </a:lnTo>
                <a:lnTo>
                  <a:pt x="4669356" y="2834634"/>
                </a:lnTo>
                <a:lnTo>
                  <a:pt x="4358738" y="2831787"/>
                </a:lnTo>
                <a:lnTo>
                  <a:pt x="4049407" y="2822899"/>
                </a:lnTo>
                <a:lnTo>
                  <a:pt x="3742685" y="2808006"/>
                </a:lnTo>
                <a:lnTo>
                  <a:pt x="3439881" y="2787173"/>
                </a:lnTo>
                <a:lnTo>
                  <a:pt x="3142289" y="2760488"/>
                </a:lnTo>
                <a:lnTo>
                  <a:pt x="2851181" y="2728066"/>
                </a:lnTo>
                <a:lnTo>
                  <a:pt x="2567800" y="2690045"/>
                </a:lnTo>
                <a:lnTo>
                  <a:pt x="2293356" y="2646588"/>
                </a:lnTo>
                <a:lnTo>
                  <a:pt x="2029022" y="2597879"/>
                </a:lnTo>
                <a:lnTo>
                  <a:pt x="1775927" y="2544128"/>
                </a:lnTo>
                <a:lnTo>
                  <a:pt x="1535151" y="2485564"/>
                </a:lnTo>
                <a:lnTo>
                  <a:pt x="1307724" y="2422436"/>
                </a:lnTo>
                <a:lnTo>
                  <a:pt x="1094617" y="2355015"/>
                </a:lnTo>
                <a:lnTo>
                  <a:pt x="896740" y="2283589"/>
                </a:lnTo>
                <a:lnTo>
                  <a:pt x="714938" y="2208462"/>
                </a:lnTo>
                <a:lnTo>
                  <a:pt x="549988" y="2129956"/>
                </a:lnTo>
                <a:lnTo>
                  <a:pt x="402595" y="2048406"/>
                </a:lnTo>
                <a:lnTo>
                  <a:pt x="273388" y="1964160"/>
                </a:lnTo>
                <a:lnTo>
                  <a:pt x="162919" y="1877578"/>
                </a:lnTo>
                <a:lnTo>
                  <a:pt x="71659" y="1789031"/>
                </a:lnTo>
                <a:lnTo>
                  <a:pt x="0" y="1698895"/>
                </a:lnTo>
              </a:path>
            </a:pathLst>
          </a:custGeom>
          <a:noFill/>
          <a:ln w="22225">
            <a:solidFill>
              <a:srgbClr val="56657A"/>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972244" y="1901801"/>
            <a:ext cx="566928" cy="56692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E805-0B1F33.png"/>
          <p:cNvPicPr>
            <a:picLocks noChangeAspect="1"/>
          </p:cNvPicPr>
          <p:nvPr/>
        </p:nvPicPr>
        <p:blipFill>
          <a:blip r:embed="rId3"/>
          <a:stretch>
            <a:fillRect/>
          </a:stretch>
        </p:blipFill>
        <p:spPr>
          <a:xfrm>
            <a:off x="2113976" y="2043533"/>
            <a:ext cx="283464" cy="283464"/>
          </a:xfrm>
          <a:prstGeom prst="rect">
            <a:avLst/>
          </a:prstGeom>
        </p:spPr>
      </p:pic>
      <p:sp>
        <p:nvSpPr>
          <p:cNvPr id="5" name="TextBox 4"/>
          <p:cNvSpPr txBox="1"/>
          <p:nvPr/>
        </p:nvSpPr>
        <p:spPr>
          <a:xfrm>
            <a:off x="1432748" y="1526897"/>
            <a:ext cx="1645920" cy="310896"/>
          </a:xfrm>
          <a:prstGeom prst="rect">
            <a:avLst/>
          </a:prstGeom>
          <a:noFill/>
        </p:spPr>
        <p:txBody>
          <a:bodyPr wrap="square" lIns="0" tIns="0" rIns="0" bIns="0" anchor="b">
            <a:spAutoFit/>
          </a:bodyPr>
          <a:lstStyle/>
          <a:p>
            <a:pPr algn="ctr">
              <a:lnSpc>
                <a:spcPct val="105000"/>
              </a:lnSpc>
              <a:spcAft>
                <a:spcPts val="0"/>
              </a:spcAft>
            </a:pPr>
            <a:r>
              <a:rPr sz="1300" b="0" i="0">
                <a:solidFill>
                  <a:srgbClr val="FFFFFF"/>
                </a:solidFill>
                <a:latin typeface="Segoe UI Semibold"/>
              </a:rPr>
              <a:t>Site (ground)</a:t>
            </a:r>
          </a:p>
        </p:txBody>
      </p:sp>
      <p:sp>
        <p:nvSpPr>
          <p:cNvPr id="6" name="Oval 5"/>
          <p:cNvSpPr/>
          <p:nvPr/>
        </p:nvSpPr>
        <p:spPr>
          <a:xfrm>
            <a:off x="3292332" y="1482928"/>
            <a:ext cx="566928" cy="56692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787-0B1F33.png"/>
          <p:cNvPicPr>
            <a:picLocks noChangeAspect="1"/>
          </p:cNvPicPr>
          <p:nvPr/>
        </p:nvPicPr>
        <p:blipFill>
          <a:blip r:embed="rId4"/>
          <a:stretch>
            <a:fillRect/>
          </a:stretch>
        </p:blipFill>
        <p:spPr>
          <a:xfrm>
            <a:off x="3434064" y="1624660"/>
            <a:ext cx="283464" cy="283464"/>
          </a:xfrm>
          <a:prstGeom prst="rect">
            <a:avLst/>
          </a:prstGeom>
        </p:spPr>
      </p:pic>
      <p:sp>
        <p:nvSpPr>
          <p:cNvPr id="8" name="TextBox 7"/>
          <p:cNvSpPr txBox="1"/>
          <p:nvPr/>
        </p:nvSpPr>
        <p:spPr>
          <a:xfrm>
            <a:off x="2752836" y="1108024"/>
            <a:ext cx="1645920" cy="310896"/>
          </a:xfrm>
          <a:prstGeom prst="rect">
            <a:avLst/>
          </a:prstGeom>
          <a:noFill/>
        </p:spPr>
        <p:txBody>
          <a:bodyPr wrap="square" lIns="0" tIns="0" rIns="0" bIns="0" anchor="b">
            <a:spAutoFit/>
          </a:bodyPr>
          <a:lstStyle/>
          <a:p>
            <a:pPr algn="ctr">
              <a:lnSpc>
                <a:spcPct val="105000"/>
              </a:lnSpc>
              <a:spcAft>
                <a:spcPts val="0"/>
              </a:spcAft>
            </a:pPr>
            <a:r>
              <a:rPr sz="1300" b="0" i="0">
                <a:solidFill>
                  <a:srgbClr val="FFFFFF"/>
                </a:solidFill>
                <a:latin typeface="Segoe UI Semibold"/>
              </a:rPr>
              <a:t>Schedule</a:t>
            </a:r>
          </a:p>
        </p:txBody>
      </p:sp>
      <p:sp>
        <p:nvSpPr>
          <p:cNvPr id="9" name="Oval 8"/>
          <p:cNvSpPr/>
          <p:nvPr/>
        </p:nvSpPr>
        <p:spPr>
          <a:xfrm>
            <a:off x="5061873" y="1254731"/>
            <a:ext cx="566928" cy="56692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E8A5-0B1F33.png"/>
          <p:cNvPicPr>
            <a:picLocks noChangeAspect="1"/>
          </p:cNvPicPr>
          <p:nvPr/>
        </p:nvPicPr>
        <p:blipFill>
          <a:blip r:embed="rId5"/>
          <a:stretch>
            <a:fillRect/>
          </a:stretch>
        </p:blipFill>
        <p:spPr>
          <a:xfrm>
            <a:off x="5203605" y="1396463"/>
            <a:ext cx="283464" cy="283464"/>
          </a:xfrm>
          <a:prstGeom prst="rect">
            <a:avLst/>
          </a:prstGeom>
        </p:spPr>
      </p:pic>
      <p:sp>
        <p:nvSpPr>
          <p:cNvPr id="11" name="TextBox 10"/>
          <p:cNvSpPr txBox="1"/>
          <p:nvPr/>
        </p:nvSpPr>
        <p:spPr>
          <a:xfrm>
            <a:off x="4522377" y="879827"/>
            <a:ext cx="1645920" cy="310896"/>
          </a:xfrm>
          <a:prstGeom prst="rect">
            <a:avLst/>
          </a:prstGeom>
          <a:noFill/>
        </p:spPr>
        <p:txBody>
          <a:bodyPr wrap="square" lIns="0" tIns="0" rIns="0" bIns="0" anchor="b">
            <a:spAutoFit/>
          </a:bodyPr>
          <a:lstStyle/>
          <a:p>
            <a:pPr algn="ctr">
              <a:lnSpc>
                <a:spcPct val="105000"/>
              </a:lnSpc>
              <a:spcAft>
                <a:spcPts val="0"/>
              </a:spcAft>
            </a:pPr>
            <a:r>
              <a:rPr sz="1300" b="0" i="0">
                <a:solidFill>
                  <a:srgbClr val="FFFFFF"/>
                </a:solidFill>
                <a:latin typeface="Segoe UI Semibold"/>
              </a:rPr>
              <a:t>Informasi</a:t>
            </a:r>
          </a:p>
        </p:txBody>
      </p:sp>
      <p:sp>
        <p:nvSpPr>
          <p:cNvPr id="12" name="Oval 11"/>
          <p:cNvSpPr/>
          <p:nvPr/>
        </p:nvSpPr>
        <p:spPr>
          <a:xfrm>
            <a:off x="6989919" y="1254731"/>
            <a:ext cx="566928" cy="56692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E8F1-0B1F33.png"/>
          <p:cNvPicPr>
            <a:picLocks noChangeAspect="1"/>
          </p:cNvPicPr>
          <p:nvPr/>
        </p:nvPicPr>
        <p:blipFill>
          <a:blip r:embed="rId6"/>
          <a:stretch>
            <a:fillRect/>
          </a:stretch>
        </p:blipFill>
        <p:spPr>
          <a:xfrm>
            <a:off x="7131651" y="1396463"/>
            <a:ext cx="283464" cy="283464"/>
          </a:xfrm>
          <a:prstGeom prst="rect">
            <a:avLst/>
          </a:prstGeom>
        </p:spPr>
      </p:pic>
      <p:sp>
        <p:nvSpPr>
          <p:cNvPr id="14" name="TextBox 13"/>
          <p:cNvSpPr txBox="1"/>
          <p:nvPr/>
        </p:nvSpPr>
        <p:spPr>
          <a:xfrm>
            <a:off x="6450423" y="879827"/>
            <a:ext cx="1645920" cy="310896"/>
          </a:xfrm>
          <a:prstGeom prst="rect">
            <a:avLst/>
          </a:prstGeom>
          <a:noFill/>
        </p:spPr>
        <p:txBody>
          <a:bodyPr wrap="square" lIns="0" tIns="0" rIns="0" bIns="0" anchor="b">
            <a:spAutoFit/>
          </a:bodyPr>
          <a:lstStyle/>
          <a:p>
            <a:pPr algn="ctr">
              <a:lnSpc>
                <a:spcPct val="105000"/>
              </a:lnSpc>
              <a:spcAft>
                <a:spcPts val="0"/>
              </a:spcAft>
            </a:pPr>
            <a:r>
              <a:rPr sz="1300" b="0" i="0">
                <a:solidFill>
                  <a:srgbClr val="FFFFFF"/>
                </a:solidFill>
                <a:latin typeface="Segoe UI Semibold"/>
              </a:rPr>
              <a:t>Knowledge</a:t>
            </a:r>
          </a:p>
        </p:txBody>
      </p:sp>
      <p:sp>
        <p:nvSpPr>
          <p:cNvPr id="15" name="Oval 14"/>
          <p:cNvSpPr/>
          <p:nvPr/>
        </p:nvSpPr>
        <p:spPr>
          <a:xfrm>
            <a:off x="8759460" y="1482928"/>
            <a:ext cx="566928" cy="56692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EBD2-0B1F33.png"/>
          <p:cNvPicPr>
            <a:picLocks noChangeAspect="1"/>
          </p:cNvPicPr>
          <p:nvPr/>
        </p:nvPicPr>
        <p:blipFill>
          <a:blip r:embed="rId7"/>
          <a:stretch>
            <a:fillRect/>
          </a:stretch>
        </p:blipFill>
        <p:spPr>
          <a:xfrm>
            <a:off x="8901192" y="1624660"/>
            <a:ext cx="283464" cy="283464"/>
          </a:xfrm>
          <a:prstGeom prst="rect">
            <a:avLst/>
          </a:prstGeom>
        </p:spPr>
      </p:pic>
      <p:sp>
        <p:nvSpPr>
          <p:cNvPr id="17" name="TextBox 16"/>
          <p:cNvSpPr txBox="1"/>
          <p:nvPr/>
        </p:nvSpPr>
        <p:spPr>
          <a:xfrm>
            <a:off x="8219964" y="1108024"/>
            <a:ext cx="1645920" cy="310896"/>
          </a:xfrm>
          <a:prstGeom prst="rect">
            <a:avLst/>
          </a:prstGeom>
          <a:noFill/>
        </p:spPr>
        <p:txBody>
          <a:bodyPr wrap="square" lIns="0" tIns="0" rIns="0" bIns="0" anchor="b">
            <a:spAutoFit/>
          </a:bodyPr>
          <a:lstStyle/>
          <a:p>
            <a:pPr algn="ctr">
              <a:lnSpc>
                <a:spcPct val="105000"/>
              </a:lnSpc>
              <a:spcAft>
                <a:spcPts val="0"/>
              </a:spcAft>
            </a:pPr>
            <a:r>
              <a:rPr sz="1300" b="0" i="0">
                <a:solidFill>
                  <a:srgbClr val="FFFFFF"/>
                </a:solidFill>
                <a:latin typeface="Segoe UI Semibold"/>
              </a:rPr>
              <a:t>Obsidian</a:t>
            </a:r>
          </a:p>
        </p:txBody>
      </p:sp>
      <p:sp>
        <p:nvSpPr>
          <p:cNvPr id="18" name="Oval 17"/>
          <p:cNvSpPr/>
          <p:nvPr/>
        </p:nvSpPr>
        <p:spPr>
          <a:xfrm>
            <a:off x="10079548" y="1901801"/>
            <a:ext cx="566928" cy="56692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E99A-0B1F33.png"/>
          <p:cNvPicPr>
            <a:picLocks noChangeAspect="1"/>
          </p:cNvPicPr>
          <p:nvPr/>
        </p:nvPicPr>
        <p:blipFill>
          <a:blip r:embed="rId8"/>
          <a:stretch>
            <a:fillRect/>
          </a:stretch>
        </p:blipFill>
        <p:spPr>
          <a:xfrm>
            <a:off x="10221280" y="2043533"/>
            <a:ext cx="283464" cy="283464"/>
          </a:xfrm>
          <a:prstGeom prst="rect">
            <a:avLst/>
          </a:prstGeom>
        </p:spPr>
      </p:pic>
      <p:sp>
        <p:nvSpPr>
          <p:cNvPr id="20" name="TextBox 19"/>
          <p:cNvSpPr txBox="1"/>
          <p:nvPr/>
        </p:nvSpPr>
        <p:spPr>
          <a:xfrm>
            <a:off x="9540052" y="1526897"/>
            <a:ext cx="1645920" cy="310896"/>
          </a:xfrm>
          <a:prstGeom prst="rect">
            <a:avLst/>
          </a:prstGeom>
          <a:noFill/>
        </p:spPr>
        <p:txBody>
          <a:bodyPr wrap="square" lIns="0" tIns="0" rIns="0" bIns="0" anchor="b">
            <a:spAutoFit/>
          </a:bodyPr>
          <a:lstStyle/>
          <a:p>
            <a:pPr algn="ctr">
              <a:lnSpc>
                <a:spcPct val="105000"/>
              </a:lnSpc>
              <a:spcAft>
                <a:spcPts val="0"/>
              </a:spcAft>
            </a:pPr>
            <a:r>
              <a:rPr sz="1300" b="0" i="0">
                <a:solidFill>
                  <a:srgbClr val="FFFFFF"/>
                </a:solidFill>
                <a:latin typeface="Segoe UI Semibold"/>
              </a:rPr>
              <a:t>AI (cloud)</a:t>
            </a:r>
          </a:p>
        </p:txBody>
      </p:sp>
      <p:sp>
        <p:nvSpPr>
          <p:cNvPr id="21" name="Oval 20"/>
          <p:cNvSpPr/>
          <p:nvPr/>
        </p:nvSpPr>
        <p:spPr>
          <a:xfrm>
            <a:off x="1097280" y="2468880"/>
            <a:ext cx="914400" cy="914400"/>
          </a:xfrm>
          <a:prstGeom prst="ellipse">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E77B-FFFFFF.png"/>
          <p:cNvPicPr>
            <a:picLocks noChangeAspect="1"/>
          </p:cNvPicPr>
          <p:nvPr/>
        </p:nvPicPr>
        <p:blipFill>
          <a:blip r:embed="rId9"/>
          <a:stretch>
            <a:fillRect/>
          </a:stretch>
        </p:blipFill>
        <p:spPr>
          <a:xfrm>
            <a:off x="1325880" y="2697480"/>
            <a:ext cx="457200" cy="457200"/>
          </a:xfrm>
          <a:prstGeom prst="rect">
            <a:avLst/>
          </a:prstGeom>
        </p:spPr>
      </p:pic>
      <p:sp>
        <p:nvSpPr>
          <p:cNvPr id="23" name="TextBox 22"/>
          <p:cNvSpPr txBox="1"/>
          <p:nvPr/>
        </p:nvSpPr>
        <p:spPr>
          <a:xfrm>
            <a:off x="731520" y="3429000"/>
            <a:ext cx="1645920" cy="310896"/>
          </a:xfrm>
          <a:prstGeom prst="rect">
            <a:avLst/>
          </a:prstGeom>
          <a:noFill/>
        </p:spPr>
        <p:txBody>
          <a:bodyPr wrap="square" lIns="0" tIns="0" rIns="0" bIns="0" anchor="t">
            <a:spAutoFit/>
          </a:bodyPr>
          <a:lstStyle/>
          <a:p>
            <a:pPr algn="ctr">
              <a:lnSpc>
                <a:spcPct val="105000"/>
              </a:lnSpc>
              <a:spcAft>
                <a:spcPts val="0"/>
              </a:spcAft>
            </a:pPr>
            <a:r>
              <a:rPr sz="1500" b="0" i="0">
                <a:solidFill>
                  <a:srgbClr val="FFFFFF"/>
                </a:solidFill>
                <a:latin typeface="Segoe UI Semibold"/>
              </a:rPr>
              <a:t>Planner</a:t>
            </a:r>
          </a:p>
        </p:txBody>
      </p:sp>
      <p:sp>
        <p:nvSpPr>
          <p:cNvPr id="24" name="TextBox 23"/>
          <p:cNvSpPr txBox="1"/>
          <p:nvPr/>
        </p:nvSpPr>
        <p:spPr>
          <a:xfrm>
            <a:off x="914400" y="4892040"/>
            <a:ext cx="11094415" cy="548640"/>
          </a:xfrm>
          <a:prstGeom prst="rect">
            <a:avLst/>
          </a:prstGeom>
          <a:noFill/>
        </p:spPr>
        <p:txBody>
          <a:bodyPr wrap="square" lIns="0" tIns="0" rIns="0" bIns="0" anchor="t">
            <a:spAutoFit/>
          </a:bodyPr>
          <a:lstStyle/>
          <a:p>
            <a:pPr algn="l">
              <a:lnSpc>
                <a:spcPct val="105000"/>
              </a:lnSpc>
              <a:spcAft>
                <a:spcPts val="0"/>
              </a:spcAft>
            </a:pPr>
            <a:r>
              <a:rPr sz="3000" b="0" i="0">
                <a:solidFill>
                  <a:srgbClr val="FFFFFF"/>
                </a:solidFill>
                <a:latin typeface="Georgia"/>
              </a:rPr>
              <a:t>From ground to cloud, the planner stays at the center.</a:t>
            </a:r>
          </a:p>
        </p:txBody>
      </p:sp>
      <p:sp>
        <p:nvSpPr>
          <p:cNvPr id="25" name="TextBox 24"/>
          <p:cNvSpPr txBox="1"/>
          <p:nvPr/>
        </p:nvSpPr>
        <p:spPr>
          <a:xfrm>
            <a:off x="914400" y="5440680"/>
            <a:ext cx="11094415" cy="548640"/>
          </a:xfrm>
          <a:prstGeom prst="rect">
            <a:avLst/>
          </a:prstGeom>
          <a:noFill/>
        </p:spPr>
        <p:txBody>
          <a:bodyPr wrap="square" lIns="0" tIns="0" rIns="0" bIns="0" anchor="t">
            <a:spAutoFit/>
          </a:bodyPr>
          <a:lstStyle/>
          <a:p>
            <a:pPr algn="l">
              <a:lnSpc>
                <a:spcPct val="105000"/>
              </a:lnSpc>
              <a:spcAft>
                <a:spcPts val="0"/>
              </a:spcAft>
            </a:pPr>
            <a:r>
              <a:rPr sz="3000" b="0" i="0">
                <a:solidFill>
                  <a:srgbClr val="8DB4FF"/>
                </a:solidFill>
                <a:latin typeface="Georgia"/>
              </a:rPr>
              <a:t>Technology makes experience reusable.</a:t>
            </a:r>
          </a:p>
        </p:txBody>
      </p:sp>
      <p:sp>
        <p:nvSpPr>
          <p:cNvPr id="26" name="TextBox 25"/>
          <p:cNvSpPr txBox="1"/>
          <p:nvPr/>
        </p:nvSpPr>
        <p:spPr>
          <a:xfrm>
            <a:off x="10911535" y="6419088"/>
            <a:ext cx="731520" cy="237744"/>
          </a:xfrm>
          <a:prstGeom prst="rect">
            <a:avLst/>
          </a:prstGeom>
          <a:noFill/>
        </p:spPr>
        <p:txBody>
          <a:bodyPr wrap="square" lIns="0" tIns="0" rIns="0" bIns="0" anchor="t">
            <a:spAutoFit/>
          </a:bodyPr>
          <a:lstStyle/>
          <a:p>
            <a:pPr algn="r">
              <a:lnSpc>
                <a:spcPct val="105000"/>
              </a:lnSpc>
              <a:spcAft>
                <a:spcPts val="0"/>
              </a:spcAft>
            </a:pPr>
            <a:r>
              <a:rPr sz="900" b="0" i="0">
                <a:solidFill>
                  <a:srgbClr val="98A3B3"/>
                </a:solidFill>
                <a:latin typeface="Segoe UI"/>
              </a:rPr>
              <a:t>28</a:t>
            </a:r>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d0d"/>
          <p:cNvSpPr/>
          <p:nvPr/>
        </p:nvSpPr>
        <p:spPr>
          <a:xfrm>
            <a:off x="594360" y="1188720"/>
            <a:ext cx="914400" cy="914400"/>
          </a:xfrm>
          <a:prstGeom prst="ellipse">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td0i" descr="EA80-FFFFFF.png"/>
          <p:cNvPicPr>
            <a:picLocks noChangeAspect="1"/>
          </p:cNvPicPr>
          <p:nvPr/>
        </p:nvPicPr>
        <p:blipFill>
          <a:blip r:embed="rId3"/>
          <a:stretch>
            <a:fillRect/>
          </a:stretch>
        </p:blipFill>
        <p:spPr>
          <a:xfrm>
            <a:off x="822960" y="1417320"/>
            <a:ext cx="457200" cy="457200"/>
          </a:xfrm>
          <a:prstGeom prst="rect">
            <a:avLst/>
          </a:prstGeom>
        </p:spPr>
      </p:pic>
      <p:sp>
        <p:nvSpPr>
          <p:cNvPr id="4" name="!!t0"/>
          <p:cNvSpPr txBox="1"/>
          <p:nvPr/>
        </p:nvSpPr>
        <p:spPr>
          <a:xfrm>
            <a:off x="1920240" y="1097280"/>
            <a:ext cx="9722815" cy="1097280"/>
          </a:xfrm>
          <a:prstGeom prst="rect">
            <a:avLst/>
          </a:prstGeom>
          <a:noFill/>
        </p:spPr>
        <p:txBody>
          <a:bodyPr wrap="square" lIns="0" tIns="0" rIns="0" bIns="0" anchor="ctr">
            <a:spAutoFit/>
          </a:bodyPr>
          <a:lstStyle/>
          <a:p>
            <a:pPr algn="l">
              <a:lnSpc>
                <a:spcPct val="105000"/>
              </a:lnSpc>
              <a:spcAft>
                <a:spcPts val="0"/>
              </a:spcAft>
            </a:pPr>
            <a:r>
              <a:rPr sz="5000" b="0" i="0">
                <a:solidFill>
                  <a:srgbClr val="0B1F33"/>
                </a:solidFill>
                <a:latin typeface="Georgia"/>
              </a:rPr>
              <a:t>Understand the work.</a:t>
            </a:r>
          </a:p>
        </p:txBody>
      </p:sp>
      <p:sp>
        <p:nvSpPr>
          <p:cNvPr id="5" name="!!td1d"/>
          <p:cNvSpPr/>
          <p:nvPr/>
        </p:nvSpPr>
        <p:spPr>
          <a:xfrm>
            <a:off x="594360" y="2788920"/>
            <a:ext cx="914400" cy="914400"/>
          </a:xfrm>
          <a:prstGeom prst="ellipse">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td1i" descr="E70F-FFFFFF.png"/>
          <p:cNvPicPr>
            <a:picLocks noChangeAspect="1"/>
          </p:cNvPicPr>
          <p:nvPr/>
        </p:nvPicPr>
        <p:blipFill>
          <a:blip r:embed="rId4"/>
          <a:stretch>
            <a:fillRect/>
          </a:stretch>
        </p:blipFill>
        <p:spPr>
          <a:xfrm>
            <a:off x="822960" y="3017520"/>
            <a:ext cx="457200" cy="457200"/>
          </a:xfrm>
          <a:prstGeom prst="rect">
            <a:avLst/>
          </a:prstGeom>
        </p:spPr>
      </p:pic>
      <p:sp>
        <p:nvSpPr>
          <p:cNvPr id="7" name="!!t1"/>
          <p:cNvSpPr txBox="1"/>
          <p:nvPr/>
        </p:nvSpPr>
        <p:spPr>
          <a:xfrm>
            <a:off x="1920240" y="2697480"/>
            <a:ext cx="9722815" cy="1097280"/>
          </a:xfrm>
          <a:prstGeom prst="rect">
            <a:avLst/>
          </a:prstGeom>
          <a:noFill/>
        </p:spPr>
        <p:txBody>
          <a:bodyPr wrap="square" lIns="0" tIns="0" rIns="0" bIns="0" anchor="ctr">
            <a:spAutoFit/>
          </a:bodyPr>
          <a:lstStyle/>
          <a:p>
            <a:pPr algn="l">
              <a:lnSpc>
                <a:spcPct val="105000"/>
              </a:lnSpc>
              <a:spcAft>
                <a:spcPts val="0"/>
              </a:spcAft>
            </a:pPr>
            <a:r>
              <a:rPr sz="5000" b="0" i="0">
                <a:solidFill>
                  <a:srgbClr val="0B1F33"/>
                </a:solidFill>
                <a:latin typeface="Georgia"/>
              </a:rPr>
              <a:t>Capture what you learn.</a:t>
            </a:r>
          </a:p>
        </p:txBody>
      </p:sp>
      <p:sp>
        <p:nvSpPr>
          <p:cNvPr id="8" name="!!td2d"/>
          <p:cNvSpPr/>
          <p:nvPr/>
        </p:nvSpPr>
        <p:spPr>
          <a:xfrm>
            <a:off x="594360" y="4389120"/>
            <a:ext cx="914400" cy="914400"/>
          </a:xfrm>
          <a:prstGeom prst="ellipse">
            <a:avLst/>
          </a:prstGeom>
          <a:solidFill>
            <a:srgbClr val="1F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td2i" descr="E777-FFFFFF.png"/>
          <p:cNvPicPr>
            <a:picLocks noChangeAspect="1"/>
          </p:cNvPicPr>
          <p:nvPr/>
        </p:nvPicPr>
        <p:blipFill>
          <a:blip r:embed="rId5"/>
          <a:stretch>
            <a:fillRect/>
          </a:stretch>
        </p:blipFill>
        <p:spPr>
          <a:xfrm>
            <a:off x="822960" y="4617720"/>
            <a:ext cx="457200" cy="457200"/>
          </a:xfrm>
          <a:prstGeom prst="rect">
            <a:avLst/>
          </a:prstGeom>
        </p:spPr>
      </p:pic>
      <p:sp>
        <p:nvSpPr>
          <p:cNvPr id="10" name="!!t2"/>
          <p:cNvSpPr txBox="1"/>
          <p:nvPr/>
        </p:nvSpPr>
        <p:spPr>
          <a:xfrm>
            <a:off x="1920240" y="4297680"/>
            <a:ext cx="9722815" cy="1097280"/>
          </a:xfrm>
          <a:prstGeom prst="rect">
            <a:avLst/>
          </a:prstGeom>
          <a:noFill/>
        </p:spPr>
        <p:txBody>
          <a:bodyPr wrap="square" lIns="0" tIns="0" rIns="0" bIns="0" anchor="ctr">
            <a:spAutoFit/>
          </a:bodyPr>
          <a:lstStyle/>
          <a:p>
            <a:pPr algn="l">
              <a:lnSpc>
                <a:spcPct val="105000"/>
              </a:lnSpc>
              <a:spcAft>
                <a:spcPts val="0"/>
              </a:spcAft>
            </a:pPr>
            <a:r>
              <a:rPr sz="5000" b="0" i="0">
                <a:solidFill>
                  <a:srgbClr val="0B1F33"/>
                </a:solidFill>
                <a:latin typeface="Georgia"/>
              </a:rPr>
              <a:t>Make it </a:t>
            </a:r>
            <a:r>
              <a:rPr sz="5000" b="0" i="0">
                <a:solidFill>
                  <a:srgbClr val="1F5BD8"/>
                </a:solidFill>
                <a:latin typeface="Georgia"/>
              </a:rPr>
              <a:t>reusable.</a:t>
            </a:r>
          </a:p>
        </p:txBody>
      </p:sp>
      <p:sp>
        <p:nvSpPr>
          <p:cNvPr id="11" name="TextBox 10"/>
          <p:cNvSpPr txBox="1"/>
          <p:nvPr/>
        </p:nvSpPr>
        <p:spPr>
          <a:xfrm>
            <a:off x="7071055" y="6419088"/>
            <a:ext cx="3657600" cy="237744"/>
          </a:xfrm>
          <a:prstGeom prst="rect">
            <a:avLst/>
          </a:prstGeom>
          <a:noFill/>
        </p:spPr>
        <p:txBody>
          <a:bodyPr wrap="none" lIns="0" tIns="0" rIns="0" bIns="0" anchor="ctr">
            <a:spAutoFit/>
          </a:bodyPr>
          <a:lstStyle/>
          <a:p>
            <a:pPr algn="r">
              <a:lnSpc>
                <a:spcPct val="105000"/>
              </a:lnSpc>
              <a:spcAft>
                <a:spcPts val="0"/>
              </a:spcAft>
            </a:pPr>
            <a:r>
              <a:rPr sz="800" b="0" i="0" spc="80">
                <a:solidFill>
                  <a:srgbClr val="56657A"/>
                </a:solidFill>
                <a:latin typeface="Segoe UI Semibold"/>
              </a:rPr>
              <a:t>ABDUL KAUSAR</a:t>
            </a:r>
          </a:p>
        </p:txBody>
      </p:sp>
      <p:sp>
        <p:nvSpPr>
          <p:cNvPr id="12" name="TextBox 11"/>
          <p:cNvSpPr txBox="1"/>
          <p:nvPr/>
        </p:nvSpPr>
        <p:spPr>
          <a:xfrm>
            <a:off x="10911535" y="6419088"/>
            <a:ext cx="731520" cy="237744"/>
          </a:xfrm>
          <a:prstGeom prst="rect">
            <a:avLst/>
          </a:prstGeom>
          <a:noFill/>
        </p:spPr>
        <p:txBody>
          <a:bodyPr wrap="square" lIns="0" tIns="0" rIns="0" bIns="0" anchor="t">
            <a:spAutoFit/>
          </a:bodyPr>
          <a:lstStyle/>
          <a:p>
            <a:pPr algn="r">
              <a:lnSpc>
                <a:spcPct val="105000"/>
              </a:lnSpc>
              <a:spcAft>
                <a:spcPts val="0"/>
              </a:spcAft>
            </a:pPr>
            <a:r>
              <a:rPr sz="900" b="0" i="0">
                <a:solidFill>
                  <a:srgbClr val="98A3B3"/>
                </a:solidFill>
                <a:latin typeface="Segoe UI"/>
              </a:rPr>
              <a:t>29</a:t>
            </a:r>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3" name="TextBox 2"/>
          <p:cNvSpPr txBox="1"/>
          <p:nvPr/>
        </p:nvSpPr>
        <p:spPr>
          <a:xfrm>
            <a:off x="914400" y="1920240"/>
            <a:ext cx="10424160" cy="2743200"/>
          </a:xfrm>
          <a:prstGeom prst="rect">
            <a:avLst/>
          </a:prstGeom>
          <a:noFill/>
        </p:spPr>
        <p:txBody>
          <a:bodyPr wrap="square" lIns="0" tIns="0" rIns="0" bIns="0" anchor="t">
            <a:spAutoFit/>
          </a:bodyPr>
          <a:lstStyle/>
          <a:p>
            <a:pPr algn="l">
              <a:lnSpc>
                <a:spcPct val="105000"/>
              </a:lnSpc>
              <a:spcAft>
                <a:spcPts val="0"/>
              </a:spcAft>
            </a:pPr>
            <a:r>
              <a:rPr sz="4000" b="0" i="0">
                <a:solidFill>
                  <a:srgbClr val="FFFFFF"/>
                </a:solidFill>
                <a:latin typeface="Georgia"/>
              </a:rPr>
              <a:t>Apa yang saya pelajari dari pekerjaan hari ini — dan apakah masih bisa saya pakai setahun lagi?</a:t>
            </a:r>
          </a:p>
        </p:txBody>
      </p:sp>
      <p:sp>
        <p:nvSpPr>
          <p:cNvPr id="4" name="Rectangle 3"/>
          <p:cNvSpPr/>
          <p:nvPr/>
        </p:nvSpPr>
        <p:spPr>
          <a:xfrm>
            <a:off x="914400" y="5074920"/>
            <a:ext cx="640080" cy="41148"/>
          </a:xfrm>
          <a:prstGeom prst="rect">
            <a:avLst/>
          </a:prstGeom>
          <a:solidFill>
            <a:srgbClr val="8DB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5303520"/>
            <a:ext cx="5486400" cy="548640"/>
          </a:xfrm>
          <a:prstGeom prst="rect">
            <a:avLst/>
          </a:prstGeom>
          <a:noFill/>
        </p:spPr>
        <p:txBody>
          <a:bodyPr wrap="square" lIns="0" tIns="0" rIns="0" bIns="0" anchor="t">
            <a:spAutoFit/>
          </a:bodyPr>
          <a:lstStyle/>
          <a:p>
            <a:pPr algn="l">
              <a:lnSpc>
                <a:spcPct val="105000"/>
              </a:lnSpc>
              <a:spcAft>
                <a:spcPts val="0"/>
              </a:spcAft>
            </a:pPr>
            <a:r>
              <a:rPr sz="2600" b="0" i="0">
                <a:solidFill>
                  <a:srgbClr val="8DB4FF"/>
                </a:solidFill>
                <a:latin typeface="Georgia"/>
              </a:rPr>
              <a:t>Terima kasih.</a:t>
            </a:r>
          </a:p>
        </p:txBody>
      </p:sp>
      <p:sp>
        <p:nvSpPr>
          <p:cNvPr id="6" name="TextBox 5"/>
          <p:cNvSpPr txBox="1"/>
          <p:nvPr/>
        </p:nvSpPr>
        <p:spPr>
          <a:xfrm>
            <a:off x="10911535" y="6419088"/>
            <a:ext cx="731520" cy="237744"/>
          </a:xfrm>
          <a:prstGeom prst="rect">
            <a:avLst/>
          </a:prstGeom>
          <a:noFill/>
        </p:spPr>
        <p:txBody>
          <a:bodyPr wrap="square" lIns="0" tIns="0" rIns="0" bIns="0" anchor="t">
            <a:spAutoFit/>
          </a:bodyPr>
          <a:lstStyle/>
          <a:p>
            <a:pPr algn="r">
              <a:lnSpc>
                <a:spcPct val="105000"/>
              </a:lnSpc>
              <a:spcAft>
                <a:spcPts val="0"/>
              </a:spcAft>
            </a:pPr>
            <a:r>
              <a:rPr sz="900" b="0" i="0">
                <a:solidFill>
                  <a:srgbClr val="98A3B3"/>
                </a:solidFill>
                <a:latin typeface="Segoe UI"/>
              </a:rPr>
              <a:t>30</a:t>
            </a:r>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194560"/>
            <a:ext cx="7315200" cy="1327799"/>
          </a:xfrm>
          <a:prstGeom prst="rect">
            <a:avLst/>
          </a:prstGeom>
          <a:noFill/>
        </p:spPr>
        <p:txBody>
          <a:bodyPr wrap="square" lIns="0" tIns="0" rIns="0" bIns="0" anchor="t">
            <a:spAutoFit/>
          </a:bodyPr>
          <a:lstStyle/>
          <a:p>
            <a:pPr algn="l">
              <a:lnSpc>
                <a:spcPct val="105000"/>
              </a:lnSpc>
              <a:spcAft>
                <a:spcPts val="0"/>
              </a:spcAft>
            </a:pPr>
            <a:r>
              <a:rPr lang="en-US" sz="8800" b="0" i="0" dirty="0" err="1">
                <a:solidFill>
                  <a:srgbClr val="0B1F33"/>
                </a:solidFill>
                <a:latin typeface="Georgia"/>
              </a:rPr>
              <a:t>Disscussion</a:t>
            </a:r>
            <a:endParaRPr sz="8800" b="0" i="0" dirty="0">
              <a:solidFill>
                <a:srgbClr val="0B1F33"/>
              </a:solidFill>
              <a:latin typeface="Georgia"/>
            </a:endParaRPr>
          </a:p>
        </p:txBody>
      </p:sp>
      <p:sp>
        <p:nvSpPr>
          <p:cNvPr id="3" name="Oval 2"/>
          <p:cNvSpPr/>
          <p:nvPr/>
        </p:nvSpPr>
        <p:spPr>
          <a:xfrm>
            <a:off x="8412480" y="1828800"/>
            <a:ext cx="2194560" cy="2194560"/>
          </a:xfrm>
          <a:prstGeom prst="ellipse">
            <a:avLst/>
          </a:prstGeom>
          <a:solidFill>
            <a:srgbClr val="E6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E9CE-1F5BD8.png"/>
          <p:cNvPicPr>
            <a:picLocks noChangeAspect="1"/>
          </p:cNvPicPr>
          <p:nvPr/>
        </p:nvPicPr>
        <p:blipFill>
          <a:blip r:embed="rId3"/>
          <a:stretch>
            <a:fillRect/>
          </a:stretch>
        </p:blipFill>
        <p:spPr>
          <a:xfrm>
            <a:off x="8961120" y="2377440"/>
            <a:ext cx="1097280" cy="1097280"/>
          </a:xfrm>
          <a:prstGeom prst="rect">
            <a:avLst/>
          </a:prstGeom>
        </p:spPr>
      </p:pic>
      <p:sp>
        <p:nvSpPr>
          <p:cNvPr id="5" name="TextBox 4"/>
          <p:cNvSpPr txBox="1"/>
          <p:nvPr/>
        </p:nvSpPr>
        <p:spPr>
          <a:xfrm>
            <a:off x="548640" y="6144768"/>
            <a:ext cx="11094415" cy="237744"/>
          </a:xfrm>
          <a:prstGeom prst="rect">
            <a:avLst/>
          </a:prstGeom>
          <a:noFill/>
        </p:spPr>
        <p:txBody>
          <a:bodyPr wrap="square" lIns="0" tIns="0" rIns="0" bIns="0" anchor="t">
            <a:spAutoFit/>
          </a:bodyPr>
          <a:lstStyle/>
          <a:p>
            <a:pPr algn="l">
              <a:lnSpc>
                <a:spcPct val="105000"/>
              </a:lnSpc>
              <a:spcAft>
                <a:spcPts val="0"/>
              </a:spcAft>
            </a:pPr>
            <a:r>
              <a:rPr sz="950" b="0" i="0">
                <a:solidFill>
                  <a:srgbClr val="98A3B3"/>
                </a:solidFill>
                <a:latin typeface="Segoe UI"/>
              </a:rPr>
              <a:t>Semua project, activity, tanggal, quantity dan data yang ditampilkan hari ini adalah simulasi.</a:t>
            </a:r>
          </a:p>
        </p:txBody>
      </p:sp>
      <p:sp>
        <p:nvSpPr>
          <p:cNvPr id="6" name="TextBox 5"/>
          <p:cNvSpPr txBox="1"/>
          <p:nvPr/>
        </p:nvSpPr>
        <p:spPr>
          <a:xfrm>
            <a:off x="10911535" y="6419088"/>
            <a:ext cx="731520" cy="237744"/>
          </a:xfrm>
          <a:prstGeom prst="rect">
            <a:avLst/>
          </a:prstGeom>
          <a:noFill/>
        </p:spPr>
        <p:txBody>
          <a:bodyPr wrap="square" lIns="0" tIns="0" rIns="0" bIns="0" anchor="t">
            <a:spAutoFit/>
          </a:bodyPr>
          <a:lstStyle/>
          <a:p>
            <a:pPr algn="r">
              <a:lnSpc>
                <a:spcPct val="105000"/>
              </a:lnSpc>
              <a:spcAft>
                <a:spcPts val="0"/>
              </a:spcAft>
            </a:pPr>
            <a:r>
              <a:rPr sz="900" b="0" i="0">
                <a:solidFill>
                  <a:srgbClr val="98A3B3"/>
                </a:solidFill>
                <a:latin typeface="Segoe UI"/>
              </a:rPr>
              <a:t>31</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6705</Words>
  <Application>Microsoft Office PowerPoint</Application>
  <PresentationFormat>Widescreen</PresentationFormat>
  <Paragraphs>1322</Paragraphs>
  <Slides>31</Slides>
  <Notes>31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Calibri</vt:lpstr>
      <vt:lpstr>Consolas</vt:lpstr>
      <vt:lpstr>Georgia</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Behind the Scenes of Data Center Project — LinkedIn Live</dc:title>
  <dc:subject/>
  <dc:creator/>
  <cp:keywords/>
  <dc:description>Generated from 01_Presentation/V2/Presentation-Source-V2.md. Do not edit directly.</dc:description>
  <cp:lastModifiedBy>KAUSAR Abdul</cp:lastModifiedBy>
  <cp:revision>3</cp:revision>
  <dcterms:created xsi:type="dcterms:W3CDTF">2013-01-27T09:14:16Z</dcterms:created>
  <dcterms:modified xsi:type="dcterms:W3CDTF">2026-09-18T07:34:51Z</dcterms:modified>
  <cp:category/>
</cp:coreProperties>
</file>